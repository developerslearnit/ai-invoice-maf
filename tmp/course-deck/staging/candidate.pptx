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comments/modernComment.xml" ContentType="application/vnd.ms-powerpoint.comments+xml"/>
  <Override PartName="/ppt/slides/slide2.xml" ContentType="application/vnd.openxmlformats-officedocument.presentationml.slide+xml"/>
  <Override PartName="/ppt/notesSlides/notesSlide2.xml" ContentType="application/vnd.openxmlformats-officedocument.presentationml.notesSlide+xml"/>
  <Override PartName="/ppt/comments/modernComment2.xml" ContentType="application/vnd.ms-powerpoint.comments+xml"/>
  <Override PartName="/ppt/slides/slide3.xml" ContentType="application/vnd.openxmlformats-officedocument.presentationml.slide+xml"/>
  <Override PartName="/ppt/notesSlides/notesSlide3.xml" ContentType="application/vnd.openxmlformats-officedocument.presentationml.notesSlide+xml"/>
  <Override PartName="/ppt/comments/modernComment3.xml" ContentType="application/vnd.ms-powerpoint.comments+xml"/>
  <Override PartName="/ppt/slides/slide4.xml" ContentType="application/vnd.openxmlformats-officedocument.presentationml.slide+xml"/>
  <Override PartName="/ppt/notesSlides/notesSlide4.xml" ContentType="application/vnd.openxmlformats-officedocument.presentationml.notesSlide+xml"/>
  <Override PartName="/ppt/comments/modernComment4.xml" ContentType="application/vnd.ms-powerpoint.comments+xml"/>
  <Override PartName="/ppt/slides/slide5.xml" ContentType="application/vnd.openxmlformats-officedocument.presentationml.slide+xml"/>
  <Override PartName="/ppt/notesSlides/notesSlide5.xml" ContentType="application/vnd.openxmlformats-officedocument.presentationml.notesSlide+xml"/>
  <Override PartName="/ppt/comments/modernComment5.xml" ContentType="application/vnd.ms-powerpoint.comments+xml"/>
  <Override PartName="/ppt/slides/slide6.xml" ContentType="application/vnd.openxmlformats-officedocument.presentationml.slide+xml"/>
  <Override PartName="/ppt/notesSlides/notesSlide6.xml" ContentType="application/vnd.openxmlformats-officedocument.presentationml.notesSlide+xml"/>
  <Override PartName="/ppt/comments/modernComment6.xml" ContentType="application/vnd.ms-powerpoint.comments+xml"/>
  <Override PartName="/ppt/slides/slide7.xml" ContentType="application/vnd.openxmlformats-officedocument.presentationml.slide+xml"/>
  <Override PartName="/ppt/notesSlides/notesSlide7.xml" ContentType="application/vnd.openxmlformats-officedocument.presentationml.notesSlide+xml"/>
  <Override PartName="/ppt/comments/modernComment7.xml" ContentType="application/vnd.ms-powerpoint.comments+xml"/>
  <Override PartName="/ppt/slides/slide8.xml" ContentType="application/vnd.openxmlformats-officedocument.presentationml.slide+xml"/>
  <Override PartName="/ppt/notesSlides/notesSlide8.xml" ContentType="application/vnd.openxmlformats-officedocument.presentationml.notesSlide+xml"/>
  <Override PartName="/ppt/comments/modernComment8.xml" ContentType="application/vnd.ms-powerpoint.comments+xml"/>
  <Override PartName="/ppt/slides/slide9.xml" ContentType="application/vnd.openxmlformats-officedocument.presentationml.slide+xml"/>
  <Override PartName="/ppt/notesSlides/notesSlide9.xml" ContentType="application/vnd.openxmlformats-officedocument.presentationml.notesSlide+xml"/>
  <Override PartName="/ppt/comments/modernComment9.xml" ContentType="application/vnd.ms-powerpoint.comments+xml"/>
  <Override PartName="/ppt/slides/slide10.xml" ContentType="application/vnd.openxmlformats-officedocument.presentationml.slide+xml"/>
  <Override PartName="/ppt/notesSlides/notesSlide10.xml" ContentType="application/vnd.openxmlformats-officedocument.presentationml.notesSlide+xml"/>
  <Override PartName="/ppt/comments/modernComment10.xml" ContentType="application/vnd.ms-powerpoint.comments+xml"/>
  <Override PartName="/ppt/slides/slide11.xml" ContentType="application/vnd.openxmlformats-officedocument.presentationml.slide+xml"/>
  <Override PartName="/ppt/notesSlides/notesSlide11.xml" ContentType="application/vnd.openxmlformats-officedocument.presentationml.notesSlide+xml"/>
  <Override PartName="/ppt/comments/modernComment11.xml" ContentType="application/vnd.ms-powerpoint.comments+xml"/>
  <Override PartName="/ppt/slides/slide12.xml" ContentType="application/vnd.openxmlformats-officedocument.presentationml.slide+xml"/>
  <Override PartName="/ppt/notesSlides/notesSlide12.xml" ContentType="application/vnd.openxmlformats-officedocument.presentationml.notesSlide+xml"/>
  <Override PartName="/ppt/comments/modernComment12.xml" ContentType="application/vnd.ms-powerpoint.comments+xml"/>
  <Override PartName="/ppt/slides/slide13.xml" ContentType="application/vnd.openxmlformats-officedocument.presentationml.slide+xml"/>
  <Override PartName="/ppt/notesSlides/notesSlide13.xml" ContentType="application/vnd.openxmlformats-officedocument.presentationml.notesSlide+xml"/>
  <Override PartName="/ppt/comments/modernComment13.xml" ContentType="application/vnd.ms-powerpoint.comments+xml"/>
  <Override PartName="/ppt/slides/slide14.xml" ContentType="application/vnd.openxmlformats-officedocument.presentationml.slide+xml"/>
  <Override PartName="/ppt/notesSlides/notesSlide14.xml" ContentType="application/vnd.openxmlformats-officedocument.presentationml.notesSlide+xml"/>
  <Override PartName="/ppt/comments/modernComment14.xml" ContentType="application/vnd.ms-powerpoint.comments+xml"/>
  <Override PartName="/ppt/slides/slide15.xml" ContentType="application/vnd.openxmlformats-officedocument.presentationml.slide+xml"/>
  <Override PartName="/ppt/notesSlides/notesSlide15.xml" ContentType="application/vnd.openxmlformats-officedocument.presentationml.notesSlide+xml"/>
  <Override PartName="/ppt/comments/modernComment15.xml" ContentType="application/vnd.ms-powerpoint.comments+xml"/>
  <Override PartName="/ppt/slides/slide16.xml" ContentType="application/vnd.openxmlformats-officedocument.presentationml.slide+xml"/>
  <Override PartName="/ppt/notesSlides/notesSlide16.xml" ContentType="application/vnd.openxmlformats-officedocument.presentationml.notesSlide+xml"/>
  <Override PartName="/ppt/comments/modernComment16.xml" ContentType="application/vnd.ms-powerpoint.comments+xml"/>
  <Override PartName="/ppt/slides/slide17.xml" ContentType="application/vnd.openxmlformats-officedocument.presentationml.slide+xml"/>
  <Override PartName="/ppt/notesSlides/notesSlide17.xml" ContentType="application/vnd.openxmlformats-officedocument.presentationml.notesSlide+xml"/>
  <Override PartName="/ppt/comments/modernComment17.xml" ContentType="application/vnd.ms-powerpoint.comments+xml"/>
  <Override PartName="/ppt/slides/slide18.xml" ContentType="application/vnd.openxmlformats-officedocument.presentationml.slide+xml"/>
  <Override PartName="/ppt/notesSlides/notesSlide18.xml" ContentType="application/vnd.openxmlformats-officedocument.presentationml.notesSlide+xml"/>
  <Override PartName="/ppt/comments/modernComment18.xml" ContentType="application/vnd.ms-powerpoint.comments+xml"/>
  <Override PartName="/ppt/slides/slide19.xml" ContentType="application/vnd.openxmlformats-officedocument.presentationml.slide+xml"/>
  <Override PartName="/ppt/notesSlides/notesSlide19.xml" ContentType="application/vnd.openxmlformats-officedocument.presentationml.notesSlide+xml"/>
  <Override PartName="/ppt/comments/modernComment19.xml" ContentType="application/vnd.ms-powerpoint.comments+xml"/>
  <Override PartName="/ppt/slides/slide20.xml" ContentType="application/vnd.openxmlformats-officedocument.presentationml.slide+xml"/>
  <Override PartName="/ppt/notesSlides/notesSlide20.xml" ContentType="application/vnd.openxmlformats-officedocument.presentationml.notesSlide+xml"/>
  <Override PartName="/ppt/comments/modernComment20.xml" ContentType="application/vnd.ms-powerpoint.comments+xml"/>
  <Override PartName="/ppt/slides/slide21.xml" ContentType="application/vnd.openxmlformats-officedocument.presentationml.slide+xml"/>
  <Override PartName="/ppt/notesSlides/notesSlide21.xml" ContentType="application/vnd.openxmlformats-officedocument.presentationml.notesSlide+xml"/>
  <Override PartName="/ppt/comments/modernComment21.xml" ContentType="application/vnd.ms-powerpoint.comments+xml"/>
  <Override PartName="/ppt/slides/slide22.xml" ContentType="application/vnd.openxmlformats-officedocument.presentationml.slide+xml"/>
  <Override PartName="/ppt/notesSlides/notesSlide22.xml" ContentType="application/vnd.openxmlformats-officedocument.presentationml.notesSlide+xml"/>
  <Override PartName="/ppt/comments/modernComment22.xml" ContentType="application/vnd.ms-powerpoint.comments+xml"/>
  <Override PartName="/ppt/slides/slide23.xml" ContentType="application/vnd.openxmlformats-officedocument.presentationml.slide+xml"/>
  <Override PartName="/ppt/notesSlides/notesSlide23.xml" ContentType="application/vnd.openxmlformats-officedocument.presentationml.notesSlide+xml"/>
  <Override PartName="/ppt/comments/modernComment23.xml" ContentType="application/vnd.ms-powerpoint.comments+xml"/>
  <Override PartName="/ppt/slides/slide24.xml" ContentType="application/vnd.openxmlformats-officedocument.presentationml.slide+xml"/>
  <Override PartName="/ppt/notesSlides/notesSlide24.xml" ContentType="application/vnd.openxmlformats-officedocument.presentationml.notesSlide+xml"/>
  <Override PartName="/ppt/comments/modernComment24.xml" ContentType="application/vnd.ms-powerpoint.comments+xml"/>
  <Override PartName="/ppt/slides/slide25.xml" ContentType="application/vnd.openxmlformats-officedocument.presentationml.slide+xml"/>
  <Override PartName="/ppt/notesSlides/notesSlide25.xml" ContentType="application/vnd.openxmlformats-officedocument.presentationml.notesSlide+xml"/>
  <Override PartName="/ppt/comments/modernComment25.xml" ContentType="application/vnd.ms-powerpoint.comments+xml"/>
  <Override PartName="/ppt/slides/slide26.xml" ContentType="application/vnd.openxmlformats-officedocument.presentationml.slide+xml"/>
  <Override PartName="/ppt/notesSlides/notesSlide26.xml" ContentType="application/vnd.openxmlformats-officedocument.presentationml.notesSlide+xml"/>
  <Override PartName="/ppt/comments/modernComment26.xml" ContentType="application/vnd.ms-powerpoint.comments+xml"/>
  <Override PartName="/ppt/slides/slide27.xml" ContentType="application/vnd.openxmlformats-officedocument.presentationml.slide+xml"/>
  <Override PartName="/ppt/notesSlides/notesSlide27.xml" ContentType="application/vnd.openxmlformats-officedocument.presentationml.notesSlide+xml"/>
  <Override PartName="/ppt/comments/modernComment27.xml" ContentType="application/vnd.ms-powerpoint.comments+xml"/>
  <Override PartName="/ppt/slides/slide28.xml" ContentType="application/vnd.openxmlformats-officedocument.presentationml.slide+xml"/>
  <Override PartName="/ppt/notesSlides/notesSlide28.xml" ContentType="application/vnd.openxmlformats-officedocument.presentationml.notesSlide+xml"/>
  <Override PartName="/ppt/comments/modernComment28.xml" ContentType="application/vnd.ms-powerpoint.comments+xml"/>
  <Override PartName="/ppt/slides/slide29.xml" ContentType="application/vnd.openxmlformats-officedocument.presentationml.slide+xml"/>
  <Override PartName="/ppt/notesSlides/notesSlide29.xml" ContentType="application/vnd.openxmlformats-officedocument.presentationml.notesSlide+xml"/>
  <Override PartName="/ppt/comments/modernComment29.xml" ContentType="application/vnd.ms-powerpoint.comments+xml"/>
  <Override PartName="/ppt/slides/slide30.xml" ContentType="application/vnd.openxmlformats-officedocument.presentationml.slide+xml"/>
  <Override PartName="/ppt/notesSlides/notesSlide30.xml" ContentType="application/vnd.openxmlformats-officedocument.presentationml.notesSlide+xml"/>
  <Override PartName="/ppt/comments/modernComment30.xml" ContentType="application/vnd.ms-powerpoint.comments+xml"/>
  <Override PartName="/ppt/slides/slide31.xml" ContentType="application/vnd.openxmlformats-officedocument.presentationml.slide+xml"/>
  <Override PartName="/ppt/notesSlides/notesSlide31.xml" ContentType="application/vnd.openxmlformats-officedocument.presentationml.notesSlide+xml"/>
  <Override PartName="/ppt/comments/modernComment31.xml" ContentType="application/vnd.ms-powerpoint.comments+xml"/>
  <Override PartName="/ppt/slides/slide32.xml" ContentType="application/vnd.openxmlformats-officedocument.presentationml.slide+xml"/>
  <Override PartName="/ppt/notesSlides/notesSlide32.xml" ContentType="application/vnd.openxmlformats-officedocument.presentationml.notesSlide+xml"/>
  <Override PartName="/ppt/comments/modernComment32.xml" ContentType="application/vnd.ms-powerpoint.comments+xml"/>
  <Override PartName="/ppt/slides/slide33.xml" ContentType="application/vnd.openxmlformats-officedocument.presentationml.slide+xml"/>
  <Override PartName="/ppt/notesSlides/notesSlide33.xml" ContentType="application/vnd.openxmlformats-officedocument.presentationml.notesSlide+xml"/>
  <Override PartName="/ppt/comments/modernComment33.xml" ContentType="application/vnd.ms-powerpoint.comments+xml"/>
  <Override PartName="/ppt/slides/slide34.xml" ContentType="application/vnd.openxmlformats-officedocument.presentationml.slide+xml"/>
  <Override PartName="/ppt/notesSlides/notesSlide34.xml" ContentType="application/vnd.openxmlformats-officedocument.presentationml.notesSlide+xml"/>
  <Override PartName="/ppt/comments/modernComment34.xml" ContentType="application/vnd.ms-powerpoint.comments+xml"/>
  <Override PartName="/ppt/slides/slide35.xml" ContentType="application/vnd.openxmlformats-officedocument.presentationml.slide+xml"/>
  <Override PartName="/ppt/notesSlides/notesSlide35.xml" ContentType="application/vnd.openxmlformats-officedocument.presentationml.notesSlide+xml"/>
  <Override PartName="/ppt/comments/modernComment35.xml" ContentType="application/vnd.ms-powerpoint.comments+xml"/>
  <Override PartName="/ppt/slides/slide36.xml" ContentType="application/vnd.openxmlformats-officedocument.presentationml.slide+xml"/>
  <Override PartName="/ppt/notesSlides/notesSlide36.xml" ContentType="application/vnd.openxmlformats-officedocument.presentationml.notesSlide+xml"/>
  <Override PartName="/ppt/comments/modernComment36.xml" ContentType="application/vnd.ms-powerpoint.comments+xml"/>
  <Override PartName="/ppt/slides/slide37.xml" ContentType="application/vnd.openxmlformats-officedocument.presentationml.slide+xml"/>
  <Override PartName="/ppt/notesSlides/notesSlide37.xml" ContentType="application/vnd.openxmlformats-officedocument.presentationml.notesSlide+xml"/>
  <Override PartName="/ppt/comments/modernComment37.xml" ContentType="application/vnd.ms-powerpoint.comments+xml"/>
  <Override PartName="/ppt/slides/slide38.xml" ContentType="application/vnd.openxmlformats-officedocument.presentationml.slide+xml"/>
  <Override PartName="/ppt/notesSlides/notesSlide38.xml" ContentType="application/vnd.openxmlformats-officedocument.presentationml.notesSlide+xml"/>
  <Override PartName="/ppt/comments/modernComment38.xml" ContentType="application/vnd.ms-powerpoint.comments+xml"/>
  <Override PartName="/ppt/slides/slide39.xml" ContentType="application/vnd.openxmlformats-officedocument.presentationml.slide+xml"/>
  <Override PartName="/ppt/notesSlides/notesSlide39.xml" ContentType="application/vnd.openxmlformats-officedocument.presentationml.notesSlide+xml"/>
  <Override PartName="/ppt/comments/modernComment39.xml" ContentType="application/vnd.ms-powerpoint.comments+xml"/>
  <Override PartName="/ppt/slides/slide40.xml" ContentType="application/vnd.openxmlformats-officedocument.presentationml.slide+xml"/>
  <Override PartName="/ppt/notesSlides/notesSlide40.xml" ContentType="application/vnd.openxmlformats-officedocument.presentationml.notesSlide+xml"/>
  <Override PartName="/ppt/comments/modernComment40.xml" ContentType="application/vnd.ms-powerpoint.comments+xml"/>
  <Override PartName="/ppt/slides/slide41.xml" ContentType="application/vnd.openxmlformats-officedocument.presentationml.slide+xml"/>
  <Override PartName="/ppt/notesSlides/notesSlide41.xml" ContentType="application/vnd.openxmlformats-officedocument.presentationml.notesSlide+xml"/>
  <Override PartName="/ppt/comments/modernComment41.xml" ContentType="application/vnd.ms-powerpoint.comments+xml"/>
  <Override PartName="/ppt/slides/slide42.xml" ContentType="application/vnd.openxmlformats-officedocument.presentationml.slide+xml"/>
  <Override PartName="/ppt/notesSlides/notesSlide42.xml" ContentType="application/vnd.openxmlformats-officedocument.presentationml.notesSlide+xml"/>
  <Override PartName="/ppt/comments/modernComment42.xml" ContentType="application/vnd.ms-powerpoint.comments+xml"/>
  <Override PartName="/ppt/slides/slide43.xml" ContentType="application/vnd.openxmlformats-officedocument.presentationml.slide+xml"/>
  <Override PartName="/ppt/notesSlides/notesSlide43.xml" ContentType="application/vnd.openxmlformats-officedocument.presentationml.notesSlide+xml"/>
  <Override PartName="/ppt/comments/modernComment43.xml" ContentType="application/vnd.ms-powerpoint.comments+xml"/>
  <Override PartName="/ppt/slides/slide44.xml" ContentType="application/vnd.openxmlformats-officedocument.presentationml.slide+xml"/>
  <Override PartName="/ppt/notesSlides/notesSlide44.xml" ContentType="application/vnd.openxmlformats-officedocument.presentationml.notesSlide+xml"/>
  <Override PartName="/ppt/comments/modernComment44.xml" ContentType="application/vnd.ms-powerpoint.comments+xml"/>
  <Override PartName="/ppt/slides/slide45.xml" ContentType="application/vnd.openxmlformats-officedocument.presentationml.slide+xml"/>
  <Override PartName="/ppt/notesSlides/notesSlide45.xml" ContentType="application/vnd.openxmlformats-officedocument.presentationml.notesSlide+xml"/>
  <Override PartName="/ppt/comments/modernComment45.xml" ContentType="application/vnd.ms-powerpoint.comments+xml"/>
  <Override PartName="/ppt/slides/slide46.xml" ContentType="application/vnd.openxmlformats-officedocument.presentationml.slide+xml"/>
  <Override PartName="/ppt/notesSlides/notesSlide46.xml" ContentType="application/vnd.openxmlformats-officedocument.presentationml.notesSlide+xml"/>
  <Override PartName="/ppt/comments/modernComment46.xml" ContentType="application/vnd.ms-powerpoint.comments+xml"/>
  <Override PartName="/ppt/slides/slide47.xml" ContentType="application/vnd.openxmlformats-officedocument.presentationml.slide+xml"/>
  <Override PartName="/ppt/notesSlides/notesSlide47.xml" ContentType="application/vnd.openxmlformats-officedocument.presentationml.notesSlide+xml"/>
  <Override PartName="/ppt/comments/modernComment47.xml" ContentType="application/vnd.ms-powerpoint.comments+xml"/>
  <Override PartName="/ppt/slides/slide48.xml" ContentType="application/vnd.openxmlformats-officedocument.presentationml.slide+xml"/>
  <Override PartName="/ppt/notesSlides/notesSlide48.xml" ContentType="application/vnd.openxmlformats-officedocument.presentationml.notesSlide+xml"/>
  <Override PartName="/ppt/comments/modernComment48.xml" ContentType="application/vnd.ms-powerpoint.comments+xml"/>
  <Override PartName="/ppt/slides/slide49.xml" ContentType="application/vnd.openxmlformats-officedocument.presentationml.slide+xml"/>
  <Override PartName="/ppt/notesSlides/notesSlide49.xml" ContentType="application/vnd.openxmlformats-officedocument.presentationml.notesSlide+xml"/>
  <Override PartName="/ppt/comments/modernComment49.xml" ContentType="application/vnd.ms-powerpoint.comments+xml"/>
  <Override PartName="/ppt/slides/slide50.xml" ContentType="application/vnd.openxmlformats-officedocument.presentationml.slide+xml"/>
  <Override PartName="/ppt/notesSlides/notesSlide50.xml" ContentType="application/vnd.openxmlformats-officedocument.presentationml.notesSlide+xml"/>
  <Override PartName="/ppt/comments/modernComment50.xml" ContentType="application/vnd.ms-powerpoint.comments+xml"/>
  <Override PartName="/ppt/slides/slide51.xml" ContentType="application/vnd.openxmlformats-officedocument.presentationml.slide+xml"/>
  <Override PartName="/ppt/notesSlides/notesSlide51.xml" ContentType="application/vnd.openxmlformats-officedocument.presentationml.notesSlide+xml"/>
  <Override PartName="/ppt/comments/modernComment51.xml" ContentType="application/vnd.ms-powerpoint.comments+xml"/>
  <Override PartName="/ppt/slides/slide52.xml" ContentType="application/vnd.openxmlformats-officedocument.presentationml.slide+xml"/>
  <Override PartName="/ppt/notesSlides/notesSlide52.xml" ContentType="application/vnd.openxmlformats-officedocument.presentationml.notesSlide+xml"/>
  <Override PartName="/ppt/comments/modernComment52.xml" ContentType="application/vnd.ms-powerpoint.comments+xml"/>
  <Override PartName="/ppt/slides/slide53.xml" ContentType="application/vnd.openxmlformats-officedocument.presentationml.slide+xml"/>
  <Override PartName="/ppt/notesSlides/notesSlide53.xml" ContentType="application/vnd.openxmlformats-officedocument.presentationml.notesSlide+xml"/>
  <Override PartName="/ppt/comments/modernComment53.xml" ContentType="application/vnd.ms-powerpoint.comments+xml"/>
  <Override PartName="/ppt/slides/slide54.xml" ContentType="application/vnd.openxmlformats-officedocument.presentationml.slide+xml"/>
  <Override PartName="/ppt/notesSlides/notesSlide54.xml" ContentType="application/vnd.openxmlformats-officedocument.presentationml.notesSlide+xml"/>
  <Override PartName="/ppt/comments/modernComment54.xml" ContentType="application/vnd.ms-powerpoint.comments+xml"/>
  <Override PartName="/ppt/slides/slide55.xml" ContentType="application/vnd.openxmlformats-officedocument.presentationml.slide+xml"/>
  <Override PartName="/ppt/notesSlides/notesSlide55.xml" ContentType="application/vnd.openxmlformats-officedocument.presentationml.notesSlide+xml"/>
  <Override PartName="/ppt/comments/modernComment55.xml" ContentType="application/vnd.ms-powerpoint.comments+xml"/>
  <Override PartName="/ppt/slides/slide56.xml" ContentType="application/vnd.openxmlformats-officedocument.presentationml.slide+xml"/>
  <Override PartName="/ppt/notesSlides/notesSlide56.xml" ContentType="application/vnd.openxmlformats-officedocument.presentationml.notesSlide+xml"/>
  <Override PartName="/ppt/comments/modernComment56.xml" ContentType="application/vnd.ms-powerpoint.comments+xml"/>
  <Override PartName="/ppt/slides/slide57.xml" ContentType="application/vnd.openxmlformats-officedocument.presentationml.slide+xml"/>
  <Override PartName="/ppt/notesSlides/notesSlide57.xml" ContentType="application/vnd.openxmlformats-officedocument.presentationml.notesSlide+xml"/>
  <Override PartName="/ppt/comments/modernComment57.xml" ContentType="application/vnd.ms-powerpoint.comments+xml"/>
  <Override PartName="/ppt/slides/slide58.xml" ContentType="application/vnd.openxmlformats-officedocument.presentationml.slide+xml"/>
  <Override PartName="/ppt/notesSlides/notesSlide58.xml" ContentType="application/vnd.openxmlformats-officedocument.presentationml.notesSlide+xml"/>
  <Override PartName="/ppt/comments/modernComment58.xml" ContentType="application/vnd.ms-powerpoint.comments+xml"/>
  <Override PartName="/ppt/slides/slide59.xml" ContentType="application/vnd.openxmlformats-officedocument.presentationml.slide+xml"/>
  <Override PartName="/ppt/notesSlides/notesSlide59.xml" ContentType="application/vnd.openxmlformats-officedocument.presentationml.notesSlide+xml"/>
  <Override PartName="/ppt/comments/modernComment59.xml" ContentType="application/vnd.ms-powerpoint.comments+xml"/>
  <Override PartName="/ppt/slides/slide60.xml" ContentType="application/vnd.openxmlformats-officedocument.presentationml.slide+xml"/>
  <Override PartName="/ppt/notesSlides/notesSlide60.xml" ContentType="application/vnd.openxmlformats-officedocument.presentationml.notesSlide+xml"/>
  <Override PartName="/ppt/comments/modernComment60.xml" ContentType="application/vnd.ms-powerpoint.comments+xml"/>
  <Override PartName="/ppt/slides/slide61.xml" ContentType="application/vnd.openxmlformats-officedocument.presentationml.slide+xml"/>
  <Override PartName="/ppt/notesSlides/notesSlide61.xml" ContentType="application/vnd.openxmlformats-officedocument.presentationml.notesSlide+xml"/>
  <Override PartName="/ppt/comments/modernComment61.xml" ContentType="application/vnd.ms-powerpoint.comments+xml"/>
  <Override PartName="/ppt/slides/slide62.xml" ContentType="application/vnd.openxmlformats-officedocument.presentationml.slide+xml"/>
  <Override PartName="/ppt/notesSlides/notesSlide62.xml" ContentType="application/vnd.openxmlformats-officedocument.presentationml.notesSlide+xml"/>
  <Override PartName="/ppt/comments/modernComment62.xml" ContentType="application/vnd.ms-powerpoint.comments+xml"/>
  <Override PartName="/ppt/slides/slide63.xml" ContentType="application/vnd.openxmlformats-officedocument.presentationml.slide+xml"/>
  <Override PartName="/ppt/notesSlides/notesSlide63.xml" ContentType="application/vnd.openxmlformats-officedocument.presentationml.notesSlide+xml"/>
  <Override PartName="/ppt/comments/modernComment63.xml" ContentType="application/vnd.ms-powerpoint.comments+xml"/>
  <Override PartName="/ppt/slides/slide64.xml" ContentType="application/vnd.openxmlformats-officedocument.presentationml.slide+xml"/>
  <Override PartName="/ppt/notesSlides/notesSlide64.xml" ContentType="application/vnd.openxmlformats-officedocument.presentationml.notesSlide+xml"/>
  <Override PartName="/ppt/comments/modernComment64.xml" ContentType="application/vnd.ms-powerpoint.comments+xml"/>
  <Override PartName="/ppt/slides/slide65.xml" ContentType="application/vnd.openxmlformats-officedocument.presentationml.slide+xml"/>
  <Override PartName="/ppt/notesSlides/notesSlide65.xml" ContentType="application/vnd.openxmlformats-officedocument.presentationml.notesSlide+xml"/>
  <Override PartName="/ppt/comments/modernComment65.xml" ContentType="application/vnd.ms-powerpoint.comments+xml"/>
  <Override PartName="/ppt/slides/slide66.xml" ContentType="application/vnd.openxmlformats-officedocument.presentationml.slide+xml"/>
  <Override PartName="/ppt/notesSlides/notesSlide66.xml" ContentType="application/vnd.openxmlformats-officedocument.presentationml.notesSlide+xml"/>
  <Override PartName="/ppt/comments/modernComment66.xml" ContentType="application/vnd.ms-powerpoint.comments+xml"/>
  <Override PartName="/ppt/slides/slide67.xml" ContentType="application/vnd.openxmlformats-officedocument.presentationml.slide+xml"/>
  <Override PartName="/ppt/notesSlides/notesSlide67.xml" ContentType="application/vnd.openxmlformats-officedocument.presentationml.notesSlide+xml"/>
  <Override PartName="/ppt/comments/modernComment67.xml" ContentType="application/vnd.ms-powerpoint.comments+xml"/>
  <Override PartName="/ppt/slides/slide68.xml" ContentType="application/vnd.openxmlformats-officedocument.presentationml.slide+xml"/>
  <Override PartName="/ppt/notesSlides/notesSlide68.xml" ContentType="application/vnd.openxmlformats-officedocument.presentationml.notesSlide+xml"/>
  <Override PartName="/ppt/comments/modernComment68.xml" ContentType="application/vnd.ms-powerpoint.comments+xml"/>
  <Override PartName="/ppt/slides/slide69.xml" ContentType="application/vnd.openxmlformats-officedocument.presentationml.slide+xml"/>
  <Override PartName="/ppt/notesSlides/notesSlide69.xml" ContentType="application/vnd.openxmlformats-officedocument.presentationml.notesSlide+xml"/>
  <Override PartName="/ppt/comments/modernComment69.xml" ContentType="application/vnd.ms-powerpoint.comments+xml"/>
  <Override PartName="/ppt/slides/slide70.xml" ContentType="application/vnd.openxmlformats-officedocument.presentationml.slide+xml"/>
  <Override PartName="/ppt/notesSlides/notesSlide70.xml" ContentType="application/vnd.openxmlformats-officedocument.presentationml.notesSlide+xml"/>
  <Override PartName="/ppt/comments/modernComment70.xml" ContentType="application/vnd.ms-powerpoint.comments+xml"/>
  <Override PartName="/ppt/slides/slide71.xml" ContentType="application/vnd.openxmlformats-officedocument.presentationml.slide+xml"/>
  <Override PartName="/ppt/notesSlides/notesSlide71.xml" ContentType="application/vnd.openxmlformats-officedocument.presentationml.notesSlide+xml"/>
  <Override PartName="/ppt/comments/modernComment71.xml" ContentType="application/vnd.ms-powerpoint.comments+xml"/>
  <Override PartName="/ppt/slides/slide72.xml" ContentType="application/vnd.openxmlformats-officedocument.presentationml.slide+xml"/>
  <Override PartName="/ppt/notesSlides/notesSlide72.xml" ContentType="application/vnd.openxmlformats-officedocument.presentationml.notesSlide+xml"/>
  <Override PartName="/ppt/comments/modernComment72.xml" ContentType="application/vnd.ms-powerpoint.comments+xml"/>
  <Override PartName="/ppt/slides/slide73.xml" ContentType="application/vnd.openxmlformats-officedocument.presentationml.slide+xml"/>
  <Override PartName="/ppt/notesSlides/notesSlide73.xml" ContentType="application/vnd.openxmlformats-officedocument.presentationml.notesSlide+xml"/>
  <Override PartName="/ppt/comments/modernComment73.xml" ContentType="application/vnd.ms-powerpoint.comments+xml"/>
  <Override PartName="/ppt/slides/slide74.xml" ContentType="application/vnd.openxmlformats-officedocument.presentationml.slide+xml"/>
  <Override PartName="/ppt/notesSlides/notesSlide74.xml" ContentType="application/vnd.openxmlformats-officedocument.presentationml.notesSlide+xml"/>
  <Override PartName="/ppt/comments/modernComment74.xml" ContentType="application/vnd.ms-powerpoint.comments+xml"/>
  <Override PartName="/ppt/slides/slide75.xml" ContentType="application/vnd.openxmlformats-officedocument.presentationml.slide+xml"/>
  <Override PartName="/ppt/notesSlides/notesSlide75.xml" ContentType="application/vnd.openxmlformats-officedocument.presentationml.notesSlide+xml"/>
  <Override PartName="/ppt/comments/modernComment75.xml" ContentType="application/vnd.ms-powerpoint.comments+xml"/>
  <Override PartName="/ppt/slides/slide76.xml" ContentType="application/vnd.openxmlformats-officedocument.presentationml.slide+xml"/>
  <Override PartName="/ppt/notesSlides/notesSlide76.xml" ContentType="application/vnd.openxmlformats-officedocument.presentationml.notesSlide+xml"/>
  <Override PartName="/ppt/comments/modernComment76.xml" ContentType="application/vnd.ms-powerpoint.comments+xml"/>
  <Override PartName="/ppt/slides/slide77.xml" ContentType="application/vnd.openxmlformats-officedocument.presentationml.slide+xml"/>
  <Override PartName="/ppt/notesSlides/notesSlide77.xml" ContentType="application/vnd.openxmlformats-officedocument.presentationml.notesSlide+xml"/>
  <Override PartName="/ppt/comments/modernComment77.xml" ContentType="application/vnd.ms-powerpoint.comments+xml"/>
  <Override PartName="/ppt/slides/slide78.xml" ContentType="application/vnd.openxmlformats-officedocument.presentationml.slide+xml"/>
  <Override PartName="/ppt/notesSlides/notesSlide78.xml" ContentType="application/vnd.openxmlformats-officedocument.presentationml.notesSlide+xml"/>
  <Override PartName="/ppt/comments/modernComment78.xml" ContentType="application/vnd.ms-powerpoint.comments+xml"/>
  <Override PartName="/ppt/slides/slide79.xml" ContentType="application/vnd.openxmlformats-officedocument.presentationml.slide+xml"/>
  <Override PartName="/ppt/notesSlides/notesSlide79.xml" ContentType="application/vnd.openxmlformats-officedocument.presentationml.notesSlide+xml"/>
  <Override PartName="/ppt/comments/modernComment79.xml" ContentType="application/vnd.ms-powerpoint.comments+xml"/>
  <Override PartName="/ppt/slides/slide80.xml" ContentType="application/vnd.openxmlformats-officedocument.presentationml.slide+xml"/>
  <Override PartName="/ppt/notesSlides/notesSlide80.xml" ContentType="application/vnd.openxmlformats-officedocument.presentationml.notesSlide+xml"/>
  <Override PartName="/ppt/comments/modernComment80.xml" ContentType="application/vnd.ms-powerpoint.comments+xml"/>
  <Override PartName="/ppt/slides/slide81.xml" ContentType="application/vnd.openxmlformats-officedocument.presentationml.slide+xml"/>
  <Override PartName="/ppt/notesSlides/notesSlide81.xml" ContentType="application/vnd.openxmlformats-officedocument.presentationml.notesSlide+xml"/>
  <Override PartName="/ppt/comments/modernComment81.xml" ContentType="application/vnd.ms-powerpoint.comments+xml"/>
  <Override PartName="/ppt/slides/slide82.xml" ContentType="application/vnd.openxmlformats-officedocument.presentationml.slide+xml"/>
  <Override PartName="/ppt/notesSlides/notesSlide82.xml" ContentType="application/vnd.openxmlformats-officedocument.presentationml.notesSlide+xml"/>
  <Override PartName="/ppt/comments/modernComment82.xml" ContentType="application/vnd.ms-powerpoint.comments+xml"/>
  <Override PartName="/ppt/slides/slide83.xml" ContentType="application/vnd.openxmlformats-officedocument.presentationml.slide+xml"/>
  <Override PartName="/ppt/notesSlides/notesSlide83.xml" ContentType="application/vnd.openxmlformats-officedocument.presentationml.notesSlide+xml"/>
  <Override PartName="/ppt/comments/modernComment83.xml" ContentType="application/vnd.ms-powerpoint.comments+xml"/>
  <Override PartName="/ppt/slides/slide84.xml" ContentType="application/vnd.openxmlformats-officedocument.presentationml.slide+xml"/>
  <Override PartName="/ppt/notesSlides/notesSlide84.xml" ContentType="application/vnd.openxmlformats-officedocument.presentationml.notesSlide+xml"/>
  <Override PartName="/ppt/comments/modernComment84.xml" ContentType="application/vnd.ms-powerpoint.comments+xml"/>
  <Override PartName="/ppt/slides/slide85.xml" ContentType="application/vnd.openxmlformats-officedocument.presentationml.slide+xml"/>
  <Override PartName="/ppt/notesSlides/notesSlide85.xml" ContentType="application/vnd.openxmlformats-officedocument.presentationml.notesSlide+xml"/>
  <Override PartName="/ppt/comments/modernComment85.xml" ContentType="application/vnd.ms-powerpoint.comments+xml"/>
  <Override PartName="/ppt/slides/slide86.xml" ContentType="application/vnd.openxmlformats-officedocument.presentationml.slide+xml"/>
  <Override PartName="/ppt/notesSlides/notesSlide86.xml" ContentType="application/vnd.openxmlformats-officedocument.presentationml.notesSlide+xml"/>
  <Override PartName="/ppt/comments/modernComment86.xml" ContentType="application/vnd.ms-powerpoint.comments+xml"/>
  <Override PartName="/ppt/slides/slide87.xml" ContentType="application/vnd.openxmlformats-officedocument.presentationml.slide+xml"/>
  <Override PartName="/ppt/notesSlides/notesSlide87.xml" ContentType="application/vnd.openxmlformats-officedocument.presentationml.notesSlide+xml"/>
  <Override PartName="/ppt/comments/modernComment87.xml" ContentType="application/vnd.ms-powerpoint.comments+xml"/>
  <Override PartName="/ppt/slides/slide88.xml" ContentType="application/vnd.openxmlformats-officedocument.presentationml.slide+xml"/>
  <Override PartName="/ppt/notesSlides/notesSlide88.xml" ContentType="application/vnd.openxmlformats-officedocument.presentationml.notesSlide+xml"/>
  <Override PartName="/ppt/comments/modernComment88.xml" ContentType="application/vnd.ms-powerpoint.comments+xml"/>
  <Override PartName="/ppt/slides/slide89.xml" ContentType="application/vnd.openxmlformats-officedocument.presentationml.slide+xml"/>
  <Override PartName="/ppt/notesSlides/notesSlide89.xml" ContentType="application/vnd.openxmlformats-officedocument.presentationml.notesSlide+xml"/>
  <Override PartName="/ppt/comments/modernComment89.xml" ContentType="application/vnd.ms-powerpoint.comments+xml"/>
  <Override PartName="/ppt/slides/slide90.xml" ContentType="application/vnd.openxmlformats-officedocument.presentationml.slide+xml"/>
  <Override PartName="/ppt/notesSlides/notesSlide90.xml" ContentType="application/vnd.openxmlformats-officedocument.presentationml.notesSlide+xml"/>
  <Override PartName="/ppt/comments/modernComment90.xml" ContentType="application/vnd.ms-powerpoint.comments+xml"/>
  <Override PartName="/ppt/slides/slide91.xml" ContentType="application/vnd.openxmlformats-officedocument.presentationml.slide+xml"/>
  <Override PartName="/ppt/notesSlides/notesSlide91.xml" ContentType="application/vnd.openxmlformats-officedocument.presentationml.notesSlide+xml"/>
  <Override PartName="/ppt/comments/modernComment91.xml" ContentType="application/vnd.ms-powerpoint.comments+xml"/>
  <Override PartName="/ppt/slides/slide92.xml" ContentType="application/vnd.openxmlformats-officedocument.presentationml.slide+xml"/>
  <Override PartName="/ppt/notesSlides/notesSlide92.xml" ContentType="application/vnd.openxmlformats-officedocument.presentationml.notesSlide+xml"/>
  <Override PartName="/ppt/comments/modernComment92.xml" ContentType="application/vnd.ms-powerpoint.comments+xml"/>
  <Override PartName="/ppt/slides/slide93.xml" ContentType="application/vnd.openxmlformats-officedocument.presentationml.slide+xml"/>
  <Override PartName="/ppt/notesSlides/notesSlide93.xml" ContentType="application/vnd.openxmlformats-officedocument.presentationml.notesSlide+xml"/>
  <Override PartName="/ppt/comments/modernComment93.xml" ContentType="application/vnd.ms-powerpoint.comments+xml"/>
  <Override PartName="/ppt/slides/slide94.xml" ContentType="application/vnd.openxmlformats-officedocument.presentationml.slide+xml"/>
  <Override PartName="/ppt/notesSlides/notesSlide94.xml" ContentType="application/vnd.openxmlformats-officedocument.presentationml.notesSlide+xml"/>
  <Override PartName="/ppt/comments/modernComment94.xml" ContentType="application/vnd.ms-powerpoint.comments+xml"/>
  <Override PartName="/ppt/slides/slide95.xml" ContentType="application/vnd.openxmlformats-officedocument.presentationml.slide+xml"/>
  <Override PartName="/ppt/notesSlides/notesSlide95.xml" ContentType="application/vnd.openxmlformats-officedocument.presentationml.notesSlide+xml"/>
  <Override PartName="/ppt/comments/modernComment95.xml" ContentType="application/vnd.ms-powerpoint.comments+xml"/>
  <Override PartName="/ppt/slides/slide96.xml" ContentType="application/vnd.openxmlformats-officedocument.presentationml.slide+xml"/>
  <Override PartName="/ppt/notesSlides/notesSlide96.xml" ContentType="application/vnd.openxmlformats-officedocument.presentationml.notesSlide+xml"/>
  <Override PartName="/ppt/comments/modernComment96.xml" ContentType="application/vnd.ms-powerpoint.comments+xml"/>
  <Override PartName="/ppt/slides/slide97.xml" ContentType="application/vnd.openxmlformats-officedocument.presentationml.slide+xml"/>
  <Override PartName="/ppt/notesSlides/notesSlide97.xml" ContentType="application/vnd.openxmlformats-officedocument.presentationml.notesSlide+xml"/>
  <Override PartName="/ppt/comments/modernComment97.xml" ContentType="application/vnd.ms-powerpoint.comments+xml"/>
  <Override PartName="/ppt/slides/slide98.xml" ContentType="application/vnd.openxmlformats-officedocument.presentationml.slide+xml"/>
  <Override PartName="/ppt/notesSlides/notesSlide98.xml" ContentType="application/vnd.openxmlformats-officedocument.presentationml.notesSlide+xml"/>
  <Override PartName="/ppt/comments/modernComment98.xml" ContentType="application/vnd.ms-powerpoint.comments+xml"/>
</Types>
</file>

<file path=_rels/.rels>&#65279;<?xml version="1.0" encoding="utf-8"?><Relationships xmlns="http://schemas.openxmlformats.org/package/2006/relationships"><Relationship Type="http://schemas.openxmlformats.org/package/2006/relationships/metadata/core-properties" Target="/docProps/core.xml" Id="R212f90d9d6f24276" /><Relationship Type="http://schemas.openxmlformats.org/officeDocument/2006/relationships/extended-properties" Target="/docProps/app.xml" Id="Rbd5e76edd2054362" /><Relationship Type="http://schemas.openxmlformats.org/officeDocument/2006/relationships/officeDocument" Target="/ppt/presentation.xml" Id="Rf3d3649fdc944879" /></Relationships>
</file>

<file path=ppt/presentation.xml><?xml version="1.0" encoding="utf-8"?>
<p:presentation xmlns:p="http://schemas.openxmlformats.org/presentationml/2006/main">
  <p:sldMasterIdLst>
    <p:sldMasterId xmlns:r="http://schemas.openxmlformats.org/officeDocument/2006/relationships" id="2147483648" r:id="R835b7eabc1b149a0"/>
  </p:sldMasterIdLst>
  <p:notesMasterIdLst>
    <p:notesMasterId xmlns:r="http://schemas.openxmlformats.org/officeDocument/2006/relationships" r:id="R76cef490ca6a4294"/>
  </p:notesMasterIdLst>
  <p:sldIdLst>
    <p:sldId xmlns:r="http://schemas.openxmlformats.org/officeDocument/2006/relationships" id="256" r:id="R35843c87256f4402"/>
    <p:sldId xmlns:r="http://schemas.openxmlformats.org/officeDocument/2006/relationships" id="257" r:id="R3654b8b8209a4eff"/>
    <p:sldId xmlns:r="http://schemas.openxmlformats.org/officeDocument/2006/relationships" id="258" r:id="R8afcefef5e264b7c"/>
    <p:sldId xmlns:r="http://schemas.openxmlformats.org/officeDocument/2006/relationships" id="259" r:id="R04d795360b3f4b27"/>
    <p:sldId xmlns:r="http://schemas.openxmlformats.org/officeDocument/2006/relationships" id="260" r:id="R0a934277fe5a41e2"/>
    <p:sldId xmlns:r="http://schemas.openxmlformats.org/officeDocument/2006/relationships" id="261" r:id="R9fe8b32ac9ef4362"/>
    <p:sldId xmlns:r="http://schemas.openxmlformats.org/officeDocument/2006/relationships" id="262" r:id="R8ec688174d04465a"/>
    <p:sldId xmlns:r="http://schemas.openxmlformats.org/officeDocument/2006/relationships" id="263" r:id="Rf66b9e7c64b44688"/>
    <p:sldId xmlns:r="http://schemas.openxmlformats.org/officeDocument/2006/relationships" id="264" r:id="R72e8b4a23d0b45f4"/>
    <p:sldId xmlns:r="http://schemas.openxmlformats.org/officeDocument/2006/relationships" id="265" r:id="Rf655cb31b7f647b0"/>
    <p:sldId xmlns:r="http://schemas.openxmlformats.org/officeDocument/2006/relationships" id="266" r:id="R7e952098251b4dd0"/>
    <p:sldId xmlns:r="http://schemas.openxmlformats.org/officeDocument/2006/relationships" id="267" r:id="R30e606d40eaa49ae"/>
    <p:sldId xmlns:r="http://schemas.openxmlformats.org/officeDocument/2006/relationships" id="268" r:id="R496c8169e0be4737"/>
    <p:sldId xmlns:r="http://schemas.openxmlformats.org/officeDocument/2006/relationships" id="269" r:id="R8feeb9c1fecb4f48"/>
    <p:sldId xmlns:r="http://schemas.openxmlformats.org/officeDocument/2006/relationships" id="270" r:id="R4e565f3d8fb34050"/>
    <p:sldId xmlns:r="http://schemas.openxmlformats.org/officeDocument/2006/relationships" id="271" r:id="Rfa81a77f7e8c486f"/>
    <p:sldId xmlns:r="http://schemas.openxmlformats.org/officeDocument/2006/relationships" id="272" r:id="R80859961a7474264"/>
    <p:sldId xmlns:r="http://schemas.openxmlformats.org/officeDocument/2006/relationships" id="273" r:id="Rb480a15eabd94f9f"/>
    <p:sldId xmlns:r="http://schemas.openxmlformats.org/officeDocument/2006/relationships" id="274" r:id="Rcff5ba9204b54f41"/>
    <p:sldId xmlns:r="http://schemas.openxmlformats.org/officeDocument/2006/relationships" id="275" r:id="R060164526c234079"/>
    <p:sldId xmlns:r="http://schemas.openxmlformats.org/officeDocument/2006/relationships" id="276" r:id="Rca18336754d84c4d"/>
    <p:sldId xmlns:r="http://schemas.openxmlformats.org/officeDocument/2006/relationships" id="277" r:id="R15303026fa7149b4"/>
    <p:sldId xmlns:r="http://schemas.openxmlformats.org/officeDocument/2006/relationships" id="278" r:id="R993eb074004f4635"/>
    <p:sldId xmlns:r="http://schemas.openxmlformats.org/officeDocument/2006/relationships" id="279" r:id="Rca183b2fe9834f21"/>
    <p:sldId xmlns:r="http://schemas.openxmlformats.org/officeDocument/2006/relationships" id="280" r:id="R8a3c772359174487"/>
    <p:sldId xmlns:r="http://schemas.openxmlformats.org/officeDocument/2006/relationships" id="281" r:id="R4ff8df4178f04be8"/>
    <p:sldId xmlns:r="http://schemas.openxmlformats.org/officeDocument/2006/relationships" id="282" r:id="Ra9fa4723e06a42ad"/>
    <p:sldId xmlns:r="http://schemas.openxmlformats.org/officeDocument/2006/relationships" id="283" r:id="R6d3ff660c7f14e2e"/>
    <p:sldId xmlns:r="http://schemas.openxmlformats.org/officeDocument/2006/relationships" id="284" r:id="R7925482ae1874143"/>
    <p:sldId xmlns:r="http://schemas.openxmlformats.org/officeDocument/2006/relationships" id="285" r:id="R69634acabe7f46de"/>
    <p:sldId xmlns:r="http://schemas.openxmlformats.org/officeDocument/2006/relationships" id="286" r:id="R093364e89030425c"/>
    <p:sldId xmlns:r="http://schemas.openxmlformats.org/officeDocument/2006/relationships" id="287" r:id="Rdec550a00877413e"/>
    <p:sldId xmlns:r="http://schemas.openxmlformats.org/officeDocument/2006/relationships" id="288" r:id="Rbb9d98b413714337"/>
    <p:sldId xmlns:r="http://schemas.openxmlformats.org/officeDocument/2006/relationships" id="289" r:id="R77956e96d5024c46"/>
    <p:sldId xmlns:r="http://schemas.openxmlformats.org/officeDocument/2006/relationships" id="290" r:id="Rbf47a7873d5048d3"/>
    <p:sldId xmlns:r="http://schemas.openxmlformats.org/officeDocument/2006/relationships" id="291" r:id="R36a3786451234f6f"/>
    <p:sldId xmlns:r="http://schemas.openxmlformats.org/officeDocument/2006/relationships" id="292" r:id="R31c91898472746e2"/>
    <p:sldId xmlns:r="http://schemas.openxmlformats.org/officeDocument/2006/relationships" id="293" r:id="Re736bb4f6853442b"/>
    <p:sldId xmlns:r="http://schemas.openxmlformats.org/officeDocument/2006/relationships" id="294" r:id="R1f5f47483c344583"/>
    <p:sldId xmlns:r="http://schemas.openxmlformats.org/officeDocument/2006/relationships" id="295" r:id="R9a8d4be1af104d21"/>
    <p:sldId xmlns:r="http://schemas.openxmlformats.org/officeDocument/2006/relationships" id="296" r:id="Re452b16a7a854d1b"/>
    <p:sldId xmlns:r="http://schemas.openxmlformats.org/officeDocument/2006/relationships" id="297" r:id="R15a818502f774193"/>
    <p:sldId xmlns:r="http://schemas.openxmlformats.org/officeDocument/2006/relationships" id="298" r:id="R600b702994d54828"/>
    <p:sldId xmlns:r="http://schemas.openxmlformats.org/officeDocument/2006/relationships" id="299" r:id="R1bf2b4df1ae74798"/>
    <p:sldId xmlns:r="http://schemas.openxmlformats.org/officeDocument/2006/relationships" id="300" r:id="R97ab76dd03b2410a"/>
    <p:sldId xmlns:r="http://schemas.openxmlformats.org/officeDocument/2006/relationships" id="301" r:id="R909b27ee46254838"/>
    <p:sldId xmlns:r="http://schemas.openxmlformats.org/officeDocument/2006/relationships" id="302" r:id="R138952d2a9f946ca"/>
    <p:sldId xmlns:r="http://schemas.openxmlformats.org/officeDocument/2006/relationships" id="303" r:id="Rcda568e3a7664738"/>
    <p:sldId xmlns:r="http://schemas.openxmlformats.org/officeDocument/2006/relationships" id="304" r:id="R777b354598324479"/>
    <p:sldId xmlns:r="http://schemas.openxmlformats.org/officeDocument/2006/relationships" id="305" r:id="R77c1ce5cc3d544dd"/>
    <p:sldId xmlns:r="http://schemas.openxmlformats.org/officeDocument/2006/relationships" id="306" r:id="Rf751b0a62fea4a1c"/>
    <p:sldId xmlns:r="http://schemas.openxmlformats.org/officeDocument/2006/relationships" id="307" r:id="R48bbeb60e5904786"/>
    <p:sldId xmlns:r="http://schemas.openxmlformats.org/officeDocument/2006/relationships" id="308" r:id="R5fead6541cba419c"/>
    <p:sldId xmlns:r="http://schemas.openxmlformats.org/officeDocument/2006/relationships" id="309" r:id="R0fc267d328504a1e"/>
    <p:sldId xmlns:r="http://schemas.openxmlformats.org/officeDocument/2006/relationships" id="310" r:id="Rae6b0933e75e46bd"/>
    <p:sldId xmlns:r="http://schemas.openxmlformats.org/officeDocument/2006/relationships" id="311" r:id="R032479fef8a94bfe"/>
    <p:sldId xmlns:r="http://schemas.openxmlformats.org/officeDocument/2006/relationships" id="312" r:id="R3a7879a827c84378"/>
    <p:sldId xmlns:r="http://schemas.openxmlformats.org/officeDocument/2006/relationships" id="313" r:id="Rc34bdaa19031410f"/>
    <p:sldId xmlns:r="http://schemas.openxmlformats.org/officeDocument/2006/relationships" id="314" r:id="R60f00b3382d445b0"/>
    <p:sldId xmlns:r="http://schemas.openxmlformats.org/officeDocument/2006/relationships" id="315" r:id="Rac728e4d8917436a"/>
    <p:sldId xmlns:r="http://schemas.openxmlformats.org/officeDocument/2006/relationships" id="316" r:id="Re77ab7c4a68e4b7f"/>
    <p:sldId xmlns:r="http://schemas.openxmlformats.org/officeDocument/2006/relationships" id="317" r:id="R327a0a68a1484542"/>
    <p:sldId xmlns:r="http://schemas.openxmlformats.org/officeDocument/2006/relationships" id="318" r:id="R4c134f7c81d648f7"/>
    <p:sldId xmlns:r="http://schemas.openxmlformats.org/officeDocument/2006/relationships" id="319" r:id="R3d565356e60e436d"/>
    <p:sldId xmlns:r="http://schemas.openxmlformats.org/officeDocument/2006/relationships" id="320" r:id="Rcab6aecc62eb411e"/>
    <p:sldId xmlns:r="http://schemas.openxmlformats.org/officeDocument/2006/relationships" id="321" r:id="R422e26607c2e4f54"/>
    <p:sldId xmlns:r="http://schemas.openxmlformats.org/officeDocument/2006/relationships" id="322" r:id="Ra0ffa735ae664ef2"/>
    <p:sldId xmlns:r="http://schemas.openxmlformats.org/officeDocument/2006/relationships" id="323" r:id="Rdf98f3f0dd7347eb"/>
    <p:sldId xmlns:r="http://schemas.openxmlformats.org/officeDocument/2006/relationships" id="324" r:id="R3b4daeae888a4c2f"/>
    <p:sldId xmlns:r="http://schemas.openxmlformats.org/officeDocument/2006/relationships" id="325" r:id="Rd759b7f3ed1e4e85"/>
    <p:sldId xmlns:r="http://schemas.openxmlformats.org/officeDocument/2006/relationships" id="326" r:id="R478b85dffe334280"/>
    <p:sldId xmlns:r="http://schemas.openxmlformats.org/officeDocument/2006/relationships" id="327" r:id="R6ba04efc837842f0"/>
    <p:sldId xmlns:r="http://schemas.openxmlformats.org/officeDocument/2006/relationships" id="328" r:id="R714cbe1faf744525"/>
    <p:sldId xmlns:r="http://schemas.openxmlformats.org/officeDocument/2006/relationships" id="329" r:id="R74a52ecbb7b6445a"/>
    <p:sldId xmlns:r="http://schemas.openxmlformats.org/officeDocument/2006/relationships" id="330" r:id="Rf9f7c7222c144dbc"/>
    <p:sldId xmlns:r="http://schemas.openxmlformats.org/officeDocument/2006/relationships" id="331" r:id="R62639e170c0b4299"/>
    <p:sldId xmlns:r="http://schemas.openxmlformats.org/officeDocument/2006/relationships" id="332" r:id="R967bcf9a98034dca"/>
    <p:sldId xmlns:r="http://schemas.openxmlformats.org/officeDocument/2006/relationships" id="333" r:id="Rf54cc13e1ca640a9"/>
    <p:sldId xmlns:r="http://schemas.openxmlformats.org/officeDocument/2006/relationships" id="334" r:id="Rb5f3dc2dcb66460c"/>
    <p:sldId xmlns:r="http://schemas.openxmlformats.org/officeDocument/2006/relationships" id="335" r:id="R83e216d2edff49bd"/>
    <p:sldId xmlns:r="http://schemas.openxmlformats.org/officeDocument/2006/relationships" id="336" r:id="R3f91c04d6f124982"/>
    <p:sldId xmlns:r="http://schemas.openxmlformats.org/officeDocument/2006/relationships" id="337" r:id="R80166b1691cd4ec4"/>
    <p:sldId xmlns:r="http://schemas.openxmlformats.org/officeDocument/2006/relationships" id="338" r:id="Rd81863751b2742b8"/>
    <p:sldId xmlns:r="http://schemas.openxmlformats.org/officeDocument/2006/relationships" id="339" r:id="Rcbf3d6feeb51404e"/>
    <p:sldId xmlns:r="http://schemas.openxmlformats.org/officeDocument/2006/relationships" id="340" r:id="R100c74a5cc154656"/>
    <p:sldId xmlns:r="http://schemas.openxmlformats.org/officeDocument/2006/relationships" id="341" r:id="R809fced8848e47dc"/>
    <p:sldId xmlns:r="http://schemas.openxmlformats.org/officeDocument/2006/relationships" id="342" r:id="Rf56c819c0e294498"/>
    <p:sldId xmlns:r="http://schemas.openxmlformats.org/officeDocument/2006/relationships" id="343" r:id="Rac0d3d88f5e345ca"/>
    <p:sldId xmlns:r="http://schemas.openxmlformats.org/officeDocument/2006/relationships" id="344" r:id="Rf5446be095ec4025"/>
    <p:sldId xmlns:r="http://schemas.openxmlformats.org/officeDocument/2006/relationships" id="345" r:id="Rf9c52a0737e94cd8"/>
    <p:sldId xmlns:r="http://schemas.openxmlformats.org/officeDocument/2006/relationships" id="346" r:id="Re3d45e614a124811"/>
    <p:sldId xmlns:r="http://schemas.openxmlformats.org/officeDocument/2006/relationships" id="347" r:id="R7774c2bc2d934783"/>
    <p:sldId xmlns:r="http://schemas.openxmlformats.org/officeDocument/2006/relationships" id="348" r:id="R394299dc1a1d4702"/>
    <p:sldId xmlns:r="http://schemas.openxmlformats.org/officeDocument/2006/relationships" id="349" r:id="Rb48e9c61dd9b4f44"/>
    <p:sldId xmlns:r="http://schemas.openxmlformats.org/officeDocument/2006/relationships" id="350" r:id="R5d676f833fb041cc"/>
    <p:sldId xmlns:r="http://schemas.openxmlformats.org/officeDocument/2006/relationships" id="351" r:id="R6df9ec296bc4444b"/>
    <p:sldId xmlns:r="http://schemas.openxmlformats.org/officeDocument/2006/relationships" id="352" r:id="R1691a01d91cc40ea"/>
    <p:sldId xmlns:r="http://schemas.openxmlformats.org/officeDocument/2006/relationships" id="353" r:id="Rb6645af527dd4a77"/>
  </p:sldIdLst>
  <p:sldSz cx="12192000" cy="6858000"/>
  <p:notesSz cx="6858000" cy="9144000"/>
</p:presentation>
</file>

<file path=ppt/authors.xml><?xml version="1.0" encoding="utf-8"?>
<p188:authorLst xmlns:p188="http://schemas.microsoft.com/office/powerpoint/2018/8/main">
  <p188:author id="{917B661A-225D-46A7-AAE6-5369A519E5B2}" name="Course Author" initials="CA"/>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738dd4fd73d42f3" /><Relationship Type="http://schemas.openxmlformats.org/officeDocument/2006/relationships/slideMaster" Target="/ppt/slideMasters/slideMaster1.xml" Id="R835b7eabc1b149a0" /><Relationship Type="http://schemas.openxmlformats.org/officeDocument/2006/relationships/notesMaster" Target="/ppt/notesMasters/notesMaster1.xml" Id="R76cef490ca6a4294" /><Relationship Type="http://schemas.openxmlformats.org/officeDocument/2006/relationships/presProps" Target="/ppt/presProps.xml" Id="R2469b536ac5d4f30" /><Relationship Type="http://schemas.openxmlformats.org/officeDocument/2006/relationships/tableStyles" Target="/ppt/tableStyles.xml" Id="Rf4736a59cbf54c39" /><Relationship Type="http://schemas.microsoft.com/office/2018/10/relationships/authors" Target="/ppt/authors.xml" Id="R7558e34aca6b4b92" /><Relationship Type="http://schemas.openxmlformats.org/officeDocument/2006/relationships/slide" Target="/ppt/slides/slide1.xml" Id="R35843c87256f4402" /><Relationship Type="http://schemas.openxmlformats.org/officeDocument/2006/relationships/slide" Target="/ppt/slides/slide2.xml" Id="R3654b8b8209a4eff" /><Relationship Type="http://schemas.openxmlformats.org/officeDocument/2006/relationships/slide" Target="/ppt/slides/slide3.xml" Id="R8afcefef5e264b7c" /><Relationship Type="http://schemas.openxmlformats.org/officeDocument/2006/relationships/slide" Target="/ppt/slides/slide4.xml" Id="R04d795360b3f4b27" /><Relationship Type="http://schemas.openxmlformats.org/officeDocument/2006/relationships/slide" Target="/ppt/slides/slide5.xml" Id="R0a934277fe5a41e2" /><Relationship Type="http://schemas.openxmlformats.org/officeDocument/2006/relationships/slide" Target="/ppt/slides/slide6.xml" Id="R9fe8b32ac9ef4362" /><Relationship Type="http://schemas.openxmlformats.org/officeDocument/2006/relationships/slide" Target="/ppt/slides/slide7.xml" Id="R8ec688174d04465a" /><Relationship Type="http://schemas.openxmlformats.org/officeDocument/2006/relationships/slide" Target="/ppt/slides/slide8.xml" Id="Rf66b9e7c64b44688" /><Relationship Type="http://schemas.openxmlformats.org/officeDocument/2006/relationships/slide" Target="/ppt/slides/slide9.xml" Id="R72e8b4a23d0b45f4" /><Relationship Type="http://schemas.openxmlformats.org/officeDocument/2006/relationships/slide" Target="/ppt/slides/slide10.xml" Id="Rf655cb31b7f647b0" /><Relationship Type="http://schemas.openxmlformats.org/officeDocument/2006/relationships/slide" Target="/ppt/slides/slide11.xml" Id="R7e952098251b4dd0" /><Relationship Type="http://schemas.openxmlformats.org/officeDocument/2006/relationships/slide" Target="/ppt/slides/slide12.xml" Id="R30e606d40eaa49ae" /><Relationship Type="http://schemas.openxmlformats.org/officeDocument/2006/relationships/slide" Target="/ppt/slides/slide13.xml" Id="R496c8169e0be4737" /><Relationship Type="http://schemas.openxmlformats.org/officeDocument/2006/relationships/slide" Target="/ppt/slides/slide14.xml" Id="R8feeb9c1fecb4f48" /><Relationship Type="http://schemas.openxmlformats.org/officeDocument/2006/relationships/slide" Target="/ppt/slides/slide15.xml" Id="R4e565f3d8fb34050" /><Relationship Type="http://schemas.openxmlformats.org/officeDocument/2006/relationships/slide" Target="/ppt/slides/slide16.xml" Id="Rfa81a77f7e8c486f" /><Relationship Type="http://schemas.openxmlformats.org/officeDocument/2006/relationships/slide" Target="/ppt/slides/slide17.xml" Id="R80859961a7474264" /><Relationship Type="http://schemas.openxmlformats.org/officeDocument/2006/relationships/slide" Target="/ppt/slides/slide18.xml" Id="Rb480a15eabd94f9f" /><Relationship Type="http://schemas.openxmlformats.org/officeDocument/2006/relationships/slide" Target="/ppt/slides/slide19.xml" Id="Rcff5ba9204b54f41" /><Relationship Type="http://schemas.openxmlformats.org/officeDocument/2006/relationships/slide" Target="/ppt/slides/slide20.xml" Id="R060164526c234079" /><Relationship Type="http://schemas.openxmlformats.org/officeDocument/2006/relationships/slide" Target="/ppt/slides/slide21.xml" Id="Rca18336754d84c4d" /><Relationship Type="http://schemas.openxmlformats.org/officeDocument/2006/relationships/slide" Target="/ppt/slides/slide22.xml" Id="R15303026fa7149b4" /><Relationship Type="http://schemas.openxmlformats.org/officeDocument/2006/relationships/slide" Target="/ppt/slides/slide23.xml" Id="R993eb074004f4635" /><Relationship Type="http://schemas.openxmlformats.org/officeDocument/2006/relationships/slide" Target="/ppt/slides/slide24.xml" Id="Rca183b2fe9834f21" /><Relationship Type="http://schemas.openxmlformats.org/officeDocument/2006/relationships/slide" Target="/ppt/slides/slide25.xml" Id="R8a3c772359174487" /><Relationship Type="http://schemas.openxmlformats.org/officeDocument/2006/relationships/slide" Target="/ppt/slides/slide26.xml" Id="R4ff8df4178f04be8" /><Relationship Type="http://schemas.openxmlformats.org/officeDocument/2006/relationships/slide" Target="/ppt/slides/slide27.xml" Id="Ra9fa4723e06a42ad" /><Relationship Type="http://schemas.openxmlformats.org/officeDocument/2006/relationships/slide" Target="/ppt/slides/slide28.xml" Id="R6d3ff660c7f14e2e" /><Relationship Type="http://schemas.openxmlformats.org/officeDocument/2006/relationships/slide" Target="/ppt/slides/slide29.xml" Id="R7925482ae1874143" /><Relationship Type="http://schemas.openxmlformats.org/officeDocument/2006/relationships/slide" Target="/ppt/slides/slide30.xml" Id="R69634acabe7f46de" /><Relationship Type="http://schemas.openxmlformats.org/officeDocument/2006/relationships/slide" Target="/ppt/slides/slide31.xml" Id="R093364e89030425c" /><Relationship Type="http://schemas.openxmlformats.org/officeDocument/2006/relationships/slide" Target="/ppt/slides/slide32.xml" Id="Rdec550a00877413e" /><Relationship Type="http://schemas.openxmlformats.org/officeDocument/2006/relationships/slide" Target="/ppt/slides/slide33.xml" Id="Rbb9d98b413714337" /><Relationship Type="http://schemas.openxmlformats.org/officeDocument/2006/relationships/slide" Target="/ppt/slides/slide34.xml" Id="R77956e96d5024c46" /><Relationship Type="http://schemas.openxmlformats.org/officeDocument/2006/relationships/slide" Target="/ppt/slides/slide35.xml" Id="Rbf47a7873d5048d3" /><Relationship Type="http://schemas.openxmlformats.org/officeDocument/2006/relationships/slide" Target="/ppt/slides/slide36.xml" Id="R36a3786451234f6f" /><Relationship Type="http://schemas.openxmlformats.org/officeDocument/2006/relationships/slide" Target="/ppt/slides/slide37.xml" Id="R31c91898472746e2" /><Relationship Type="http://schemas.openxmlformats.org/officeDocument/2006/relationships/slide" Target="/ppt/slides/slide38.xml" Id="Re736bb4f6853442b" /><Relationship Type="http://schemas.openxmlformats.org/officeDocument/2006/relationships/slide" Target="/ppt/slides/slide39.xml" Id="R1f5f47483c344583" /><Relationship Type="http://schemas.openxmlformats.org/officeDocument/2006/relationships/slide" Target="/ppt/slides/slide40.xml" Id="R9a8d4be1af104d21" /><Relationship Type="http://schemas.openxmlformats.org/officeDocument/2006/relationships/slide" Target="/ppt/slides/slide41.xml" Id="Re452b16a7a854d1b" /><Relationship Type="http://schemas.openxmlformats.org/officeDocument/2006/relationships/slide" Target="/ppt/slides/slide42.xml" Id="R15a818502f774193" /><Relationship Type="http://schemas.openxmlformats.org/officeDocument/2006/relationships/slide" Target="/ppt/slides/slide43.xml" Id="R600b702994d54828" /><Relationship Type="http://schemas.openxmlformats.org/officeDocument/2006/relationships/slide" Target="/ppt/slides/slide44.xml" Id="R1bf2b4df1ae74798" /><Relationship Type="http://schemas.openxmlformats.org/officeDocument/2006/relationships/slide" Target="/ppt/slides/slide45.xml" Id="R97ab76dd03b2410a" /><Relationship Type="http://schemas.openxmlformats.org/officeDocument/2006/relationships/slide" Target="/ppt/slides/slide46.xml" Id="R909b27ee46254838" /><Relationship Type="http://schemas.openxmlformats.org/officeDocument/2006/relationships/slide" Target="/ppt/slides/slide47.xml" Id="R138952d2a9f946ca" /><Relationship Type="http://schemas.openxmlformats.org/officeDocument/2006/relationships/slide" Target="/ppt/slides/slide48.xml" Id="Rcda568e3a7664738" /><Relationship Type="http://schemas.openxmlformats.org/officeDocument/2006/relationships/slide" Target="/ppt/slides/slide49.xml" Id="R777b354598324479" /><Relationship Type="http://schemas.openxmlformats.org/officeDocument/2006/relationships/slide" Target="/ppt/slides/slide50.xml" Id="R77c1ce5cc3d544dd" /><Relationship Type="http://schemas.openxmlformats.org/officeDocument/2006/relationships/slide" Target="/ppt/slides/slide51.xml" Id="Rf751b0a62fea4a1c" /><Relationship Type="http://schemas.openxmlformats.org/officeDocument/2006/relationships/slide" Target="/ppt/slides/slide52.xml" Id="R48bbeb60e5904786" /><Relationship Type="http://schemas.openxmlformats.org/officeDocument/2006/relationships/slide" Target="/ppt/slides/slide53.xml" Id="R5fead6541cba419c" /><Relationship Type="http://schemas.openxmlformats.org/officeDocument/2006/relationships/slide" Target="/ppt/slides/slide54.xml" Id="R0fc267d328504a1e" /><Relationship Type="http://schemas.openxmlformats.org/officeDocument/2006/relationships/slide" Target="/ppt/slides/slide55.xml" Id="Rae6b0933e75e46bd" /><Relationship Type="http://schemas.openxmlformats.org/officeDocument/2006/relationships/slide" Target="/ppt/slides/slide56.xml" Id="R032479fef8a94bfe" /><Relationship Type="http://schemas.openxmlformats.org/officeDocument/2006/relationships/slide" Target="/ppt/slides/slide57.xml" Id="R3a7879a827c84378" /><Relationship Type="http://schemas.openxmlformats.org/officeDocument/2006/relationships/slide" Target="/ppt/slides/slide58.xml" Id="Rc34bdaa19031410f" /><Relationship Type="http://schemas.openxmlformats.org/officeDocument/2006/relationships/slide" Target="/ppt/slides/slide59.xml" Id="R60f00b3382d445b0" /><Relationship Type="http://schemas.openxmlformats.org/officeDocument/2006/relationships/slide" Target="/ppt/slides/slide60.xml" Id="Rac728e4d8917436a" /><Relationship Type="http://schemas.openxmlformats.org/officeDocument/2006/relationships/slide" Target="/ppt/slides/slide61.xml" Id="Re77ab7c4a68e4b7f" /><Relationship Type="http://schemas.openxmlformats.org/officeDocument/2006/relationships/slide" Target="/ppt/slides/slide62.xml" Id="R327a0a68a1484542" /><Relationship Type="http://schemas.openxmlformats.org/officeDocument/2006/relationships/slide" Target="/ppt/slides/slide63.xml" Id="R4c134f7c81d648f7" /><Relationship Type="http://schemas.openxmlformats.org/officeDocument/2006/relationships/slide" Target="/ppt/slides/slide64.xml" Id="R3d565356e60e436d" /><Relationship Type="http://schemas.openxmlformats.org/officeDocument/2006/relationships/slide" Target="/ppt/slides/slide65.xml" Id="Rcab6aecc62eb411e" /><Relationship Type="http://schemas.openxmlformats.org/officeDocument/2006/relationships/slide" Target="/ppt/slides/slide66.xml" Id="R422e26607c2e4f54" /><Relationship Type="http://schemas.openxmlformats.org/officeDocument/2006/relationships/slide" Target="/ppt/slides/slide67.xml" Id="Ra0ffa735ae664ef2" /><Relationship Type="http://schemas.openxmlformats.org/officeDocument/2006/relationships/slide" Target="/ppt/slides/slide68.xml" Id="Rdf98f3f0dd7347eb" /><Relationship Type="http://schemas.openxmlformats.org/officeDocument/2006/relationships/slide" Target="/ppt/slides/slide69.xml" Id="R3b4daeae888a4c2f" /><Relationship Type="http://schemas.openxmlformats.org/officeDocument/2006/relationships/slide" Target="/ppt/slides/slide70.xml" Id="Rd759b7f3ed1e4e85" /><Relationship Type="http://schemas.openxmlformats.org/officeDocument/2006/relationships/slide" Target="/ppt/slides/slide71.xml" Id="R478b85dffe334280" /><Relationship Type="http://schemas.openxmlformats.org/officeDocument/2006/relationships/slide" Target="/ppt/slides/slide72.xml" Id="R6ba04efc837842f0" /><Relationship Type="http://schemas.openxmlformats.org/officeDocument/2006/relationships/slide" Target="/ppt/slides/slide73.xml" Id="R714cbe1faf744525" /><Relationship Type="http://schemas.openxmlformats.org/officeDocument/2006/relationships/slide" Target="/ppt/slides/slide74.xml" Id="R74a52ecbb7b6445a" /><Relationship Type="http://schemas.openxmlformats.org/officeDocument/2006/relationships/slide" Target="/ppt/slides/slide75.xml" Id="Rf9f7c7222c144dbc" /><Relationship Type="http://schemas.openxmlformats.org/officeDocument/2006/relationships/slide" Target="/ppt/slides/slide76.xml" Id="R62639e170c0b4299" /><Relationship Type="http://schemas.openxmlformats.org/officeDocument/2006/relationships/slide" Target="/ppt/slides/slide77.xml" Id="R967bcf9a98034dca" /><Relationship Type="http://schemas.openxmlformats.org/officeDocument/2006/relationships/slide" Target="/ppt/slides/slide78.xml" Id="Rf54cc13e1ca640a9" /><Relationship Type="http://schemas.openxmlformats.org/officeDocument/2006/relationships/slide" Target="/ppt/slides/slide79.xml" Id="Rb5f3dc2dcb66460c" /><Relationship Type="http://schemas.openxmlformats.org/officeDocument/2006/relationships/slide" Target="/ppt/slides/slide80.xml" Id="R83e216d2edff49bd" /><Relationship Type="http://schemas.openxmlformats.org/officeDocument/2006/relationships/slide" Target="/ppt/slides/slide81.xml" Id="R3f91c04d6f124982" /><Relationship Type="http://schemas.openxmlformats.org/officeDocument/2006/relationships/slide" Target="/ppt/slides/slide82.xml" Id="R80166b1691cd4ec4" /><Relationship Type="http://schemas.openxmlformats.org/officeDocument/2006/relationships/slide" Target="/ppt/slides/slide83.xml" Id="Rd81863751b2742b8" /><Relationship Type="http://schemas.openxmlformats.org/officeDocument/2006/relationships/slide" Target="/ppt/slides/slide84.xml" Id="Rcbf3d6feeb51404e" /><Relationship Type="http://schemas.openxmlformats.org/officeDocument/2006/relationships/slide" Target="/ppt/slides/slide85.xml" Id="R100c74a5cc154656" /><Relationship Type="http://schemas.openxmlformats.org/officeDocument/2006/relationships/slide" Target="/ppt/slides/slide86.xml" Id="R809fced8848e47dc" /><Relationship Type="http://schemas.openxmlformats.org/officeDocument/2006/relationships/slide" Target="/ppt/slides/slide87.xml" Id="Rf56c819c0e294498" /><Relationship Type="http://schemas.openxmlformats.org/officeDocument/2006/relationships/slide" Target="/ppt/slides/slide88.xml" Id="Rac0d3d88f5e345ca" /><Relationship Type="http://schemas.openxmlformats.org/officeDocument/2006/relationships/slide" Target="/ppt/slides/slide89.xml" Id="Rf5446be095ec4025" /><Relationship Type="http://schemas.openxmlformats.org/officeDocument/2006/relationships/slide" Target="/ppt/slides/slide90.xml" Id="Rf9c52a0737e94cd8" /><Relationship Type="http://schemas.openxmlformats.org/officeDocument/2006/relationships/slide" Target="/ppt/slides/slide91.xml" Id="Re3d45e614a124811" /><Relationship Type="http://schemas.openxmlformats.org/officeDocument/2006/relationships/slide" Target="/ppt/slides/slide92.xml" Id="R7774c2bc2d934783" /><Relationship Type="http://schemas.openxmlformats.org/officeDocument/2006/relationships/slide" Target="/ppt/slides/slide93.xml" Id="R394299dc1a1d4702" /><Relationship Type="http://schemas.openxmlformats.org/officeDocument/2006/relationships/slide" Target="/ppt/slides/slide94.xml" Id="Rb48e9c61dd9b4f44" /><Relationship Type="http://schemas.openxmlformats.org/officeDocument/2006/relationships/slide" Target="/ppt/slides/slide95.xml" Id="R5d676f833fb041cc" /><Relationship Type="http://schemas.openxmlformats.org/officeDocument/2006/relationships/slide" Target="/ppt/slides/slide96.xml" Id="R6df9ec296bc4444b" /><Relationship Type="http://schemas.openxmlformats.org/officeDocument/2006/relationships/slide" Target="/ppt/slides/slide97.xml" Id="R1691a01d91cc40ea" /><Relationship Type="http://schemas.openxmlformats.org/officeDocument/2006/relationships/slide" Target="/ppt/slides/slide98.xml" Id="Rb6645af527dd4a77" /></Relationships>
</file>

<file path=ppt/comments/modernComment.xml><?xml version="1.0" encoding="utf-8"?>
<p188:cmLst xmlns:p188="http://schemas.microsoft.com/office/powerpoint/2018/8/main">
  <p188:cm id="{EC7C39F2-7237-4791-ADA2-C487AE9150A2}" authorId="{917B661A-225D-46A7-AAE6-5369A519E5B2}" status="active" created="2026-10-17T06:27:31.553+01:00">
    <pc:sldMkLst xmlns:pc="http://schemas.microsoft.com/office/powerpoint/2013/main/command">
      <pc:docMk/>
      <pc:sldMk cId="2093318952" sldId="256"/>
    </pc:sldMkLst>
    <p188:pos x="11430000" y="666750"/>
    <p188:txBody>
      <a:bodyPr xmlns:a="http://schemas.openxmlformats.org/drawingml/2006/main"/>
      <a:lstStyle xmlns:a="http://schemas.openxmlformats.org/drawingml/2006/main"/>
      <a:p xmlns:a="http://schemas.openxmlformats.org/drawingml/2006/main">
        <a:r>
          <a:t>Instructor: This course assumes professional C# and ASP.NET Core experience. The focus is engineering an AI capability into an existing system, rather than teaching MVC, EF Core, or C# syntax. Students finish with an InvoiceAI integration that uses actual Microsoft Agent Framework agents and retains application/domain boundaries.</a:t>
        </a:r>
      </a:p>
    </p188:txBody>
  </p188:cm>
</p188:cmLst>
</file>

<file path=ppt/comments/modernComment2.xml><?xml version="1.0" encoding="utf-8"?>
<p188:cmLst xmlns:p188="http://schemas.microsoft.com/office/powerpoint/2018/8/main">
  <p188:cm id="{81E77C21-7252-4710-964D-BB22983AA2CF}" authorId="{917B661A-225D-46A7-AAE6-5369A519E5B2}" status="active" created="2026-10-17T06:27:31.562+01:00">
    <pc:sldMkLst xmlns:pc="http://schemas.microsoft.com/office/powerpoint/2013/main/command">
      <pc:docMk/>
      <pc:sldMk cId="1892307086" sldId="257"/>
    </pc:sldMkLst>
    <p188:pos x="11430000" y="666750"/>
    <p188:txBody>
      <a:bodyPr xmlns:a="http://schemas.openxmlformats.org/drawingml/2006/main"/>
      <a:lstStyle xmlns:a="http://schemas.openxmlformats.org/drawingml/2006/main"/>
      <a:p xmlns:a="http://schemas.openxmlformats.org/drawingml/2006/main">
        <a:r>
          <a:t>Instructor: Ask each engineer to name a system they might augment. Use one read use case and one write use case to establish the difference in risk and required evidence. The capstone is the integration layer and its safeguards, supported by the existing invoice application. Avoid spending course time rebuilding CRUD unless a cohort needs a separate </a:t>
        </a:r>
      </a:p>
    </p188:txBody>
  </p188:cm>
</p188:cmLst>
</file>

<file path=ppt/comments/modernComment3.xml><?xml version="1.0" encoding="utf-8"?>
<p188:cmLst xmlns:p188="http://schemas.microsoft.com/office/powerpoint/2018/8/main">
  <p188:cm id="{15D86645-BE75-4D38-B4F8-0FFBB5B18E33}" authorId="{917B661A-225D-46A7-AAE6-5369A519E5B2}" status="active" created="2026-10-17T06:27:31.575+01:00">
    <pc:sldMkLst xmlns:pc="http://schemas.microsoft.com/office/powerpoint/2013/main/command">
      <pc:docMk/>
      <pc:sldMk cId="79570449" sldId="258"/>
    </pc:sldMkLst>
    <p188:pos x="11430000" y="666750"/>
    <p188:txBody>
      <a:bodyPr xmlns:a="http://schemas.openxmlformats.org/drawingml/2006/main"/>
      <a:lstStyle xmlns:a="http://schemas.openxmlformats.org/drawingml/2006/main"/>
      <a:p xmlns:a="http://schemas.openxmlformats.org/drawingml/2006/main">
        <a:r>
          <a:t>Instructor: The suggested course has 30 contact hours. Each module produces a reviewable increment. The slide deck includes demonstration and assessment prompts, while the engineering work happens in the repository. Keep a teaching branch for each checkpoint. Make cloud configuration available before module 2, and use separate training records for ev</a:t>
        </a:r>
      </a:p>
    </p188:txBody>
  </p188:cm>
</p188:cmLst>
</file>

<file path=ppt/comments/modernComment4.xml><?xml version="1.0" encoding="utf-8"?>
<p188:cmLst xmlns:p188="http://schemas.microsoft.com/office/powerpoint/2018/8/main">
  <p188:cm id="{F049F2A0-B59C-40E1-BD91-23DB3D36E00F}" authorId="{917B661A-225D-46A7-AAE6-5369A519E5B2}" status="active" created="2026-10-17T06:27:31.591+01:00">
    <pc:sldMkLst xmlns:pc="http://schemas.microsoft.com/office/powerpoint/2013/main/command">
      <pc:docMk/>
      <pc:sldMk cId="1360794186" sldId="259"/>
    </pc:sldMkLst>
    <p188:pos x="11430000" y="666750"/>
    <p188:txBody>
      <a:bodyPr xmlns:a="http://schemas.openxmlformats.org/drawingml/2006/main"/>
      <a:lstStyle xmlns:a="http://schemas.openxmlformats.org/drawingml/2006/main"/>
      <a:p xmlns:a="http://schemas.openxmlformats.org/drawingml/2006/main">
        <a:r>
          <a:t>Instructor: Show the executable source behind this observation and distinguish it from the proposed capstone behavior.</a:t>
        </a:r>
      </a:p>
    </p188:txBody>
  </p188:cm>
</p188:cmLst>
</file>

<file path=ppt/comments/modernComment5.xml><?xml version="1.0" encoding="utf-8"?>
<p188:cmLst xmlns:p188="http://schemas.microsoft.com/office/powerpoint/2018/8/main">
  <p188:cm id="{DA442127-647C-4723-AA32-85665BB8C678}" authorId="{917B661A-225D-46A7-AAE6-5369A519E5B2}" status="active" created="2026-10-17T06:27:31.599+01:00">
    <pc:sldMkLst xmlns:pc="http://schemas.microsoft.com/office/powerpoint/2013/main/command">
      <pc:docMk/>
      <pc:sldMk cId="1080931883" sldId="260"/>
    </pc:sldMkLst>
    <p188:pos x="11430000" y="666750"/>
    <p188:txBody>
      <a:bodyPr xmlns:a="http://schemas.openxmlformats.org/drawingml/2006/main"/>
      <a:lstStyle xmlns:a="http://schemas.openxmlformats.org/drawingml/2006/main"/>
      <a:p xmlns:a="http://schemas.openxmlformats.org/drawingml/2006/main">
        <a:r>
          <a:t>Instructor: This module ends with a reviewable implementation increment. Use the speaker notes for pacing and the module lab for acceptance.</a:t>
        </a:r>
      </a:p>
    </p188:txBody>
  </p188:cm>
</p188:cmLst>
</file>

<file path=ppt/comments/modernComment6.xml><?xml version="1.0" encoding="utf-8"?>
<p188:cmLst xmlns:p188="http://schemas.microsoft.com/office/powerpoint/2018/8/main">
  <p188:cm id="{717FEE68-9613-413C-902A-5CDDCB66A75C}" authorId="{917B661A-225D-46A7-AAE6-5369A519E5B2}" status="active" created="2026-10-17T06:27:31.608+01:00">
    <pc:sldMkLst xmlns:pc="http://schemas.microsoft.com/office/powerpoint/2013/main/command">
      <pc:docMk/>
      <pc:sldMk cId="170819126" sldId="261"/>
    </pc:sldMkLst>
    <p188:pos x="11430000" y="666750"/>
    <p188:txBody>
      <a:bodyPr xmlns:a="http://schemas.openxmlformats.org/drawingml/2006/main"/>
      <a:lstStyle xmlns:a="http://schemas.openxmlformats.org/drawingml/2006/main"/>
      <a:p xmlns:a="http://schemas.openxmlformats.org/drawingml/2006/main">
        <a:r>
          <a:t>Instructor: These are proposed integration choices. Ask students to identify where language interpretation adds value and where deterministic code is already superior. Financial arithmetic stays in the domain/query layer. The agent translates user intent and explains results. A narrow read use case is the first production slice because its outcome is</a:t>
        </a:r>
      </a:p>
    </p188:txBody>
  </p188:cm>
</p188:cmLst>
</file>

<file path=ppt/comments/modernComment7.xml><?xml version="1.0" encoding="utf-8"?>
<p188:cmLst xmlns:p188="http://schemas.microsoft.com/office/powerpoint/2018/8/main">
  <p188:cm id="{EDA6E87E-D943-4D2C-A196-CCA71C853636}" authorId="{917B661A-225D-46A7-AAE6-5369A519E5B2}" status="active" created="2026-10-17T06:27:31.624+01:00">
    <pc:sldMkLst xmlns:pc="http://schemas.microsoft.com/office/powerpoint/2013/main/command">
      <pc:docMk/>
      <pc:sldMk cId="1486157604" sldId="262"/>
    </pc:sldMkLst>
    <p188:pos x="11430000" y="666750"/>
    <p188:txBody>
      <a:bodyPr xmlns:a="http://schemas.openxmlformats.org/drawingml/2006/main"/>
      <a:lstStyle xmlns:a="http://schemas.openxmlformats.org/drawingml/2006/main"/>
      <a:p xmlns:a="http://schemas.openxmlformats.org/drawingml/2006/main">
        <a:r>
          <a:t>Instructor: This illustration shows the proposed runtime boundary. The framework calls the model and invokes approved tool functions. Tools delegate to application handlers. Domain entities enforce invariants, while repositories use EF Core or Dapper. Read queries can go directly to a read repository and do not need to construct domain aggregates. Th</a:t>
        </a:r>
      </a:p>
    </p188:txBody>
  </p188:cm>
</p188:cmLst>
</file>

<file path=ppt/comments/modernComment8.xml><?xml version="1.0" encoding="utf-8"?>
<p188:cmLst xmlns:p188="http://schemas.microsoft.com/office/powerpoint/2018/8/main">
  <p188:cm id="{E86F7E35-D359-4A88-AABD-05C4443C7F5A}" authorId="{917B661A-225D-46A7-AAE6-5369A519E5B2}" status="active" created="2026-10-17T06:27:31.631+01:00">
    <pc:sldMkLst xmlns:pc="http://schemas.microsoft.com/office/powerpoint/2013/main/command">
      <pc:docMk/>
      <pc:sldMk cId="1915043904" sldId="263"/>
    </pc:sldMkLst>
    <p188:pos x="11430000" y="666750"/>
    <p188:txBody>
      <a:bodyPr xmlns:a="http://schemas.openxmlformats.org/drawingml/2006/main"/>
      <a:lstStyle xmlns:a="http://schemas.openxmlformats.org/drawingml/2006/main"/>
      <a:p xmlns:a="http://schemas.openxmlformats.org/drawingml/2006/main">
        <a:r>
          <a:t>Instructor: Have teams inventory a vertical slice instead of reading every file. Choose GetInvoiceSummary and UpdateInvoiceStatus. Record inputs, outputs, side effects, and failure conditions. The result becomes a tool design checklist and a test plan. Do not assume that existing UI restrictions protect a new caller such as an AI tool.</a:t>
        </a:r>
      </a:p>
    </p188:txBody>
  </p188:cm>
</p188:cmLst>
</file>

<file path=ppt/comments/modernComment9.xml><?xml version="1.0" encoding="utf-8"?>
<p188:cmLst xmlns:p188="http://schemas.microsoft.com/office/powerpoint/2018/8/main">
  <p188:cm id="{5AFBA6A6-DD76-4EB0-A7FD-15E2B637DDCC}" authorId="{917B661A-225D-46A7-AAE6-5369A519E5B2}" status="active" created="2026-10-17T06:27:31.637+01:00">
    <pc:sldMkLst xmlns:pc="http://schemas.microsoft.com/office/powerpoint/2013/main/command">
      <pc:docMk/>
      <pc:sldMk cId="648304663" sldId="264"/>
    </pc:sldMkLst>
    <p188:pos x="11430000" y="666750"/>
    <p188:txBody>
      <a:bodyPr xmlns:a="http://schemas.openxmlformats.org/drawingml/2006/main"/>
      <a:lstStyle xmlns:a="http://schemas.openxmlformats.org/drawingml/2006/main"/>
      <a:p xmlns:a="http://schemas.openxmlformats.org/drawingml/2006/main">
        <a:r>
          <a:t>Instructor: Keep this discussion engineering-oriented. Context is a finite input budget, not an unlimited memory store. A low temperature does not prove correctness, and not every model supports the same options. Explain the difference between a deployment identifier and a generic model family. Treat capability discovery and compatibility tests as pa</a:t>
        </a:r>
      </a:p>
    </p188:txBody>
  </p188:cm>
</p188:cmLst>
</file>

<file path=ppt/comments/modernComment10.xml><?xml version="1.0" encoding="utf-8"?>
<p188:cmLst xmlns:p188="http://schemas.microsoft.com/office/powerpoint/2018/8/main">
  <p188:cm id="{9839DA6B-23BB-469E-819A-1252176D4EDC}" authorId="{917B661A-225D-46A7-AAE6-5369A519E5B2}" status="active" created="2026-10-17T06:27:31.642+01:00">
    <pc:sldMkLst xmlns:pc="http://schemas.microsoft.com/office/powerpoint/2013/main/command">
      <pc:docMk/>
      <pc:sldMk cId="1229473595" sldId="265"/>
    </pc:sldMkLst>
    <p188:pos x="11430000" y="666750"/>
    <p188:txBody>
      <a:bodyPr xmlns:a="http://schemas.openxmlformats.org/drawingml/2006/main"/>
      <a:lstStyle xmlns:a="http://schemas.openxmlformats.org/drawingml/2006/main"/>
      <a:p xmlns:a="http://schemas.openxmlformats.org/drawingml/2006/main">
        <a:r>
          <a:t>Instructor: This is a proposed application contract. Keep it separate from the particular provider response type. An answer may be completed, waiting for approval, or failed after a partial operation. A single boolean cannot describe every state. Discuss whether the existing chat envelope can evolve compatibly or needs a versioned endpoint. Record th</a:t>
        </a:r>
      </a:p>
    </p188:txBody>
  </p188:cm>
</p188:cmLst>
</file>

<file path=ppt/comments/modernComment11.xml><?xml version="1.0" encoding="utf-8"?>
<p188:cmLst xmlns:p188="http://schemas.microsoft.com/office/powerpoint/2018/8/main">
  <p188:cm id="{7DAD2780-6F9E-4240-A38D-965A557D9035}" authorId="{917B661A-225D-46A7-AAE6-5369A519E5B2}" status="active" created="2026-10-17T06:27:31.647+01:00">
    <pc:sldMkLst xmlns:pc="http://schemas.microsoft.com/office/powerpoint/2013/main/command">
      <pc:docMk/>
      <pc:sldMk cId="166559435" sldId="266"/>
    </pc:sldMkLst>
    <p188:pos x="11430000" y="666750"/>
    <p188:txBody>
      <a:bodyPr xmlns:a="http://schemas.openxmlformats.org/drawingml/2006/main"/>
      <a:lstStyle xmlns:a="http://schemas.openxmlformats.org/drawingml/2006/main"/>
      <a:p xmlns:a="http://schemas.openxmlformats.org/drawingml/2006/main">
        <a:r>
          <a:t>Instructor: Show the executable source behind this observation and distinguish it from the proposed capstone behavior.</a:t>
        </a:r>
      </a:p>
    </p188:txBody>
  </p188:cm>
</p188:cmLst>
</file>

<file path=ppt/comments/modernComment12.xml><?xml version="1.0" encoding="utf-8"?>
<p188:cmLst xmlns:p188="http://schemas.microsoft.com/office/powerpoint/2018/8/main">
  <p188:cm id="{9F1C4665-AFCC-42A9-B737-879DB103663C}" authorId="{917B661A-225D-46A7-AAE6-5369A519E5B2}" status="active" created="2026-10-17T06:27:31.654+01:00">
    <pc:sldMkLst xmlns:pc="http://schemas.microsoft.com/office/powerpoint/2013/main/command">
      <pc:docMk/>
      <pc:sldMk cId="50994311" sldId="267"/>
    </pc:sldMkLst>
    <p188:pos x="11430000" y="666750"/>
    <p188:txBody>
      <a:bodyPr xmlns:a="http://schemas.openxmlformats.org/drawingml/2006/main"/>
      <a:lstStyle xmlns:a="http://schemas.openxmlformats.org/drawingml/2006/main"/>
      <a:p xmlns:a="http://schemas.openxmlformats.org/drawingml/2006/main">
        <a:r>
          <a:t>Use the acceptance criteria to review the implementation before moving to the next module.</a:t>
        </a:r>
      </a:p>
    </p188:txBody>
  </p188:cm>
</p188:cmLst>
</file>

<file path=ppt/comments/modernComment13.xml><?xml version="1.0" encoding="utf-8"?>
<p188:cmLst xmlns:p188="http://schemas.microsoft.com/office/powerpoint/2018/8/main">
  <p188:cm id="{A7259355-7339-4ACD-B911-30C69A1D6C22}" authorId="{917B661A-225D-46A7-AAE6-5369A519E5B2}" status="active" created="2026-10-17T06:27:31.657+01:00">
    <pc:sldMkLst xmlns:pc="http://schemas.microsoft.com/office/powerpoint/2013/main/command">
      <pc:docMk/>
      <pc:sldMk cId="1322383751" sldId="268"/>
    </pc:sldMkLst>
    <p188:pos x="11430000" y="666750"/>
    <p188:txBody>
      <a:bodyPr xmlns:a="http://schemas.openxmlformats.org/drawingml/2006/main"/>
      <a:lstStyle xmlns:a="http://schemas.openxmlformats.org/drawingml/2006/main"/>
      <a:p xmlns:a="http://schemas.openxmlformats.org/drawingml/2006/main">
        <a:r>
          <a:t>Instructor: This module ends with a reviewable implementation increment. Use the speaker notes for pacing and the module lab for acceptance.</a:t>
        </a:r>
      </a:p>
    </p188:txBody>
  </p188:cm>
</p188:cmLst>
</file>

<file path=ppt/comments/modernComment14.xml><?xml version="1.0" encoding="utf-8"?>
<p188:cmLst xmlns:p188="http://schemas.microsoft.com/office/powerpoint/2018/8/main">
  <p188:cm id="{546B3F90-D225-43A4-BEA1-632BD68E1058}" authorId="{917B661A-225D-46A7-AAE6-5369A519E5B2}" status="active" created="2026-10-17T06:27:31.662+01:00">
    <pc:sldMkLst xmlns:pc="http://schemas.microsoft.com/office/powerpoint/2013/main/command">
      <pc:docMk/>
      <pc:sldMk cId="1225054985" sldId="269"/>
    </pc:sldMkLst>
    <p188:pos x="11430000" y="666750"/>
    <p188:txBody>
      <a:bodyPr xmlns:a="http://schemas.openxmlformats.org/drawingml/2006/main"/>
      <a:lstStyle xmlns:a="http://schemas.openxmlformats.org/drawingml/2006/main"/>
      <a:p xmlns:a="http://schemas.openxmlformats.org/drawingml/2006/main">
        <a:r>
          <a:t>Instructor: Make package names precise. Microsoft.Extensions.AI provides common inference abstractions. Microsoft Agent Framework adds agent behavior and composition on top of compatible providers. The repository's custom BaseAgent is an application type, not an alias for the framework's AIAgent. Use namespace aliases if framework AgentResponse and I</a:t>
        </a:r>
      </a:p>
    </p188:txBody>
  </p188:cm>
</p188:cmLst>
</file>

<file path=ppt/comments/modernComment15.xml><?xml version="1.0" encoding="utf-8"?>
<p188:cmLst xmlns:p188="http://schemas.microsoft.com/office/powerpoint/2018/8/main">
  <p188:cm id="{2E26EE91-79A8-418B-8550-72D366814885}" authorId="{917B661A-225D-46A7-AAE6-5369A519E5B2}" status="active" created="2026-10-17T06:27:31.666+01:00">
    <pc:sldMkLst xmlns:pc="http://schemas.microsoft.com/office/powerpoint/2013/main/command">
      <pc:docMk/>
      <pc:sldMk cId="265503247" sldId="270"/>
    </pc:sldMkLst>
    <p188:pos x="11430000" y="666750"/>
    <p188:txBody>
      <a:bodyPr xmlns:a="http://schemas.openxmlformats.org/drawingml/2006/main"/>
      <a:lstStyle xmlns:a="http://schemas.openxmlformats.org/drawingml/2006/main"/>
      <a:p xmlns:a="http://schemas.openxmlformats.org/drawingml/2006/main">
        <a:r>
          <a:t>Instructor: The checked-in application targets .NET 10. Current Microsoft examples include prerelease package commands and may evolve. Select a tested version set for the course and freeze it. Do not assume that adding the newest package to the existing central package versions will produce a compatible graph. The repository's package list is a basel</a:t>
        </a:r>
      </a:p>
    </p188:txBody>
  </p188:cm>
</p188:cmLst>
</file>

<file path=ppt/comments/modernComment16.xml><?xml version="1.0" encoding="utf-8"?>
<p188:cmLst xmlns:p188="http://schemas.microsoft.com/office/powerpoint/2018/8/main">
  <p188:cm id="{B9E760C9-19D3-43D7-840C-2AF662E3F3F5}" authorId="{917B661A-225D-46A7-AAE6-5369A519E5B2}" status="active" created="2026-10-17T06:27:31.671+01:00">
    <pc:sldMkLst xmlns:pc="http://schemas.microsoft.com/office/powerpoint/2013/main/command">
      <pc:docMk/>
      <pc:sldMk cId="1774258327" sldId="271"/>
    </pc:sldMkLst>
    <p188:pos x="11430000" y="666750"/>
    <p188:txBody>
      <a:bodyPr xmlns:a="http://schemas.openxmlformats.org/drawingml/2006/main"/>
      <a:lstStyle xmlns:a="http://schemas.openxmlformats.org/drawingml/2006/main"/>
      <a:p xmlns:a="http://schemas.openxmlformats.org/drawingml/2006/main">
        <a:r>
          <a:t>Instructor: Use the Azure provider documentation for the exact client surface and package set. The workshop initially keeps Chat Completions to isolate the framework migration. A later extension can compare Responses. The deployment must support the capabilities used in the lab. A production credential chain should be deliberate rather than relying o</a:t>
        </a:r>
      </a:p>
    </p188:txBody>
  </p188:cm>
</p188:cmLst>
</file>

<file path=ppt/comments/modernComment17.xml><?xml version="1.0" encoding="utf-8"?>
<p188:cmLst xmlns:p188="http://schemas.microsoft.com/office/powerpoint/2018/8/main">
  <p188:cm id="{FFF9C64D-C3A6-43C6-B0EB-D14D8FBD78EA}" authorId="{917B661A-225D-46A7-AAE6-5369A519E5B2}" status="active" created="2026-10-17T06:27:31.677+01:00">
    <pc:sldMkLst xmlns:pc="http://schemas.microsoft.com/office/powerpoint/2013/main/command">
      <pc:docMk/>
      <pc:sldMk cId="384620359" sldId="272"/>
    </pc:sldMkLst>
    <p188:pos x="11430000" y="666750"/>
    <p188:txBody>
      <a:bodyPr xmlns:a="http://schemas.openxmlformats.org/drawingml/2006/main"/>
      <a:lstStyle xmlns:a="http://schemas.openxmlformats.org/drawingml/2006/main"/>
      <a:p xmlns:a="http://schemas.openxmlformats.org/drawingml/2006/main">
        <a:r>
          <a:t>Instructor: This is a condensed code pattern. Compile it against the course-pinned SDK and explain the application-owned dependencies before the demo.</a:t>
        </a:r>
      </a:p>
    </p188:txBody>
  </p188:cm>
</p188:cmLst>
</file>

<file path=ppt/comments/modernComment18.xml><?xml version="1.0" encoding="utf-8"?>
<p188:cmLst xmlns:p188="http://schemas.microsoft.com/office/powerpoint/2018/8/main">
  <p188:cm id="{33B6ACFE-23C1-489B-91B5-F6FBCFBB7F94}" authorId="{917B661A-225D-46A7-AAE6-5369A519E5B2}" status="active" created="2026-10-17T06:27:31.68+01:00">
    <pc:sldMkLst xmlns:pc="http://schemas.microsoft.com/office/powerpoint/2013/main/command">
      <pc:docMk/>
      <pc:sldMk cId="228382181" sldId="273"/>
    </pc:sldMkLst>
    <p188:pos x="11430000" y="666750"/>
    <p188:txBody>
      <a:bodyPr xmlns:a="http://schemas.openxmlformats.org/drawingml/2006/main"/>
      <a:lstStyle xmlns:a="http://schemas.openxmlformats.org/drawingml/2006/main"/>
      <a:p xmlns:a="http://schemas.openxmlformats.org/drawingml/2006/main">
        <a:r>
          <a:t>Instructor: This is a condensed code pattern. Compile it against the course-pinned SDK and explain the application-owned dependencies before the demo.</a:t>
        </a:r>
      </a:p>
    </p188:txBody>
  </p188:cm>
</p188:cmLst>
</file>

<file path=ppt/comments/modernComment19.xml><?xml version="1.0" encoding="utf-8"?>
<p188:cmLst xmlns:p188="http://schemas.microsoft.com/office/powerpoint/2018/8/main">
  <p188:cm id="{B79B26CF-EBA0-4691-B864-17EA055F740A}" authorId="{917B661A-225D-46A7-AAE6-5369A519E5B2}" status="active" created="2026-10-17T06:27:31.683+01:00">
    <pc:sldMkLst xmlns:pc="http://schemas.microsoft.com/office/powerpoint/2013/main/command">
      <pc:docMk/>
      <pc:sldMk cId="1778608354" sldId="274"/>
    </pc:sldMkLst>
    <p188:pos x="11430000" y="666750"/>
    <p188:txBody>
      <a:bodyPr xmlns:a="http://schemas.openxmlformats.org/drawingml/2006/main"/>
      <a:lstStyle xmlns:a="http://schemas.openxmlformats.org/drawingml/2006/main"/>
      <a:p xmlns:a="http://schemas.openxmlformats.org/drawingml/2006/main">
        <a:r>
          <a:t>Instructor: This is a condensed code pattern. Compile it against the course-pinned SDK and explain the application-owned dependencies before the demo.</a:t>
        </a:r>
      </a:p>
    </p188:txBody>
  </p188:cm>
</p188:cmLst>
</file>

<file path=ppt/comments/modernComment20.xml><?xml version="1.0" encoding="utf-8"?>
<p188:cmLst xmlns:p188="http://schemas.microsoft.com/office/powerpoint/2018/8/main">
  <p188:cm id="{D642ECF8-7EB7-4947-8890-9B18E5022048}" authorId="{917B661A-225D-46A7-AAE6-5369A519E5B2}" status="active" created="2026-10-17T06:27:31.689+01:00">
    <pc:sldMkLst xmlns:pc="http://schemas.microsoft.com/office/powerpoint/2013/main/command">
      <pc:docMk/>
      <pc:sldMk cId="1906001195" sldId="275"/>
    </pc:sldMkLst>
    <p188:pos x="11430000" y="666750"/>
    <p188:txBody>
      <a:bodyPr xmlns:a="http://schemas.openxmlformats.org/drawingml/2006/main"/>
      <a:lstStyle xmlns:a="http://schemas.openxmlformats.org/drawingml/2006/main"/>
      <a:p xmlns:a="http://schemas.openxmlformats.org/drawingml/2006/main">
        <a:r>
          <a:t>Instructor: The baseline registers tools, agents, and coordinator as scoped, with a singleton chat client and in-memory history service. A new singleton agent that closes over a scoped InvoiceTools instance would introduce a lifetime defect. Design agent construction around the selected hosting lifetime or create a scope inside a suitable tool execut</a:t>
        </a:r>
      </a:p>
    </p188:txBody>
  </p188:cm>
</p188:cmLst>
</file>

<file path=ppt/comments/modernComment21.xml><?xml version="1.0" encoding="utf-8"?>
<p188:cmLst xmlns:p188="http://schemas.microsoft.com/office/powerpoint/2018/8/main">
  <p188:cm id="{23D275AD-A333-441E-86D2-23FE41CBBD22}" authorId="{917B661A-225D-46A7-AAE6-5369A519E5B2}" status="active" created="2026-10-17T06:27:31.699+01:00">
    <pc:sldMkLst xmlns:pc="http://schemas.microsoft.com/office/powerpoint/2013/main/command">
      <pc:docMk/>
      <pc:sldMk cId="401883928" sldId="276"/>
    </pc:sldMkLst>
    <p188:pos x="11430000" y="666750"/>
    <p188:txBody>
      <a:bodyPr xmlns:a="http://schemas.openxmlformats.org/drawingml/2006/main"/>
      <a:lstStyle xmlns:a="http://schemas.openxmlformats.org/drawingml/2006/main"/>
      <a:p xmlns:a="http://schemas.openxmlformats.org/drawingml/2006/main">
        <a:r>
          <a:t>Use the acceptance criteria to review the implementation before moving to the next module.</a:t>
        </a:r>
      </a:p>
    </p188:txBody>
  </p188:cm>
</p188:cmLst>
</file>

<file path=ppt/comments/modernComment22.xml><?xml version="1.0" encoding="utf-8"?>
<p188:cmLst xmlns:p188="http://schemas.microsoft.com/office/powerpoint/2018/8/main">
  <p188:cm id="{D88ED489-5A98-41B6-B497-8CB904475B93}" authorId="{917B661A-225D-46A7-AAE6-5369A519E5B2}" status="active" created="2026-10-17T06:27:31.702+01:00">
    <pc:sldMkLst xmlns:pc="http://schemas.microsoft.com/office/powerpoint/2013/main/command">
      <pc:docMk/>
      <pc:sldMk cId="2116318255" sldId="277"/>
    </pc:sldMkLst>
    <p188:pos x="11430000" y="666750"/>
    <p188:txBody>
      <a:bodyPr xmlns:a="http://schemas.openxmlformats.org/drawingml/2006/main"/>
      <a:lstStyle xmlns:a="http://schemas.openxmlformats.org/drawingml/2006/main"/>
      <a:p xmlns:a="http://schemas.openxmlformats.org/drawingml/2006/main">
        <a:r>
          <a:t>Instructor: This module ends with a reviewable implementation increment. Use the speaker notes for pacing and the module lab for acceptance.</a:t>
        </a:r>
      </a:p>
    </p188:txBody>
  </p188:cm>
</p188:cmLst>
</file>

<file path=ppt/comments/modernComment23.xml><?xml version="1.0" encoding="utf-8"?>
<p188:cmLst xmlns:p188="http://schemas.microsoft.com/office/powerpoint/2018/8/main">
  <p188:cm id="{7B7061C0-86F1-4FD1-9EEB-1975B7973743}" authorId="{917B661A-225D-46A7-AAE6-5369A519E5B2}" status="active" created="2026-10-17T06:27:31.706+01:00">
    <pc:sldMkLst xmlns:pc="http://schemas.microsoft.com/office/powerpoint/2013/main/command">
      <pc:docMk/>
      <pc:sldMk cId="635205783" sldId="278"/>
    </pc:sldMkLst>
    <p188:pos x="11430000" y="666750"/>
    <p188:txBody>
      <a:bodyPr xmlns:a="http://schemas.openxmlformats.org/drawingml/2006/main"/>
      <a:lstStyle xmlns:a="http://schemas.openxmlformats.org/drawingml/2006/main"/>
      <a:p xmlns:a="http://schemas.openxmlformats.org/drawingml/2006/main">
        <a:r>
          <a:t>Instructor: Walk through one read tool before exposing mutations. The model selects arguments, but ordinary .NET code performs execution. Tools should have small, meaningful contracts that describe domain intent. A model may choose no tool, the wrong tool, or an incomplete argument set, so tests must measure behavior rather than assume every requeste</a:t>
        </a:r>
      </a:p>
    </p188:txBody>
  </p188:cm>
</p188:cmLst>
</file>

<file path=ppt/comments/modernComment24.xml><?xml version="1.0" encoding="utf-8"?>
<p188:cmLst xmlns:p188="http://schemas.microsoft.com/office/powerpoint/2018/8/main">
  <p188:cm id="{3DEC3073-060C-40F6-90A2-CA2F45F7F468}" authorId="{917B661A-225D-46A7-AAE6-5369A519E5B2}" status="active" created="2026-10-17T06:27:31.71+01:00">
    <pc:sldMkLst xmlns:pc="http://schemas.microsoft.com/office/powerpoint/2013/main/command">
      <pc:docMk/>
      <pc:sldMk cId="2034942788" sldId="279"/>
    </pc:sldMkLst>
    <p188:pos x="11430000" y="666750"/>
    <p188:txBody>
      <a:bodyPr xmlns:a="http://schemas.openxmlformats.org/drawingml/2006/main"/>
      <a:lstStyle xmlns:a="http://schemas.openxmlformats.org/drawingml/2006/main"/>
      <a:p xmlns:a="http://schemas.openxmlformats.org/drawingml/2006/main">
        <a:r>
          <a:t>Instructor: This is a condensed code pattern. Compile it against the course-pinned SDK and explain the application-owned dependencies before the demo.</a:t>
        </a:r>
      </a:p>
    </p188:txBody>
  </p188:cm>
</p188:cmLst>
</file>

<file path=ppt/comments/modernComment25.xml><?xml version="1.0" encoding="utf-8"?>
<p188:cmLst xmlns:p188="http://schemas.microsoft.com/office/powerpoint/2018/8/main">
  <p188:cm id="{071939F1-A84D-4282-AE7D-BB5FF9DB068C}" authorId="{917B661A-225D-46A7-AAE6-5369A519E5B2}" status="active" created="2026-10-17T06:27:31.715+01:00">
    <pc:sldMkLst xmlns:pc="http://schemas.microsoft.com/office/powerpoint/2013/main/command">
      <pc:docMk/>
      <pc:sldMk cId="267622054" sldId="280"/>
    </pc:sldMkLst>
    <p188:pos x="11430000" y="666750"/>
    <p188:txBody>
      <a:bodyPr xmlns:a="http://schemas.openxmlformats.org/drawingml/2006/main"/>
      <a:lstStyle xmlns:a="http://schemas.openxmlformats.org/drawingml/2006/main"/>
      <a:p xmlns:a="http://schemas.openxmlformats.org/drawingml/2006/main">
        <a:r>
          <a:t>Instructor: This is a condensed code pattern. Compile it against the course-pinned SDK and explain the application-owned dependencies before the demo.</a:t>
        </a:r>
      </a:p>
    </p188:txBody>
  </p188:cm>
</p188:cmLst>
</file>

<file path=ppt/comments/modernComment26.xml><?xml version="1.0" encoding="utf-8"?>
<p188:cmLst xmlns:p188="http://schemas.microsoft.com/office/powerpoint/2018/8/main">
  <p188:cm id="{D2CA28D7-606B-41B8-B2ED-899590803C39}" authorId="{917B661A-225D-46A7-AAE6-5369A519E5B2}" status="active" created="2026-10-17T06:27:31.719+01:00">
    <pc:sldMkLst xmlns:pc="http://schemas.microsoft.com/office/powerpoint/2013/main/command">
      <pc:docMk/>
      <pc:sldMk cId="1161392742" sldId="281"/>
    </pc:sldMkLst>
    <p188:pos x="11430000" y="666750"/>
    <p188:txBody>
      <a:bodyPr xmlns:a="http://schemas.openxmlformats.org/drawingml/2006/main"/>
      <a:lstStyle xmlns:a="http://schemas.openxmlformats.org/drawingml/2006/main"/>
      <a:p xmlns:a="http://schemas.openxmlformats.org/drawingml/2006/main">
        <a:r>
          <a:t>Instructor: This is a condensed code pattern. Compile it against the course-pinned SDK and explain the application-owned dependencies before the demo.</a:t>
        </a:r>
      </a:p>
    </p188:txBody>
  </p188:cm>
</p188:cmLst>
</file>

<file path=ppt/comments/modernComment27.xml><?xml version="1.0" encoding="utf-8"?>
<p188:cmLst xmlns:p188="http://schemas.microsoft.com/office/powerpoint/2018/8/main">
  <p188:cm id="{67B5C84D-E05A-4E74-AB60-C62652308F73}" authorId="{917B661A-225D-46A7-AAE6-5369A519E5B2}" status="active" created="2026-10-17T06:27:31.725+01:00">
    <pc:sldMkLst xmlns:pc="http://schemas.microsoft.com/office/powerpoint/2013/main/command">
      <pc:docMk/>
      <pc:sldMk cId="1887059316" sldId="282"/>
    </pc:sldMkLst>
    <p188:pos x="11430000" y="666750"/>
    <p188:txBody>
      <a:bodyPr xmlns:a="http://schemas.openxmlformats.org/drawingml/2006/main"/>
      <a:lstStyle xmlns:a="http://schemas.openxmlformats.org/drawingml/2006/main"/>
      <a:p xmlns:a="http://schemas.openxmlformats.org/drawingml/2006/main">
        <a:r>
          <a:t>Instructor: Show the executable source behind this observation and distinguish it from the proposed capstone behavior.</a:t>
        </a:r>
      </a:p>
    </p188:txBody>
  </p188:cm>
</p188:cmLst>
</file>

<file path=ppt/comments/modernComment28.xml><?xml version="1.0" encoding="utf-8"?>
<p188:cmLst xmlns:p188="http://schemas.microsoft.com/office/powerpoint/2018/8/main">
  <p188:cm id="{06116F63-9443-4471-84CE-0C3646405085}" authorId="{917B661A-225D-46A7-AAE6-5369A519E5B2}" status="active" created="2026-10-17T06:27:31.731+01:00">
    <pc:sldMkLst xmlns:pc="http://schemas.microsoft.com/office/powerpoint/2013/main/command">
      <pc:docMk/>
      <pc:sldMk cId="1123817966" sldId="283"/>
    </pc:sldMkLst>
    <p188:pos x="11430000" y="666750"/>
    <p188:txBody>
      <a:bodyPr xmlns:a="http://schemas.openxmlformats.org/drawingml/2006/main"/>
      <a:lstStyle xmlns:a="http://schemas.openxmlformats.org/drawingml/2006/main"/>
      <a:p xmlns:a="http://schemas.openxmlformats.org/drawingml/2006/main">
        <a:r>
          <a:t>Instructor: Show the executable source behind this observation and distinguish it from the proposed capstone behavior.</a:t>
        </a:r>
      </a:p>
    </p188:txBody>
  </p188:cm>
</p188:cmLst>
</file>

<file path=ppt/comments/modernComment29.xml><?xml version="1.0" encoding="utf-8"?>
<p188:cmLst xmlns:p188="http://schemas.microsoft.com/office/powerpoint/2018/8/main">
  <p188:cm id="{7932F307-18E7-4E88-AE0D-0301179E7D45}" authorId="{917B661A-225D-46A7-AAE6-5369A519E5B2}" status="active" created="2026-10-17T06:27:31.736+01:00">
    <pc:sldMkLst xmlns:pc="http://schemas.microsoft.com/office/powerpoint/2013/main/command">
      <pc:docMk/>
      <pc:sldMk cId="1063902235" sldId="284"/>
    </pc:sldMkLst>
    <p188:pos x="11430000" y="666750"/>
    <p188:txBody>
      <a:bodyPr xmlns:a="http://schemas.openxmlformats.org/drawingml/2006/main"/>
      <a:lstStyle xmlns:a="http://schemas.openxmlformats.org/drawingml/2006/main"/>
      <a:p xmlns:a="http://schemas.openxmlformats.org/drawingml/2006/main">
        <a:r>
          <a:t>Instructor: The current tools mix bare DTO JSON with success/error envelopes. A returned error string is still a normal function result, so BaseAgent can report overall success while a business command failed. Propose a typed ToolOutcome and map it consistently. The course owns that contract; do not imply the framework automatically interprets every </a:t>
        </a:r>
      </a:p>
    </p188:txBody>
  </p188:cm>
</p188:cmLst>
</file>

<file path=ppt/comments/modernComment30.xml><?xml version="1.0" encoding="utf-8"?>
<p188:cmLst xmlns:p188="http://schemas.microsoft.com/office/powerpoint/2018/8/main">
  <p188:cm id="{06FAFE30-7491-41C8-987A-7F34A713E3B3}" authorId="{917B661A-225D-46A7-AAE6-5369A519E5B2}" status="active" created="2026-10-17T06:27:31.741+01:00">
    <pc:sldMkLst xmlns:pc="http://schemas.microsoft.com/office/powerpoint/2013/main/command">
      <pc:docMk/>
      <pc:sldMk cId="1566105920" sldId="285"/>
    </pc:sldMkLst>
    <p188:pos x="11430000" y="666750"/>
    <p188:txBody>
      <a:bodyPr xmlns:a="http://schemas.openxmlformats.org/drawingml/2006/main"/>
      <a:lstStyle xmlns:a="http://schemas.openxmlformats.org/drawingml/2006/main"/>
      <a:p xmlns:a="http://schemas.openxmlformats.org/drawingml/2006/main">
        <a:r>
          <a:t>Instructor: ListInvoices currently exposes only status and fixes the first page at 50 records. A complete analytic ranking cannot assume that list is exhaustive. Add a purpose-built query when the business question needs aggregation. Keep mutating commands sequential unless a transaction and concurrency design justify otherwise. The framework's possi</a:t>
        </a:r>
      </a:p>
    </p188:txBody>
  </p188:cm>
</p188:cmLst>
</file>

<file path=ppt/comments/modernComment31.xml><?xml version="1.0" encoding="utf-8"?>
<p188:cmLst xmlns:p188="http://schemas.microsoft.com/office/powerpoint/2018/8/main">
  <p188:cm id="{02344FCC-CE62-4167-84E5-23081481B140}" authorId="{917B661A-225D-46A7-AAE6-5369A519E5B2}" status="active" created="2026-10-17T06:27:31.746+01:00">
    <pc:sldMkLst xmlns:pc="http://schemas.microsoft.com/office/powerpoint/2013/main/command">
      <pc:docMk/>
      <pc:sldMk cId="1063263930" sldId="286"/>
    </pc:sldMkLst>
    <p188:pos x="11430000" y="666750"/>
    <p188:txBody>
      <a:bodyPr xmlns:a="http://schemas.openxmlformats.org/drawingml/2006/main"/>
      <a:lstStyle xmlns:a="http://schemas.openxmlformats.org/drawingml/2006/main"/>
      <a:p xmlns:a="http://schemas.openxmlformats.org/drawingml/2006/main">
        <a:r>
          <a:t>Use the acceptance criteria to review the implementation before moving to the next module.</a:t>
        </a:r>
      </a:p>
    </p188:txBody>
  </p188:cm>
</p188:cmLst>
</file>

<file path=ppt/comments/modernComment32.xml><?xml version="1.0" encoding="utf-8"?>
<p188:cmLst xmlns:p188="http://schemas.microsoft.com/office/powerpoint/2018/8/main">
  <p188:cm id="{1B35B42A-A828-40B1-9A24-FC4FE68CAF1B}" authorId="{917B661A-225D-46A7-AAE6-5369A519E5B2}" status="active" created="2026-10-17T06:27:31.749+01:00">
    <pc:sldMkLst xmlns:pc="http://schemas.microsoft.com/office/powerpoint/2013/main/command">
      <pc:docMk/>
      <pc:sldMk cId="581484416" sldId="287"/>
    </pc:sldMkLst>
    <p188:pos x="11430000" y="666750"/>
    <p188:txBody>
      <a:bodyPr xmlns:a="http://schemas.openxmlformats.org/drawingml/2006/main"/>
      <a:lstStyle xmlns:a="http://schemas.openxmlformats.org/drawingml/2006/main"/>
      <a:p xmlns:a="http://schemas.openxmlformats.org/drawingml/2006/main">
        <a:r>
          <a:t>Instructor: This module ends with a reviewable implementation increment. Use the speaker notes for pacing and the module lab for acceptance.</a:t>
        </a:r>
      </a:p>
    </p188:txBody>
  </p188:cm>
</p188:cmLst>
</file>

<file path=ppt/comments/modernComment33.xml><?xml version="1.0" encoding="utf-8"?>
<p188:cmLst xmlns:p188="http://schemas.microsoft.com/office/powerpoint/2018/8/main">
  <p188:cm id="{67E92C08-5524-4AC7-A19C-3D888EB3C625}" authorId="{917B661A-225D-46A7-AAE6-5369A519E5B2}" status="active" created="2026-10-17T06:27:31.757+01:00">
    <pc:sldMkLst xmlns:pc="http://schemas.microsoft.com/office/powerpoint/2013/main/command">
      <pc:docMk/>
      <pc:sldMk cId="583888509" sldId="288"/>
    </pc:sldMkLst>
    <p188:pos x="11430000" y="666750"/>
    <p188:txBody>
      <a:bodyPr xmlns:a="http://schemas.openxmlformats.org/drawingml/2006/main"/>
      <a:lstStyle xmlns:a="http://schemas.openxmlformats.org/drawingml/2006/main"/>
      <a:p xmlns:a="http://schemas.openxmlformats.org/drawingml/2006/main">
        <a:r>
          <a:t>Instructor: Treat instructions as versioned application assets. Give the model a concrete task and evidence policy rather than repeating broad claims such as being an expert. The instruction cannot establish user identity or grant a tool permission. Include examples of unavailable data and ambiguity. A prompt change should trigger the same evaluation</a:t>
        </a:r>
      </a:p>
    </p188:txBody>
  </p188:cm>
</p188:cmLst>
</file>

<file path=ppt/comments/modernComment34.xml><?xml version="1.0" encoding="utf-8"?>
<p188:cmLst xmlns:p188="http://schemas.microsoft.com/office/powerpoint/2018/8/main">
  <p188:cm id="{04254849-4021-4B7B-B035-B29C869A4BE2}" authorId="{917B661A-225D-46A7-AAE6-5369A519E5B2}" status="active" created="2026-10-17T06:27:31.762+01:00">
    <pc:sldMkLst xmlns:pc="http://schemas.microsoft.com/office/powerpoint/2013/main/command">
      <pc:docMk/>
      <pc:sldMk cId="1263508885" sldId="289"/>
    </pc:sldMkLst>
    <p188:pos x="11430000" y="666750"/>
    <p188:txBody>
      <a:bodyPr xmlns:a="http://schemas.openxmlformats.org/drawingml/2006/main"/>
      <a:lstStyle xmlns:a="http://schemas.openxmlformats.org/drawingml/2006/main"/>
      <a:p xmlns:a="http://schemas.openxmlformats.org/drawingml/2006/main">
        <a:r>
          <a:t>Instructor: This is a condensed code pattern. Compile it against the course-pinned SDK and explain the application-owned dependencies before the demo.</a:t>
        </a:r>
      </a:p>
    </p188:txBody>
  </p188:cm>
</p188:cmLst>
</file>

<file path=ppt/comments/modernComment35.xml><?xml version="1.0" encoding="utf-8"?>
<p188:cmLst xmlns:p188="http://schemas.microsoft.com/office/powerpoint/2018/8/main">
  <p188:cm id="{829AA785-6E6E-41C1-9DFD-3747D78E0D2D}" authorId="{917B661A-225D-46A7-AAE6-5369A519E5B2}" status="active" created="2026-10-17T06:27:31.767+01:00">
    <pc:sldMkLst xmlns:pc="http://schemas.microsoft.com/office/powerpoint/2013/main/command">
      <pc:docMk/>
      <pc:sldMk cId="768898952" sldId="290"/>
    </pc:sldMkLst>
    <p188:pos x="11430000" y="666750"/>
    <p188:txBody>
      <a:bodyPr xmlns:a="http://schemas.openxmlformats.org/drawingml/2006/main"/>
      <a:lstStyle xmlns:a="http://schemas.openxmlformats.org/drawingml/2006/main"/>
      <a:p xmlns:a="http://schemas.openxmlformats.org/drawingml/2006/main">
        <a:r>
          <a:t>Instructor: Show the executable source behind this observation and distinguish it from the proposed capstone behavior.</a:t>
        </a:r>
      </a:p>
    </p188:txBody>
  </p188:cm>
</p188:cmLst>
</file>

<file path=ppt/comments/modernComment36.xml><?xml version="1.0" encoding="utf-8"?>
<p188:cmLst xmlns:p188="http://schemas.microsoft.com/office/powerpoint/2018/8/main">
  <p188:cm id="{2422BBBD-A3BC-4592-B86C-FCEAE9F6F408}" authorId="{917B661A-225D-46A7-AAE6-5369A519E5B2}" status="active" created="2026-10-17T06:27:31.772+01:00">
    <pc:sldMkLst xmlns:pc="http://schemas.microsoft.com/office/powerpoint/2013/main/command">
      <pc:docMk/>
      <pc:sldMk cId="1310399824" sldId="291"/>
    </pc:sldMkLst>
    <p188:pos x="11430000" y="666750"/>
    <p188:txBody>
      <a:bodyPr xmlns:a="http://schemas.openxmlformats.org/drawingml/2006/main"/>
      <a:lstStyle xmlns:a="http://schemas.openxmlformats.org/drawingml/2006/main"/>
      <a:p xmlns:a="http://schemas.openxmlformats.org/drawingml/2006/main">
        <a:r>
          <a:t>Instructor: A user statement in conversation history is not an authoritative business record. Long-term memory needs consent, retention rules, and ownership. The framework session is a state carrier, not an authorization system. Decide which state can be discarded and which must survive a restart. Explain why copying all history into a user string lo</a:t>
        </a:r>
      </a:p>
    </p188:txBody>
  </p188:cm>
</p188:cmLst>
</file>

<file path=ppt/comments/modernComment37.xml><?xml version="1.0" encoding="utf-8"?>
<p188:cmLst xmlns:p188="http://schemas.microsoft.com/office/powerpoint/2018/8/main">
  <p188:cm id="{1093F220-DCD1-4CE3-AE65-C59049DC889F}" authorId="{917B661A-225D-46A7-AAE6-5369A519E5B2}" status="active" created="2026-10-17T06:27:31.776+01:00">
    <pc:sldMkLst xmlns:pc="http://schemas.microsoft.com/office/powerpoint/2013/main/command">
      <pc:docMk/>
      <pc:sldMk cId="1308256091" sldId="292"/>
    </pc:sldMkLst>
    <p188:pos x="11430000" y="666750"/>
    <p188:txBody>
      <a:bodyPr xmlns:a="http://schemas.openxmlformats.org/drawingml/2006/main"/>
      <a:lstStyle xmlns:a="http://schemas.openxmlformats.org/drawingml/2006/main"/>
      <a:p xmlns:a="http://schemas.openxmlformats.org/drawingml/2006/main">
        <a:r>
          <a:t>Instructor: The baseline stores strings in a static dictionary and returns ten messages without pruning older storage. The target may use SQL, Redis, or another selected store, but the choice is an implementation decision. In a custom history provider, keep session-specific keys in session state rather than mutable provider-instance fields. Test cros</a:t>
        </a:r>
      </a:p>
    </p188:txBody>
  </p188:cm>
</p188:cmLst>
</file>

<file path=ppt/comments/modernComment38.xml><?xml version="1.0" encoding="utf-8"?>
<p188:cmLst xmlns:p188="http://schemas.microsoft.com/office/powerpoint/2018/8/main">
  <p188:cm id="{CC1F19F7-8040-4148-861B-478813A976A6}" authorId="{917B661A-225D-46A7-AAE6-5369A519E5B2}" status="active" created="2026-10-17T06:27:31.78+01:00">
    <pc:sldMkLst xmlns:pc="http://schemas.microsoft.com/office/powerpoint/2013/main/command">
      <pc:docMk/>
      <pc:sldMk cId="1747342550" sldId="293"/>
    </pc:sldMkLst>
    <p188:pos x="11430000" y="666750"/>
    <p188:txBody>
      <a:bodyPr xmlns:a="http://schemas.openxmlformats.org/drawingml/2006/main"/>
      <a:lstStyle xmlns:a="http://schemas.openxmlformats.org/drawingml/2006/main"/>
      <a:p xmlns:a="http://schemas.openxmlformats.org/drawingml/2006/main">
        <a:r>
          <a:t>Instructor: Ten messages can still contain an enormous amount of text. A summary can lose a constraint or change an identifier, so treat summarization as another model operation that needs evaluation. Keep facts re-loadable from the application rather than relying on a conversation summary as the ledger. Avoid teaching a fixed context size because it</a:t>
        </a:r>
      </a:p>
    </p188:txBody>
  </p188:cm>
</p188:cmLst>
</file>

<file path=ppt/comments/modernComment39.xml><?xml version="1.0" encoding="utf-8"?>
<p188:cmLst xmlns:p188="http://schemas.microsoft.com/office/powerpoint/2018/8/main">
  <p188:cm id="{1BB4A00A-9512-48EC-B821-CB254C1E91D3}" authorId="{917B661A-225D-46A7-AAE6-5369A519E5B2}" status="active" created="2026-10-17T06:27:31.785+01:00">
    <pc:sldMkLst xmlns:pc="http://schemas.microsoft.com/office/powerpoint/2013/main/command">
      <pc:docMk/>
      <pc:sldMk cId="211699538" sldId="294"/>
    </pc:sldMkLst>
    <p188:pos x="11430000" y="666750"/>
    <p188:txBody>
      <a:bodyPr xmlns:a="http://schemas.openxmlformats.org/drawingml/2006/main"/>
      <a:lstStyle xmlns:a="http://schemas.openxmlformats.org/drawingml/2006/main"/>
      <a:p xmlns:a="http://schemas.openxmlformats.org/drawingml/2006/main">
        <a:r>
          <a:t>Use the acceptance criteria to review the implementation before moving to the next module.</a:t>
        </a:r>
      </a:p>
    </p188:txBody>
  </p188:cm>
</p188:cmLst>
</file>

<file path=ppt/comments/modernComment40.xml><?xml version="1.0" encoding="utf-8"?>
<p188:cmLst xmlns:p188="http://schemas.microsoft.com/office/powerpoint/2018/8/main">
  <p188:cm id="{11C0D87D-86E7-436E-9F71-0BB23F55FEE5}" authorId="{917B661A-225D-46A7-AAE6-5369A519E5B2}" status="active" created="2026-10-17T06:27:31.788+01:00">
    <pc:sldMkLst xmlns:pc="http://schemas.microsoft.com/office/powerpoint/2013/main/command">
      <pc:docMk/>
      <pc:sldMk cId="823973546" sldId="295"/>
    </pc:sldMkLst>
    <p188:pos x="11430000" y="666750"/>
    <p188:txBody>
      <a:bodyPr xmlns:a="http://schemas.openxmlformats.org/drawingml/2006/main"/>
      <a:lstStyle xmlns:a="http://schemas.openxmlformats.org/drawingml/2006/main"/>
      <a:p xmlns:a="http://schemas.openxmlformats.org/drawingml/2006/main">
        <a:r>
          <a:t>Instructor: This module ends with a reviewable implementation increment. Use the speaker notes for pacing and the module lab for acceptance.</a:t>
        </a:r>
      </a:p>
    </p188:txBody>
  </p188:cm>
</p188:cmLst>
</file>

<file path=ppt/comments/modernComment41.xml><?xml version="1.0" encoding="utf-8"?>
<p188:cmLst xmlns:p188="http://schemas.microsoft.com/office/powerpoint/2018/8/main">
  <p188:cm id="{937AC43D-DF7C-41D5-BFF7-66CD4ED7D9F7}" authorId="{917B661A-225D-46A7-AAE6-5369A519E5B2}" status="active" created="2026-10-17T06:27:31.797+01:00">
    <pc:sldMkLst xmlns:pc="http://schemas.microsoft.com/office/powerpoint/2013/main/command">
      <pc:docMk/>
      <pc:sldMk cId="2061994381" sldId="296"/>
    </pc:sldMkLst>
    <p188:pos x="11430000" y="666750"/>
    <p188:txBody>
      <a:bodyPr xmlns:a="http://schemas.openxmlformats.org/drawingml/2006/main"/>
      <a:lstStyle xmlns:a="http://schemas.openxmlformats.org/drawingml/2006/main"/>
      <a:p xmlns:a="http://schemas.openxmlformats.org/drawingml/2006/main">
        <a:r>
          <a:t>Instructor: RAG is useful for explanatory knowledge, while structured financial facts should come from application queries. A vector index is not a replacement for transactional data. Use a freshness policy and return a source reference with each retrieved passage. The model should not answer a balance from stale documentation or general training dat</a:t>
        </a:r>
      </a:p>
    </p188:txBody>
  </p188:cm>
</p188:cmLst>
</file>

<file path=ppt/comments/modernComment42.xml><?xml version="1.0" encoding="utf-8"?>
<p188:cmLst xmlns:p188="http://schemas.microsoft.com/office/powerpoint/2018/8/main">
  <p188:cm id="{CD9FA96E-DE16-420D-9FD3-B18A29F0F2DE}" authorId="{917B661A-225D-46A7-AAE6-5369A519E5B2}" status="active" created="2026-10-17T06:27:31.805+01:00">
    <pc:sldMkLst xmlns:pc="http://schemas.microsoft.com/office/powerpoint/2013/main/command">
      <pc:docMk/>
      <pc:sldMk cId="84011933" sldId="297"/>
    </pc:sldMkLst>
    <p188:pos x="11430000" y="666750"/>
    <p188:txBody>
      <a:bodyPr xmlns:a="http://schemas.openxmlformats.org/drawingml/2006/main"/>
      <a:lstStyle xmlns:a="http://schemas.openxmlformats.org/drawingml/2006/main"/>
      <a:p xmlns:a="http://schemas.openxmlformats.org/drawingml/2006/main">
        <a:r>
          <a:t>Instructor: Show the executable source behind this observation and distinguish it from the proposed capstone behavior.</a:t>
        </a:r>
      </a:p>
    </p188:txBody>
  </p188:cm>
</p188:cmLst>
</file>

<file path=ppt/comments/modernComment43.xml><?xml version="1.0" encoding="utf-8"?>
<p188:cmLst xmlns:p188="http://schemas.microsoft.com/office/powerpoint/2018/8/main">
  <p188:cm id="{1D239D68-5A0D-4525-99BE-40FB25033F9D}" authorId="{917B661A-225D-46A7-AAE6-5369A519E5B2}" status="active" created="2026-10-17T06:27:31.808+01:00">
    <pc:sldMkLst xmlns:pc="http://schemas.microsoft.com/office/powerpoint/2013/main/command">
      <pc:docMk/>
      <pc:sldMk cId="1814007591" sldId="298"/>
    </pc:sldMkLst>
    <p188:pos x="11430000" y="666750"/>
    <p188:txBody>
      <a:bodyPr xmlns:a="http://schemas.openxmlformats.org/drawingml/2006/main"/>
      <a:lstStyle xmlns:a="http://schemas.openxmlformats.org/drawingml/2006/main"/>
      <a:p xmlns:a="http://schemas.openxmlformats.org/drawingml/2006/main">
        <a:r>
          <a:t>Instructor: This is the capstone retrieval design, not an implemented repository feature. For the small Docs corpus, a simple search can be adequate. Add embeddings only when the retrieval task justifies their operational cost. Explain that an embedding is a search representation, not a trustworthy summary or an access-control decision. Re-index chan</a:t>
        </a:r>
      </a:p>
    </p188:txBody>
  </p188:cm>
</p188:cmLst>
</file>

<file path=ppt/comments/modernComment44.xml><?xml version="1.0" encoding="utf-8"?>
<p188:cmLst xmlns:p188="http://schemas.microsoft.com/office/powerpoint/2018/8/main">
  <p188:cm id="{67CDA057-AFCB-4DEE-A08C-0F0B4F9C603D}" authorId="{917B661A-225D-46A7-AAE6-5369A519E5B2}" status="active" created="2026-10-17T06:27:31.812+01:00">
    <pc:sldMkLst xmlns:pc="http://schemas.microsoft.com/office/powerpoint/2013/main/command">
      <pc:docMk/>
      <pc:sldMk cId="129206749" sldId="299"/>
    </pc:sldMkLst>
    <p188:pos x="11430000" y="666750"/>
    <p188:txBody>
      <a:bodyPr xmlns:a="http://schemas.openxmlformats.org/drawingml/2006/main"/>
      <a:lstStyle xmlns:a="http://schemas.openxmlformats.org/drawingml/2006/main"/>
      <a:p xmlns:a="http://schemas.openxmlformats.org/drawingml/2006/main">
        <a:r>
          <a:t>Instructor: Have students compare one keyword and one hybrid retrieval result set. Access filtering belongs in retrieval or the source service, not in a later model instruction. Avoid fabricated precision about top-k or similarity thresholds: choose them using the course corpus and evaluation set. A citation must resolve to evidence the model actuall</a:t>
        </a:r>
      </a:p>
    </p188:txBody>
  </p188:cm>
</p188:cmLst>
</file>

<file path=ppt/comments/modernComment45.xml><?xml version="1.0" encoding="utf-8"?>
<p188:cmLst xmlns:p188="http://schemas.microsoft.com/office/powerpoint/2018/8/main">
  <p188:cm id="{FFD6FA76-8FAA-41FB-9754-2810836AD60F}" authorId="{917B661A-225D-46A7-AAE6-5369A519E5B2}" status="active" created="2026-10-17T06:27:31.815+01:00">
    <pc:sldMkLst xmlns:pc="http://schemas.microsoft.com/office/powerpoint/2013/main/command">
      <pc:docMk/>
      <pc:sldMk cId="1368588915" sldId="300"/>
    </pc:sldMkLst>
    <p188:pos x="11430000" y="666750"/>
    <p188:txBody>
      <a:bodyPr xmlns:a="http://schemas.openxmlformats.org/drawingml/2006/main"/>
      <a:lstStyle xmlns:a="http://schemas.openxmlformats.org/drawingml/2006/main"/>
      <a:p xmlns:a="http://schemas.openxmlformats.org/drawingml/2006/main">
        <a:r>
          <a:t>Instructor: This is a condensed code pattern. Compile it against the course-pinned SDK and explain the application-owned dependencies before the demo.</a:t>
        </a:r>
      </a:p>
    </p188:txBody>
  </p188:cm>
</p188:cmLst>
</file>

<file path=ppt/comments/modernComment46.xml><?xml version="1.0" encoding="utf-8"?>
<p188:cmLst xmlns:p188="http://schemas.microsoft.com/office/powerpoint/2018/8/main">
  <p188:cm id="{A77AC816-D88C-43DA-BF66-202A30B0F639}" authorId="{917B661A-225D-46A7-AAE6-5369A519E5B2}" status="active" created="2026-10-17T06:27:31.82+01:00">
    <pc:sldMkLst xmlns:pc="http://schemas.microsoft.com/office/powerpoint/2013/main/command">
      <pc:docMk/>
      <pc:sldMk cId="1357898508" sldId="301"/>
    </pc:sldMkLst>
    <p188:pos x="11430000" y="666750"/>
    <p188:txBody>
      <a:bodyPr xmlns:a="http://schemas.openxmlformats.org/drawingml/2006/main"/>
      <a:lstStyle xmlns:a="http://schemas.openxmlformats.org/drawingml/2006/main"/>
      <a:p xmlns:a="http://schemas.openxmlformats.org/drawingml/2006/main">
        <a:r>
          <a:t>Instructor: Separate retrieval failure from generation failure. A fluent answer can be wrong because the right document never arrived, because the document itself is wrong, or because the model ignored it. Build cases for missing documents, conflicting rules, and a cited passage that does not support the sentence. Use deterministic citation checks al</a:t>
        </a:r>
      </a:p>
    </p188:txBody>
  </p188:cm>
</p188:cmLst>
</file>

<file path=ppt/comments/modernComment47.xml><?xml version="1.0" encoding="utf-8"?>
<p188:cmLst xmlns:p188="http://schemas.microsoft.com/office/powerpoint/2018/8/main">
  <p188:cm id="{DF5FFAD0-1E3E-4C3D-A108-6995F7F08927}" authorId="{917B661A-225D-46A7-AAE6-5369A519E5B2}" status="active" created="2026-10-17T06:27:31.824+01:00">
    <pc:sldMkLst xmlns:pc="http://schemas.microsoft.com/office/powerpoint/2013/main/command">
      <pc:docMk/>
      <pc:sldMk cId="1373117344" sldId="302"/>
    </pc:sldMkLst>
    <p188:pos x="11430000" y="666750"/>
    <p188:txBody>
      <a:bodyPr xmlns:a="http://schemas.openxmlformats.org/drawingml/2006/main"/>
      <a:lstStyle xmlns:a="http://schemas.openxmlformats.org/drawingml/2006/main"/>
      <a:p xmlns:a="http://schemas.openxmlformats.org/drawingml/2006/main">
        <a:r>
          <a:t>Use the acceptance criteria to review the implementation before moving to the next module.</a:t>
        </a:r>
      </a:p>
    </p188:txBody>
  </p188:cm>
</p188:cmLst>
</file>

<file path=ppt/comments/modernComment48.xml><?xml version="1.0" encoding="utf-8"?>
<p188:cmLst xmlns:p188="http://schemas.microsoft.com/office/powerpoint/2018/8/main">
  <p188:cm id="{88C8DF4A-E60F-462B-900F-91EA4D3E5BCD}" authorId="{917B661A-225D-46A7-AAE6-5369A519E5B2}" status="active" created="2026-10-17T06:27:31.827+01:00">
    <pc:sldMkLst xmlns:pc="http://schemas.microsoft.com/office/powerpoint/2013/main/command">
      <pc:docMk/>
      <pc:sldMk cId="672639569" sldId="303"/>
    </pc:sldMkLst>
    <p188:pos x="11430000" y="666750"/>
    <p188:txBody>
      <a:bodyPr xmlns:a="http://schemas.openxmlformats.org/drawingml/2006/main"/>
      <a:lstStyle xmlns:a="http://schemas.openxmlformats.org/drawingml/2006/main"/>
      <a:p xmlns:a="http://schemas.openxmlformats.org/drawingml/2006/main">
        <a:r>
          <a:t>Instructor: This module ends with a reviewable implementation increment. Use the speaker notes for pacing and the module lab for acceptance.</a:t>
        </a:r>
      </a:p>
    </p188:txBody>
  </p188:cm>
</p188:cmLst>
</file>

<file path=ppt/comments/modernComment49.xml><?xml version="1.0" encoding="utf-8"?>
<p188:cmLst xmlns:p188="http://schemas.microsoft.com/office/powerpoint/2018/8/main">
  <p188:cm id="{5AAB28E5-8ADE-4CF3-AEC2-A6D1C02A9635}" authorId="{917B661A-225D-46A7-AAE6-5369A519E5B2}" status="active" created="2026-10-17T06:27:31.832+01:00">
    <pc:sldMkLst xmlns:pc="http://schemas.microsoft.com/office/powerpoint/2013/main/command">
      <pc:docMk/>
      <pc:sldMk cId="188209125" sldId="304"/>
    </pc:sldMkLst>
    <p188:pos x="11430000" y="666750"/>
    <p188:txBody>
      <a:bodyPr xmlns:a="http://schemas.openxmlformats.org/drawingml/2006/main"/>
      <a:lstStyle xmlns:a="http://schemas.openxmlformats.org/drawingml/2006/main"/>
      <a:p xmlns:a="http://schemas.openxmlformats.org/drawingml/2006/main">
        <a:r>
          <a:t>Instructor: Show the executable source behind this observation and distinguish it from the proposed capstone behavior.</a:t>
        </a:r>
      </a:p>
    </p188:txBody>
  </p188:cm>
</p188:cmLst>
</file>

<file path=ppt/comments/modernComment50.xml><?xml version="1.0" encoding="utf-8"?>
<p188:cmLst xmlns:p188="http://schemas.microsoft.com/office/powerpoint/2018/8/main">
  <p188:cm id="{7B69EF0C-70BE-4440-8711-97620212EC90}" authorId="{917B661A-225D-46A7-AAE6-5369A519E5B2}" status="active" created="2026-10-17T06:27:31.838+01:00">
    <pc:sldMkLst xmlns:pc="http://schemas.microsoft.com/office/powerpoint/2013/main/command">
      <pc:docMk/>
      <pc:sldMk cId="599258880" sldId="305"/>
    </pc:sldMkLst>
    <p188:pos x="11430000" y="666750"/>
    <p188:txBody>
      <a:bodyPr xmlns:a="http://schemas.openxmlformats.org/drawingml/2006/main"/>
      <a:lstStyle xmlns:a="http://schemas.openxmlformats.org/drawingml/2006/main"/>
      <a:p xmlns:a="http://schemas.openxmlformats.org/drawingml/2006/main">
        <a:r>
          <a:t>Instructor: These are framework-supported pattern families. They carry different state, termination, and cost implications. For the core capstone, choose the simplest explicit workflow that meets the business requirement. A group chat is an optional comparison, not a requirement for a billing lookup. Make completion criteria and maximum work explicit</a:t>
        </a:r>
      </a:p>
    </p188:txBody>
  </p188:cm>
</p188:cmLst>
</file>

<file path=ppt/comments/modernComment51.xml><?xml version="1.0" encoding="utf-8"?>
<p188:cmLst xmlns:p188="http://schemas.microsoft.com/office/powerpoint/2018/8/main">
  <p188:cm id="{9FADB6A2-3350-41D5-82D7-642E8CE06543}" authorId="{917B661A-225D-46A7-AAE6-5369A519E5B2}" status="active" created="2026-10-17T06:27:31.841+01:00">
    <pc:sldMkLst xmlns:pc="http://schemas.microsoft.com/office/powerpoint/2013/main/command">
      <pc:docMk/>
      <pc:sldMk cId="1680662680" sldId="306"/>
    </pc:sldMkLst>
    <p188:pos x="11430000" y="666750"/>
    <p188:txBody>
      <a:bodyPr xmlns:a="http://schemas.openxmlformats.org/drawingml/2006/main"/>
      <a:lstStyle xmlns:a="http://schemas.openxmlformats.org/drawingml/2006/main"/>
      <a:p xmlns:a="http://schemas.openxmlformats.org/drawingml/2006/main">
        <a:r>
          <a:t>Instructor: This is a condensed code pattern. Compile it against the course-pinned SDK and explain the application-owned dependencies before the demo.</a:t>
        </a:r>
      </a:p>
    </p188:txBody>
  </p188:cm>
</p188:cmLst>
</file>

<file path=ppt/comments/modernComment52.xml><?xml version="1.0" encoding="utf-8"?>
<p188:cmLst xmlns:p188="http://schemas.microsoft.com/office/powerpoint/2018/8/main">
  <p188:cm id="{CCE47A77-7563-4C6F-A591-B47FE8D36D65}" authorId="{917B661A-225D-46A7-AAE6-5369A519E5B2}" status="active" created="2026-10-17T06:27:31.846+01:00">
    <pc:sldMkLst xmlns:pc="http://schemas.microsoft.com/office/powerpoint/2013/main/command">
      <pc:docMk/>
      <pc:sldMk cId="2080887926" sldId="307"/>
    </pc:sldMkLst>
    <p188:pos x="11430000" y="666750"/>
    <p188:txBody>
      <a:bodyPr xmlns:a="http://schemas.openxmlformats.org/drawingml/2006/main"/>
      <a:lstStyle xmlns:a="http://schemas.openxmlformats.org/drawingml/2006/main"/>
      <a:p xmlns:a="http://schemas.openxmlformats.org/drawingml/2006/main">
        <a:r>
          <a:t>Instructor: This is the proposed application workflow. The request first reads the invoice, produces a concrete transition proposal, and waits for a human decision. Approval is followed by a fresh authorization and domain-state check. The commit step uses application idempotency and an audit event. Rejecting the decision performs no write. Those appl</a:t>
        </a:r>
      </a:p>
    </p188:txBody>
  </p188:cm>
</p188:cmLst>
</file>

<file path=ppt/comments/modernComment53.xml><?xml version="1.0" encoding="utf-8"?>
<p188:cmLst xmlns:p188="http://schemas.microsoft.com/office/powerpoint/2018/8/main">
  <p188:cm id="{E411FFAA-5C1F-447D-822E-6B54CF253ACD}" authorId="{917B661A-225D-46A7-AAE6-5369A519E5B2}" status="active" created="2026-10-17T06:27:31.849+01:00">
    <pc:sldMkLst xmlns:pc="http://schemas.microsoft.com/office/powerpoint/2013/main/command">
      <pc:docMk/>
      <pc:sldMk cId="902582107" sldId="308"/>
    </pc:sldMkLst>
    <p188:pos x="11430000" y="666750"/>
    <p188:txBody>
      <a:bodyPr xmlns:a="http://schemas.openxmlformats.org/drawingml/2006/main"/>
      <a:lstStyle xmlns:a="http://schemas.openxmlformats.org/drawingml/2006/main"/>
      <a:p xmlns:a="http://schemas.openxmlformats.org/drawingml/2006/main">
        <a:r>
          <a:t>Instructor: Discuss standard workflow checkpoints separately from Durable Task hosting. Store availability and runtime behavior vary by language and package, so verify the .NET storage APIs in the pinned version. Checkpointing execution state does not establish exactly-once external effects. A crash after a successful database write still needs an ap</a:t>
        </a:r>
      </a:p>
    </p188:txBody>
  </p188:cm>
</p188:cmLst>
</file>

<file path=ppt/comments/modernComment54.xml><?xml version="1.0" encoding="utf-8"?>
<p188:cmLst xmlns:p188="http://schemas.microsoft.com/office/powerpoint/2018/8/main">
  <p188:cm id="{6B753025-451B-4357-9E94-2823CA571DC4}" authorId="{917B661A-225D-46A7-AAE6-5369A519E5B2}" status="active" created="2026-10-17T06:27:31.853+01:00">
    <pc:sldMkLst xmlns:pc="http://schemas.microsoft.com/office/powerpoint/2013/main/command">
      <pc:docMk/>
      <pc:sldMk cId="391631037" sldId="309"/>
    </pc:sldMkLst>
    <p188:pos x="11430000" y="666750"/>
    <p188:txBody>
      <a:bodyPr xmlns:a="http://schemas.openxmlformats.org/drawingml/2006/main"/>
      <a:lstStyle xmlns:a="http://schemas.openxmlformats.org/drawingml/2006/main"/>
      <a:p xmlns:a="http://schemas.openxmlformats.org/drawingml/2006/main">
        <a:r>
          <a:t>Instructor: Use a documentation specialist as the example. The outer agent delegates a well-defined question and receives an answer with evidence. Do not assume every child automatically inherits the parent's history or security state. Interactive or delayed approval may be better represented as a workflow. Keep cross-agent traces tied to the parent </a:t>
        </a:r>
      </a:p>
    </p188:txBody>
  </p188:cm>
</p188:cmLst>
</file>

<file path=ppt/comments/modernComment55.xml><?xml version="1.0" encoding="utf-8"?>
<p188:cmLst xmlns:p188="http://schemas.microsoft.com/office/powerpoint/2018/8/main">
  <p188:cm id="{14CD7E97-93F4-45F8-B158-00CA31EFA60E}" authorId="{917B661A-225D-46A7-AAE6-5369A519E5B2}" status="active" created="2026-10-17T06:27:31.857+01:00">
    <pc:sldMkLst xmlns:pc="http://schemas.microsoft.com/office/powerpoint/2013/main/command">
      <pc:docMk/>
      <pc:sldMk cId="1098909637" sldId="310"/>
    </pc:sldMkLst>
    <p188:pos x="11430000" y="666750"/>
    <p188:txBody>
      <a:bodyPr xmlns:a="http://schemas.openxmlformats.org/drawingml/2006/main"/>
      <a:lstStyle xmlns:a="http://schemas.openxmlformats.org/drawingml/2006/main"/>
      <a:p xmlns:a="http://schemas.openxmlformats.org/drawingml/2006/main">
        <a:r>
          <a:t>Instructor: These protocols solve different integration problems and none is required merely to call a local invoice method. MCP introduces a new tool/service trust boundary. A2A adds remote-agent lifecycle and identity concerns. AG-UI is a user-interface event protocol. Select protocols based on the consumer, not because they are available. Review e</a:t>
        </a:r>
      </a:p>
    </p188:txBody>
  </p188:cm>
</p188:cmLst>
</file>

<file path=ppt/comments/modernComment56.xml><?xml version="1.0" encoding="utf-8"?>
<p188:cmLst xmlns:p188="http://schemas.microsoft.com/office/powerpoint/2018/8/main">
  <p188:cm id="{49D19558-47D8-4452-B18E-80F405C601F0}" authorId="{917B661A-225D-46A7-AAE6-5369A519E5B2}" status="active" created="2026-10-17T06:27:31.86+01:00">
    <pc:sldMkLst xmlns:pc="http://schemas.microsoft.com/office/powerpoint/2013/main/command">
      <pc:docMk/>
      <pc:sldMk cId="807246541" sldId="311"/>
    </pc:sldMkLst>
    <p188:pos x="11430000" y="666750"/>
    <p188:txBody>
      <a:bodyPr xmlns:a="http://schemas.openxmlformats.org/drawingml/2006/main"/>
      <a:lstStyle xmlns:a="http://schemas.openxmlformats.org/drawingml/2006/main"/>
      <a:p xmlns:a="http://schemas.openxmlformats.org/drawingml/2006/main">
        <a:r>
          <a:t>Instructor: The framework includes skills and a more opinionated harness. Present these as advanced capabilities rather than mandatory capstone dependencies. A reviewed billing-explanation skill could package knowledge, but scripts and filesystem access introduce operational risk. The harness is useful for longer tasks; a short balance query generall</a:t>
        </a:r>
      </a:p>
    </p188:txBody>
  </p188:cm>
</p188:cmLst>
</file>

<file path=ppt/comments/modernComment57.xml><?xml version="1.0" encoding="utf-8"?>
<p188:cmLst xmlns:p188="http://schemas.microsoft.com/office/powerpoint/2018/8/main">
  <p188:cm id="{7473CBFC-67F6-49AB-B935-31EC696113D1}" authorId="{917B661A-225D-46A7-AAE6-5369A519E5B2}" status="active" created="2026-10-17T06:27:31.864+01:00">
    <pc:sldMkLst xmlns:pc="http://schemas.microsoft.com/office/powerpoint/2013/main/command">
      <pc:docMk/>
      <pc:sldMk cId="1172253543" sldId="312"/>
    </pc:sldMkLst>
    <p188:pos x="11430000" y="666750"/>
    <p188:txBody>
      <a:bodyPr xmlns:a="http://schemas.openxmlformats.org/drawingml/2006/main"/>
      <a:lstStyle xmlns:a="http://schemas.openxmlformats.org/drawingml/2006/main"/>
      <a:p xmlns:a="http://schemas.openxmlformats.org/drawingml/2006/main">
        <a:r>
          <a:t>Use the acceptance criteria to review the implementation before moving to the next module.</a:t>
        </a:r>
      </a:p>
    </p188:txBody>
  </p188:cm>
</p188:cmLst>
</file>

<file path=ppt/comments/modernComment58.xml><?xml version="1.0" encoding="utf-8"?>
<p188:cmLst xmlns:p188="http://schemas.microsoft.com/office/powerpoint/2018/8/main">
  <p188:cm id="{F7617BD3-86E8-481F-90FC-871063531D5A}" authorId="{917B661A-225D-46A7-AAE6-5369A519E5B2}" status="active" created="2026-10-17T06:27:31.867+01:00">
    <pc:sldMkLst xmlns:pc="http://schemas.microsoft.com/office/powerpoint/2013/main/command">
      <pc:docMk/>
      <pc:sldMk cId="2077635355" sldId="313"/>
    </pc:sldMkLst>
    <p188:pos x="11430000" y="666750"/>
    <p188:txBody>
      <a:bodyPr xmlns:a="http://schemas.openxmlformats.org/drawingml/2006/main"/>
      <a:lstStyle xmlns:a="http://schemas.openxmlformats.org/drawingml/2006/main"/>
      <a:p xmlns:a="http://schemas.openxmlformats.org/drawingml/2006/main">
        <a:r>
          <a:t>Instructor: This module ends with a reviewable implementation increment. Use the speaker notes for pacing and the module lab for acceptance.</a:t>
        </a:r>
      </a:p>
    </p188:txBody>
  </p188:cm>
</p188:cmLst>
</file>

<file path=ppt/comments/modernComment59.xml><?xml version="1.0" encoding="utf-8"?>
<p188:cmLst xmlns:p188="http://schemas.microsoft.com/office/powerpoint/2018/8/main">
  <p188:cm id="{9EB9DAA9-8A64-4994-BFD4-D3C11126D4D2}" authorId="{917B661A-225D-46A7-AAE6-5369A519E5B2}" status="active" created="2026-10-17T06:27:31.881+01:00">
    <pc:sldMkLst xmlns:pc="http://schemas.microsoft.com/office/powerpoint/2013/main/command">
      <pc:docMk/>
      <pc:sldMk cId="395357267" sldId="314"/>
    </pc:sldMkLst>
    <p188:pos x="11430000" y="666750"/>
    <p188:txBody>
      <a:bodyPr xmlns:a="http://schemas.openxmlformats.org/drawingml/2006/main"/>
      <a:lstStyle xmlns:a="http://schemas.openxmlformats.org/drawingml/2006/main"/>
      <a:p xmlns:a="http://schemas.openxmlformats.org/drawingml/2006/main">
        <a:r>
          <a:t>Instructor: Show the executable source behind this observation and distinguish it from the proposed capstone behavior.</a:t>
        </a:r>
      </a:p>
    </p188:txBody>
  </p188:cm>
</p188:cmLst>
</file>

<file path=ppt/comments/modernComment60.xml><?xml version="1.0" encoding="utf-8"?>
<p188:cmLst xmlns:p188="http://schemas.microsoft.com/office/powerpoint/2018/8/main">
  <p188:cm id="{A4694457-8714-4661-A5AB-E80BAF743EC0}" authorId="{917B661A-225D-46A7-AAE6-5369A519E5B2}" status="active" created="2026-10-17T06:27:31.886+01:00">
    <pc:sldMkLst xmlns:pc="http://schemas.microsoft.com/office/powerpoint/2013/main/command">
      <pc:docMk/>
      <pc:sldMk cId="310777341" sldId="315"/>
    </pc:sldMkLst>
    <p188:pos x="11430000" y="666750"/>
    <p188:txBody>
      <a:bodyPr xmlns:a="http://schemas.openxmlformats.org/drawingml/2006/main"/>
      <a:lstStyle xmlns:a="http://schemas.openxmlformats.org/drawingml/2006/main"/>
      <a:p xmlns:a="http://schemas.openxmlformats.org/drawingml/2006/main">
        <a:r>
          <a:t>Instructor: This is a condensed code pattern. Compile it against the course-pinned SDK and explain the application-owned dependencies before the demo.</a:t>
        </a:r>
      </a:p>
    </p188:txBody>
  </p188:cm>
</p188:cmLst>
</file>

<file path=ppt/comments/modernComment61.xml><?xml version="1.0" encoding="utf-8"?>
<p188:cmLst xmlns:p188="http://schemas.microsoft.com/office/powerpoint/2018/8/main">
  <p188:cm id="{258BBD77-D8CA-4F92-A337-22096B71992A}" authorId="{917B661A-225D-46A7-AAE6-5369A519E5B2}" status="active" created="2026-10-17T06:27:31.89+01:00">
    <pc:sldMkLst xmlns:pc="http://schemas.microsoft.com/office/powerpoint/2013/main/command">
      <pc:docMk/>
      <pc:sldMk cId="927958628" sldId="316"/>
    </pc:sldMkLst>
    <p188:pos x="11430000" y="666750"/>
    <p188:txBody>
      <a:bodyPr xmlns:a="http://schemas.openxmlformats.org/drawingml/2006/main"/>
      <a:lstStyle xmlns:a="http://schemas.openxmlformats.org/drawingml/2006/main"/>
      <a:p xmlns:a="http://schemas.openxmlformats.org/drawingml/2006/main">
        <a:r>
          <a:t>Instructor: Microsoft's hosting helpers include named agent/workflow registration and optional hosted session storage. They are an integration option, not a replacement for application authentication and authorization. Reuse the existing API host for the core project to minimize deployment changes. Inspect the selected package's scope behavior instea</a:t>
        </a:r>
      </a:p>
    </p188:txBody>
  </p188:cm>
</p188:cmLst>
</file>

<file path=ppt/comments/modernComment62.xml><?xml version="1.0" encoding="utf-8"?>
<p188:cmLst xmlns:p188="http://schemas.microsoft.com/office/powerpoint/2018/8/main">
  <p188:cm id="{44A3C632-4E03-4B04-AA54-C1A613DF64B5}" authorId="{917B661A-225D-46A7-AAE6-5369A519E5B2}" status="active" created="2026-10-17T06:27:31.893+01:00">
    <pc:sldMkLst xmlns:pc="http://schemas.microsoft.com/office/powerpoint/2013/main/command">
      <pc:docMk/>
      <pc:sldMk cId="393350245" sldId="317"/>
    </pc:sldMkLst>
    <p188:pos x="11430000" y="666750"/>
    <p188:txBody>
      <a:bodyPr xmlns:a="http://schemas.openxmlformats.org/drawingml/2006/main"/>
      <a:lstStyle xmlns:a="http://schemas.openxmlformats.org/drawingml/2006/main"/>
      <a:p xmlns:a="http://schemas.openxmlformats.org/drawingml/2006/main">
        <a:r>
          <a:t>Instructor: The current Studio guesses tools from prompt and reply keywords and emits a toolExecuted browser event after a normal reply. Replace that inference with actual execution events. Use stable run, tool-call, and operation IDs. A browser may disconnect after a commit, so refresh business state from the server rather than reissuing the tool re</a:t>
        </a:r>
      </a:p>
    </p188:txBody>
  </p188:cm>
</p188:cmLst>
</file>

<file path=ppt/comments/modernComment63.xml><?xml version="1.0" encoding="utf-8"?>
<p188:cmLst xmlns:p188="http://schemas.microsoft.com/office/powerpoint/2018/8/main">
  <p188:cm id="{7309E206-7C37-4263-A894-444AF435EE7C}" authorId="{917B661A-225D-46A7-AAE6-5369A519E5B2}" status="active" created="2026-10-17T06:27:31.896+01:00">
    <pc:sldMkLst xmlns:pc="http://schemas.microsoft.com/office/powerpoint/2013/main/command">
      <pc:docMk/>
      <pc:sldMk cId="432590195" sldId="318"/>
    </pc:sldMkLst>
    <p188:pos x="11430000" y="666750"/>
    <p188:txBody>
      <a:bodyPr xmlns:a="http://schemas.openxmlformats.org/drawingml/2006/main"/>
      <a:lstStyle xmlns:a="http://schemas.openxmlformats.org/drawingml/2006/main"/>
      <a:p xmlns:a="http://schemas.openxmlformats.org/drawingml/2006/main">
        <a:r>
          <a:t>Instructor: This is a condensed code pattern. Compile it against the course-pinned SDK and explain the application-owned dependencies before the demo.</a:t>
        </a:r>
      </a:p>
    </p188:txBody>
  </p188:cm>
</p188:cmLst>
</file>

<file path=ppt/comments/modernComment64.xml><?xml version="1.0" encoding="utf-8"?>
<p188:cmLst xmlns:p188="http://schemas.microsoft.com/office/powerpoint/2018/8/main">
  <p188:cm id="{420BF2CB-BB81-4D1A-BC18-534EEBF4C496}" authorId="{917B661A-225D-46A7-AAE6-5369A519E5B2}" status="active" created="2026-10-17T06:27:31.899+01:00">
    <pc:sldMkLst xmlns:pc="http://schemas.microsoft.com/office/powerpoint/2013/main/command">
      <pc:docMk/>
      <pc:sldMk cId="1893897979" sldId="319"/>
    </pc:sldMkLst>
    <p188:pos x="11430000" y="666750"/>
    <p188:txBody>
      <a:bodyPr xmlns:a="http://schemas.openxmlformats.org/drawingml/2006/main"/>
      <a:lstStyle xmlns:a="http://schemas.openxmlformats.org/drawingml/2006/main"/>
      <a:p xmlns:a="http://schemas.openxmlformats.org/drawingml/2006/main">
        <a:r>
          <a:t>Instructor: Distinguish a provider continuation token from a durable workflow checkpoint and from the application's operation ID. Their lifecycles differ. The Durable Extension can support Azure Functions or other worker hosting, but it introduces deployment and operational choices beyond the core HTTP integration. Do not imply that every agent or pr</a:t>
        </a:r>
      </a:p>
    </p188:txBody>
  </p188:cm>
</p188:cmLst>
</file>

<file path=ppt/comments/modernComment65.xml><?xml version="1.0" encoding="utf-8"?>
<p188:cmLst xmlns:p188="http://schemas.microsoft.com/office/powerpoint/2018/8/main">
  <p188:cm id="{3EB23204-C5E3-48A3-91B1-2449DE75DD84}" authorId="{917B661A-225D-46A7-AAE6-5369A519E5B2}" status="active" created="2026-10-17T06:27:31.906+01:00">
    <pc:sldMkLst xmlns:pc="http://schemas.microsoft.com/office/powerpoint/2013/main/command">
      <pc:docMk/>
      <pc:sldMk cId="594541460" sldId="320"/>
    </pc:sldMkLst>
    <p188:pos x="11430000" y="666750"/>
    <p188:txBody>
      <a:bodyPr xmlns:a="http://schemas.openxmlformats.org/drawingml/2006/main"/>
      <a:lstStyle xmlns:a="http://schemas.openxmlformats.org/drawingml/2006/main"/>
      <a:p xmlns:a="http://schemas.openxmlformats.org/drawingml/2006/main">
        <a:r>
          <a:t>Use the acceptance criteria to review the implementation before moving to the next module.</a:t>
        </a:r>
      </a:p>
    </p188:txBody>
  </p188:cm>
</p188:cmLst>
</file>

<file path=ppt/comments/modernComment66.xml><?xml version="1.0" encoding="utf-8"?>
<p188:cmLst xmlns:p188="http://schemas.microsoft.com/office/powerpoint/2018/8/main">
  <p188:cm id="{5E3855C8-FEDF-46EC-A823-7F32A5263FCB}" authorId="{917B661A-225D-46A7-AAE6-5369A519E5B2}" status="active" created="2026-10-17T06:27:31.909+01:00">
    <pc:sldMkLst xmlns:pc="http://schemas.microsoft.com/office/powerpoint/2013/main/command">
      <pc:docMk/>
      <pc:sldMk cId="1615943270" sldId="321"/>
    </pc:sldMkLst>
    <p188:pos x="11430000" y="666750"/>
    <p188:txBody>
      <a:bodyPr xmlns:a="http://schemas.openxmlformats.org/drawingml/2006/main"/>
      <a:lstStyle xmlns:a="http://schemas.openxmlformats.org/drawingml/2006/main"/>
      <a:p xmlns:a="http://schemas.openxmlformats.org/drawingml/2006/main">
        <a:r>
          <a:t>Instructor: This module ends with a reviewable implementation increment. Use the speaker notes for pacing and the module lab for acceptance.</a:t>
        </a:r>
      </a:p>
    </p188:txBody>
  </p188:cm>
</p188:cmLst>
</file>

<file path=ppt/comments/modernComment67.xml><?xml version="1.0" encoding="utf-8"?>
<p188:cmLst xmlns:p188="http://schemas.microsoft.com/office/powerpoint/2018/8/main">
  <p188:cm id="{891A8B61-ACA5-4AE9-B06E-021C751BB2ED}" authorId="{917B661A-225D-46A7-AAE6-5369A519E5B2}" status="active" created="2026-10-17T06:27:31.911+01:00">
    <pc:sldMkLst xmlns:pc="http://schemas.microsoft.com/office/powerpoint/2013/main/command">
      <pc:docMk/>
      <pc:sldMk cId="986439155" sldId="322"/>
    </pc:sldMkLst>
    <p188:pos x="11430000" y="666750"/>
    <p188:txBody>
      <a:bodyPr xmlns:a="http://schemas.openxmlformats.org/drawingml/2006/main"/>
      <a:lstStyle xmlns:a="http://schemas.openxmlformats.org/drawingml/2006/main"/>
      <a:p xmlns:a="http://schemas.openxmlformats.org/drawingml/2006/main">
        <a:r>
          <a:t>Instructor: Use a concrete invoice note containing an instruction to export customer details as the threat scenario. The text is data, even when it looks like a system message. The model can be manipulated, so permission checks must be independent of model compliance. Classify data leaving the API for the model, telemetry, and any external connector.</a:t>
        </a:r>
      </a:p>
    </p188:txBody>
  </p188:cm>
</p188:cmLst>
</file>

<file path=ppt/comments/modernComment68.xml><?xml version="1.0" encoding="utf-8"?>
<p188:cmLst xmlns:p188="http://schemas.microsoft.com/office/powerpoint/2018/8/main">
  <p188:cm id="{231958DC-2E2C-4FA7-BC6A-9A06E6D201C6}" authorId="{917B661A-225D-46A7-AAE6-5369A519E5B2}" status="active" created="2026-10-17T06:27:31.915+01:00">
    <pc:sldMkLst xmlns:pc="http://schemas.microsoft.com/office/powerpoint/2013/main/command">
      <pc:docMk/>
      <pc:sldMk cId="992357315" sldId="323"/>
    </pc:sldMkLst>
    <p188:pos x="11430000" y="666750"/>
    <p188:txBody>
      <a:bodyPr xmlns:a="http://schemas.openxmlformats.org/drawingml/2006/main"/>
      <a:lstStyle xmlns:a="http://schemas.openxmlformats.org/drawingml/2006/main"/>
      <a:p xmlns:a="http://schemas.openxmlformats.org/drawingml/2006/main">
        <a:r>
          <a:t>Instructor: The inspected API Program and AI mapping do not implement a complete authenticated, tenant-scoped tool boundary. Treat the following controls as capstone work. Do not let the model choose a user ID or supply an unrestricted tenant ID. A UI antiforgery token protects a different concern from authorization. Add deterministic cross-tenant te</a:t>
        </a:r>
      </a:p>
    </p188:txBody>
  </p188:cm>
</p188:cmLst>
</file>

<file path=ppt/comments/modernComment69.xml><?xml version="1.0" encoding="utf-8"?>
<p188:cmLst xmlns:p188="http://schemas.microsoft.com/office/powerpoint/2018/8/main">
  <p188:cm id="{B1195828-C0BD-4A7A-A9CA-679FB6986C2C}" authorId="{917B661A-225D-46A7-AAE6-5369A519E5B2}" status="active" created="2026-10-17T06:27:31.919+01:00">
    <pc:sldMkLst xmlns:pc="http://schemas.microsoft.com/office/powerpoint/2013/main/command">
      <pc:docMk/>
      <pc:sldMk cId="67165451" sldId="324"/>
    </pc:sldMkLst>
    <p188:pos x="11430000" y="666750"/>
    <p188:txBody>
      <a:bodyPr xmlns:a="http://schemas.openxmlformats.org/drawingml/2006/main"/>
      <a:lstStyle xmlns:a="http://schemas.openxmlformats.org/drawingml/2006/main"/>
      <a:p xmlns:a="http://schemas.openxmlformats.org/drawingml/2006/main">
        <a:r>
          <a:t>Instructor: Security is a shared responsibility. Defensive prompts can reduce some attacks, but the application should enforce permissions and tool policy regardless of the model's answer. Test direct override prompts and indirect instructions in invoice notes and Markdown. Current Microsoft documentation marks FIDES experimental and Python-only, so </a:t>
        </a:r>
      </a:p>
    </p188:txBody>
  </p188:cm>
</p188:cmLst>
</file>

<file path=ppt/comments/modernComment70.xml><?xml version="1.0" encoding="utf-8"?>
<p188:cmLst xmlns:p188="http://schemas.microsoft.com/office/powerpoint/2018/8/main">
  <p188:cm id="{1CBE0B57-B356-4919-B59A-DA58AD8A54EA}" authorId="{917B661A-225D-46A7-AAE6-5369A519E5B2}" status="active" created="2026-10-17T06:27:31.922+01:00">
    <pc:sldMkLst xmlns:pc="http://schemas.microsoft.com/office/powerpoint/2013/main/command">
      <pc:docMk/>
      <pc:sldMk cId="1943192217" sldId="325"/>
    </pc:sldMkLst>
    <p188:pos x="11430000" y="666750"/>
    <p188:txBody>
      <a:bodyPr xmlns:a="http://schemas.openxmlformats.org/drawingml/2006/main"/>
      <a:lstStyle xmlns:a="http://schemas.openxmlformats.org/drawingml/2006/main"/>
      <a:p xmlns:a="http://schemas.openxmlformats.org/drawingml/2006/main">
        <a:r>
          <a:t>Instructor: This is a condensed code pattern. Compile it against the course-pinned SDK and explain the application-owned dependencies before the demo.</a:t>
        </a:r>
      </a:p>
    </p188:txBody>
  </p188:cm>
</p188:cmLst>
</file>

<file path=ppt/comments/modernComment71.xml><?xml version="1.0" encoding="utf-8"?>
<p188:cmLst xmlns:p188="http://schemas.microsoft.com/office/powerpoint/2018/8/main">
  <p188:cm id="{A6135FA1-86E6-4C74-A9A4-84A43E23D3D5}" authorId="{917B661A-225D-46A7-AAE6-5369A519E5B2}" status="active" created="2026-10-17T06:27:31.926+01:00">
    <pc:sldMkLst xmlns:pc="http://schemas.microsoft.com/office/powerpoint/2013/main/command">
      <pc:docMk/>
      <pc:sldMk cId="387237313" sldId="326"/>
    </pc:sldMkLst>
    <p188:pos x="11430000" y="666750"/>
    <p188:txBody>
      <a:bodyPr xmlns:a="http://schemas.openxmlformats.org/drawingml/2006/main"/>
      <a:lstStyle xmlns:a="http://schemas.openxmlformats.org/drawingml/2006/main"/>
      <a:p xmlns:a="http://schemas.openxmlformats.org/drawingml/2006/main">
        <a:r>
          <a:t>Instructor: This is application design beyond the framework approval wrapper. Choose a concurrency token or a versioned compare-and-update strategy appropriate to the database model. A repeated idempotency key must match the original operation payload and actor scope. Save the operation result consistently with the business mutation. Discuss the outb</a:t>
        </a:r>
      </a:p>
    </p188:txBody>
  </p188:cm>
</p188:cmLst>
</file>

<file path=ppt/comments/modernComment72.xml><?xml version="1.0" encoding="utf-8"?>
<p188:cmLst xmlns:p188="http://schemas.microsoft.com/office/powerpoint/2018/8/main">
  <p188:cm id="{124EF107-7499-4C2D-B328-2887370BBB8E}" authorId="{917B661A-225D-46A7-AAE6-5369A519E5B2}" status="active" created="2026-10-17T06:27:31.929+01:00">
    <pc:sldMkLst xmlns:pc="http://schemas.microsoft.com/office/powerpoint/2013/main/command">
      <pc:docMk/>
      <pc:sldMk cId="1115146316" sldId="327"/>
    </pc:sldMkLst>
    <p188:pos x="11430000" y="666750"/>
    <p188:txBody>
      <a:bodyPr xmlns:a="http://schemas.openxmlformats.org/drawingml/2006/main"/>
      <a:lstStyle xmlns:a="http://schemas.openxmlformats.org/drawingml/2006/main"/>
      <a:p xmlns:a="http://schemas.openxmlformats.org/drawingml/2006/main">
        <a:r>
          <a:t>Instructor: Have students inventory destinations rather than making a blanket compliance claim. Provider hosting location, storage behavior, and enterprise requirements need review in the actual deployment. An external tool response can carry sensitive data or malicious instructions. Use synthetic training data for demonstrations and red-team cases. </a:t>
        </a:r>
      </a:p>
    </p188:txBody>
  </p188:cm>
</p188:cmLst>
</file>

<file path=ppt/comments/modernComment73.xml><?xml version="1.0" encoding="utf-8"?>
<p188:cmLst xmlns:p188="http://schemas.microsoft.com/office/powerpoint/2018/8/main">
  <p188:cm id="{833E0615-CBDB-4813-98E0-769E44BF6848}" authorId="{917B661A-225D-46A7-AAE6-5369A519E5B2}" status="active" created="2026-10-17T06:27:31.933+01:00">
    <pc:sldMkLst xmlns:pc="http://schemas.microsoft.com/office/powerpoint/2013/main/command">
      <pc:docMk/>
      <pc:sldMk cId="294570377" sldId="328"/>
    </pc:sldMkLst>
    <p188:pos x="11430000" y="666750"/>
    <p188:txBody>
      <a:bodyPr xmlns:a="http://schemas.openxmlformats.org/drawingml/2006/main"/>
      <a:lstStyle xmlns:a="http://schemas.openxmlformats.org/drawingml/2006/main"/>
      <a:p xmlns:a="http://schemas.openxmlformats.org/drawingml/2006/main">
        <a:r>
          <a:t>Use the acceptance criteria to review the implementation before moving to the next module.</a:t>
        </a:r>
      </a:p>
    </p188:txBody>
  </p188:cm>
</p188:cmLst>
</file>

<file path=ppt/comments/modernComment74.xml><?xml version="1.0" encoding="utf-8"?>
<p188:cmLst xmlns:p188="http://schemas.microsoft.com/office/powerpoint/2018/8/main">
  <p188:cm id="{90A0D048-9114-45C4-A134-8940D99AB59B}" authorId="{917B661A-225D-46A7-AAE6-5369A519E5B2}" status="active" created="2026-10-17T06:27:31.935+01:00">
    <pc:sldMkLst xmlns:pc="http://schemas.microsoft.com/office/powerpoint/2013/main/command">
      <pc:docMk/>
      <pc:sldMk cId="927141321" sldId="329"/>
    </pc:sldMkLst>
    <p188:pos x="11430000" y="666750"/>
    <p188:txBody>
      <a:bodyPr xmlns:a="http://schemas.openxmlformats.org/drawingml/2006/main"/>
      <a:lstStyle xmlns:a="http://schemas.openxmlformats.org/drawingml/2006/main"/>
      <a:p xmlns:a="http://schemas.openxmlformats.org/drawingml/2006/main">
        <a:r>
          <a:t>Instructor: This module ends with a reviewable implementation increment. Use the speaker notes for pacing and the module lab for acceptance.</a:t>
        </a:r>
      </a:p>
    </p188:txBody>
  </p188:cm>
</p188:cmLst>
</file>

<file path=ppt/comments/modernComment75.xml><?xml version="1.0" encoding="utf-8"?>
<p188:cmLst xmlns:p188="http://schemas.microsoft.com/office/powerpoint/2018/8/main">
  <p188:cm id="{913AF93D-20AC-4456-B3E5-F73053957F87}" authorId="{917B661A-225D-46A7-AAE6-5369A519E5B2}" status="active" created="2026-10-17T06:27:31.939+01:00">
    <pc:sldMkLst xmlns:pc="http://schemas.microsoft.com/office/powerpoint/2013/main/command">
      <pc:docMk/>
      <pc:sldMk cId="898160422" sldId="330"/>
    </pc:sldMkLst>
    <p188:pos x="11430000" y="666750"/>
    <p188:txBody>
      <a:bodyPr xmlns:a="http://schemas.openxmlformats.org/drawingml/2006/main"/>
      <a:lstStyle xmlns:a="http://schemas.openxmlformats.org/drawingml/2006/main"/>
      <a:p xmlns:a="http://schemas.openxmlformats.org/drawingml/2006/main">
        <a:r>
          <a:t>Instructor: These signals overlap but answer different questions. Use one correlation chain from the HTTP request through the model call and command. A tool-call trace should not be the only financial audit record. Avoid logging full prompts and customer records by default. Record enough identifiers to diagnose a run while keeping sensitive content c</a:t>
        </a:r>
      </a:p>
    </p188:txBody>
  </p188:cm>
</p188:cmLst>
</file>

<file path=ppt/comments/modernComment76.xml><?xml version="1.0" encoding="utf-8"?>
<p188:cmLst xmlns:p188="http://schemas.microsoft.com/office/powerpoint/2018/8/main">
  <p188:cm id="{E8DF07C1-4B10-44FF-A2C0-4192ED4D4A16}" authorId="{917B661A-225D-46A7-AAE6-5369A519E5B2}" status="active" created="2026-10-17T06:27:31.942+01:00">
    <pc:sldMkLst xmlns:pc="http://schemas.microsoft.com/office/powerpoint/2013/main/command">
      <pc:docMk/>
      <pc:sldMk cId="557745479" sldId="331"/>
    </pc:sldMkLst>
    <p188:pos x="11430000" y="666750"/>
    <p188:txBody>
      <a:bodyPr xmlns:a="http://schemas.openxmlformats.org/drawingml/2006/main"/>
      <a:lstStyle xmlns:a="http://schemas.openxmlformats.org/drawingml/2006/main"/>
      <a:p xmlns:a="http://schemas.openxmlformats.org/drawingml/2006/main">
        <a:r>
          <a:t>Instructor: This is a condensed code pattern. Compile it against the course-pinned SDK and explain the application-owned dependencies before the demo.</a:t>
        </a:r>
      </a:p>
    </p188:txBody>
  </p188:cm>
</p188:cmLst>
</file>

<file path=ppt/comments/modernComment77.xml><?xml version="1.0" encoding="utf-8"?>
<p188:cmLst xmlns:p188="http://schemas.microsoft.com/office/powerpoint/2018/8/main">
  <p188:cm id="{92AB17B2-2274-451F-A249-3D21709B1805}" authorId="{917B661A-225D-46A7-AAE6-5369A519E5B2}" status="active" created="2026-10-17T06:27:31.945+01:00">
    <pc:sldMkLst xmlns:pc="http://schemas.microsoft.com/office/powerpoint/2013/main/command">
      <pc:docMk/>
      <pc:sldMk cId="2137733846" sldId="332"/>
    </pc:sldMkLst>
    <p188:pos x="11430000" y="666750"/>
    <p188:txBody>
      <a:bodyPr xmlns:a="http://schemas.openxmlformats.org/drawingml/2006/main"/>
      <a:lstStyle xmlns:a="http://schemas.openxmlformats.org/drawingml/2006/main"/>
      <a:p xmlns:a="http://schemas.openxmlformats.org/drawingml/2006/main">
        <a:r>
          <a:t>Instructor: The baseline web client has a 60-second AI timeout, while other work can add latency. A model SDK may already retry, so avoid multiplying retry layers without analysis. Reads and writes need different retry semantics. A runtime cloud failure is not the same as missing configuration. Define who owns cancellation, what persists, and what th</a:t>
        </a:r>
      </a:p>
    </p188:txBody>
  </p188:cm>
</p188:cmLst>
</file>

<file path=ppt/comments/modernComment78.xml><?xml version="1.0" encoding="utf-8"?>
<p188:cmLst xmlns:p188="http://schemas.microsoft.com/office/powerpoint/2018/8/main">
  <p188:cm id="{E5EC7DEC-19A2-4422-AB60-FCDE553B914B}" authorId="{917B661A-225D-46A7-AAE6-5369A519E5B2}" status="active" created="2026-10-17T06:27:31.948+01:00">
    <pc:sldMkLst xmlns:pc="http://schemas.microsoft.com/office/powerpoint/2013/main/command">
      <pc:docMk/>
      <pc:sldMk cId="457351817" sldId="333"/>
    </pc:sldMkLst>
    <p188:pos x="11430000" y="666750"/>
    <p188:txBody>
      <a:bodyPr xmlns:a="http://schemas.openxmlformats.org/drawingml/2006/main"/>
      <a:lstStyle xmlns:a="http://schemas.openxmlformats.org/drawingml/2006/main"/>
      <a:p xmlns:a="http://schemas.openxmlformats.org/drawingml/2006/main">
        <a:r>
          <a:t>Instructor: Use the actual provider price sheet when preparing a live cost exercise; no prices are asserted here. Compare a single-agent lookup with a multi-agent report in measured tokens and calls. Cache stable documentation differently from live balances. Include evaluation traffic in the budget. Any cache holding customer-specific results needs c</a:t>
        </a:r>
      </a:p>
    </p188:txBody>
  </p188:cm>
</p188:cmLst>
</file>

<file path=ppt/comments/modernComment79.xml><?xml version="1.0" encoding="utf-8"?>
<p188:cmLst xmlns:p188="http://schemas.microsoft.com/office/powerpoint/2018/8/main">
  <p188:cm id="{BBF2C720-FF51-4C5E-813C-2CFF1AB8AB59}" authorId="{917B661A-225D-46A7-AAE6-5369A519E5B2}" status="active" created="2026-10-17T06:27:31.956+01:00">
    <pc:sldMkLst xmlns:pc="http://schemas.microsoft.com/office/powerpoint/2013/main/command">
      <pc:docMk/>
      <pc:sldMk cId="2081209647" sldId="334"/>
    </pc:sldMkLst>
    <p188:pos x="11430000" y="666750"/>
    <p188:txBody>
      <a:bodyPr xmlns:a="http://schemas.openxmlformats.org/drawingml/2006/main"/>
      <a:lstStyle xmlns:a="http://schemas.openxmlformats.org/drawingml/2006/main"/>
      <a:p xmlns:a="http://schemas.openxmlformats.org/drawingml/2006/main">
        <a:r>
          <a:t>Instructor: Show the executable source behind this observation and distinguish it from the proposed capstone behavior.</a:t>
        </a:r>
      </a:p>
    </p188:txBody>
  </p188:cm>
</p188:cmLst>
</file>

<file path=ppt/comments/modernComment80.xml><?xml version="1.0" encoding="utf-8"?>
<p188:cmLst xmlns:p188="http://schemas.microsoft.com/office/powerpoint/2018/8/main">
  <p188:cm id="{C250C1DE-0EA3-4B38-8CC2-6F92F6F2FB67}" authorId="{917B661A-225D-46A7-AAE6-5369A519E5B2}" status="active" created="2026-10-17T06:27:31.961+01:00">
    <pc:sldMkLst xmlns:pc="http://schemas.microsoft.com/office/powerpoint/2013/main/command">
      <pc:docMk/>
      <pc:sldMk cId="1223648392" sldId="335"/>
    </pc:sldMkLst>
    <p188:pos x="11430000" y="666750"/>
    <p188:txBody>
      <a:bodyPr xmlns:a="http://schemas.openxmlformats.org/drawingml/2006/main"/>
      <a:lstStyle xmlns:a="http://schemas.openxmlformats.org/drawingml/2006/main"/>
      <a:p xmlns:a="http://schemas.openxmlformats.org/drawingml/2006/main">
        <a:r>
          <a:t>Instructor: The API catches database initialization failure at startup, so a running process alone does not establish usable business access. Add capability checks and a deployment-specific secret/identity strategy. The initial release can expose documentation and read tools before writes. A model or prompt rollback may be required even when the .NET</a:t>
        </a:r>
      </a:p>
    </p188:txBody>
  </p188:cm>
</p188:cmLst>
</file>

<file path=ppt/comments/modernComment81.xml><?xml version="1.0" encoding="utf-8"?>
<p188:cmLst xmlns:p188="http://schemas.microsoft.com/office/powerpoint/2018/8/main">
  <p188:cm id="{E960B171-369A-4F6A-BA8E-69D49443C694}" authorId="{917B661A-225D-46A7-AAE6-5369A519E5B2}" status="active" created="2026-10-17T06:27:31.964+01:00">
    <pc:sldMkLst xmlns:pc="http://schemas.microsoft.com/office/powerpoint/2013/main/command">
      <pc:docMk/>
      <pc:sldMk cId="1872430036" sldId="336"/>
    </pc:sldMkLst>
    <p188:pos x="11430000" y="666750"/>
    <p188:txBody>
      <a:bodyPr xmlns:a="http://schemas.openxmlformats.org/drawingml/2006/main"/>
      <a:lstStyle xmlns:a="http://schemas.openxmlformats.org/drawingml/2006/main"/>
      <a:p xmlns:a="http://schemas.openxmlformats.org/drawingml/2006/main">
        <a:r>
          <a:t>Use the acceptance criteria to review the implementation before moving to the next module.</a:t>
        </a:r>
      </a:p>
    </p188:txBody>
  </p188:cm>
</p188:cmLst>
</file>

<file path=ppt/comments/modernComment82.xml><?xml version="1.0" encoding="utf-8"?>
<p188:cmLst xmlns:p188="http://schemas.microsoft.com/office/powerpoint/2018/8/main">
  <p188:cm id="{2DA6800E-50F2-4B96-B6D2-01ADA3A02351}" authorId="{917B661A-225D-46A7-AAE6-5369A519E5B2}" status="active" created="2026-10-17T06:27:31.967+01:00">
    <pc:sldMkLst xmlns:pc="http://schemas.microsoft.com/office/powerpoint/2013/main/command">
      <pc:docMk/>
      <pc:sldMk cId="1296572883" sldId="337"/>
    </pc:sldMkLst>
    <p188:pos x="11430000" y="666750"/>
    <p188:txBody>
      <a:bodyPr xmlns:a="http://schemas.openxmlformats.org/drawingml/2006/main"/>
      <a:lstStyle xmlns:a="http://schemas.openxmlformats.org/drawingml/2006/main"/>
      <a:p xmlns:a="http://schemas.openxmlformats.org/drawingml/2006/main">
        <a:r>
          <a:t>Instructor: This module ends with a reviewable implementation increment. Use the speaker notes for pacing and the module lab for acceptance.</a:t>
        </a:r>
      </a:p>
    </p188:txBody>
  </p188:cm>
</p188:cmLst>
</file>

<file path=ppt/comments/modernComment83.xml><?xml version="1.0" encoding="utf-8"?>
<p188:cmLst xmlns:p188="http://schemas.microsoft.com/office/powerpoint/2018/8/main">
  <p188:cm id="{D73EDF17-2F1B-45DF-BDE2-079E4FB6C546}" authorId="{917B661A-225D-46A7-AAE6-5369A519E5B2}" status="active" created="2026-10-17T06:27:31.976+01:00">
    <pc:sldMkLst xmlns:pc="http://schemas.microsoft.com/office/powerpoint/2013/main/command">
      <pc:docMk/>
      <pc:sldMk cId="438802033" sldId="338"/>
    </pc:sldMkLst>
    <p188:pos x="11430000" y="666750"/>
    <p188:txBody>
      <a:bodyPr xmlns:a="http://schemas.openxmlformats.org/drawingml/2006/main"/>
      <a:lstStyle xmlns:a="http://schemas.openxmlformats.org/drawingml/2006/main"/>
      <a:p xmlns:a="http://schemas.openxmlformats.org/drawingml/2006/main">
        <a:r>
          <a:t>Instructor: Use fast deterministic tests for guarantees the application can enforce. Behavioral tests need a representative prompt corpus and tolerances for harmless wording changes. Do not use exact response strings as the sole measure of model quality. Framework evaluation can combine local checks and external evaluators; retain authoritative asser</a:t>
        </a:r>
      </a:p>
    </p188:txBody>
  </p188:cm>
</p188:cmLst>
</file>

<file path=ppt/comments/modernComment84.xml><?xml version="1.0" encoding="utf-8"?>
<p188:cmLst xmlns:p188="http://schemas.microsoft.com/office/powerpoint/2018/8/main">
  <p188:cm id="{5CB870BB-261D-4B08-AE48-6F9D80C8B5EB}" authorId="{917B661A-225D-46A7-AAE6-5369A519E5B2}" status="active" created="2026-10-17T06:27:31.985+01:00">
    <pc:sldMkLst xmlns:pc="http://schemas.microsoft.com/office/powerpoint/2013/main/command">
      <pc:docMk/>
      <pc:sldMk cId="828898251" sldId="339"/>
    </pc:sldMkLst>
    <p188:pos x="11430000" y="666750"/>
    <p188:txBody>
      <a:bodyPr xmlns:a="http://schemas.openxmlformats.org/drawingml/2006/main"/>
      <a:lstStyle xmlns:a="http://schemas.openxmlformats.org/drawingml/2006/main"/>
      <a:p xmlns:a="http://schemas.openxmlformats.org/drawingml/2006/main">
        <a:r>
          <a:t>Instructor: Show the executable source behind this observation and distinguish it from the proposed capstone behavior.</a:t>
        </a:r>
      </a:p>
    </p188:txBody>
  </p188:cm>
</p188:cmLst>
</file>

<file path=ppt/comments/modernComment85.xml><?xml version="1.0" encoding="utf-8"?>
<p188:cmLst xmlns:p188="http://schemas.microsoft.com/office/powerpoint/2018/8/main">
  <p188:cm id="{192B7179-3C47-4ADA-81D5-0E1DFFC76D74}" authorId="{917B661A-225D-46A7-AAE6-5369A519E5B2}" status="active" created="2026-10-17T06:27:31.989+01:00">
    <pc:sldMkLst xmlns:pc="http://schemas.microsoft.com/office/powerpoint/2013/main/command">
      <pc:docMk/>
      <pc:sldMk cId="1169310173" sldId="340"/>
    </pc:sldMkLst>
    <p188:pos x="11430000" y="666750"/>
    <p188:txBody>
      <a:bodyPr xmlns:a="http://schemas.openxmlformats.org/drawingml/2006/main"/>
      <a:lstStyle xmlns:a="http://schemas.openxmlformats.org/drawingml/2006/main"/>
      <a:p xmlns:a="http://schemas.openxmlformats.org/drawingml/2006/main">
        <a:r>
          <a:t>Instructor: This is a proposed corpus structure. Use synthetic fixtures and retain expected tool evidence. Add paraphrases, empty results, cancelled invoices, and conflicting context. Split development cases from a held-out regression set. Version each case with the prompt, tool definitions, model/deployment configuration, and expected business behav</a:t>
        </a:r>
      </a:p>
    </p188:txBody>
  </p188:cm>
</p188:cmLst>
</file>

<file path=ppt/comments/modernComment86.xml><?xml version="1.0" encoding="utf-8"?>
<p188:cmLst xmlns:p188="http://schemas.microsoft.com/office/powerpoint/2018/8/main">
  <p188:cm id="{DDD09785-F96F-4239-BE7F-698E48AC7B7E}" authorId="{917B661A-225D-46A7-AAE6-5369A519E5B2}" status="active" created="2026-10-17T06:27:31.993+01:00">
    <pc:sldMkLst xmlns:pc="http://schemas.microsoft.com/office/powerpoint/2013/main/command">
      <pc:docMk/>
      <pc:sldMk cId="494636243" sldId="341"/>
    </pc:sldMkLst>
    <p188:pos x="11430000" y="666750"/>
    <p188:txBody>
      <a:bodyPr xmlns:a="http://schemas.openxmlformats.org/drawingml/2006/main"/>
      <a:lstStyle xmlns:a="http://schemas.openxmlformats.org/drawingml/2006/main"/>
      <a:p xmlns:a="http://schemas.openxmlformats.org/drawingml/2006/main">
        <a:r>
          <a:t>Instructor: Explain the limitations of automated judges and calibrate them against human review. A change can improve helpfulness while increasing unauthorized tool attempts or cost. Keep safety and correctness gates independent of a single aggregate score. Run enough cases to reveal patterns and report the dataset scope, rather than presenting a sma</a:t>
        </a:r>
      </a:p>
    </p188:txBody>
  </p188:cm>
</p188:cmLst>
</file>

<file path=ppt/comments/modernComment87.xml><?xml version="1.0" encoding="utf-8"?>
<p188:cmLst xmlns:p188="http://schemas.microsoft.com/office/powerpoint/2018/8/main">
  <p188:cm id="{ABBD6D0F-05A5-4B83-BFF4-806836BEE4C5}" authorId="{917B661A-225D-46A7-AAE6-5369A519E5B2}" status="active" created="2026-10-17T06:27:31.995+01:00">
    <pc:sldMkLst xmlns:pc="http://schemas.microsoft.com/office/powerpoint/2013/main/command">
      <pc:docMk/>
      <pc:sldMk cId="990830279" sldId="342"/>
    </pc:sldMkLst>
    <p188:pos x="11430000" y="666750"/>
    <p188:txBody>
      <a:bodyPr xmlns:a="http://schemas.openxmlformats.org/drawingml/2006/main"/>
      <a:lstStyle xmlns:a="http://schemas.openxmlformats.org/drawingml/2006/main"/>
      <a:p xmlns:a="http://schemas.openxmlformats.org/drawingml/2006/main">
        <a:r>
          <a:t>Instructor: These are course release requirements. Teams choose thresholds before reviewing the candidate results, and justify the risk trade-offs. Do not invent a universal acceptable accuracy percentage. Separate mandatory invariant tests from statistical quality targets. A prompt-only or model-only change still passes through evaluation and releas</a:t>
        </a:r>
      </a:p>
    </p188:txBody>
  </p188:cm>
</p188:cmLst>
</file>

<file path=ppt/comments/modernComment88.xml><?xml version="1.0" encoding="utf-8"?>
<p188:cmLst xmlns:p188="http://schemas.microsoft.com/office/powerpoint/2018/8/main">
  <p188:cm id="{1CA2587B-A423-464A-85E6-6B0C500AAFA2}" authorId="{917B661A-225D-46A7-AAE6-5369A519E5B2}" status="active" created="2026-10-17T06:27:32+01:00">
    <pc:sldMkLst xmlns:pc="http://schemas.microsoft.com/office/powerpoint/2013/main/command">
      <pc:docMk/>
      <pc:sldMk cId="1169359303" sldId="343"/>
    </pc:sldMkLst>
    <p188:pos x="11430000" y="666750"/>
    <p188:txBody>
      <a:bodyPr xmlns:a="http://schemas.openxmlformats.org/drawingml/2006/main"/>
      <a:lstStyle xmlns:a="http://schemas.openxmlformats.org/drawingml/2006/main"/>
      <a:p xmlns:a="http://schemas.openxmlformats.org/drawingml/2006/main">
        <a:r>
          <a:t>Instructor: The final project should integrate the preceding lab increments rather than rebuild them at the end. The invoice business system is the existing-system substrate. The course outcome replaces the custom runtime where appropriate, then adds the missing controls. Require a concise architecture decision record listing what was preserved, repl</a:t>
        </a:r>
      </a:p>
    </p188:txBody>
  </p188:cm>
</p188:cmLst>
</file>

<file path=ppt/comments/modernComment89.xml><?xml version="1.0" encoding="utf-8"?>
<p188:cmLst xmlns:p188="http://schemas.microsoft.com/office/powerpoint/2018/8/main">
  <p188:cm id="{D7CD1490-A624-428E-93B4-1820D7E86F3A}" authorId="{917B661A-225D-46A7-AAE6-5369A519E5B2}" status="active" created="2026-10-17T06:27:32.004+01:00">
    <pc:sldMkLst xmlns:pc="http://schemas.microsoft.com/office/powerpoint/2013/main/command">
      <pc:docMk/>
      <pc:sldMk cId="270257373" sldId="344"/>
    </pc:sldMkLst>
    <p188:pos x="11430000" y="666750"/>
    <p188:txBody>
      <a:bodyPr xmlns:a="http://schemas.openxmlformats.org/drawingml/2006/main"/>
      <a:lstStyle xmlns:a="http://schemas.openxmlformats.org/drawingml/2006/main"/>
      <a:p xmlns:a="http://schemas.openxmlformats.org/drawingml/2006/main">
        <a:r>
          <a:t>Instructor: Give teams a fixed scenario and a changed scenario they have not rehearsed verbatim. Require them to show framework package references, run identity, tool evidence, and the final invoice state. The baseline repository's custom agent names or UI animation do not establish that Microsoft Agent Framework is in use. Ask which behaviors are im</a:t>
        </a:r>
      </a:p>
    </p188:txBody>
  </p188:cm>
</p188:cmLst>
</file>

<file path=ppt/comments/modernComment90.xml><?xml version="1.0" encoding="utf-8"?>
<p188:cmLst xmlns:p188="http://schemas.microsoft.com/office/powerpoint/2018/8/main">
  <p188:cm id="{B47BCE4B-C4C6-40A2-8F2B-8FBD116E9637}" authorId="{917B661A-225D-46A7-AAE6-5369A519E5B2}" status="active" created="2026-10-17T06:27:32.007+01:00">
    <pc:sldMkLst xmlns:pc="http://schemas.microsoft.com/office/powerpoint/2013/main/command">
      <pc:docMk/>
      <pc:sldMk cId="292077705" sldId="345"/>
    </pc:sldMkLst>
    <p188:pos x="11430000" y="666750"/>
    <p188:txBody>
      <a:bodyPr xmlns:a="http://schemas.openxmlformats.org/drawingml/2006/main"/>
      <a:lstStyle xmlns:a="http://schemas.openxmlformats.org/drawingml/2006/main"/>
      <a:p xmlns:a="http://schemas.openxmlformats.org/drawingml/2006/main">
        <a:r>
          <a:t>Instructor: This is a proposed course rubric totaling 100 percent. A serious authorization or business-rule defect requires remediation regardless of the weighted total. Review code and behavioral evidence, not only presentation quality. Give individual engineers a short change or failure investigation so group work does not hide gaps in understandin</a:t>
        </a:r>
      </a:p>
    </p188:txBody>
  </p188:cm>
</p188:cmLst>
</file>

<file path=ppt/comments/modernComment91.xml><?xml version="1.0" encoding="utf-8"?>
<p188:cmLst xmlns:p188="http://schemas.microsoft.com/office/powerpoint/2018/8/main">
  <p188:cm id="{BA500C95-7E41-4F1A-B56B-A88D346D202E}" authorId="{917B661A-225D-46A7-AAE6-5369A519E5B2}" status="active" created="2026-10-17T06:27:32.011+01:00">
    <pc:sldMkLst xmlns:pc="http://schemas.microsoft.com/office/powerpoint/2013/main/command">
      <pc:docMk/>
      <pc:sldMk cId="932881773" sldId="346"/>
    </pc:sldMkLst>
    <p188:pos x="11430000" y="666750"/>
    <p188:txBody>
      <a:bodyPr xmlns:a="http://schemas.openxmlformats.org/drawingml/2006/main"/>
      <a:lstStyle xmlns:a="http://schemas.openxmlformats.org/drawingml/2006/main"/>
      <a:p xmlns:a="http://schemas.openxmlformats.org/drawingml/2006/main">
        <a:r>
          <a:t>Use the acceptance criteria to review the implementation before moving to the next module.</a:t>
        </a:r>
      </a:p>
    </p188:txBody>
  </p188:cm>
</p188:cmLst>
</file>

<file path=ppt/comments/modernComment92.xml><?xml version="1.0" encoding="utf-8"?>
<p188:cmLst xmlns:p188="http://schemas.microsoft.com/office/powerpoint/2018/8/main">
  <p188:cm id="{291DAD74-6164-4C03-845D-57A3128ABC6A}" authorId="{917B661A-225D-46A7-AAE6-5369A519E5B2}" status="active" created="2026-10-17T06:27:32.015+01:00">
    <pc:sldMkLst xmlns:pc="http://schemas.microsoft.com/office/powerpoint/2013/main/command">
      <pc:docMk/>
      <pc:sldMk cId="1246554328" sldId="347"/>
    </pc:sldMkLst>
    <p188:pos x="11430000" y="666750"/>
    <p188:txBody>
      <a:bodyPr xmlns:a="http://schemas.openxmlformats.org/drawingml/2006/main"/>
      <a:lstStyle xmlns:a="http://schemas.openxmlformats.org/drawingml/2006/main"/>
      <a:p xmlns:a="http://schemas.openxmlformats.org/drawingml/2006/main">
        <a:r>
          <a:t>Instructor: Do not paste an unreviewed latest-version list into a professional course. Microsoft examples and API references may use different package versions or prerelease components. Freeze one coherent set after compiling the supplied course project and recheck before teaching. The snippets in this deck are condensed implementation patterns, with</a:t>
        </a:r>
      </a:p>
    </p188:txBody>
  </p188:cm>
</p188:cmLst>
</file>

<file path=ppt/comments/modernComment93.xml><?xml version="1.0" encoding="utf-8"?>
<p188:cmLst xmlns:p188="http://schemas.microsoft.com/office/powerpoint/2018/8/main">
  <p188:cm id="{AAEF6BD8-AE74-40D2-93EB-3267E9F860F9}" authorId="{917B661A-225D-46A7-AAE6-5369A519E5B2}" status="active" created="2026-10-17T06:27:32.021+01:00">
    <pc:sldMkLst xmlns:pc="http://schemas.microsoft.com/office/powerpoint/2013/main/command">
      <pc:docMk/>
      <pc:sldMk cId="281397978" sldId="348"/>
    </pc:sldMkLst>
    <p188:pos x="11430000" y="666750"/>
    <p188:txBody>
      <a:bodyPr xmlns:a="http://schemas.openxmlformats.org/drawingml/2006/main"/>
      <a:lstStyle xmlns:a="http://schemas.openxmlformats.org/drawingml/2006/main"/>
      <a:p xmlns:a="http://schemas.openxmlformats.org/drawingml/2006/main">
        <a:r>
          <a:t>Instructor: This is a condensed code pattern. Compile it against the course-pinned SDK and explain the application-owned dependencies before the demo.</a:t>
        </a:r>
      </a:p>
    </p188:txBody>
  </p188:cm>
</p188:cmLst>
</file>

<file path=ppt/comments/modernComment94.xml><?xml version="1.0" encoding="utf-8"?>
<p188:cmLst xmlns:p188="http://schemas.microsoft.com/office/powerpoint/2018/8/main">
  <p188:cm id="{0E30F5C5-6E76-43C4-965A-3EBB990230F5}" authorId="{917B661A-225D-46A7-AAE6-5369A519E5B2}" status="active" created="2026-10-17T06:27:32.025+01:00">
    <pc:sldMkLst xmlns:pc="http://schemas.microsoft.com/office/powerpoint/2013/main/command">
      <pc:docMk/>
      <pc:sldMk cId="1143374140" sldId="349"/>
    </pc:sldMkLst>
    <p188:pos x="11430000" y="666750"/>
    <p188:txBody>
      <a:bodyPr xmlns:a="http://schemas.openxmlformats.org/drawingml/2006/main"/>
      <a:lstStyle xmlns:a="http://schemas.openxmlformats.org/drawingml/2006/main"/>
      <a:p xmlns:a="http://schemas.openxmlformats.org/drawingml/2006/main">
        <a:r>
          <a:t>Instructor: These are optional extensions, not claimed features of the current app. An image or document-extraction result should become a reviewed draft, not an automatic financial fact. Background agent delegation differs from provider background responses. Harness capabilities and hooks vary by version and language, so consult current .NET documen</a:t>
        </a:r>
      </a:p>
    </p188:txBody>
  </p188:cm>
</p188:cmLst>
</file>

<file path=ppt/comments/modernComment95.xml><?xml version="1.0" encoding="utf-8"?>
<p188:cmLst xmlns:p188="http://schemas.microsoft.com/office/powerpoint/2018/8/main">
  <p188:cm id="{4FBCD9B7-7D22-492B-AA18-F9CD543892A4}" authorId="{917B661A-225D-46A7-AAE6-5369A519E5B2}" status="active" created="2026-10-17T06:27:32.031+01:00">
    <pc:sldMkLst xmlns:pc="http://schemas.microsoft.com/office/powerpoint/2013/main/command">
      <pc:docMk/>
      <pc:sldMk cId="138381241" sldId="350"/>
    </pc:sldMkLst>
    <p188:pos x="11430000" y="666750"/>
    <p188:txBody>
      <a:bodyPr xmlns:a="http://schemas.openxmlformats.org/drawingml/2006/main"/>
      <a:lstStyle xmlns:a="http://schemas.openxmlformats.org/drawingml/2006/main"/>
      <a:p xmlns:a="http://schemas.openxmlformats.org/drawingml/2006/main">
        <a:r>
          <a:t>Instructor: Open files in this order for the final code tour, then follow one use case down to persistence. The exact local paths and cited line locations follow in the source notes for this slide. Students should distinguish comments describing intended capability from executable behavior. Avoid making the course a file-by-file reading exercise.</a:t>
        </a:r>
      </a:p>
    </p188:txBody>
  </p188:cm>
</p188:cmLst>
</file>

<file path=ppt/comments/modernComment96.xml><?xml version="1.0" encoding="utf-8"?>
<p188:cmLst xmlns:p188="http://schemas.microsoft.com/office/powerpoint/2018/8/main">
  <p188:cm id="{6F70A125-8E3C-4E5A-980D-EF5CBFC14BB0}" authorId="{917B661A-225D-46A7-AAE6-5369A519E5B2}" status="active" created="2026-10-17T06:27:32.036+01:00">
    <pc:sldMkLst xmlns:pc="http://schemas.microsoft.com/office/powerpoint/2013/main/command">
      <pc:docMk/>
      <pc:sldMk cId="502610595" sldId="351"/>
    </pc:sldMkLst>
    <p188:pos x="11430000" y="666750"/>
    <p188:txBody>
      <a:bodyPr xmlns:a="http://schemas.openxmlformats.org/drawingml/2006/main"/>
      <a:lstStyle xmlns:a="http://schemas.openxmlformats.org/drawingml/2006/main"/>
      <a:p xmlns:a="http://schemas.openxmlformats.org/drawingml/2006/main">
        <a:r>
          <a:t>Instructor: Use these references to prepare a version-pinned course environment. The main deck distinguishes existing repository behavior from framework capabilities and proposed application controls. Online documentation is a moving reference; record the exact course dependencies and recheck code samples before each cohort.</a:t>
        </a:r>
      </a:p>
    </p188:txBody>
  </p188:cm>
</p188:cmLst>
</file>

<file path=ppt/comments/modernComment97.xml><?xml version="1.0" encoding="utf-8"?>
<p188:cmLst xmlns:p188="http://schemas.microsoft.com/office/powerpoint/2018/8/main">
  <p188:cm id="{F6ADD3D7-23C5-43FC-85AA-5B5D85D734E0}" authorId="{917B661A-225D-46A7-AAE6-5369A519E5B2}" status="active" created="2026-10-17T06:27:32.039+01:00">
    <pc:sldMkLst xmlns:pc="http://schemas.microsoft.com/office/powerpoint/2013/main/command">
      <pc:docMk/>
      <pc:sldMk cId="1087443625" sldId="352"/>
    </pc:sldMkLst>
    <p188:pos x="11430000" y="666750"/>
    <p188:txBody>
      <a:bodyPr xmlns:a="http://schemas.openxmlformats.org/drawingml/2006/main"/>
      <a:lstStyle xmlns:a="http://schemas.openxmlformats.org/drawingml/2006/main"/>
      <a:p xmlns:a="http://schemas.openxmlformats.org/drawingml/2006/main">
        <a:r>
          <a:t>Instructor: The notes contain the official primary references for these topics. Select the .NET tabs and pinned package documentation when a page covers several languages. In particular, do not transfer Python-only storage or security APIs into a .NET example. Proposed course controls such as application idempotency and tenant authorization remain re</a:t>
        </a:r>
      </a:p>
    </p188:txBody>
  </p188:cm>
</p188:cmLst>
</file>

<file path=ppt/comments/modernComment98.xml><?xml version="1.0" encoding="utf-8"?>
<p188:cmLst xmlns:p188="http://schemas.microsoft.com/office/powerpoint/2018/8/main">
  <p188:cm id="{A1773A84-3EC0-496B-89AB-0FE9DC14608E}" authorId="{917B661A-225D-46A7-AAE6-5369A519E5B2}" status="active" created="2026-10-17T06:27:32.042+01:00">
    <pc:sldMkLst xmlns:pc="http://schemas.microsoft.com/office/powerpoint/2013/main/command">
      <pc:docMk/>
      <pc:sldMk cId="1955338578" sldId="353"/>
    </pc:sldMkLst>
    <p188:pos x="11430000" y="666750"/>
    <p188:txBody>
      <a:bodyPr xmlns:a="http://schemas.openxmlformats.org/drawingml/2006/main"/>
      <a:lstStyle xmlns:a="http://schemas.openxmlformats.org/drawingml/2006/main"/>
      <a:p xmlns:a="http://schemas.openxmlformats.org/drawingml/2006/main">
        <a:r>
          <a:t>Instructor: Close by asking each engineer to describe how they would integrate the same pattern into their own system. The transferable skill is defining the boundary, exposing appropriate operations, managing state, and measuring outcomes. InvoiceAI is the capstone evidence that they can combine those decisions in a working .NET application.</a:t>
        </a:r>
      </a:p>
    </p188:txBody>
  </p188:cm>
</p188:cmLst>
</file>

<file path=ppt/notesMasters/_rels/notesMaster1.xml.rels>&#65279;<?xml version="1.0" encoding="utf-8"?><Relationships xmlns="http://schemas.openxmlformats.org/package/2006/relationships"><Relationship Type="http://schemas.openxmlformats.org/officeDocument/2006/relationships/theme" Target="/ppt/notesMasters/theme/theme3.xml" Id="Rc9050126560143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3d5acb15a547a4" /><Relationship Type="http://schemas.openxmlformats.org/officeDocument/2006/relationships/notesMaster" Target="/ppt/notesMasters/notesMaster1.xml" Id="R7376d192e5f4490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aea44671c7a4e41" /><Relationship Type="http://schemas.openxmlformats.org/officeDocument/2006/relationships/notesMaster" Target="/ppt/notesMasters/notesMaster1.xml" Id="Rf0c0dcfc8d5442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aa4320dc66249b8" /><Relationship Type="http://schemas.openxmlformats.org/officeDocument/2006/relationships/notesMaster" Target="/ppt/notesMasters/notesMaster1.xml" Id="R38794911ebf24a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8218de9a284750" /><Relationship Type="http://schemas.openxmlformats.org/officeDocument/2006/relationships/notesMaster" Target="/ppt/notesMasters/notesMaster1.xml" Id="Rbf66828249bc4a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04771454c8451a" /><Relationship Type="http://schemas.openxmlformats.org/officeDocument/2006/relationships/notesMaster" Target="/ppt/notesMasters/notesMaster1.xml" Id="R8f63673de7cf433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5cd6c543a84841" /><Relationship Type="http://schemas.openxmlformats.org/officeDocument/2006/relationships/notesMaster" Target="/ppt/notesMasters/notesMaster1.xml" Id="Rd13dbe950fbf4e0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63b1169599b449c" /><Relationship Type="http://schemas.openxmlformats.org/officeDocument/2006/relationships/notesMaster" Target="/ppt/notesMasters/notesMaster1.xml" Id="R97db7e62355746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158e28316c48af" /><Relationship Type="http://schemas.openxmlformats.org/officeDocument/2006/relationships/notesMaster" Target="/ppt/notesMasters/notesMaster1.xml" Id="R5c1bbba6e7d04ec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73ccf71926414a" /><Relationship Type="http://schemas.openxmlformats.org/officeDocument/2006/relationships/notesMaster" Target="/ppt/notesMasters/notesMaster1.xml" Id="Rddea799686f6463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c6b14450544b69" /><Relationship Type="http://schemas.openxmlformats.org/officeDocument/2006/relationships/notesMaster" Target="/ppt/notesMasters/notesMaster1.xml" Id="R614944f7e918438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38d44ae39344ad9" /><Relationship Type="http://schemas.openxmlformats.org/officeDocument/2006/relationships/notesMaster" Target="/ppt/notesMasters/notesMaster1.xml" Id="R6b101c6210154e1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59f61fae3f147ba" /><Relationship Type="http://schemas.openxmlformats.org/officeDocument/2006/relationships/notesMaster" Target="/ppt/notesMasters/notesMaster1.xml" Id="Rcfe691ba8dc0499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640dc7c4d3340e7" /><Relationship Type="http://schemas.openxmlformats.org/officeDocument/2006/relationships/notesMaster" Target="/ppt/notesMasters/notesMaster1.xml" Id="R30ed8b126642421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ebabb2a904c476d" /><Relationship Type="http://schemas.openxmlformats.org/officeDocument/2006/relationships/notesMaster" Target="/ppt/notesMasters/notesMaster1.xml" Id="Rba2eaf54f00c4fe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d1b9e0e32724277" /><Relationship Type="http://schemas.openxmlformats.org/officeDocument/2006/relationships/notesMaster" Target="/ppt/notesMasters/notesMaster1.xml" Id="R776ee4f923a242f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16950764a994bbc" /><Relationship Type="http://schemas.openxmlformats.org/officeDocument/2006/relationships/notesMaster" Target="/ppt/notesMasters/notesMaster1.xml" Id="R27784665edac46f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982af660e114937" /><Relationship Type="http://schemas.openxmlformats.org/officeDocument/2006/relationships/notesMaster" Target="/ppt/notesMasters/notesMaster1.xml" Id="R704e6bbdb69b4da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471cad3aa53464d" /><Relationship Type="http://schemas.openxmlformats.org/officeDocument/2006/relationships/notesMaster" Target="/ppt/notesMasters/notesMaster1.xml" Id="R4af0f038b0694de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6bcd3c4e82a4738" /><Relationship Type="http://schemas.openxmlformats.org/officeDocument/2006/relationships/notesMaster" Target="/ppt/notesMasters/notesMaster1.xml" Id="R3d0c583f054842e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6872ce57d64473e" /><Relationship Type="http://schemas.openxmlformats.org/officeDocument/2006/relationships/notesMaster" Target="/ppt/notesMasters/notesMaster1.xml" Id="R669655c9bcf5405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2de0ab8dda54349" /><Relationship Type="http://schemas.openxmlformats.org/officeDocument/2006/relationships/notesMaster" Target="/ppt/notesMasters/notesMaster1.xml" Id="Rda7bd818aaa0409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35483dcfab240cd" /><Relationship Type="http://schemas.openxmlformats.org/officeDocument/2006/relationships/notesMaster" Target="/ppt/notesMasters/notesMaster1.xml" Id="R218f7b1209fe48d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3e16cf5b59d44df" /><Relationship Type="http://schemas.openxmlformats.org/officeDocument/2006/relationships/notesMaster" Target="/ppt/notesMasters/notesMaster1.xml" Id="Rf664e85f86ba41c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ecf46374d6a4f98" /><Relationship Type="http://schemas.openxmlformats.org/officeDocument/2006/relationships/notesMaster" Target="/ppt/notesMasters/notesMaster1.xml" Id="R95c7905594ea452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0c64f99b8334dd2" /><Relationship Type="http://schemas.openxmlformats.org/officeDocument/2006/relationships/notesMaster" Target="/ppt/notesMasters/notesMaster1.xml" Id="R6a7a24ae76634da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0d5b84c8d114006" /><Relationship Type="http://schemas.openxmlformats.org/officeDocument/2006/relationships/notesMaster" Target="/ppt/notesMasters/notesMaster1.xml" Id="Rce1b14ebff99466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09eec19f0cc42f6" /><Relationship Type="http://schemas.openxmlformats.org/officeDocument/2006/relationships/notesMaster" Target="/ppt/notesMasters/notesMaster1.xml" Id="R1c5beb9e43434ea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48ead679a2f4c09" /><Relationship Type="http://schemas.openxmlformats.org/officeDocument/2006/relationships/notesMaster" Target="/ppt/notesMasters/notesMaster1.xml" Id="Rbfbde17dc83440e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36dc7eccc4041c5" /><Relationship Type="http://schemas.openxmlformats.org/officeDocument/2006/relationships/notesMaster" Target="/ppt/notesMasters/notesMaster1.xml" Id="Recb3971fcb644af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98ecb5d2ee448c2" /><Relationship Type="http://schemas.openxmlformats.org/officeDocument/2006/relationships/notesMaster" Target="/ppt/notesMasters/notesMaster1.xml" Id="Rf12395878693445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ccd3ec80e72443b" /><Relationship Type="http://schemas.openxmlformats.org/officeDocument/2006/relationships/notesMaster" Target="/ppt/notesMasters/notesMaster1.xml" Id="R48565923991a4e8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2209efbb65241b5" /><Relationship Type="http://schemas.openxmlformats.org/officeDocument/2006/relationships/notesMaster" Target="/ppt/notesMasters/notesMaster1.xml" Id="R3f2fd503a70a414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980756200034e78" /><Relationship Type="http://schemas.openxmlformats.org/officeDocument/2006/relationships/notesMaster" Target="/ppt/notesMasters/notesMaster1.xml" Id="R5996d9caa6ac4d8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39e7f0d7a6b452d" /><Relationship Type="http://schemas.openxmlformats.org/officeDocument/2006/relationships/notesMaster" Target="/ppt/notesMasters/notesMaster1.xml" Id="Rb28e88e9412148a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683238009104fe5" /><Relationship Type="http://schemas.openxmlformats.org/officeDocument/2006/relationships/notesMaster" Target="/ppt/notesMasters/notesMaster1.xml" Id="R7bda0ca519864ef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555a9af1a794be1" /><Relationship Type="http://schemas.openxmlformats.org/officeDocument/2006/relationships/notesMaster" Target="/ppt/notesMasters/notesMaster1.xml" Id="R6f6e8cbd48634c1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3de9130a94940e1" /><Relationship Type="http://schemas.openxmlformats.org/officeDocument/2006/relationships/notesMaster" Target="/ppt/notesMasters/notesMaster1.xml" Id="R0cd1720bb1d84bd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00d2dddb89840bd" /><Relationship Type="http://schemas.openxmlformats.org/officeDocument/2006/relationships/notesMaster" Target="/ppt/notesMasters/notesMaster1.xml" Id="R956374a1dbde405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0509d8139124606" /><Relationship Type="http://schemas.openxmlformats.org/officeDocument/2006/relationships/notesMaster" Target="/ppt/notesMasters/notesMaster1.xml" Id="R834c9eca51b7499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e3851c1649e4fb7" /><Relationship Type="http://schemas.openxmlformats.org/officeDocument/2006/relationships/notesMaster" Target="/ppt/notesMasters/notesMaster1.xml" Id="R0664ef32a751492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ec01773484c4d89" /><Relationship Type="http://schemas.openxmlformats.org/officeDocument/2006/relationships/notesMaster" Target="/ppt/notesMasters/notesMaster1.xml" Id="R96c1be45e10e47f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c4d0fbc6cf14273" /><Relationship Type="http://schemas.openxmlformats.org/officeDocument/2006/relationships/notesMaster" Target="/ppt/notesMasters/notesMaster1.xml" Id="R612bee9350194f3d"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3e8d120a89b4d2a" /><Relationship Type="http://schemas.openxmlformats.org/officeDocument/2006/relationships/notesMaster" Target="/ppt/notesMasters/notesMaster1.xml" Id="R60a2416379f145d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df42b0a35214d82" /><Relationship Type="http://schemas.openxmlformats.org/officeDocument/2006/relationships/notesMaster" Target="/ppt/notesMasters/notesMaster1.xml" Id="Rbcdb443de17b46c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bc3077caa544151" /><Relationship Type="http://schemas.openxmlformats.org/officeDocument/2006/relationships/notesMaster" Target="/ppt/notesMasters/notesMaster1.xml" Id="R94d01d5b93de4a8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9ebf873d6b1b4ce4" /><Relationship Type="http://schemas.openxmlformats.org/officeDocument/2006/relationships/notesMaster" Target="/ppt/notesMasters/notesMaster1.xml" Id="R9b6f57150e044bf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6998bc53fdd34470" /><Relationship Type="http://schemas.openxmlformats.org/officeDocument/2006/relationships/notesMaster" Target="/ppt/notesMasters/notesMaster1.xml" Id="R08507f04be4e42e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fed7f7f9167450c" /><Relationship Type="http://schemas.openxmlformats.org/officeDocument/2006/relationships/notesMaster" Target="/ppt/notesMasters/notesMaster1.xml" Id="R7b9a663578b341e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08b972bc22844ef" /><Relationship Type="http://schemas.openxmlformats.org/officeDocument/2006/relationships/notesMaster" Target="/ppt/notesMasters/notesMaster1.xml" Id="Ref498201b1404c3b"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dda44d7e3ca40f4" /><Relationship Type="http://schemas.openxmlformats.org/officeDocument/2006/relationships/notesMaster" Target="/ppt/notesMasters/notesMaster1.xml" Id="R4365bbe47c044d09"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f6910038a6d4744" /><Relationship Type="http://schemas.openxmlformats.org/officeDocument/2006/relationships/notesMaster" Target="/ppt/notesMasters/notesMaster1.xml" Id="R5eb0637879074429"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8475a69a3f4d45ef" /><Relationship Type="http://schemas.openxmlformats.org/officeDocument/2006/relationships/notesMaster" Target="/ppt/notesMasters/notesMaster1.xml" Id="R4eaf9a6a0bfc4774"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7c4c6cacdadd4909" /><Relationship Type="http://schemas.openxmlformats.org/officeDocument/2006/relationships/notesMaster" Target="/ppt/notesMasters/notesMaster1.xml" Id="R98f12dda09594df2"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aa7717a2c7a4f60" /><Relationship Type="http://schemas.openxmlformats.org/officeDocument/2006/relationships/notesMaster" Target="/ppt/notesMasters/notesMaster1.xml" Id="Rf3856f401a004ce6"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bed045e92d8344ea" /><Relationship Type="http://schemas.openxmlformats.org/officeDocument/2006/relationships/notesMaster" Target="/ppt/notesMasters/notesMaster1.xml" Id="R30268cdb2d0c40f2"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d7d60f4e7cff4ccd" /><Relationship Type="http://schemas.openxmlformats.org/officeDocument/2006/relationships/notesMaster" Target="/ppt/notesMasters/notesMaster1.xml" Id="Reab5514b28b74579"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09ea1e3728c34d9d" /><Relationship Type="http://schemas.openxmlformats.org/officeDocument/2006/relationships/notesMaster" Target="/ppt/notesMasters/notesMaster1.xml" Id="Rbae034d12db646eb"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6f82fbc1aa154ee9" /><Relationship Type="http://schemas.openxmlformats.org/officeDocument/2006/relationships/notesMaster" Target="/ppt/notesMasters/notesMaster1.xml" Id="R498c8df66dbe499a"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994a647858a4405b" /><Relationship Type="http://schemas.openxmlformats.org/officeDocument/2006/relationships/notesMaster" Target="/ppt/notesMasters/notesMaster1.xml" Id="R47af6ec4b2a04b07"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7cd8e236736f447b" /><Relationship Type="http://schemas.openxmlformats.org/officeDocument/2006/relationships/notesMaster" Target="/ppt/notesMasters/notesMaster1.xml" Id="R954d713c29864f5b"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6174318ef8ce4eed" /><Relationship Type="http://schemas.openxmlformats.org/officeDocument/2006/relationships/notesMaster" Target="/ppt/notesMasters/notesMaster1.xml" Id="R83e0a0a0ee8a49ca"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2507e72ca2ec45c9" /><Relationship Type="http://schemas.openxmlformats.org/officeDocument/2006/relationships/notesMaster" Target="/ppt/notesMasters/notesMaster1.xml" Id="Red0d815ab33946d5"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b797e9a04e014f62" /><Relationship Type="http://schemas.openxmlformats.org/officeDocument/2006/relationships/notesMaster" Target="/ppt/notesMasters/notesMaster1.xml" Id="R4fb447e750fc4dbf"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5239cc90e4a84850" /><Relationship Type="http://schemas.openxmlformats.org/officeDocument/2006/relationships/notesMaster" Target="/ppt/notesMasters/notesMaster1.xml" Id="R238c4e1be3744e56"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1f29db41f8774598" /><Relationship Type="http://schemas.openxmlformats.org/officeDocument/2006/relationships/notesMaster" Target="/ppt/notesMasters/notesMaster1.xml" Id="R280c0a5d1c104f97"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fa3d1a3919c9493e" /><Relationship Type="http://schemas.openxmlformats.org/officeDocument/2006/relationships/notesMaster" Target="/ppt/notesMasters/notesMaster1.xml" Id="R4dae539de1014a4b"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5a736f4e1cdc4881" /><Relationship Type="http://schemas.openxmlformats.org/officeDocument/2006/relationships/notesMaster" Target="/ppt/notesMasters/notesMaster1.xml" Id="R7f7810d778524c3b"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0e72beb76c624dce" /><Relationship Type="http://schemas.openxmlformats.org/officeDocument/2006/relationships/notesMaster" Target="/ppt/notesMasters/notesMaster1.xml" Id="Rc5d6b06d276640f8"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cf6e0cb1b056442d" /><Relationship Type="http://schemas.openxmlformats.org/officeDocument/2006/relationships/notesMaster" Target="/ppt/notesMasters/notesMaster1.xml" Id="Rb7bcc6c80bc6474d"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e392bfc2a0694d90" /><Relationship Type="http://schemas.openxmlformats.org/officeDocument/2006/relationships/notesMaster" Target="/ppt/notesMasters/notesMaster1.xml" Id="R5e47fe3e3d9145fa"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1d18843a802f406e" /><Relationship Type="http://schemas.openxmlformats.org/officeDocument/2006/relationships/notesMaster" Target="/ppt/notesMasters/notesMaster1.xml" Id="R6deb1098eb0e424e"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436866a8030649cf" /><Relationship Type="http://schemas.openxmlformats.org/officeDocument/2006/relationships/notesMaster" Target="/ppt/notesMasters/notesMaster1.xml" Id="Rbbb803ce42e6410a"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87163330db4d436e" /><Relationship Type="http://schemas.openxmlformats.org/officeDocument/2006/relationships/notesMaster" Target="/ppt/notesMasters/notesMaster1.xml" Id="Rb408e21c690943e0"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9df3baf050894287" /><Relationship Type="http://schemas.openxmlformats.org/officeDocument/2006/relationships/notesMaster" Target="/ppt/notesMasters/notesMaster1.xml" Id="R2f3cc5bd2b2a4421"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4dab77550ddb4b2f" /><Relationship Type="http://schemas.openxmlformats.org/officeDocument/2006/relationships/notesMaster" Target="/ppt/notesMasters/notesMaster1.xml" Id="R4104edeb6125421b"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7599eb934db24ab0" /><Relationship Type="http://schemas.openxmlformats.org/officeDocument/2006/relationships/notesMaster" Target="/ppt/notesMasters/notesMaster1.xml" Id="Rb8432acebfd64236"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8746aaa2dc854879" /><Relationship Type="http://schemas.openxmlformats.org/officeDocument/2006/relationships/notesMaster" Target="/ppt/notesMasters/notesMaster1.xml" Id="R5c3c4b2009c648bb"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19c4a60d8b14435d" /><Relationship Type="http://schemas.openxmlformats.org/officeDocument/2006/relationships/notesMaster" Target="/ppt/notesMasters/notesMaster1.xml" Id="R1827afb0e7104e45"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7ed75eadf53c4418" /><Relationship Type="http://schemas.openxmlformats.org/officeDocument/2006/relationships/notesMaster" Target="/ppt/notesMasters/notesMaster1.xml" Id="R9a70ee9adb2248f0"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4c767a409ac04f33" /><Relationship Type="http://schemas.openxmlformats.org/officeDocument/2006/relationships/notesMaster" Target="/ppt/notesMasters/notesMaster1.xml" Id="Rcdb1c0b14420451b"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66f1ae9a1a874ba2" /><Relationship Type="http://schemas.openxmlformats.org/officeDocument/2006/relationships/notesMaster" Target="/ppt/notesMasters/notesMaster1.xml" Id="R4af74f210f3c48eb"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07d4eadf057e4a34" /><Relationship Type="http://schemas.openxmlformats.org/officeDocument/2006/relationships/notesMaster" Target="/ppt/notesMasters/notesMaster1.xml" Id="R4ca1ee283206470b"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842cd8448c5f49b4" /><Relationship Type="http://schemas.openxmlformats.org/officeDocument/2006/relationships/notesMaster" Target="/ppt/notesMasters/notesMaster1.xml" Id="Rda8ff8ca3da24146"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4fde0a94b8a24d01" /><Relationship Type="http://schemas.openxmlformats.org/officeDocument/2006/relationships/notesMaster" Target="/ppt/notesMasters/notesMaster1.xml" Id="R62b66fcc4ffe4344"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2b72426d1418439b" /><Relationship Type="http://schemas.openxmlformats.org/officeDocument/2006/relationships/notesMaster" Target="/ppt/notesMasters/notesMaster1.xml" Id="R45c1b02c6ee341a8"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e7ceb485deb34984" /><Relationship Type="http://schemas.openxmlformats.org/officeDocument/2006/relationships/notesMaster" Target="/ppt/notesMasters/notesMaster1.xml" Id="R31ffad19baef44df"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eb5c539f741449a2" /><Relationship Type="http://schemas.openxmlformats.org/officeDocument/2006/relationships/notesMaster" Target="/ppt/notesMasters/notesMaster1.xml" Id="R9eaa51752d2b410b"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b8ce1bd385e24645" /><Relationship Type="http://schemas.openxmlformats.org/officeDocument/2006/relationships/notesMaster" Target="/ppt/notesMasters/notesMaster1.xml" Id="Rdc583024e4504bb5"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0ea505b7d67a4003" /><Relationship Type="http://schemas.openxmlformats.org/officeDocument/2006/relationships/notesMaster" Target="/ppt/notesMasters/notesMaster1.xml" Id="Rf780261f97634dc1"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850dd7e7eba9489d" /><Relationship Type="http://schemas.openxmlformats.org/officeDocument/2006/relationships/notesMaster" Target="/ppt/notesMasters/notesMaster1.xml" Id="R9224b87471834bfb"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f7271623cc1f4574" /><Relationship Type="http://schemas.openxmlformats.org/officeDocument/2006/relationships/notesMaster" Target="/ppt/notesMasters/notesMaster1.xml" Id="R617ae065966b4f6a"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1ada75c58b834847" /><Relationship Type="http://schemas.openxmlformats.org/officeDocument/2006/relationships/notesMaster" Target="/ppt/notesMasters/notesMaster1.xml" Id="R7800d4a2809e4710"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a4398a1854024941" /><Relationship Type="http://schemas.openxmlformats.org/officeDocument/2006/relationships/notesMaster" Target="/ppt/notesMasters/notesMaster1.xml" Id="R1899fd3af59d4daf"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6b8e38b00e084b45" /><Relationship Type="http://schemas.openxmlformats.org/officeDocument/2006/relationships/notesMaster" Target="/ppt/notesMasters/notesMaster1.xml" Id="Rb1b98fab898b494f"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44663640d58a4dfc" /><Relationship Type="http://schemas.openxmlformats.org/officeDocument/2006/relationships/notesMaster" Target="/ppt/notesMasters/notesMaster1.xml" Id="Rc11123e9c6fc46db"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93a27db791d14527" /><Relationship Type="http://schemas.openxmlformats.org/officeDocument/2006/relationships/notesMaster" Target="/ppt/notesMasters/notesMaster1.xml" Id="Ra9757a120e4a4a7b"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88edaf82631342eb" /><Relationship Type="http://schemas.openxmlformats.org/officeDocument/2006/relationships/notesMaster" Target="/ppt/notesMasters/notesMaster1.xml" Id="Ra96a262f6f9946ed"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938ffd59cc114ccf" /><Relationship Type="http://schemas.openxmlformats.org/officeDocument/2006/relationships/notesMaster" Target="/ppt/notesMasters/notesMaster1.xml" Id="R149f02fc6ab245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This course assumes professional C# and ASP.NET Core experience. The focus is engineering an AI capability into an existing system, rather than teaching MVC, EF Core, or C# syntax. Students finish with an InvoiceAI integration that uses actual Microsoft Agent Framework agents and retains application/domain boundaries.</a:t>
            </a:r>
          </a:p>
          <a:p xmlns:a="http://schemas.openxmlformats.org/drawingml/2006/main">
            <a:r>
              <a:t>DELIVERY</a:t>
            </a:r>
          </a:p>
          <a:p xmlns:a="http://schemas.openxmlformats.org/drawingml/2006/main">
            <a:r>
              <a:t>Ten modules of three contact hours include labs. A final implementation can continue as homework. Explain that repository observations and proposed capstone work are labeled separately.</a:t>
            </a:r>
          </a:p>
          <a:p xmlns:a="http://schemas.openxmlformats.org/drawingml/2006/main">
            <a:r>
              <a:t/>
            </a:r>
          </a:p>
          <a:p xmlns:a="http://schemas.openxmlformats.org/drawingml/2006/main">
            <a:r>
              <a:t>COURSE STATUS</a:t>
            </a:r>
          </a:p>
          <a:p xmlns:a="http://schemas.openxmlformats.org/drawingml/2006/main">
            <a:r>
              <a:t>Course. </a:t>
            </a:r>
          </a:p>
          <a:p xmlns:a="http://schemas.openxmlformats.org/drawingml/2006/main">
            <a:r>
              <a:t/>
            </a:r>
          </a:p>
          <a:p xmlns:a="http://schemas.openxmlformats.org/drawingml/2006/main">
            <a:r>
              <a:t>SOURCES</a:t>
            </a:r>
          </a:p>
          <a:p xmlns:a="http://schemas.openxmlformats.org/drawingml/2006/main">
            <a:r>
              <a:t>Microsoft Agent Framework overview</a:t>
            </a:r>
          </a:p>
          <a:p xmlns:a="http://schemas.openxmlformats.org/drawingml/2006/main">
            <a:r>
              <a:t>https://learn.microsoft.com/en-us/agent-framework/overview/</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Ask each engineer to name a system they might augment. Use one read use case and one write use case to establish the difference in risk and required evidence. The capstone is the integration layer and its safeguards, supported by the existing invoice application. Avoid spending course time rebuilding CRUD unless a cohort needs a separate prerequisite lab.</a:t>
            </a:r>
          </a:p>
          <a:p xmlns:a="http://schemas.openxmlformats.org/drawingml/2006/main">
            <a:r>
              <a:t>DISCUSSION</a:t>
            </a:r>
          </a:p>
          <a:p xmlns:a="http://schemas.openxmlformats.org/drawingml/2006/main">
            <a:r>
              <a:t>What business outcome would justify a model call rather than a conventional endpoint?</a:t>
            </a:r>
          </a:p>
          <a:p xmlns:a="http://schemas.openxmlformats.org/drawingml/2006/main">
            <a:r>
              <a:t/>
            </a:r>
          </a:p>
          <a:p xmlns:a="http://schemas.openxmlformats.org/drawingml/2006/main">
            <a:r>
              <a:t>COURSE STATUS</a:t>
            </a:r>
          </a:p>
          <a:p xmlns:a="http://schemas.openxmlformats.org/drawingml/2006/main">
            <a:r>
              <a:t>Course target. This describes course work, not a claim that the baseline repository already implements it.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The suggested course has 30 contact hours. Each module produces a reviewable increment. The slide deck includes demonstration and assessment prompts, while the engineering work happens in the repository. Keep a teaching branch for each checkpoint. Make cloud configuration available before module 2, and use separate training records for every write lab.</a:t>
            </a:r>
          </a:p>
          <a:p xmlns:a="http://schemas.openxmlformats.org/drawingml/2006/main">
            <a:r>
              <a:t>FACILITATION</a:t>
            </a:r>
          </a:p>
          <a:p xmlns:a="http://schemas.openxmlformats.org/drawingml/2006/main">
            <a:r>
              <a:t>Agree on team sizes, access to the model deployment, and who owns the training database.</a:t>
            </a:r>
          </a:p>
          <a:p xmlns:a="http://schemas.openxmlformats.org/drawingml/2006/main">
            <a:r>
              <a:t/>
            </a:r>
          </a:p>
          <a:p xmlns:a="http://schemas.openxmlformats.org/drawingml/2006/main">
            <a:r>
              <a:t>COURSE STATUS</a:t>
            </a:r>
          </a:p>
          <a:p xmlns:a="http://schemas.openxmlformats.org/drawingml/2006/main">
            <a:r>
              <a:t>Suggested course plan.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This distinction is central. AddAgentFramework is a method name in the repository, but the AI project currently references Microsoft.Extensions.AI and Azure.AI.OpenAI, not Microsoft.Agents.AI. Do not describe that baseline as a completed framework migration. Students preserve useful tool and domain code, then replace runtime concerns behind an adapter. Current features and proposed changes remain distinct throughout the course.</a:t>
            </a:r>
          </a:p>
          <a:p xmlns:a="http://schemas.openxmlformats.org/drawingml/2006/main">
            <a:r>
              <a:t/>
            </a:r>
          </a:p>
          <a:p xmlns:a="http://schemas.openxmlformats.org/drawingml/2006/main">
            <a:r>
              <a:t>COURSE STATUS</a:t>
            </a:r>
          </a:p>
          <a:p xmlns:a="http://schemas.openxmlformats.org/drawingml/2006/main">
            <a:r>
              <a:t>Existing vs target. This describes course work, not a claim that the baseline repository already implements it. </a:t>
            </a:r>
          </a:p>
          <a:p xmlns:a="http://schemas.openxmlformats.org/drawingml/2006/main">
            <a:r>
              <a:t/>
            </a:r>
          </a:p>
          <a:p xmlns:a="http://schemas.openxmlformats.org/drawingml/2006/main">
            <a:r>
              <a:t>SOURCES</a:t>
            </a:r>
          </a:p>
          <a:p xmlns:a="http://schemas.openxmlformats.org/drawingml/2006/main">
            <a:r>
              <a:t>AsAIAgent API reference</a:t>
            </a:r>
          </a:p>
          <a:p xmlns:a="http://schemas.openxmlformats.org/drawingml/2006/main">
            <a:r>
              <a:t>https://learn.microsoft.com/en-us/dotnet/api/openai.chat.openaichatclientextensions.asaiagent?view=agent-framework-dotnet-latest</a:t>
            </a:r>
          </a:p>
          <a:p xmlns:a="http://schemas.openxmlformats.org/drawingml/2006/main">
            <a:r>
              <a:t/>
            </a:r>
          </a:p>
          <a:p xmlns:a="http://schemas.openxmlformats.org/drawingml/2006/main">
            <a:r>
              <a:t>src/InvoiceApp.AI/InvoiceApp.AI.csproj:16</a:t>
            </a:r>
          </a:p>
          <a:p xmlns:a="http://schemas.openxmlformats.org/drawingml/2006/main">
            <a:r>
              <a:t/>
            </a:r>
          </a:p>
          <a:p xmlns:a="http://schemas.openxmlformats.org/drawingml/2006/main">
            <a:r>
              <a:t>src/InvoiceApp.AI/Agents/BaseAgent.cs:84</a:t>
            </a:r>
          </a:p>
          <a:p xmlns:a="http://schemas.openxmlformats.org/drawingml/2006/main">
            <a:r>
              <a:t/>
            </a:r>
          </a:p>
          <a:p xmlns:a="http://schemas.openxmlformats.org/drawingml/2006/main">
            <a:r>
              <a:t>src/InvoiceApp.AI/Coordinator/AgentCoordinator.cs:72</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PLAN</a:t>
            </a:r>
          </a:p>
          <a:p xmlns:a="http://schemas.openxmlformats.org/drawingml/2006/main">
            <a:r>
              <a:t>Allocate 3 hours: 25 minutes of concepts, 35 minutes of guided code, 70 minutes of lab work, 30 minutes of review, and 20 minutes for discussion or breaks. Adjust the suggested timings to the cohort. The lab acceptance criteria matter more than the number of slides.</a:t>
            </a:r>
          </a:p>
          <a:p xmlns:a="http://schemas.openxmlformats.org/drawingml/2006/main">
            <a:r>
              <a:t>MODULE OUTCOME</a:t>
            </a:r>
          </a:p>
          <a:p xmlns:a="http://schemas.openxmlformats.org/drawingml/2006/main">
            <a:r>
              <a:t>An AI capability that preserves the existing system's contracts</a:t>
            </a:r>
          </a:p>
          <a:p xmlns:a="http://schemas.openxmlformats.org/drawingml/2006/main">
            <a:r>
              <a:t/>
            </a:r>
          </a:p>
          <a:p xmlns:a="http://schemas.openxmlformats.org/drawingml/2006/main">
            <a:r>
              <a:t>COURSE STATUS</a:t>
            </a:r>
          </a:p>
          <a:p xmlns:a="http://schemas.openxmlformats.org/drawingml/2006/main">
            <a:r>
              <a:t>Engineering design.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These are proposed integration choices. Ask students to identify where language interpretation adds value and where deterministic code is already superior. Financial arithmetic stays in the domain/query layer. The agent translates user intent and explains results. A narrow read use case is the first production slice because its outcome is easier to verify and its side effects are limited.</a:t>
            </a:r>
          </a:p>
          <a:p xmlns:a="http://schemas.openxmlformats.org/drawingml/2006/main">
            <a:r>
              <a:t>EXERCISE</a:t>
            </a:r>
          </a:p>
          <a:p xmlns:a="http://schemas.openxmlformats.org/drawingml/2006/main">
            <a:r>
              <a:t>Name the acceptance evidence before selecting an SDK feature.</a:t>
            </a:r>
          </a:p>
          <a:p xmlns:a="http://schemas.openxmlformats.org/drawingml/2006/main">
            <a:r>
              <a:t/>
            </a:r>
          </a:p>
          <a:p xmlns:a="http://schemas.openxmlformats.org/drawingml/2006/main">
            <a:r>
              <a:t>COURSE STATUS</a:t>
            </a:r>
          </a:p>
          <a:p xmlns:a="http://schemas.openxmlformats.org/drawingml/2006/main">
            <a:r>
              <a:t>Design decision.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This illustration shows the proposed runtime boundary. The framework calls the model and invokes approved tool functions. Tools delegate to application handlers. Domain entities enforce invariants, while repositories use EF Core or Dapper. Read queries can go directly to a read repository and do not need to construct domain aggregates. The diagram simplifies those two persistence paths.</a:t>
            </a:r>
          </a:p>
          <a:p xmlns:a="http://schemas.openxmlformats.org/drawingml/2006/main">
            <a:r>
              <a:t>DISCUSSION</a:t>
            </a:r>
          </a:p>
          <a:p xmlns:a="http://schemas.openxmlformats.org/drawingml/2006/main">
            <a:r>
              <a:t>Where would a tenant authorization check belong, and which boundaries should repeat it?</a:t>
            </a:r>
          </a:p>
          <a:p xmlns:a="http://schemas.openxmlformats.org/drawingml/2006/main">
            <a:r>
              <a:t>VISUAL</a:t>
            </a:r>
          </a:p>
          <a:p xmlns:a="http://schemas.openxmlformats.org/drawingml/2006/main">
            <a:r>
              <a:t>Generated conceptual architecture illustration.</a:t>
            </a:r>
          </a:p>
          <a:p xmlns:a="http://schemas.openxmlformats.org/drawingml/2006/main">
            <a:r>
              <a:t/>
            </a:r>
          </a:p>
          <a:p xmlns:a="http://schemas.openxmlformats.org/drawingml/2006/main">
            <a:r>
              <a:t>COURSE STATUS</a:t>
            </a:r>
          </a:p>
          <a:p xmlns:a="http://schemas.openxmlformats.org/drawingml/2006/main">
            <a:r>
              <a:t>Capstone target. This describes course work, not a claim that the baseline repository already implements it. </a:t>
            </a:r>
          </a:p>
          <a:p xmlns:a="http://schemas.openxmlformats.org/drawingml/2006/main">
            <a:r>
              <a:t/>
            </a:r>
          </a:p>
          <a:p xmlns:a="http://schemas.openxmlformats.org/drawingml/2006/main">
            <a:r>
              <a:t>SOURCES</a:t>
            </a:r>
          </a:p>
          <a:p xmlns:a="http://schemas.openxmlformats.org/drawingml/2006/main">
            <a:r>
              <a:t>src/InvoiceApp.Application/Common/Messaging/Dispatcher.cs:20</a:t>
            </a:r>
          </a:p>
          <a:p xmlns:a="http://schemas.openxmlformats.org/drawingml/2006/main">
            <a:r>
              <a:t/>
            </a:r>
          </a:p>
          <a:p xmlns:a="http://schemas.openxmlformats.org/drawingml/2006/main">
            <a:r>
              <a:t>src/InvoiceApp.Application/Features/Invoices/Commands/CreateInvoice/CreateInvoiceCommand.cs:76</a:t>
            </a:r>
          </a:p>
          <a:p xmlns:a="http://schemas.openxmlformats.org/drawingml/2006/main">
            <a:r>
              <a:t/>
            </a:r>
          </a:p>
          <a:p xmlns:a="http://schemas.openxmlformats.org/drawingml/2006/main">
            <a:r>
              <a:t>src/InvoiceApp.Infrastructure/Persistence/Repositories/InvoiceReadRepository.cs:188</a:t>
            </a:r>
          </a:p>
          <a:p xmlns:a="http://schemas.openxmlformats.org/drawingml/2006/main">
            <a:r>
              <a:t/>
            </a:r>
          </a:p>
          <a:p xmlns:a="http://schemas.openxmlformats.org/drawingml/2006/main">
            <a:r>
              <a:t>src/InvoiceApp.Infrastructure/Persistence/Repositories/UnitOfWork.cs:14</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Have teams inventory a vertical slice instead of reading every file. Choose GetInvoiceSummary and UpdateInvoiceStatus. Record inputs, outputs, side effects, and failure conditions. The result becomes a tool design checklist and a test plan. Do not assume that existing UI restrictions protect a new caller such as an AI tool.</a:t>
            </a:r>
          </a:p>
          <a:p xmlns:a="http://schemas.openxmlformats.org/drawingml/2006/main">
            <a:r>
              <a:t>DEMO</a:t>
            </a:r>
          </a:p>
          <a:p xmlns:a="http://schemas.openxmlformats.org/drawingml/2006/main">
            <a:r>
              <a:t>Trace one command from handler to SaveChangesAsync, and one query to its Dapper SQL.</a:t>
            </a:r>
          </a:p>
          <a:p xmlns:a="http://schemas.openxmlformats.org/drawingml/2006/main">
            <a:r>
              <a:t/>
            </a:r>
          </a:p>
          <a:p xmlns:a="http://schemas.openxmlformats.org/drawingml/2006/main">
            <a:r>
              <a:t>COURSE STATUS</a:t>
            </a:r>
          </a:p>
          <a:p xmlns:a="http://schemas.openxmlformats.org/drawingml/2006/main">
            <a:r>
              <a:t>Integration method. </a:t>
            </a:r>
          </a:p>
          <a:p xmlns:a="http://schemas.openxmlformats.org/drawingml/2006/main">
            <a:r>
              <a:t/>
            </a:r>
          </a:p>
          <a:p xmlns:a="http://schemas.openxmlformats.org/drawingml/2006/main">
            <a:r>
              <a:t>SOURCES</a:t>
            </a:r>
          </a:p>
          <a:p xmlns:a="http://schemas.openxmlformats.org/drawingml/2006/main">
            <a:r>
              <a:t>src/InvoiceApp.AI/Tools/InvoiceTools.cs:339</a:t>
            </a:r>
          </a:p>
          <a:p xmlns:a="http://schemas.openxmlformats.org/drawingml/2006/main">
            <a:r>
              <a:t/>
            </a:r>
          </a:p>
          <a:p xmlns:a="http://schemas.openxmlformats.org/drawingml/2006/main">
            <a:r>
              <a:t>src/InvoiceApp.Application/Features/Invoices/Commands/UpdateInvoiceStatus/UpdateInvoiceStatusCommand.cs:40</a:t>
            </a:r>
          </a:p>
          <a:p xmlns:a="http://schemas.openxmlformats.org/drawingml/2006/main">
            <a:r>
              <a:t/>
            </a:r>
          </a:p>
          <a:p xmlns:a="http://schemas.openxmlformats.org/drawingml/2006/main">
            <a:r>
              <a:t>src/InvoiceApp.Infrastructure/Persistence/Repositories/InvoiceReadRepository.cs:188</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Keep this discussion engineering-oriented. Context is a finite input budget, not an unlimited memory store. A low temperature does not prove correctness, and not every model supports the same options. Explain the difference between a deployment identifier and a generic model family. Treat capability discovery and compatibility tests as part of the course baseline.</a:t>
            </a:r>
          </a:p>
          <a:p xmlns:a="http://schemas.openxmlformats.org/drawingml/2006/main">
            <a:r>
              <a:t>ASK</a:t>
            </a:r>
          </a:p>
          <a:p xmlns:a="http://schemas.openxmlformats.org/drawingml/2006/main">
            <a:r>
              <a:t>What can remain deterministic even when model wording varies?</a:t>
            </a:r>
          </a:p>
          <a:p xmlns:a="http://schemas.openxmlformats.org/drawingml/2006/main">
            <a:r>
              <a:t/>
            </a:r>
          </a:p>
          <a:p xmlns:a="http://schemas.openxmlformats.org/drawingml/2006/main">
            <a:r>
              <a:t>COURSE STATUS</a:t>
            </a:r>
          </a:p>
          <a:p xmlns:a="http://schemas.openxmlformats.org/drawingml/2006/main">
            <a:r>
              <a:t>Engineering fundamentals. </a:t>
            </a:r>
          </a:p>
          <a:p xmlns:a="http://schemas.openxmlformats.org/drawingml/2006/main">
            <a:r>
              <a:t/>
            </a:r>
          </a:p>
          <a:p xmlns:a="http://schemas.openxmlformats.org/drawingml/2006/main">
            <a:r>
              <a:t>SOURCES</a:t>
            </a:r>
          </a:p>
          <a:p xmlns:a="http://schemas.openxmlformats.org/drawingml/2006/main">
            <a:r>
              <a:t>Microsoft.Extensions.AI</a:t>
            </a:r>
          </a:p>
          <a:p xmlns:a="http://schemas.openxmlformats.org/drawingml/2006/main">
            <a:r>
              <a:t>https://learn.microsoft.com/dotnet/core/extensions/artificial-intelligence</a:t>
            </a:r>
          </a:p>
          <a:p xmlns:a="http://schemas.openxmlformats.org/drawingml/2006/main">
            <a:r>
              <a:t/>
            </a:r>
          </a:p>
          <a:p xmlns:a="http://schemas.openxmlformats.org/drawingml/2006/main">
            <a:r>
              <a:t>Azure OpenAI provider</a:t>
            </a:r>
          </a:p>
          <a:p xmlns:a="http://schemas.openxmlformats.org/drawingml/2006/main">
            <a:r>
              <a:t>https://learn.microsoft.com/en-us/agent-framework/integrations/by-component/model-providers/azure-openai</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This is a proposed application contract. Keep it separate from the particular provider response type. An answer may be completed, waiting for approval, or failed after a partial operation. A single boolean cannot describe every state. Discuss whether the existing chat envelope can evolve compatibly or needs a versioned endpoint. Record this decision before adding UI streaming.</a:t>
            </a:r>
          </a:p>
          <a:p xmlns:a="http://schemas.openxmlformats.org/drawingml/2006/main">
            <a:r>
              <a:t/>
            </a:r>
          </a:p>
          <a:p xmlns:a="http://schemas.openxmlformats.org/drawingml/2006/main">
            <a:r>
              <a:t>COURSE STATUS</a:t>
            </a:r>
          </a:p>
          <a:p xmlns:a="http://schemas.openxmlformats.org/drawingml/2006/main">
            <a:r>
              <a:t>Capstone target. This describes course work, not a claim that the baseline repository already implements it. </a:t>
            </a:r>
          </a:p>
          <a:p xmlns:a="http://schemas.openxmlformats.org/drawingml/2006/main">
            <a:r>
              <a:t/>
            </a:r>
          </a:p>
          <a:p xmlns:a="http://schemas.openxmlformats.org/drawingml/2006/main">
            <a:r>
              <a:t>SOURCES</a:t>
            </a:r>
          </a:p>
          <a:p xmlns:a="http://schemas.openxmlformats.org/drawingml/2006/main">
            <a:r>
              <a:t>src/InvoiceApp.Api/Endpoints/AiEndpoints.cs:21</a:t>
            </a:r>
          </a:p>
          <a:p xmlns:a="http://schemas.openxmlformats.org/drawingml/2006/main">
            <a:r>
              <a:t/>
            </a:r>
          </a:p>
          <a:p xmlns:a="http://schemas.openxmlformats.org/drawingml/2006/main">
            <a:r>
              <a:t>src/InvoiceApp.AI/Agents/AgentModels.cs:10</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Students already understand layered .NET applications, so use the code as evidence rather than a Clean Architecture lecture. Show how a framework tool can call the same handler as a form. The preserved invariant is the course's recurring example. A model request for an illegal transition should produce a business failure even if the model gives a persuasive explanation.</a:t>
            </a:r>
          </a:p>
          <a:p xmlns:a="http://schemas.openxmlformats.org/drawingml/2006/main">
            <a:r>
              <a:t>QUESTION</a:t>
            </a:r>
          </a:p>
          <a:p xmlns:a="http://schemas.openxmlformats.org/drawingml/2006/main">
            <a:r>
              <a:t>What happens if a prompt says to bypass the state machine?</a:t>
            </a:r>
          </a:p>
          <a:p xmlns:a="http://schemas.openxmlformats.org/drawingml/2006/main">
            <a:r>
              <a:t/>
            </a:r>
          </a:p>
          <a:p xmlns:a="http://schemas.openxmlformats.org/drawingml/2006/main">
            <a:r>
              <a:t>COURSE STATUS</a:t>
            </a:r>
          </a:p>
          <a:p xmlns:a="http://schemas.openxmlformats.org/drawingml/2006/main">
            <a:r>
              <a:t>Existing implementation. </a:t>
            </a:r>
          </a:p>
          <a:p xmlns:a="http://schemas.openxmlformats.org/drawingml/2006/main">
            <a:r>
              <a:t/>
            </a:r>
          </a:p>
          <a:p xmlns:a="http://schemas.openxmlformats.org/drawingml/2006/main">
            <a:r>
              <a:t>SOURCES</a:t>
            </a:r>
          </a:p>
          <a:p xmlns:a="http://schemas.openxmlformats.org/drawingml/2006/main">
            <a:r>
              <a:t>src/InvoiceApp.Application/Features/Invoices/Commands/UpdateInvoiceStatus/UpdateInvoiceStatusCommand.cs:40</a:t>
            </a:r>
          </a:p>
          <a:p xmlns:a="http://schemas.openxmlformats.org/drawingml/2006/main">
            <a:r>
              <a:t/>
            </a:r>
          </a:p>
          <a:p xmlns:a="http://schemas.openxmlformats.org/drawingml/2006/main">
            <a:r>
              <a:t>src/InvoiceApp.Domain/Entities/Invoice.cs:147</a:t>
            </a:r>
          </a:p>
          <a:p xmlns:a="http://schemas.openxmlformats.org/drawingml/2006/main">
            <a:r>
              <a:t/>
            </a:r>
          </a:p>
          <a:p xmlns:a="http://schemas.openxmlformats.org/drawingml/2006/main">
            <a:r>
              <a:t>tests/InvoiceApp.UnitTests/Domain/InvoiceTests.cs:8</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Suggested lab: 70 minutes. Teams inspect GetInvoiceSummaryQuery, UpdateInvoiceStatusCommand, Invoice.TransitionTo, and the two HTTP paths. They create a short characterization note and focused tests where meaningful. No model is required. Review the difference between a query returning zero and a query failing. Keep the artifact as a baseline for the final regression comparison.</a:t>
            </a:r>
          </a:p>
          <a:p xmlns:a="http://schemas.openxmlformats.org/drawingml/2006/main">
            <a:r>
              <a:t>REVIEW</a:t>
            </a:r>
          </a:p>
          <a:p xmlns:a="http://schemas.openxmlformats.org/drawingml/2006/main">
            <a:r>
              <a:t>Ask teams to identify which current validators the AI path actually executes.</a:t>
            </a:r>
          </a:p>
          <a:p xmlns:a="http://schemas.openxmlformats.org/drawingml/2006/main">
            <a:r>
              <a:t>IMPLEMENTATION TASKS</a:t>
            </a:r>
          </a:p>
          <a:p xmlns:a="http://schemas.openxmlformats.org/drawingml/2006/main">
            <a:r>
              <a:t>1. Select one billing query and one status command.</a:t>
            </a:r>
          </a:p>
          <a:p xmlns:a="http://schemas.openxmlformats.org/drawingml/2006/main">
            <a:r>
              <a:t>2. Document contracts, side effects, and current failure behavior.</a:t>
            </a:r>
          </a:p>
          <a:p xmlns:a="http://schemas.openxmlformats.org/drawingml/2006/main">
            <a:r>
              <a:t>3. Record a baseline test or reproducible request for each.</a:t>
            </a:r>
          </a:p>
          <a:p xmlns:a="http://schemas.openxmlformats.org/drawingml/2006/main">
            <a:r>
              <a:t>ACCEPTANCE EVIDENCE</a:t>
            </a:r>
          </a:p>
          <a:p xmlns:a="http://schemas.openxmlformats.org/drawingml/2006/main">
            <a:r>
              <a:t>1. The read result matches authoritative data.</a:t>
            </a:r>
          </a:p>
          <a:p xmlns:a="http://schemas.openxmlformats.org/drawingml/2006/main">
            <a:r>
              <a:t>2. Draft-to-Paid fails in the domain.</a:t>
            </a:r>
          </a:p>
          <a:p xmlns:a="http://schemas.openxmlformats.org/drawingml/2006/main">
            <a:r>
              <a:t>3. The integration boundary has a clear owner.</a:t>
            </a:r>
          </a:p>
          <a:p xmlns:a="http://schemas.openxmlformats.org/drawingml/2006/main">
            <a:r>
              <a:t/>
            </a:r>
          </a:p>
          <a:p xmlns:a="http://schemas.openxmlformats.org/drawingml/2006/main">
            <a:r>
              <a:t>COURSE STATUS</a:t>
            </a:r>
          </a:p>
          <a:p xmlns:a="http://schemas.openxmlformats.org/drawingml/2006/main">
            <a:r>
              <a:t>Lab target. This describes course work, not a claim that the baseline repository already implements it.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PLAN</a:t>
            </a:r>
          </a:p>
          <a:p xmlns:a="http://schemas.openxmlformats.org/drawingml/2006/main">
            <a:r>
              <a:t>Allocate 3 hours: 25 minutes of concepts, 35 minutes of guided code, 70 minutes of lab work, 30 minutes of review, and 20 minutes for discussion or breaks. Adjust the suggested timings to the cohort. The lab acceptance criteria matter more than the number of slides.</a:t>
            </a:r>
          </a:p>
          <a:p xmlns:a="http://schemas.openxmlformats.org/drawingml/2006/main">
            <a:r>
              <a:t>MODULE OUTCOME</a:t>
            </a:r>
          </a:p>
          <a:p xmlns:a="http://schemas.openxmlformats.org/drawingml/2006/main">
            <a:r>
              <a:t>A real Microsoft Agent Framework agent behind a .NET adapter</a:t>
            </a:r>
          </a:p>
          <a:p xmlns:a="http://schemas.openxmlformats.org/drawingml/2006/main">
            <a:r>
              <a:t/>
            </a:r>
          </a:p>
          <a:p xmlns:a="http://schemas.openxmlformats.org/drawingml/2006/main">
            <a:r>
              <a:t>COURSE STATUS</a:t>
            </a:r>
          </a:p>
          <a:p xmlns:a="http://schemas.openxmlformats.org/drawingml/2006/main">
            <a:r>
              <a:t>Engineering design.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Make package names precise. Microsoft.Extensions.AI provides common inference abstractions. Microsoft Agent Framework adds agent behavior and composition on top of compatible providers. The repository's custom BaseAgent is an application type, not an alias for the framework's AIAgent. Use namespace aliases if framework AgentResponse and InvoiceApp's AgentResponse collide during migration.</a:t>
            </a:r>
          </a:p>
          <a:p xmlns:a="http://schemas.openxmlformats.org/drawingml/2006/main">
            <a:r>
              <a:t/>
            </a:r>
          </a:p>
          <a:p xmlns:a="http://schemas.openxmlformats.org/drawingml/2006/main">
            <a:r>
              <a:t>COURSE STATUS</a:t>
            </a:r>
          </a:p>
          <a:p xmlns:a="http://schemas.openxmlformats.org/drawingml/2006/main">
            <a:r>
              <a:t>Framework architecture. </a:t>
            </a:r>
          </a:p>
          <a:p xmlns:a="http://schemas.openxmlformats.org/drawingml/2006/main">
            <a:r>
              <a:t/>
            </a:r>
          </a:p>
          <a:p xmlns:a="http://schemas.openxmlformats.org/drawingml/2006/main">
            <a:r>
              <a:t>SOURCES</a:t>
            </a:r>
          </a:p>
          <a:p xmlns:a="http://schemas.openxmlformats.org/drawingml/2006/main">
            <a:r>
              <a:t>Microsoft.Extensions.AI</a:t>
            </a:r>
          </a:p>
          <a:p xmlns:a="http://schemas.openxmlformats.org/drawingml/2006/main">
            <a:r>
              <a:t>https://learn.microsoft.com/dotnet/core/extensions/artificial-intelligence</a:t>
            </a:r>
          </a:p>
          <a:p xmlns:a="http://schemas.openxmlformats.org/drawingml/2006/main">
            <a:r>
              <a:t/>
            </a:r>
          </a:p>
          <a:p xmlns:a="http://schemas.openxmlformats.org/drawingml/2006/main">
            <a:r>
              <a:t>Microsoft Agent Framework overview</a:t>
            </a:r>
          </a:p>
          <a:p xmlns:a="http://schemas.openxmlformats.org/drawingml/2006/main">
            <a:r>
              <a:t>https://learn.microsoft.com/en-us/agent-framework/overview/</a:t>
            </a:r>
          </a:p>
          <a:p xmlns:a="http://schemas.openxmlformats.org/drawingml/2006/main">
            <a:r>
              <a:t/>
            </a:r>
          </a:p>
          <a:p xmlns:a="http://schemas.openxmlformats.org/drawingml/2006/main">
            <a:r>
              <a:t>src/InvoiceApp.AI/InvoiceApp.AI.csproj:16</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The checked-in application targets .NET 10. Current Microsoft examples include prerelease package commands and may evolve. Select a tested version set for the course and freeze it. Do not assume that adding the newest package to the existing central package versions will produce a compatible graph. The repository's package list is a baseline, not the target framework lock file.</a:t>
            </a:r>
          </a:p>
          <a:p xmlns:a="http://schemas.openxmlformats.org/drawingml/2006/main">
            <a:r>
              <a:t>PREPARATION</a:t>
            </a:r>
          </a:p>
          <a:p xmlns:a="http://schemas.openxmlformats.org/drawingml/2006/main">
            <a:r>
              <a:t>Rehearse restore, compile, a read run, and a provider-failure case before class.</a:t>
            </a:r>
          </a:p>
          <a:p xmlns:a="http://schemas.openxmlformats.org/drawingml/2006/main">
            <a:r>
              <a:t/>
            </a:r>
          </a:p>
          <a:p xmlns:a="http://schemas.openxmlformats.org/drawingml/2006/main">
            <a:r>
              <a:t>COURSE STATUS</a:t>
            </a:r>
          </a:p>
          <a:p xmlns:a="http://schemas.openxmlformats.org/drawingml/2006/main">
            <a:r>
              <a:t>Course setup. </a:t>
            </a:r>
          </a:p>
          <a:p xmlns:a="http://schemas.openxmlformats.org/drawingml/2006/main">
            <a:r>
              <a:t/>
            </a:r>
          </a:p>
          <a:p xmlns:a="http://schemas.openxmlformats.org/drawingml/2006/main">
            <a:r>
              <a:t>SOURCES</a:t>
            </a:r>
          </a:p>
          <a:p xmlns:a="http://schemas.openxmlformats.org/drawingml/2006/main">
            <a:r>
              <a:t>First agent</a:t>
            </a:r>
          </a:p>
          <a:p xmlns:a="http://schemas.openxmlformats.org/drawingml/2006/main">
            <a:r>
              <a:t>https://learn.microsoft.com/en-us/agent-framework/get-started/your-first-agent</a:t>
            </a:r>
          </a:p>
          <a:p xmlns:a="http://schemas.openxmlformats.org/drawingml/2006/main">
            <a:r>
              <a:t/>
            </a:r>
          </a:p>
          <a:p xmlns:a="http://schemas.openxmlformats.org/drawingml/2006/main">
            <a:r>
              <a:t>Directory.Packages.props:21</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Use the Azure provider documentation for the exact client surface and package set. The workshop initially keeps Chat Completions to isolate the framework migration. A later extension can compare Responses. The deployment must support the capabilities used in the lab. A production credential chain should be deliberate rather than relying on broad fallback probing. Do not mix a Foundry project endpoint with an Azure OpenAI resource endpoint.</a:t>
            </a:r>
          </a:p>
          <a:p xmlns:a="http://schemas.openxmlformats.org/drawingml/2006/main">
            <a:r>
              <a:t/>
            </a:r>
          </a:p>
          <a:p xmlns:a="http://schemas.openxmlformats.org/drawingml/2006/main">
            <a:r>
              <a:t>COURSE STATUS</a:t>
            </a:r>
          </a:p>
          <a:p xmlns:a="http://schemas.openxmlformats.org/drawingml/2006/main">
            <a:r>
              <a:t>Provider choice. </a:t>
            </a:r>
          </a:p>
          <a:p xmlns:a="http://schemas.openxmlformats.org/drawingml/2006/main">
            <a:r>
              <a:t/>
            </a:r>
          </a:p>
          <a:p xmlns:a="http://schemas.openxmlformats.org/drawingml/2006/main">
            <a:r>
              <a:t>SOURCES</a:t>
            </a:r>
          </a:p>
          <a:p xmlns:a="http://schemas.openxmlformats.org/drawingml/2006/main">
            <a:r>
              <a:t>Azure OpenAI provider</a:t>
            </a:r>
          </a:p>
          <a:p xmlns:a="http://schemas.openxmlformats.org/drawingml/2006/main">
            <a:r>
              <a:t>https://learn.microsoft.com/en-us/agent-framework/integrations/by-component/model-providers/azure-openai</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This is a condensed SDK pattern using the documented ChatClient extension. The host supplies the configured AzureOpenAIClient, deployment name, and token. Read the corresponding namespace and package reference aloud, then let students compile a minimal run. The answer cannot establish the current application balance because no business tool is registered yet.</a:t>
            </a:r>
          </a:p>
          <a:p xmlns:a="http://schemas.openxmlformats.org/drawingml/2006/main">
            <a:r>
              <a:t>DEMO</a:t>
            </a:r>
          </a:p>
          <a:p xmlns:a="http://schemas.openxmlformats.org/drawingml/2006/main">
            <a:r>
              <a:t>Compare a general explanation with a request for live totals. Treat the latter as unsupported until the next module.</a:t>
            </a:r>
          </a:p>
          <a:p xmlns:a="http://schemas.openxmlformats.org/drawingml/2006/main">
            <a:r>
              <a:t/>
            </a:r>
          </a:p>
          <a:p xmlns:a="http://schemas.openxmlformats.org/drawingml/2006/main">
            <a:r>
              <a:t>COURSE STATUS</a:t>
            </a:r>
          </a:p>
          <a:p xmlns:a="http://schemas.openxmlformats.org/drawingml/2006/main">
            <a:r>
              <a:t>Framework code pattern. Code is a condensed teaching pattern. Supply the named host dependencies and use the pinned SDK's exact overloads in the lab project. </a:t>
            </a:r>
          </a:p>
          <a:p xmlns:a="http://schemas.openxmlformats.org/drawingml/2006/main">
            <a:r>
              <a:t/>
            </a:r>
          </a:p>
          <a:p xmlns:a="http://schemas.openxmlformats.org/drawingml/2006/main">
            <a:r>
              <a:t>SOURCES</a:t>
            </a:r>
          </a:p>
          <a:p xmlns:a="http://schemas.openxmlformats.org/drawingml/2006/main">
            <a:r>
              <a:t>AsAIAgent API reference</a:t>
            </a:r>
          </a:p>
          <a:p xmlns:a="http://schemas.openxmlformats.org/drawingml/2006/main">
            <a:r>
              <a:t>https://learn.microsoft.com/en-us/dotnet/api/openai.chat.openaichatclientextensions.asaiagent?view=agent-framework-dotnet-latest</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A session carries provider-compatible conversation state. Creating a fresh session for every HTTP request discards continuity unless the host restores or resends history. The example stores only a user claim about a customer, not authorization to read that customer. Avoid sharing one mutable session between different users or concurrent turns.</a:t>
            </a:r>
          </a:p>
          <a:p xmlns:a="http://schemas.openxmlformats.org/drawingml/2006/main">
            <a:r>
              <a:t>ASK</a:t>
            </a:r>
          </a:p>
          <a:p xmlns:a="http://schemas.openxmlformats.org/drawingml/2006/main">
            <a:r>
              <a:t>What identifies the conversation, and what establishes the caller's permission to access it?</a:t>
            </a:r>
          </a:p>
          <a:p xmlns:a="http://schemas.openxmlformats.org/drawingml/2006/main">
            <a:r>
              <a:t/>
            </a:r>
          </a:p>
          <a:p xmlns:a="http://schemas.openxmlformats.org/drawingml/2006/main">
            <a:r>
              <a:t>COURSE STATUS</a:t>
            </a:r>
          </a:p>
          <a:p xmlns:a="http://schemas.openxmlformats.org/drawingml/2006/main">
            <a:r>
              <a:t>Framework code pattern. Code is a condensed teaching pattern. Supply the named host dependencies and use the pinned SDK's exact overloads in the lab project. </a:t>
            </a:r>
          </a:p>
          <a:p xmlns:a="http://schemas.openxmlformats.org/drawingml/2006/main">
            <a:r>
              <a:t/>
            </a:r>
          </a:p>
          <a:p xmlns:a="http://schemas.openxmlformats.org/drawingml/2006/main">
            <a:r>
              <a:t>SOURCES</a:t>
            </a:r>
          </a:p>
          <a:p xmlns:a="http://schemas.openxmlformats.org/drawingml/2006/main">
            <a:r>
              <a:t>Multi-turn conversations</a:t>
            </a:r>
          </a:p>
          <a:p xmlns:a="http://schemas.openxmlformats.org/drawingml/2006/main">
            <a:r>
              <a:t>https://learn.microsoft.com/en-us/agent-framework/get-started/multi-turn</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eventSink is a course-owned adapter, not a framework API. The fragment shows where to translate AgentResponseUpdate into a transport contract. Streaming a text token is different from committing a business operation. A disconnected browser should not be the only place that knows the operation state. Explore how cancellation and reconnection affect reads versus writes.</a:t>
            </a:r>
          </a:p>
          <a:p xmlns:a="http://schemas.openxmlformats.org/drawingml/2006/main">
            <a:r>
              <a:t>DEMO</a:t>
            </a:r>
          </a:p>
          <a:p xmlns:a="http://schemas.openxmlformats.org/drawingml/2006/main">
            <a:r>
              <a:t>Display partial text, then inspect the final response separately.</a:t>
            </a:r>
          </a:p>
          <a:p xmlns:a="http://schemas.openxmlformats.org/drawingml/2006/main">
            <a:r>
              <a:t/>
            </a:r>
          </a:p>
          <a:p xmlns:a="http://schemas.openxmlformats.org/drawingml/2006/main">
            <a:r>
              <a:t>COURSE STATUS</a:t>
            </a:r>
          </a:p>
          <a:p xmlns:a="http://schemas.openxmlformats.org/drawingml/2006/main">
            <a:r>
              <a:t>Framework code pattern. Code is a condensed teaching pattern. Supply the named host dependencies and use the pinned SDK's exact overloads in the lab project. </a:t>
            </a:r>
          </a:p>
          <a:p xmlns:a="http://schemas.openxmlformats.org/drawingml/2006/main">
            <a:r>
              <a:t/>
            </a:r>
          </a:p>
          <a:p xmlns:a="http://schemas.openxmlformats.org/drawingml/2006/main">
            <a:r>
              <a:t>SOURCES</a:t>
            </a:r>
          </a:p>
          <a:p xmlns:a="http://schemas.openxmlformats.org/drawingml/2006/main">
            <a:r>
              <a:t>First agent</a:t>
            </a:r>
          </a:p>
          <a:p xmlns:a="http://schemas.openxmlformats.org/drawingml/2006/main">
            <a:r>
              <a:t>https://learn.microsoft.com/en-us/agent-framework/get-started/your-first-agent</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The baseline registers tools, agents, and coordinator as scoped, with a singleton chat client and in-memory history service. A new singleton agent that closes over a scoped InvoiceTools instance would introduce a lifetime defect. Design agent construction around the selected hosting lifetime or create a scope inside a suitable tool executor. Do not share EF DbContext across parallel calls. Validate the approach with DI scope checks and concurrent-request tests.</a:t>
            </a:r>
          </a:p>
          <a:p xmlns:a="http://schemas.openxmlformats.org/drawingml/2006/main">
            <a:r>
              <a:t/>
            </a:r>
          </a:p>
          <a:p xmlns:a="http://schemas.openxmlformats.org/drawingml/2006/main">
            <a:r>
              <a:t>COURSE STATUS</a:t>
            </a:r>
          </a:p>
          <a:p xmlns:a="http://schemas.openxmlformats.org/drawingml/2006/main">
            <a:r>
              <a:t>Integration design. </a:t>
            </a:r>
          </a:p>
          <a:p xmlns:a="http://schemas.openxmlformats.org/drawingml/2006/main">
            <a:r>
              <a:t/>
            </a:r>
          </a:p>
          <a:p xmlns:a="http://schemas.openxmlformats.org/drawingml/2006/main">
            <a:r>
              <a:t>SOURCES</a:t>
            </a:r>
          </a:p>
          <a:p xmlns:a="http://schemas.openxmlformats.org/drawingml/2006/main">
            <a:r>
              <a:t>Self-hosting</a:t>
            </a:r>
          </a:p>
          <a:p xmlns:a="http://schemas.openxmlformats.org/drawingml/2006/main">
            <a:r>
              <a:t>https://learn.microsoft.com/en-us/agent-framework/hosting/self-hosting</a:t>
            </a:r>
          </a:p>
          <a:p xmlns:a="http://schemas.openxmlformats.org/drawingml/2006/main">
            <a:r>
              <a:t/>
            </a:r>
          </a:p>
          <a:p xmlns:a="http://schemas.openxmlformats.org/drawingml/2006/main">
            <a:r>
              <a:t>src/InvoiceApp.AI/DependencyInjection.cs:43</a:t>
            </a:r>
          </a:p>
          <a:p xmlns:a="http://schemas.openxmlformats.org/drawingml/2006/main">
            <a:r>
              <a:t/>
            </a:r>
          </a:p>
          <a:p xmlns:a="http://schemas.openxmlformats.org/drawingml/2006/main">
            <a:r>
              <a:t>src/InvoiceApp.AI/Agents/BaseAgent.cs:84</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Suggested lab: 70 minutes. Start outside the existing API to isolate model credentials and SDK changes. Students should record the exact package set that compiled. Require one session-continuity example and one explicit provider failure. Do not accept a renamed custom class as the framework integration. Capture a short transcript without committing credentials or customer data.</a:t>
            </a:r>
          </a:p>
          <a:p xmlns:a="http://schemas.openxmlformats.org/drawingml/2006/main">
            <a:r>
              <a:t>IMPLEMENTATION TASKS</a:t>
            </a:r>
          </a:p>
          <a:p xmlns:a="http://schemas.openxmlformats.org/drawingml/2006/main">
            <a:r>
              <a:t>1. Create a lab project with pinned compatible packages.</a:t>
            </a:r>
          </a:p>
          <a:p xmlns:a="http://schemas.openxmlformats.org/drawingml/2006/main">
            <a:r>
              <a:t>2. Construct an AIAgent using the configured provider.</a:t>
            </a:r>
          </a:p>
          <a:p xmlns:a="http://schemas.openxmlformats.org/drawingml/2006/main">
            <a:r>
              <a:t>3. Run two turns with one session and stream a response.</a:t>
            </a:r>
          </a:p>
          <a:p xmlns:a="http://schemas.openxmlformats.org/drawingml/2006/main">
            <a:r>
              <a:t>ACCEPTANCE EVIDENCE</a:t>
            </a:r>
          </a:p>
          <a:p xmlns:a="http://schemas.openxmlformats.org/drawingml/2006/main">
            <a:r>
              <a:t>1. The project actually references Microsoft.Agents.AI.</a:t>
            </a:r>
          </a:p>
          <a:p xmlns:a="http://schemas.openxmlformats.org/drawingml/2006/main">
            <a:r>
              <a:t>2. A cancellation token reaches the run.</a:t>
            </a:r>
          </a:p>
          <a:p xmlns:a="http://schemas.openxmlformats.org/drawingml/2006/main">
            <a:r>
              <a:t>3. A failed provider call yields a controlled result.</a:t>
            </a:r>
          </a:p>
          <a:p xmlns:a="http://schemas.openxmlformats.org/drawingml/2006/main">
            <a:r>
              <a:t/>
            </a:r>
          </a:p>
          <a:p xmlns:a="http://schemas.openxmlformats.org/drawingml/2006/main">
            <a:r>
              <a:t>COURSE STATUS</a:t>
            </a:r>
          </a:p>
          <a:p xmlns:a="http://schemas.openxmlformats.org/drawingml/2006/main">
            <a:r>
              <a:t>Lab target. This describes course work, not a claim that the baseline repository already implements it.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PLAN</a:t>
            </a:r>
          </a:p>
          <a:p xmlns:a="http://schemas.openxmlformats.org/drawingml/2006/main">
            <a:r>
              <a:t>Allocate 3 hours: 25 minutes of concepts, 35 minutes of guided code, 70 minutes of lab work, 30 minutes of review, and 20 minutes for discussion or breaks. Adjust the suggested timings to the cohort. The lab acceptance criteria matter more than the number of slides.</a:t>
            </a:r>
          </a:p>
          <a:p xmlns:a="http://schemas.openxmlformats.org/drawingml/2006/main">
            <a:r>
              <a:t>MODULE OUTCOME</a:t>
            </a:r>
          </a:p>
          <a:p xmlns:a="http://schemas.openxmlformats.org/drawingml/2006/main">
            <a:r>
              <a:t>Controlled function calling through existing application use cases</a:t>
            </a:r>
          </a:p>
          <a:p xmlns:a="http://schemas.openxmlformats.org/drawingml/2006/main">
            <a:r>
              <a:t/>
            </a:r>
          </a:p>
          <a:p xmlns:a="http://schemas.openxmlformats.org/drawingml/2006/main">
            <a:r>
              <a:t>COURSE STATUS</a:t>
            </a:r>
          </a:p>
          <a:p xmlns:a="http://schemas.openxmlformats.org/drawingml/2006/main">
            <a:r>
              <a:t>Engineering design.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Walk through one read tool before exposing mutations. The model selects arguments, but ordinary .NET code performs execution. Tools should have small, meaningful contracts that describe domain intent. A model may choose no tool, the wrong tool, or an incomplete argument set, so tests must measure behavior rather than assume every requested function will run.</a:t>
            </a:r>
          </a:p>
          <a:p xmlns:a="http://schemas.openxmlformats.org/drawingml/2006/main">
            <a:r>
              <a:t>DISCUSSION</a:t>
            </a:r>
          </a:p>
          <a:p xmlns:a="http://schemas.openxmlformats.org/drawingml/2006/main">
            <a:r>
              <a:t>Which tool results can be safely cached, and for how long?</a:t>
            </a:r>
          </a:p>
          <a:p xmlns:a="http://schemas.openxmlformats.org/drawingml/2006/main">
            <a:r>
              <a:t/>
            </a:r>
          </a:p>
          <a:p xmlns:a="http://schemas.openxmlformats.org/drawingml/2006/main">
            <a:r>
              <a:t>COURSE STATUS</a:t>
            </a:r>
          </a:p>
          <a:p xmlns:a="http://schemas.openxmlformats.org/drawingml/2006/main">
            <a:r>
              <a:t>Framework concept. </a:t>
            </a:r>
          </a:p>
          <a:p xmlns:a="http://schemas.openxmlformats.org/drawingml/2006/main">
            <a:r>
              <a:t/>
            </a:r>
          </a:p>
          <a:p xmlns:a="http://schemas.openxmlformats.org/drawingml/2006/main">
            <a:r>
              <a:t>SOURCES</a:t>
            </a:r>
          </a:p>
          <a:p xmlns:a="http://schemas.openxmlformats.org/drawingml/2006/main">
            <a:r>
              <a:t>Function tools</a:t>
            </a:r>
          </a:p>
          <a:p xmlns:a="http://schemas.openxmlformats.org/drawingml/2006/main">
            <a:r>
              <a:t>https://learn.microsoft.com/en-us/agent-framework/get-started/add-tools</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This wrapper deliberately reuses the current string-returning InvoiceTools method. It provides an easy migration step without rewriting the query. Explain that the eventual typed tool outcome should distinguish a successful zero balance from a failed query. The application query remains the authoritative computation, and the model formats the result.</a:t>
            </a:r>
          </a:p>
          <a:p xmlns:a="http://schemas.openxmlformats.org/drawingml/2006/main">
            <a:r>
              <a:t>DEMO</a:t>
            </a:r>
          </a:p>
          <a:p xmlns:a="http://schemas.openxmlformats.org/drawingml/2006/main">
            <a:r>
              <a:t>Inspect the JSON and compare it with the repository SQL.</a:t>
            </a:r>
          </a:p>
          <a:p xmlns:a="http://schemas.openxmlformats.org/drawingml/2006/main">
            <a:r>
              <a:t/>
            </a:r>
          </a:p>
          <a:p xmlns:a="http://schemas.openxmlformats.org/drawingml/2006/main">
            <a:r>
              <a:t>COURSE STATUS</a:t>
            </a:r>
          </a:p>
          <a:p xmlns:a="http://schemas.openxmlformats.org/drawingml/2006/main">
            <a:r>
              <a:t>Migration code pattern. Code is a condensed teaching pattern. Supply the named host dependencies and use the pinned SDK's exact overloads in the lab project. </a:t>
            </a:r>
          </a:p>
          <a:p xmlns:a="http://schemas.openxmlformats.org/drawingml/2006/main">
            <a:r>
              <a:t/>
            </a:r>
          </a:p>
          <a:p xmlns:a="http://schemas.openxmlformats.org/drawingml/2006/main">
            <a:r>
              <a:t>SOURCES</a:t>
            </a:r>
          </a:p>
          <a:p xmlns:a="http://schemas.openxmlformats.org/drawingml/2006/main">
            <a:r>
              <a:t>src/InvoiceApp.AI/Tools/InvoiceTools.cs:339</a:t>
            </a:r>
          </a:p>
          <a:p xmlns:a="http://schemas.openxmlformats.org/drawingml/2006/main">
            <a:r>
              <a:t/>
            </a:r>
          </a:p>
          <a:p xmlns:a="http://schemas.openxmlformats.org/drawingml/2006/main">
            <a:r>
              <a:t>src/InvoiceApp.Infrastructure/Persistence/Repositories/InvoiceReadRepository.cs:188</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The baseline analytics agent concatenates every invoice and customer tool, including writes. This course target intentionally starts with one read tool. Show the tool inventory before running the model. The policy must still check the caller inside each protected operation. A restricted list reduces capability exposure but does not replace authorization.</a:t>
            </a:r>
          </a:p>
          <a:p xmlns:a="http://schemas.openxmlformats.org/drawingml/2006/main">
            <a:r>
              <a:t/>
            </a:r>
          </a:p>
          <a:p xmlns:a="http://schemas.openxmlformats.org/drawingml/2006/main">
            <a:r>
              <a:t>COURSE STATUS</a:t>
            </a:r>
          </a:p>
          <a:p xmlns:a="http://schemas.openxmlformats.org/drawingml/2006/main">
            <a:r>
              <a:t>Capstone target. Code is a condensed teaching pattern. Supply the named host dependencies and use the pinned SDK's exact overloads in the lab project. This describes course work, not a claim that the baseline repository already implements it. </a:t>
            </a:r>
          </a:p>
          <a:p xmlns:a="http://schemas.openxmlformats.org/drawingml/2006/main">
            <a:r>
              <a:t/>
            </a:r>
          </a:p>
          <a:p xmlns:a="http://schemas.openxmlformats.org/drawingml/2006/main">
            <a:r>
              <a:t>SOURCES</a:t>
            </a:r>
          </a:p>
          <a:p xmlns:a="http://schemas.openxmlformats.org/drawingml/2006/main">
            <a:r>
              <a:t>AsAIAgent API reference</a:t>
            </a:r>
          </a:p>
          <a:p xmlns:a="http://schemas.openxmlformats.org/drawingml/2006/main">
            <a:r>
              <a:t>https://learn.microsoft.com/en-us/dotnet/api/openai.chat.openaichatclientextensions.asaiagent?view=agent-framework-dotnet-latest</a:t>
            </a:r>
          </a:p>
          <a:p xmlns:a="http://schemas.openxmlformats.org/drawingml/2006/main">
            <a:r>
              <a:t/>
            </a:r>
          </a:p>
          <a:p xmlns:a="http://schemas.openxmlformats.org/drawingml/2006/main">
            <a:r>
              <a:t>src/InvoiceApp.AI/Agents/AnalyticsAgent.cs:25</a:t>
            </a:r>
          </a:p>
          <a:p xmlns:a="http://schemas.openxmlformats.org/drawingml/2006/main">
            <a:r>
              <a:t/>
            </a:r>
          </a:p>
          <a:p xmlns:a="http://schemas.openxmlformats.org/drawingml/2006/main">
            <a:r>
              <a:t>src/InvoiceApp.AI/Tools/InvoiceTools.cs:48</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This is a course-defined output type and a documented generic run pattern. A schema constrains shape, not factual accuracy or permission. The application should verify EvidenceIds against records returned in the current run rather than accepting invented citations. Check the chosen provider's structured-output support and handle parse failures.</a:t>
            </a:r>
          </a:p>
          <a:p xmlns:a="http://schemas.openxmlformats.org/drawingml/2006/main">
            <a:r>
              <a:t>ASK</a:t>
            </a:r>
          </a:p>
          <a:p xmlns:a="http://schemas.openxmlformats.org/drawingml/2006/main">
            <a:r>
              <a:t>Can a valid BillingAnswer JSON object still contain a false claim?</a:t>
            </a:r>
          </a:p>
          <a:p xmlns:a="http://schemas.openxmlformats.org/drawingml/2006/main">
            <a:r>
              <a:t/>
            </a:r>
          </a:p>
          <a:p xmlns:a="http://schemas.openxmlformats.org/drawingml/2006/main">
            <a:r>
              <a:t>COURSE STATUS</a:t>
            </a:r>
          </a:p>
          <a:p xmlns:a="http://schemas.openxmlformats.org/drawingml/2006/main">
            <a:r>
              <a:t>Framework code pattern. Code is a condensed teaching pattern. Supply the named host dependencies and use the pinned SDK's exact overloads in the lab project. </a:t>
            </a:r>
          </a:p>
          <a:p xmlns:a="http://schemas.openxmlformats.org/drawingml/2006/main">
            <a:r>
              <a:t/>
            </a:r>
          </a:p>
          <a:p xmlns:a="http://schemas.openxmlformats.org/drawingml/2006/main">
            <a:r>
              <a:t>SOURCES</a:t>
            </a:r>
          </a:p>
          <a:p xmlns:a="http://schemas.openxmlformats.org/drawingml/2006/main">
            <a:r>
              <a:t>Structured outputs</a:t>
            </a:r>
          </a:p>
          <a:p xmlns:a="http://schemas.openxmlformats.org/drawingml/2006/main">
            <a:r>
              <a:t>https://learn.microsoft.com/en-us/agent-framework/agents/structured-outputs</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The repository comments and README suggest broader automatic validation than Dispatcher implements. Show the actual endpoint and dispatcher before proposing a fix. Students may choose a validating dispatcher decorator or another application boundary, but every caller must receive the same invariant enforcement. Tool argument descriptions are not a validator.</a:t>
            </a:r>
          </a:p>
          <a:p xmlns:a="http://schemas.openxmlformats.org/drawingml/2006/main">
            <a:r>
              <a:t>DEMO</a:t>
            </a:r>
          </a:p>
          <a:p xmlns:a="http://schemas.openxmlformats.org/drawingml/2006/main">
            <a:r>
              <a:t>Identify one validator-only constraint and show how the new boundary will test it.</a:t>
            </a:r>
          </a:p>
          <a:p xmlns:a="http://schemas.openxmlformats.org/drawingml/2006/main">
            <a:r>
              <a:t/>
            </a:r>
          </a:p>
          <a:p xmlns:a="http://schemas.openxmlformats.org/drawingml/2006/main">
            <a:r>
              <a:t>COURSE STATUS</a:t>
            </a:r>
          </a:p>
          <a:p xmlns:a="http://schemas.openxmlformats.org/drawingml/2006/main">
            <a:r>
              <a:t>Existing gap and target. This describes course work, not a claim that the baseline repository already implements it. </a:t>
            </a:r>
          </a:p>
          <a:p xmlns:a="http://schemas.openxmlformats.org/drawingml/2006/main">
            <a:r>
              <a:t/>
            </a:r>
          </a:p>
          <a:p xmlns:a="http://schemas.openxmlformats.org/drawingml/2006/main">
            <a:r>
              <a:t>SOURCES</a:t>
            </a:r>
          </a:p>
          <a:p xmlns:a="http://schemas.openxmlformats.org/drawingml/2006/main">
            <a:r>
              <a:t>src/InvoiceApp.Api/Endpoints/InvoicesEndpoints.cs:112</a:t>
            </a:r>
          </a:p>
          <a:p xmlns:a="http://schemas.openxmlformats.org/drawingml/2006/main">
            <a:r>
              <a:t/>
            </a:r>
          </a:p>
          <a:p xmlns:a="http://schemas.openxmlformats.org/drawingml/2006/main">
            <a:r>
              <a:t>src/InvoiceApp.Application/Common/Messaging/Dispatcher.cs:20</a:t>
            </a:r>
          </a:p>
          <a:p xmlns:a="http://schemas.openxmlformats.org/drawingml/2006/main">
            <a:r>
              <a:t/>
            </a:r>
          </a:p>
          <a:p xmlns:a="http://schemas.openxmlformats.org/drawingml/2006/main">
            <a:r>
              <a:t>src/InvoiceApp.Application/Features/Invoices/Commands/CreateInvoice/CreateInvoiceCommand.cs:76</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Same-state requests return success. Only Draft invoices can be deleted. Use an actual training invoice number rather than assuming INV-000001 exists. The agent must report the returned domain outcome accurately. An approval decision never grants permission to violate these business rules.</a:t>
            </a:r>
          </a:p>
          <a:p xmlns:a="http://schemas.openxmlformats.org/drawingml/2006/main">
            <a:r>
              <a:t>ASK</a:t>
            </a:r>
          </a:p>
          <a:p xmlns:a="http://schemas.openxmlformats.org/drawingml/2006/main">
            <a:r>
              <a:t>What if the invoice changed between the proposal and the commit?</a:t>
            </a:r>
          </a:p>
          <a:p xmlns:a="http://schemas.openxmlformats.org/drawingml/2006/main">
            <a:r>
              <a:t/>
            </a:r>
          </a:p>
          <a:p xmlns:a="http://schemas.openxmlformats.org/drawingml/2006/main">
            <a:r>
              <a:t>COURSE STATUS</a:t>
            </a:r>
          </a:p>
          <a:p xmlns:a="http://schemas.openxmlformats.org/drawingml/2006/main">
            <a:r>
              <a:t>Existing domain behavior. </a:t>
            </a:r>
          </a:p>
          <a:p xmlns:a="http://schemas.openxmlformats.org/drawingml/2006/main">
            <a:r>
              <a:t/>
            </a:r>
          </a:p>
          <a:p xmlns:a="http://schemas.openxmlformats.org/drawingml/2006/main">
            <a:r>
              <a:t>SOURCES</a:t>
            </a:r>
          </a:p>
          <a:p xmlns:a="http://schemas.openxmlformats.org/drawingml/2006/main">
            <a:r>
              <a:t>src/InvoiceApp.Domain/Entities/Invoice.cs:147</a:t>
            </a:r>
          </a:p>
          <a:p xmlns:a="http://schemas.openxmlformats.org/drawingml/2006/main">
            <a:r>
              <a:t/>
            </a:r>
          </a:p>
          <a:p xmlns:a="http://schemas.openxmlformats.org/drawingml/2006/main">
            <a:r>
              <a:t>src/InvoiceApp.Application/Features/Invoices/Commands/UpdateInvoiceStatus/UpdateInvoiceStatusCommand.cs:40</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The current tools mix bare DTO JSON with success/error envelopes. A returned error string is still a normal function result, so BaseAgent can report overall success while a business command failed. Propose a typed ToolOutcome and map it consistently. The course owns that contract; do not imply the framework automatically interprets every application error. Include a correlation ID for server diagnostics.</a:t>
            </a:r>
          </a:p>
          <a:p xmlns:a="http://schemas.openxmlformats.org/drawingml/2006/main">
            <a:r>
              <a:t/>
            </a:r>
          </a:p>
          <a:p xmlns:a="http://schemas.openxmlformats.org/drawingml/2006/main">
            <a:r>
              <a:t>COURSE STATUS</a:t>
            </a:r>
          </a:p>
          <a:p xmlns:a="http://schemas.openxmlformats.org/drawingml/2006/main">
            <a:r>
              <a:t>Capstone target. This describes course work, not a claim that the baseline repository already implements it. </a:t>
            </a:r>
          </a:p>
          <a:p xmlns:a="http://schemas.openxmlformats.org/drawingml/2006/main">
            <a:r>
              <a:t/>
            </a:r>
          </a:p>
          <a:p xmlns:a="http://schemas.openxmlformats.org/drawingml/2006/main">
            <a:r>
              <a:t>SOURCES</a:t>
            </a:r>
          </a:p>
          <a:p xmlns:a="http://schemas.openxmlformats.org/drawingml/2006/main">
            <a:r>
              <a:t>src/InvoiceApp.AI/Tools/InvoiceTools.cs:48</a:t>
            </a:r>
          </a:p>
          <a:p xmlns:a="http://schemas.openxmlformats.org/drawingml/2006/main">
            <a:r>
              <a:t/>
            </a:r>
          </a:p>
          <a:p xmlns:a="http://schemas.openxmlformats.org/drawingml/2006/main">
            <a:r>
              <a:t>src/InvoiceApp.AI/Agents/BaseAgent.cs:84</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ListInvoices currently exposes only status and fixes the first page at 50 records. A complete analytic ranking cannot assume that list is exhaustive. Add a purpose-built query when the business question needs aggregation. Keep mutating commands sequential unless a transaction and concurrency design justify otherwise. The framework's possible concurrency does not make a scoped DbContext thread-safe.</a:t>
            </a:r>
          </a:p>
          <a:p xmlns:a="http://schemas.openxmlformats.org/drawingml/2006/main">
            <a:r>
              <a:t/>
            </a:r>
          </a:p>
          <a:p xmlns:a="http://schemas.openxmlformats.org/drawingml/2006/main">
            <a:r>
              <a:t>COURSE STATUS</a:t>
            </a:r>
          </a:p>
          <a:p xmlns:a="http://schemas.openxmlformats.org/drawingml/2006/main">
            <a:r>
              <a:t>Tool design. </a:t>
            </a:r>
          </a:p>
          <a:p xmlns:a="http://schemas.openxmlformats.org/drawingml/2006/main">
            <a:r>
              <a:t/>
            </a:r>
          </a:p>
          <a:p xmlns:a="http://schemas.openxmlformats.org/drawingml/2006/main">
            <a:r>
              <a:t>SOURCES</a:t>
            </a:r>
          </a:p>
          <a:p xmlns:a="http://schemas.openxmlformats.org/drawingml/2006/main">
            <a:r>
              <a:t>src/InvoiceApp.AI/Tools/InvoiceTools.cs:48</a:t>
            </a:r>
          </a:p>
          <a:p xmlns:a="http://schemas.openxmlformats.org/drawingml/2006/main">
            <a:r>
              <a:t/>
            </a:r>
          </a:p>
          <a:p xmlns:a="http://schemas.openxmlformats.org/drawingml/2006/main">
            <a:r>
              <a:t>src/InvoiceApp.Infrastructure/Persistence/Repositories/InvoiceReadRepository.cs:188</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Suggested lab: 70 minutes. Provide successful, empty, and failed summary fixtures. Inspect which function the agent requests and compare its arguments with expectations. Add at least one deterministic test for validation and one live or recorded behavioral case for tool selection. The existing database arithmetic remains unchanged. Review unsupported claims about overdue amounts and cancelled invoices.</a:t>
            </a:r>
          </a:p>
          <a:p xmlns:a="http://schemas.openxmlformats.org/drawingml/2006/main">
            <a:r>
              <a:t>IMPLEMENTATION TASKS</a:t>
            </a:r>
          </a:p>
          <a:p xmlns:a="http://schemas.openxmlformats.org/drawingml/2006/main">
            <a:r>
              <a:t>1. Expose GetInvoiceSummary through a narrow framework agent.</a:t>
            </a:r>
          </a:p>
          <a:p xmlns:a="http://schemas.openxmlformats.org/drawingml/2006/main">
            <a:r>
              <a:t>2. Add shared input validation and a typed tool-outcome design.</a:t>
            </a:r>
          </a:p>
          <a:p xmlns:a="http://schemas.openxmlformats.org/drawingml/2006/main">
            <a:r>
              <a:t>3. Return a structured answer with verified evidence identifiers.</a:t>
            </a:r>
          </a:p>
          <a:p xmlns:a="http://schemas.openxmlformats.org/drawingml/2006/main">
            <a:r>
              <a:t>ACCEPTANCE EVIDENCE</a:t>
            </a:r>
          </a:p>
          <a:p xmlns:a="http://schemas.openxmlformats.org/drawingml/2006/main">
            <a:r>
              <a:t>1. Failed reads cannot masquerade as a zero balance.</a:t>
            </a:r>
          </a:p>
          <a:p xmlns:a="http://schemas.openxmlformats.org/drawingml/2006/main">
            <a:r>
              <a:t>2. An illegal transition remains rejected.</a:t>
            </a:r>
          </a:p>
          <a:p xmlns:a="http://schemas.openxmlformats.org/drawingml/2006/main">
            <a:r>
              <a:t>3. Analytics has no unnecessary mutation tools.</a:t>
            </a:r>
          </a:p>
          <a:p xmlns:a="http://schemas.openxmlformats.org/drawingml/2006/main">
            <a:r>
              <a:t/>
            </a:r>
          </a:p>
          <a:p xmlns:a="http://schemas.openxmlformats.org/drawingml/2006/main">
            <a:r>
              <a:t>COURSE STATUS</a:t>
            </a:r>
          </a:p>
          <a:p xmlns:a="http://schemas.openxmlformats.org/drawingml/2006/main">
            <a:r>
              <a:t>Lab target. This describes course work, not a claim that the baseline repository already implements it.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PLAN</a:t>
            </a:r>
          </a:p>
          <a:p xmlns:a="http://schemas.openxmlformats.org/drawingml/2006/main">
            <a:r>
              <a:t>Allocate 3 hours: 25 minutes of concepts, 35 minutes of guided code, 70 minutes of lab work, 30 minutes of review, and 20 minutes for discussion or breaks. Adjust the suggested timings to the cohort. The lab acceptance criteria matter more than the number of slides.</a:t>
            </a:r>
          </a:p>
          <a:p xmlns:a="http://schemas.openxmlformats.org/drawingml/2006/main">
            <a:r>
              <a:t>MODULE OUTCOME</a:t>
            </a:r>
          </a:p>
          <a:p xmlns:a="http://schemas.openxmlformats.org/drawingml/2006/main">
            <a:r>
              <a:t>Instructions and memory that respect application trust boundaries</a:t>
            </a:r>
          </a:p>
          <a:p xmlns:a="http://schemas.openxmlformats.org/drawingml/2006/main">
            <a:r>
              <a:t/>
            </a:r>
          </a:p>
          <a:p xmlns:a="http://schemas.openxmlformats.org/drawingml/2006/main">
            <a:r>
              <a:t>COURSE STATUS</a:t>
            </a:r>
          </a:p>
          <a:p xmlns:a="http://schemas.openxmlformats.org/drawingml/2006/main">
            <a:r>
              <a:t>Engineering design.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Treat instructions as versioned application assets. Give the model a concrete task and evidence policy rather than repeating broad claims such as being an expert. The instruction cannot establish user identity or grant a tool permission. Include examples of unavailable data and ambiguity. A prompt change should trigger the same evaluation corpus as a model or tool change.</a:t>
            </a:r>
          </a:p>
          <a:p xmlns:a="http://schemas.openxmlformats.org/drawingml/2006/main">
            <a:r>
              <a:t>EXERCISE</a:t>
            </a:r>
          </a:p>
          <a:p xmlns:a="http://schemas.openxmlformats.org/drawingml/2006/main">
            <a:r>
              <a:t>Write one positive example and one refusal-to-invent example.</a:t>
            </a:r>
          </a:p>
          <a:p xmlns:a="http://schemas.openxmlformats.org/drawingml/2006/main">
            <a:r>
              <a:t/>
            </a:r>
          </a:p>
          <a:p xmlns:a="http://schemas.openxmlformats.org/drawingml/2006/main">
            <a:r>
              <a:t>COURSE STATUS</a:t>
            </a:r>
          </a:p>
          <a:p xmlns:a="http://schemas.openxmlformats.org/drawingml/2006/main">
            <a:r>
              <a:t>Prompt design. </a:t>
            </a:r>
          </a:p>
          <a:p xmlns:a="http://schemas.openxmlformats.org/drawingml/2006/main">
            <a:r>
              <a:t/>
            </a:r>
          </a:p>
          <a:p xmlns:a="http://schemas.openxmlformats.org/drawingml/2006/main">
            <a:r>
              <a:t>SOURCES</a:t>
            </a:r>
          </a:p>
          <a:p xmlns:a="http://schemas.openxmlformats.org/drawingml/2006/main">
            <a:r>
              <a:t>src/InvoiceApp.AI/Agents/AnalyticsAgent.cs:25</a:t>
            </a:r>
          </a:p>
          <a:p xmlns:a="http://schemas.openxmlformats.org/drawingml/2006/main">
            <a:r>
              <a:t/>
            </a:r>
          </a:p>
          <a:p xmlns:a="http://schemas.openxmlformats.org/drawingml/2006/main">
            <a:r>
              <a:t>src/InvoiceApp.AI/Agents/BaseAgent.cs:84</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This is a proposed system instruction for the capstone. The exact metric definitions must match the SQL, not the user-facing documentation when they disagree. Dates should specify timezone and as-of scope. Keep the prompt concise enough that its evidence policy remains visible among tools and retrieved content.</a:t>
            </a:r>
          </a:p>
          <a:p xmlns:a="http://schemas.openxmlformats.org/drawingml/2006/main">
            <a:r>
              <a:t>DEMO</a:t>
            </a:r>
          </a:p>
          <a:p xmlns:a="http://schemas.openxmlformats.org/drawingml/2006/main">
            <a:r>
              <a:t>Give the model a failed read result and compare responses before and after the instruction change.</a:t>
            </a:r>
          </a:p>
          <a:p xmlns:a="http://schemas.openxmlformats.org/drawingml/2006/main">
            <a:r>
              <a:t/>
            </a:r>
          </a:p>
          <a:p xmlns:a="http://schemas.openxmlformats.org/drawingml/2006/main">
            <a:r>
              <a:t>COURSE STATUS</a:t>
            </a:r>
          </a:p>
          <a:p xmlns:a="http://schemas.openxmlformats.org/drawingml/2006/main">
            <a:r>
              <a:t>Course prompt example. Code is a condensed teaching pattern. Supply the named host dependencies and use the pinned SDK's exact overloads in the lab project. </a:t>
            </a:r>
          </a:p>
          <a:p xmlns:a="http://schemas.openxmlformats.org/drawingml/2006/main">
            <a:r>
              <a:t/>
            </a:r>
          </a:p>
          <a:p xmlns:a="http://schemas.openxmlformats.org/drawingml/2006/main">
            <a:r>
              <a:t>SOURCES</a:t>
            </a:r>
          </a:p>
          <a:p xmlns:a="http://schemas.openxmlformats.org/drawingml/2006/main">
            <a:r>
              <a:t>src/InvoiceApp.Infrastructure/Persistence/Repositories/InvoiceReadRepository.cs:188</a:t>
            </a:r>
          </a:p>
          <a:p xmlns:a="http://schemas.openxmlformats.org/drawingml/2006/main">
            <a:r>
              <a:t/>
            </a:r>
          </a:p>
          <a:p xmlns:a="http://schemas.openxmlformats.org/drawingml/2006/main">
            <a:r>
              <a:t>src/InvoiceApp.Infrastructure/Persistence/Repositories/InvoiceReadRepository.cs:158</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The web client forwards page state, but the baseline BaseAgent reads only request.Prompt when constructing messages. Simply accepting Context does not ground the model. In the target, a server resolver validates identifiers and obtains permitted record facts. Context providers can supply those facts proactively. Do not put credentials, raw EF entities, or every customer record into the context.</a:t>
            </a:r>
          </a:p>
          <a:p xmlns:a="http://schemas.openxmlformats.org/drawingml/2006/main">
            <a:r>
              <a:t/>
            </a:r>
          </a:p>
          <a:p xmlns:a="http://schemas.openxmlformats.org/drawingml/2006/main">
            <a:r>
              <a:t>COURSE STATUS</a:t>
            </a:r>
          </a:p>
          <a:p xmlns:a="http://schemas.openxmlformats.org/drawingml/2006/main">
            <a:r>
              <a:t>Existing gap and target. This describes course work, not a claim that the baseline repository already implements it. </a:t>
            </a:r>
          </a:p>
          <a:p xmlns:a="http://schemas.openxmlformats.org/drawingml/2006/main">
            <a:r>
              <a:t/>
            </a:r>
          </a:p>
          <a:p xmlns:a="http://schemas.openxmlformats.org/drawingml/2006/main">
            <a:r>
              <a:t>SOURCES</a:t>
            </a:r>
          </a:p>
          <a:p xmlns:a="http://schemas.openxmlformats.org/drawingml/2006/main">
            <a:r>
              <a:t>Context providers</a:t>
            </a:r>
          </a:p>
          <a:p xmlns:a="http://schemas.openxmlformats.org/drawingml/2006/main">
            <a:r>
              <a:t>https://learn.microsoft.com/en-us/agent-framework/journey/adding-context-providers</a:t>
            </a:r>
          </a:p>
          <a:p xmlns:a="http://schemas.openxmlformats.org/drawingml/2006/main">
            <a:r>
              <a:t/>
            </a:r>
          </a:p>
          <a:p xmlns:a="http://schemas.openxmlformats.org/drawingml/2006/main">
            <a:r>
              <a:t>src/InvoiceApp.Web/Services/ApiClients/AiApiClient.cs:24</a:t>
            </a:r>
          </a:p>
          <a:p xmlns:a="http://schemas.openxmlformats.org/drawingml/2006/main">
            <a:r>
              <a:t/>
            </a:r>
          </a:p>
          <a:p xmlns:a="http://schemas.openxmlformats.org/drawingml/2006/main">
            <a:r>
              <a:t>src/InvoiceApp.AI/Agents/AgentModels.cs:10</a:t>
            </a:r>
          </a:p>
          <a:p xmlns:a="http://schemas.openxmlformats.org/drawingml/2006/main">
            <a:r>
              <a:t/>
            </a:r>
          </a:p>
          <a:p xmlns:a="http://schemas.openxmlformats.org/drawingml/2006/main">
            <a:r>
              <a:t>src/InvoiceApp.AI/Agents/BaseAgent.cs:84</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A user statement in conversation history is not an authoritative business record. Long-term memory needs consent, retention rules, and ownership. The framework session is a state carrier, not an authorization system. Decide which state can be discarded and which must survive a restart. Explain why copying all history into a user string loses role information.</a:t>
            </a:r>
          </a:p>
          <a:p xmlns:a="http://schemas.openxmlformats.org/drawingml/2006/main">
            <a:r>
              <a:t/>
            </a:r>
          </a:p>
          <a:p xmlns:a="http://schemas.openxmlformats.org/drawingml/2006/main">
            <a:r>
              <a:t>COURSE STATUS</a:t>
            </a:r>
          </a:p>
          <a:p xmlns:a="http://schemas.openxmlformats.org/drawingml/2006/main">
            <a:r>
              <a:t>State design. </a:t>
            </a:r>
          </a:p>
          <a:p xmlns:a="http://schemas.openxmlformats.org/drawingml/2006/main">
            <a:r>
              <a:t/>
            </a:r>
          </a:p>
          <a:p xmlns:a="http://schemas.openxmlformats.org/drawingml/2006/main">
            <a:r>
              <a:t>SOURCES</a:t>
            </a:r>
          </a:p>
          <a:p xmlns:a="http://schemas.openxmlformats.org/drawingml/2006/main">
            <a:r>
              <a:t>Conversation storage</a:t>
            </a:r>
          </a:p>
          <a:p xmlns:a="http://schemas.openxmlformats.org/drawingml/2006/main">
            <a:r>
              <a:t>https://learn.microsoft.com/en-us/agent-framework/agents/conversations/storage</a:t>
            </a:r>
          </a:p>
          <a:p xmlns:a="http://schemas.openxmlformats.org/drawingml/2006/main">
            <a:r>
              <a:t/>
            </a:r>
          </a:p>
          <a:p xmlns:a="http://schemas.openxmlformats.org/drawingml/2006/main">
            <a:r>
              <a:t>src/InvoiceApp.AI/Memory/AgentMemoryService.cs:37</a:t>
            </a:r>
          </a:p>
          <a:p xmlns:a="http://schemas.openxmlformats.org/drawingml/2006/main">
            <a:r>
              <a:t/>
            </a:r>
          </a:p>
          <a:p xmlns:a="http://schemas.openxmlformats.org/drawingml/2006/main">
            <a:r>
              <a:t>src/InvoiceApp.AI/Coordinator/AgentCoordinator.cs:72</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The baseline stores strings in a static dictionary and returns ten messages without pruning older storage. The target may use SQL, Redis, or another selected store, but the choice is an implementation decision. In a custom history provider, keep session-specific keys in session state rather than mutable provider-instance fields. Test cross-user access and two simultaneous turns.</a:t>
            </a:r>
          </a:p>
          <a:p xmlns:a="http://schemas.openxmlformats.org/drawingml/2006/main">
            <a:r>
              <a:t/>
            </a:r>
          </a:p>
          <a:p xmlns:a="http://schemas.openxmlformats.org/drawingml/2006/main">
            <a:r>
              <a:t>COURSE STATUS</a:t>
            </a:r>
          </a:p>
          <a:p xmlns:a="http://schemas.openxmlformats.org/drawingml/2006/main">
            <a:r>
              <a:t>Capstone target. This describes course work, not a claim that the baseline repository already implements it. </a:t>
            </a:r>
          </a:p>
          <a:p xmlns:a="http://schemas.openxmlformats.org/drawingml/2006/main">
            <a:r>
              <a:t/>
            </a:r>
          </a:p>
          <a:p xmlns:a="http://schemas.openxmlformats.org/drawingml/2006/main">
            <a:r>
              <a:t>SOURCES</a:t>
            </a:r>
          </a:p>
          <a:p xmlns:a="http://schemas.openxmlformats.org/drawingml/2006/main">
            <a:r>
              <a:t>Conversation storage</a:t>
            </a:r>
          </a:p>
          <a:p xmlns:a="http://schemas.openxmlformats.org/drawingml/2006/main">
            <a:r>
              <a:t>https://learn.microsoft.com/en-us/agent-framework/agents/conversations/storage</a:t>
            </a:r>
          </a:p>
          <a:p xmlns:a="http://schemas.openxmlformats.org/drawingml/2006/main">
            <a:r>
              <a:t/>
            </a:r>
          </a:p>
          <a:p xmlns:a="http://schemas.openxmlformats.org/drawingml/2006/main">
            <a:r>
              <a:t>src/InvoiceApp.AI/Memory/AgentMemoryService.cs:37</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Ten messages can still contain an enormous amount of text. A summary can lose a constraint or change an identifier, so treat summarization as another model operation that needs evaluation. Keep facts re-loadable from the application rather than relying on a conversation summary as the ledger. Avoid teaching a fixed context size because it depends on the selected deployment.</a:t>
            </a:r>
          </a:p>
          <a:p xmlns:a="http://schemas.openxmlformats.org/drawingml/2006/main">
            <a:r>
              <a:t/>
            </a:r>
          </a:p>
          <a:p xmlns:a="http://schemas.openxmlformats.org/drawingml/2006/main">
            <a:r>
              <a:t>COURSE STATUS</a:t>
            </a:r>
          </a:p>
          <a:p xmlns:a="http://schemas.openxmlformats.org/drawingml/2006/main">
            <a:r>
              <a:t>Application policy. </a:t>
            </a:r>
          </a:p>
          <a:p xmlns:a="http://schemas.openxmlformats.org/drawingml/2006/main">
            <a:r>
              <a:t/>
            </a:r>
          </a:p>
          <a:p xmlns:a="http://schemas.openxmlformats.org/drawingml/2006/main">
            <a:r>
              <a:t>SOURCES</a:t>
            </a:r>
          </a:p>
          <a:p xmlns:a="http://schemas.openxmlformats.org/drawingml/2006/main">
            <a:r>
              <a:t>src/InvoiceApp.AI/Memory/AgentMemoryService.cs:37</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Suggested lab: 70 minutes. Use two synthetic principals and separate customer records. Students design a session repository and retention policy, then implement a minimal persistence path. Include a case where a client changes invoiceId. The model should receive only the authorized projection. Assess isolation through deterministic tests rather than asking the model whether access is allowed.</a:t>
            </a:r>
          </a:p>
          <a:p xmlns:a="http://schemas.openxmlformats.org/drawingml/2006/main">
            <a:r>
              <a:t>IMPLEMENTATION TASKS</a:t>
            </a:r>
          </a:p>
          <a:p xmlns:a="http://schemas.openxmlformats.org/drawingml/2006/main">
            <a:r>
              <a:t>1. Persist and restore a framework session.</a:t>
            </a:r>
          </a:p>
          <a:p xmlns:a="http://schemas.openxmlformats.org/drawingml/2006/main">
            <a:r>
              <a:t>2. Resolve a page invoice ID on the server.</a:t>
            </a:r>
          </a:p>
          <a:p xmlns:a="http://schemas.openxmlformats.org/drawingml/2006/main">
            <a:r>
              <a:t>3. Test expiry, concurrent turns, and another user's continuation ID.</a:t>
            </a:r>
          </a:p>
          <a:p xmlns:a="http://schemas.openxmlformats.org/drawingml/2006/main">
            <a:r>
              <a:t>ACCEPTANCE EVIDENCE</a:t>
            </a:r>
          </a:p>
          <a:p xmlns:a="http://schemas.openxmlformats.org/drawingml/2006/main">
            <a:r>
              <a:t>1. Authorized facts reach the agent.</a:t>
            </a:r>
          </a:p>
          <a:p xmlns:a="http://schemas.openxmlformats.org/drawingml/2006/main">
            <a:r>
              <a:t>2. Ownership checks reject a foreign session.</a:t>
            </a:r>
          </a:p>
          <a:p xmlns:a="http://schemas.openxmlformats.org/drawingml/2006/main">
            <a:r>
              <a:t>3. A restart preserves the intended conversation state.</a:t>
            </a:r>
          </a:p>
          <a:p xmlns:a="http://schemas.openxmlformats.org/drawingml/2006/main">
            <a:r>
              <a:t/>
            </a:r>
          </a:p>
          <a:p xmlns:a="http://schemas.openxmlformats.org/drawingml/2006/main">
            <a:r>
              <a:t>COURSE STATUS</a:t>
            </a:r>
          </a:p>
          <a:p xmlns:a="http://schemas.openxmlformats.org/drawingml/2006/main">
            <a:r>
              <a:t>Lab target. This describes course work, not a claim that the baseline repository already implements it.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PLAN</a:t>
            </a:r>
          </a:p>
          <a:p xmlns:a="http://schemas.openxmlformats.org/drawingml/2006/main">
            <a:r>
              <a:t>Allocate 3 hours: 25 minutes of concepts, 35 minutes of guided code, 70 minutes of lab work, 30 minutes of review, and 20 minutes for discussion or breaks. Adjust the suggested timings to the cohort. The lab acceptance criteria matter more than the number of slides.</a:t>
            </a:r>
          </a:p>
          <a:p xmlns:a="http://schemas.openxmlformats.org/drawingml/2006/main">
            <a:r>
              <a:t>MODULE OUTCOME</a:t>
            </a:r>
          </a:p>
          <a:p xmlns:a="http://schemas.openxmlformats.org/drawingml/2006/main">
            <a:r>
              <a:t>Documentation and financial evidence with traceable sources</a:t>
            </a:r>
          </a:p>
          <a:p xmlns:a="http://schemas.openxmlformats.org/drawingml/2006/main">
            <a:r>
              <a:t/>
            </a:r>
          </a:p>
          <a:p xmlns:a="http://schemas.openxmlformats.org/drawingml/2006/main">
            <a:r>
              <a:t>COURSE STATUS</a:t>
            </a:r>
          </a:p>
          <a:p xmlns:a="http://schemas.openxmlformats.org/drawingml/2006/main">
            <a:r>
              <a:t>Engineering design.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RAG is useful for explanatory knowledge, while structured financial facts should come from application queries. A vector index is not a replacement for transactional data. Use a freshness policy and return a source reference with each retrieved passage. The model should not answer a balance from stale documentation or general training data.</a:t>
            </a:r>
          </a:p>
          <a:p xmlns:a="http://schemas.openxmlformats.org/drawingml/2006/main">
            <a:r>
              <a:t/>
            </a:r>
          </a:p>
          <a:p xmlns:a="http://schemas.openxmlformats.org/drawingml/2006/main">
            <a:r>
              <a:t>COURSE STATUS</a:t>
            </a:r>
          </a:p>
          <a:p xmlns:a="http://schemas.openxmlformats.org/drawingml/2006/main">
            <a:r>
              <a:t>Retrieval design. </a:t>
            </a:r>
          </a:p>
          <a:p xmlns:a="http://schemas.openxmlformats.org/drawingml/2006/main">
            <a:r>
              <a:t/>
            </a:r>
          </a:p>
          <a:p xmlns:a="http://schemas.openxmlformats.org/drawingml/2006/main">
            <a:r>
              <a:t>SOURCES</a:t>
            </a:r>
          </a:p>
          <a:p xmlns:a="http://schemas.openxmlformats.org/drawingml/2006/main">
            <a:r>
              <a:t>RAG with Agent Framework</a:t>
            </a:r>
          </a:p>
          <a:p xmlns:a="http://schemas.openxmlformats.org/drawingml/2006/main">
            <a:r>
              <a:t>https://learn.microsoft.com/en-us/agent-framework/user-guide/agents/agent-rag</a:t>
            </a:r>
          </a:p>
          <a:p xmlns:a="http://schemas.openxmlformats.org/drawingml/2006/main">
            <a:r>
              <a:t/>
            </a:r>
          </a:p>
          <a:p xmlns:a="http://schemas.openxmlformats.org/drawingml/2006/main">
            <a:r>
              <a:t>src/InvoiceApp.Infrastructure/Persistence/Repositories/InvoiceReadRepository.cs:188</a:t>
            </a:r>
          </a:p>
          <a:p xmlns:a="http://schemas.openxmlformats.org/drawingml/2006/main">
            <a:r>
              <a:t/>
            </a:r>
          </a:p>
          <a:p xmlns:a="http://schemas.openxmlformats.org/drawingml/2006/main">
            <a:r>
              <a:t>src/InvoiceApp.AI/Tools/DocumentationTools.cs:41</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Show the filesystem lookup rather than calling it a sophisticated semantic search system. The tool strips directory components from the supplied page name and searches for a Docs directory. The Markdown can still contain inaccurate product claims, so the ingestion review must compare it with implemented business rules. Retrieved text remains untrusted data even when stored in the repository.</a:t>
            </a:r>
          </a:p>
          <a:p xmlns:a="http://schemas.openxmlformats.org/drawingml/2006/main">
            <a:r>
              <a:t/>
            </a:r>
          </a:p>
          <a:p xmlns:a="http://schemas.openxmlformats.org/drawingml/2006/main">
            <a:r>
              <a:t>COURSE STATUS</a:t>
            </a:r>
          </a:p>
          <a:p xmlns:a="http://schemas.openxmlformats.org/drawingml/2006/main">
            <a:r>
              <a:t>Existing implementation. </a:t>
            </a:r>
          </a:p>
          <a:p xmlns:a="http://schemas.openxmlformats.org/drawingml/2006/main">
            <a:r>
              <a:t/>
            </a:r>
          </a:p>
          <a:p xmlns:a="http://schemas.openxmlformats.org/drawingml/2006/main">
            <a:r>
              <a:t>SOURCES</a:t>
            </a:r>
          </a:p>
          <a:p xmlns:a="http://schemas.openxmlformats.org/drawingml/2006/main">
            <a:r>
              <a:t>src/InvoiceApp.AI/Tools/DocumentationTools.cs:41</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This is the capstone retrieval design, not an implemented repository feature. For the small Docs corpus, a simple search can be adequate. Add embeddings only when the retrieval task justifies their operational cost. Explain that an embedding is a search representation, not a trustworthy summary or an access-control decision. Re-index changed documents and retire obsolete versions.</a:t>
            </a:r>
          </a:p>
          <a:p xmlns:a="http://schemas.openxmlformats.org/drawingml/2006/main">
            <a:r>
              <a:t/>
            </a:r>
          </a:p>
          <a:p xmlns:a="http://schemas.openxmlformats.org/drawingml/2006/main">
            <a:r>
              <a:t>COURSE STATUS</a:t>
            </a:r>
          </a:p>
          <a:p xmlns:a="http://schemas.openxmlformats.org/drawingml/2006/main">
            <a:r>
              <a:t>Capstone target. This describes course work, not a claim that the baseline repository already implements it. </a:t>
            </a:r>
          </a:p>
          <a:p xmlns:a="http://schemas.openxmlformats.org/drawingml/2006/main">
            <a:r>
              <a:t/>
            </a:r>
          </a:p>
          <a:p xmlns:a="http://schemas.openxmlformats.org/drawingml/2006/main">
            <a:r>
              <a:t>SOURCES</a:t>
            </a:r>
          </a:p>
          <a:p xmlns:a="http://schemas.openxmlformats.org/drawingml/2006/main">
            <a:r>
              <a:t>RAG with Agent Framework</a:t>
            </a:r>
          </a:p>
          <a:p xmlns:a="http://schemas.openxmlformats.org/drawingml/2006/main">
            <a:r>
              <a:t>https://learn.microsoft.com/en-us/agent-framework/user-guide/agents/agent-rag</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Have students compare one keyword and one hybrid retrieval result set. Access filtering belongs in retrieval or the source service, not in a later model instruction. Avoid fabricated precision about top-k or similarity thresholds: choose them using the course corpus and evaluation set. A citation must resolve to evidence the model actually received.</a:t>
            </a:r>
          </a:p>
          <a:p xmlns:a="http://schemas.openxmlformats.org/drawingml/2006/main">
            <a:r>
              <a:t/>
            </a:r>
          </a:p>
          <a:p xmlns:a="http://schemas.openxmlformats.org/drawingml/2006/main">
            <a:r>
              <a:t>COURSE STATUS</a:t>
            </a:r>
          </a:p>
          <a:p xmlns:a="http://schemas.openxmlformats.org/drawingml/2006/main">
            <a:r>
              <a:t>Retrieval policy. </a:t>
            </a:r>
          </a:p>
          <a:p xmlns:a="http://schemas.openxmlformats.org/drawingml/2006/main">
            <a:r>
              <a:t/>
            </a:r>
          </a:p>
          <a:p xmlns:a="http://schemas.openxmlformats.org/drawingml/2006/main">
            <a:r>
              <a:t>SOURCES</a:t>
            </a:r>
          </a:p>
          <a:p xmlns:a="http://schemas.openxmlformats.org/drawingml/2006/main">
            <a:r>
              <a:t>TextSearchProvider</a:t>
            </a:r>
          </a:p>
          <a:p xmlns:a="http://schemas.openxmlformats.org/drawingml/2006/main">
            <a:r>
              <a:t>https://learn.microsoft.com/en-us/dotnet/api/microsoft.agents.ai.textsearchprovider?view=agent-framework-dotnet-latest</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SearchInvoiceDocsAsync is an application adapter with the signature required by the pinned SDK. The slide is a condensed configuration pattern, not a complete search implementation. The provider can inject evidence before inference or expose retrieval on demand. Use the current TextSearchProvider API reference for the result type and options in the selected version.</a:t>
            </a:r>
          </a:p>
          <a:p xmlns:a="http://schemas.openxmlformats.org/drawingml/2006/main">
            <a:r>
              <a:t/>
            </a:r>
          </a:p>
          <a:p xmlns:a="http://schemas.openxmlformats.org/drawingml/2006/main">
            <a:r>
              <a:t>COURSE STATUS</a:t>
            </a:r>
          </a:p>
          <a:p xmlns:a="http://schemas.openxmlformats.org/drawingml/2006/main">
            <a:r>
              <a:t>Framework code pattern. Code is a condensed teaching pattern. Supply the named host dependencies and use the pinned SDK's exact overloads in the lab project. </a:t>
            </a:r>
          </a:p>
          <a:p xmlns:a="http://schemas.openxmlformats.org/drawingml/2006/main">
            <a:r>
              <a:t/>
            </a:r>
          </a:p>
          <a:p xmlns:a="http://schemas.openxmlformats.org/drawingml/2006/main">
            <a:r>
              <a:t>SOURCES</a:t>
            </a:r>
          </a:p>
          <a:p xmlns:a="http://schemas.openxmlformats.org/drawingml/2006/main">
            <a:r>
              <a:t>TextSearchProvider</a:t>
            </a:r>
          </a:p>
          <a:p xmlns:a="http://schemas.openxmlformats.org/drawingml/2006/main">
            <a:r>
              <a:t>https://learn.microsoft.com/en-us/dotnet/api/microsoft.agents.ai.textsearchprovider?view=agent-framework-dotnet-latest</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Separate retrieval failure from generation failure. A fluent answer can be wrong because the right document never arrived, because the document itself is wrong, or because the model ignored it. Build cases for missing documents, conflicting rules, and a cited passage that does not support the sentence. Use deterministic citation checks alongside any model judge.</a:t>
            </a:r>
          </a:p>
          <a:p xmlns:a="http://schemas.openxmlformats.org/drawingml/2006/main">
            <a:r>
              <a:t/>
            </a:r>
          </a:p>
          <a:p xmlns:a="http://schemas.openxmlformats.org/drawingml/2006/main">
            <a:r>
              <a:t>COURSE STATUS</a:t>
            </a:r>
          </a:p>
          <a:p xmlns:a="http://schemas.openxmlformats.org/drawingml/2006/main">
            <a:r>
              <a:t>Evaluation design. </a:t>
            </a:r>
          </a:p>
          <a:p xmlns:a="http://schemas.openxmlformats.org/drawingml/2006/main">
            <a:r>
              <a:t/>
            </a:r>
          </a:p>
          <a:p xmlns:a="http://schemas.openxmlformats.org/drawingml/2006/main">
            <a:r>
              <a:t>SOURCES</a:t>
            </a:r>
          </a:p>
          <a:p xmlns:a="http://schemas.openxmlformats.org/drawingml/2006/main">
            <a:r>
              <a:t>Foundry evaluation dimensions</a:t>
            </a:r>
          </a:p>
          <a:p xmlns:a="http://schemas.openxmlformats.org/drawingml/2006/main">
            <a:r>
              <a:t>https://learn.microsoft.com/en-us/azure/ai-foundry/concepts/evaluation-approach-gen-ai</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Suggested lab: 70 minutes. Seed one deliberately stale documentation claim, such as Paid invoices being cancellable. Students identify it through code review and retrieval tests. Require a small answer/citation corpus. They may use file or keyword retrieval for the core lab; vector or hybrid retrieval is an optional extension. Avoid spending the lab on infrastructure that the small corpus does not need.</a:t>
            </a:r>
          </a:p>
          <a:p xmlns:a="http://schemas.openxmlformats.org/drawingml/2006/main">
            <a:r>
              <a:t>IMPLEMENTATION TASKS</a:t>
            </a:r>
          </a:p>
          <a:p xmlns:a="http://schemas.openxmlformats.org/drawingml/2006/main">
            <a:r>
              <a:t>1. Review two invoice rule documents against the domain code.</a:t>
            </a:r>
          </a:p>
          <a:p xmlns:a="http://schemas.openxmlformats.org/drawingml/2006/main">
            <a:r>
              <a:t>2. Implement a search adapter with source identifiers.</a:t>
            </a:r>
          </a:p>
          <a:p xmlns:a="http://schemas.openxmlformats.org/drawingml/2006/main">
            <a:r>
              <a:t>3. Return a grounded answer and a no-evidence response.</a:t>
            </a:r>
          </a:p>
          <a:p xmlns:a="http://schemas.openxmlformats.org/drawingml/2006/main">
            <a:r>
              <a:t>ACCEPTANCE EVIDENCE</a:t>
            </a:r>
          </a:p>
          <a:p xmlns:a="http://schemas.openxmlformats.org/drawingml/2006/main">
            <a:r>
              <a:t>1. Citations resolve to retrieved passages.</a:t>
            </a:r>
          </a:p>
          <a:p xmlns:a="http://schemas.openxmlformats.org/drawingml/2006/main">
            <a:r>
              <a:t>2. Access filtering runs before inference.</a:t>
            </a:r>
          </a:p>
          <a:p xmlns:a="http://schemas.openxmlformats.org/drawingml/2006/main">
            <a:r>
              <a:t>3. A stale or missing rule produces an explicit limitation.</a:t>
            </a:r>
          </a:p>
          <a:p xmlns:a="http://schemas.openxmlformats.org/drawingml/2006/main">
            <a:r>
              <a:t/>
            </a:r>
          </a:p>
          <a:p xmlns:a="http://schemas.openxmlformats.org/drawingml/2006/main">
            <a:r>
              <a:t>COURSE STATUS</a:t>
            </a:r>
          </a:p>
          <a:p xmlns:a="http://schemas.openxmlformats.org/drawingml/2006/main">
            <a:r>
              <a:t>Lab target. This describes course work, not a claim that the baseline repository already implements it.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PLAN</a:t>
            </a:r>
          </a:p>
          <a:p xmlns:a="http://schemas.openxmlformats.org/drawingml/2006/main">
            <a:r>
              <a:t>Allocate 3 hours: 25 minutes of concepts, 35 minutes of guided code, 70 minutes of lab work, 30 minutes of review, and 20 minutes for discussion or breaks. Adjust the suggested timings to the cohort. The lab acceptance criteria matter more than the number of slides.</a:t>
            </a:r>
          </a:p>
          <a:p xmlns:a="http://schemas.openxmlformats.org/drawingml/2006/main">
            <a:r>
              <a:t>MODULE OUTCOME</a:t>
            </a:r>
          </a:p>
          <a:p xmlns:a="http://schemas.openxmlformats.org/drawingml/2006/main">
            <a:r>
              <a:t>Explicit control over specialist work and external capabilities</a:t>
            </a:r>
          </a:p>
          <a:p xmlns:a="http://schemas.openxmlformats.org/drawingml/2006/main">
            <a:r>
              <a:t/>
            </a:r>
          </a:p>
          <a:p xmlns:a="http://schemas.openxmlformats.org/drawingml/2006/main">
            <a:r>
              <a:t>COURSE STATUS</a:t>
            </a:r>
          </a:p>
          <a:p xmlns:a="http://schemas.openxmlformats.org/drawingml/2006/main">
            <a:r>
              <a:t>Engineering design.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The coordinator uses the latest raw prompt rather than the enriched conversation for routing. One agent executes per request. These cases demonstrate the limits of a hand-written substring classifier. They do not prove that a model-based router is automatically better. Require an evaluation corpus before replacing routing, and retain deterministic routing for explicit application actions.</a:t>
            </a:r>
          </a:p>
          <a:p xmlns:a="http://schemas.openxmlformats.org/drawingml/2006/main">
            <a:r>
              <a:t/>
            </a:r>
          </a:p>
          <a:p xmlns:a="http://schemas.openxmlformats.org/drawingml/2006/main">
            <a:r>
              <a:t>COURSE STATUS</a:t>
            </a:r>
          </a:p>
          <a:p xmlns:a="http://schemas.openxmlformats.org/drawingml/2006/main">
            <a:r>
              <a:t>Existing implementation. </a:t>
            </a:r>
          </a:p>
          <a:p xmlns:a="http://schemas.openxmlformats.org/drawingml/2006/main">
            <a:r>
              <a:t/>
            </a:r>
          </a:p>
          <a:p xmlns:a="http://schemas.openxmlformats.org/drawingml/2006/main">
            <a:r>
              <a:t>SOURCES</a:t>
            </a:r>
          </a:p>
          <a:p xmlns:a="http://schemas.openxmlformats.org/drawingml/2006/main">
            <a:r>
              <a:t>src/InvoiceApp.AI/Coordinator/AgentCoordinator.cs:111</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These are framework-supported pattern families. They carry different state, termination, and cost implications. For the core capstone, choose the simplest explicit workflow that meets the business requirement. A group chat is an optional comparison, not a requirement for a billing lookup. Make completion criteria and maximum work explicit before enabling open-ended coordination.</a:t>
            </a:r>
          </a:p>
          <a:p xmlns:a="http://schemas.openxmlformats.org/drawingml/2006/main">
            <a:r>
              <a:t/>
            </a:r>
          </a:p>
          <a:p xmlns:a="http://schemas.openxmlformats.org/drawingml/2006/main">
            <a:r>
              <a:t>COURSE STATUS</a:t>
            </a:r>
          </a:p>
          <a:p xmlns:a="http://schemas.openxmlformats.org/drawingml/2006/main">
            <a:r>
              <a:t>Framework patterns. Code is a condensed teaching pattern. Supply the named host dependencies and use the pinned SDK's exact overloads in the lab project. </a:t>
            </a:r>
          </a:p>
          <a:p xmlns:a="http://schemas.openxmlformats.org/drawingml/2006/main">
            <a:r>
              <a:t/>
            </a:r>
          </a:p>
          <a:p xmlns:a="http://schemas.openxmlformats.org/drawingml/2006/main">
            <a:r>
              <a:t>SOURCES</a:t>
            </a:r>
          </a:p>
          <a:p xmlns:a="http://schemas.openxmlformats.org/drawingml/2006/main">
            <a:r>
              <a:t>Orchestration patterns</a:t>
            </a:r>
          </a:p>
          <a:p xmlns:a="http://schemas.openxmlformats.org/drawingml/2006/main">
            <a:r>
              <a:t>https://learn.microsoft.com/agent-framework/workflows/orchestrations/</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This intentionally stops before a version-sensitive complete executor implementation. Students create typed executors and run the graph using the selected SDK sample. Some steps are deterministic code and one may use an agent. A graph provides explicit control but does not automatically define database transaction or idempotency semantics. Explain output and event handling as separate concerns.</a:t>
            </a:r>
          </a:p>
          <a:p xmlns:a="http://schemas.openxmlformats.org/drawingml/2006/main">
            <a:r>
              <a:t/>
            </a:r>
          </a:p>
          <a:p xmlns:a="http://schemas.openxmlformats.org/drawingml/2006/main">
            <a:r>
              <a:t>COURSE STATUS</a:t>
            </a:r>
          </a:p>
          <a:p xmlns:a="http://schemas.openxmlformats.org/drawingml/2006/main">
            <a:r>
              <a:t>Framework code pattern. Code is a condensed teaching pattern. Supply the named host dependencies and use the pinned SDK's exact overloads in the lab project. </a:t>
            </a:r>
          </a:p>
          <a:p xmlns:a="http://schemas.openxmlformats.org/drawingml/2006/main">
            <a:r>
              <a:t/>
            </a:r>
          </a:p>
          <a:p xmlns:a="http://schemas.openxmlformats.org/drawingml/2006/main">
            <a:r>
              <a:t>SOURCES</a:t>
            </a:r>
          </a:p>
          <a:p xmlns:a="http://schemas.openxmlformats.org/drawingml/2006/main">
            <a:r>
              <a:t>WorkflowBuilder</a:t>
            </a:r>
          </a:p>
          <a:p xmlns:a="http://schemas.openxmlformats.org/drawingml/2006/main">
            <a:r>
              <a:t>https://learn.microsoft.com/agent-framework/workflows/workflows</a:t>
            </a:r>
          </a:p>
          <a:p xmlns:a="http://schemas.openxmlformats.org/drawingml/2006/main">
            <a:r>
              <a:t/>
            </a:r>
          </a:p>
          <a:p xmlns:a="http://schemas.openxmlformats.org/drawingml/2006/main">
            <a:r>
              <a:t>Workflow concepts</a:t>
            </a:r>
          </a:p>
          <a:p xmlns:a="http://schemas.openxmlformats.org/drawingml/2006/main">
            <a:r>
              <a:t>https://learn.microsoft.com/en-us/agent-framework/concepts/workflows/</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This is the proposed application workflow. The request first reads the invoice, produces a concrete transition proposal, and waits for a human decision. Approval is followed by a fresh authorization and domain-state check. The commit step uses application idempotency and an audit event. Rejecting the decision performs no write. Those application guarantees are not created simply by drawing the workflow.</a:t>
            </a:r>
          </a:p>
          <a:p xmlns:a="http://schemas.openxmlformats.org/drawingml/2006/main">
            <a:r>
              <a:t>ASK</a:t>
            </a:r>
          </a:p>
          <a:p xmlns:a="http://schemas.openxmlformats.org/drawingml/2006/main">
            <a:r>
              <a:t>Which data must bind the approval to this exact action?</a:t>
            </a:r>
          </a:p>
          <a:p xmlns:a="http://schemas.openxmlformats.org/drawingml/2006/main">
            <a:r>
              <a:t>VISUAL</a:t>
            </a:r>
          </a:p>
          <a:p xmlns:a="http://schemas.openxmlformats.org/drawingml/2006/main">
            <a:r>
              <a:t>Generated conceptual workflow illustration.</a:t>
            </a:r>
          </a:p>
          <a:p xmlns:a="http://schemas.openxmlformats.org/drawingml/2006/main">
            <a:r>
              <a:t/>
            </a:r>
          </a:p>
          <a:p xmlns:a="http://schemas.openxmlformats.org/drawingml/2006/main">
            <a:r>
              <a:t>COURSE STATUS</a:t>
            </a:r>
          </a:p>
          <a:p xmlns:a="http://schemas.openxmlformats.org/drawingml/2006/main">
            <a:r>
              <a:t>Capstone target. This describes course work, not a claim that the baseline repository already implements it. </a:t>
            </a:r>
          </a:p>
          <a:p xmlns:a="http://schemas.openxmlformats.org/drawingml/2006/main">
            <a:r>
              <a:t/>
            </a:r>
          </a:p>
          <a:p xmlns:a="http://schemas.openxmlformats.org/drawingml/2006/main">
            <a:r>
              <a:t>SOURCES</a:t>
            </a:r>
          </a:p>
          <a:p xmlns:a="http://schemas.openxmlformats.org/drawingml/2006/main">
            <a:r>
              <a:t>Workflow human input</a:t>
            </a:r>
          </a:p>
          <a:p xmlns:a="http://schemas.openxmlformats.org/drawingml/2006/main">
            <a:r>
              <a:t>https://learn.microsoft.com/en-us/agent-framework/workflows/human-in-the-loop</a:t>
            </a:r>
          </a:p>
          <a:p xmlns:a="http://schemas.openxmlformats.org/drawingml/2006/main">
            <a:r>
              <a:t/>
            </a:r>
          </a:p>
          <a:p xmlns:a="http://schemas.openxmlformats.org/drawingml/2006/main">
            <a:r>
              <a:t>src/InvoiceApp.Domain/Entities/Invoice.cs:147</a:t>
            </a:r>
          </a:p>
          <a:p xmlns:a="http://schemas.openxmlformats.org/drawingml/2006/main">
            <a:r>
              <a:t/>
            </a:r>
          </a:p>
          <a:p xmlns:a="http://schemas.openxmlformats.org/drawingml/2006/main">
            <a:r>
              <a:t>src/InvoiceApp.Application/Features/Invoices/Commands/UpdateInvoiceStatus/UpdateInvoiceStatusCommand.cs:40</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Discuss standard workflow checkpoints separately from Durable Task hosting. Store availability and runtime behavior vary by language and package, so verify the .NET storage APIs in the pinned version. Checkpointing execution state does not establish exactly-once external effects. A crash after a successful database write still needs an application-level deduplication strategy.</a:t>
            </a:r>
          </a:p>
          <a:p xmlns:a="http://schemas.openxmlformats.org/drawingml/2006/main">
            <a:r>
              <a:t/>
            </a:r>
          </a:p>
          <a:p xmlns:a="http://schemas.openxmlformats.org/drawingml/2006/main">
            <a:r>
              <a:t>COURSE STATUS</a:t>
            </a:r>
          </a:p>
          <a:p xmlns:a="http://schemas.openxmlformats.org/drawingml/2006/main">
            <a:r>
              <a:t>Workflow design. </a:t>
            </a:r>
          </a:p>
          <a:p xmlns:a="http://schemas.openxmlformats.org/drawingml/2006/main">
            <a:r>
              <a:t/>
            </a:r>
          </a:p>
          <a:p xmlns:a="http://schemas.openxmlformats.org/drawingml/2006/main">
            <a:r>
              <a:t>SOURCES</a:t>
            </a:r>
          </a:p>
          <a:p xmlns:a="http://schemas.openxmlformats.org/drawingml/2006/main">
            <a:r>
              <a:t>Workflow checkpoints</a:t>
            </a:r>
          </a:p>
          <a:p xmlns:a="http://schemas.openxmlformats.org/drawingml/2006/main">
            <a:r>
              <a:t>https://learn.microsoft.com/en-us/agent-framework/workflows/checkpoints</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Use a documentation specialist as the example. The outer agent delegates a well-defined question and receives an answer with evidence. Do not assume every child automatically inherits the parent's history or security state. Interactive or delayed approval may be better represented as a workflow. Keep cross-agent traces tied to the parent run so a reviewer can understand the work.</a:t>
            </a:r>
          </a:p>
          <a:p xmlns:a="http://schemas.openxmlformats.org/drawingml/2006/main">
            <a:r>
              <a:t/>
            </a:r>
          </a:p>
          <a:p xmlns:a="http://schemas.openxmlformats.org/drawingml/2006/main">
            <a:r>
              <a:t>COURSE STATUS</a:t>
            </a:r>
          </a:p>
          <a:p xmlns:a="http://schemas.openxmlformats.org/drawingml/2006/main">
            <a:r>
              <a:t>Composition option. </a:t>
            </a:r>
          </a:p>
          <a:p xmlns:a="http://schemas.openxmlformats.org/drawingml/2006/main">
            <a:r>
              <a:t/>
            </a:r>
          </a:p>
          <a:p xmlns:a="http://schemas.openxmlformats.org/drawingml/2006/main">
            <a:r>
              <a:t>SOURCES</a:t>
            </a:r>
          </a:p>
          <a:p xmlns:a="http://schemas.openxmlformats.org/drawingml/2006/main">
            <a:r>
              <a:t>Agents as tools</a:t>
            </a:r>
          </a:p>
          <a:p xmlns:a="http://schemas.openxmlformats.org/drawingml/2006/main">
            <a:r>
              <a:t>https://learn.microsoft.com/en-us/agent-framework/journey/agents-as-tools</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These protocols solve different integration problems and none is required merely to call a local invoice method. MCP introduces a new tool/service trust boundary. A2A adds remote-agent lifecycle and identity concerns. AG-UI is a user-interface event protocol. Select protocols based on the consumer, not because they are available. Review external services and data disclosure before enabling them.</a:t>
            </a:r>
          </a:p>
          <a:p xmlns:a="http://schemas.openxmlformats.org/drawingml/2006/main">
            <a:r>
              <a:t/>
            </a:r>
          </a:p>
          <a:p xmlns:a="http://schemas.openxmlformats.org/drawingml/2006/main">
            <a:r>
              <a:t>COURSE STATUS</a:t>
            </a:r>
          </a:p>
          <a:p xmlns:a="http://schemas.openxmlformats.org/drawingml/2006/main">
            <a:r>
              <a:t>Interoperability options. </a:t>
            </a:r>
          </a:p>
          <a:p xmlns:a="http://schemas.openxmlformats.org/drawingml/2006/main">
            <a:r>
              <a:t/>
            </a:r>
          </a:p>
          <a:p xmlns:a="http://schemas.openxmlformats.org/drawingml/2006/main">
            <a:r>
              <a:t>SOURCES</a:t>
            </a:r>
          </a:p>
          <a:p xmlns:a="http://schemas.openxmlformats.org/drawingml/2006/main">
            <a:r>
              <a:t>MCP integration</a:t>
            </a:r>
          </a:p>
          <a:p xmlns:a="http://schemas.openxmlformats.org/drawingml/2006/main">
            <a:r>
              <a:t>https://learn.microsoft.com/en-us/agent-framework/agents/tools/local-mcp-tools</a:t>
            </a:r>
          </a:p>
          <a:p xmlns:a="http://schemas.openxmlformats.org/drawingml/2006/main">
            <a:r>
              <a:t/>
            </a:r>
          </a:p>
          <a:p xmlns:a="http://schemas.openxmlformats.org/drawingml/2006/main">
            <a:r>
              <a:t>A2A hosting</a:t>
            </a:r>
          </a:p>
          <a:p xmlns:a="http://schemas.openxmlformats.org/drawingml/2006/main">
            <a:r>
              <a:t>https://learn.microsoft.com/en-us/agent-framework/hosting/self-hosting/a2a</a:t>
            </a:r>
          </a:p>
          <a:p xmlns:a="http://schemas.openxmlformats.org/drawingml/2006/main">
            <a:r>
              <a:t/>
            </a:r>
          </a:p>
          <a:p xmlns:a="http://schemas.openxmlformats.org/drawingml/2006/main">
            <a:r>
              <a:t>AG-UI overview</a:t>
            </a:r>
          </a:p>
          <a:p xmlns:a="http://schemas.openxmlformats.org/drawingml/2006/main">
            <a:r>
              <a:t>https://learn.microsoft.com/en-us/agent-framework/integrations/ag-ui/</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The framework includes skills and a more opinionated harness. Present these as advanced capabilities rather than mandatory capstone dependencies. A reviewed billing-explanation skill could package knowledge, but scripts and filesystem access introduce operational risk. The harness is useful for longer tasks; a short balance query generally needs much less machinery. Confirm current .NET support and approval defaults in the course version.</a:t>
            </a:r>
          </a:p>
          <a:p xmlns:a="http://schemas.openxmlformats.org/drawingml/2006/main">
            <a:r>
              <a:t/>
            </a:r>
          </a:p>
          <a:p xmlns:a="http://schemas.openxmlformats.org/drawingml/2006/main">
            <a:r>
              <a:t>COURSE STATUS</a:t>
            </a:r>
          </a:p>
          <a:p xmlns:a="http://schemas.openxmlformats.org/drawingml/2006/main">
            <a:r>
              <a:t>Advanced extension. </a:t>
            </a:r>
          </a:p>
          <a:p xmlns:a="http://schemas.openxmlformats.org/drawingml/2006/main">
            <a:r>
              <a:t/>
            </a:r>
          </a:p>
          <a:p xmlns:a="http://schemas.openxmlformats.org/drawingml/2006/main">
            <a:r>
              <a:t>SOURCES</a:t>
            </a:r>
          </a:p>
          <a:p xmlns:a="http://schemas.openxmlformats.org/drawingml/2006/main">
            <a:r>
              <a:t>Agent Skills</a:t>
            </a:r>
          </a:p>
          <a:p xmlns:a="http://schemas.openxmlformats.org/drawingml/2006/main">
            <a:r>
              <a:t>https://learn.microsoft.com/en-us/agent-framework/agents/skills</a:t>
            </a:r>
          </a:p>
          <a:p xmlns:a="http://schemas.openxmlformats.org/drawingml/2006/main">
            <a:r>
              <a:t/>
            </a:r>
          </a:p>
          <a:p xmlns:a="http://schemas.openxmlformats.org/drawingml/2006/main">
            <a:r>
              <a:t>Harness Agent</a:t>
            </a:r>
          </a:p>
          <a:p xmlns:a="http://schemas.openxmlformats.org/drawingml/2006/main">
            <a:r>
              <a:t>https://learn.microsoft.com/agent-framework/get-started/harness</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Suggested lab: 70 minutes. Use a proposal record containing invoice ID, current status, target status, actor, and operation ID. The core lab may stop before commit, with the protected command added in module 8. Include a rejected decision and a simulated interruption. If teams compare orchestration patterns, require a justification for any added agents or parallel execution.</a:t>
            </a:r>
          </a:p>
          <a:p xmlns:a="http://schemas.openxmlformats.org/drawingml/2006/main">
            <a:r>
              <a:t>IMPLEMENTATION TASKS</a:t>
            </a:r>
          </a:p>
          <a:p xmlns:a="http://schemas.openxmlformats.org/drawingml/2006/main">
            <a:r>
              <a:t>1. Build a typed read, proposal, and review sequence.</a:t>
            </a:r>
          </a:p>
          <a:p xmlns:a="http://schemas.openxmlformats.org/drawingml/2006/main">
            <a:r>
              <a:t>2. Define explicit success, rejection, and failure outputs.</a:t>
            </a:r>
          </a:p>
          <a:p xmlns:a="http://schemas.openxmlformats.org/drawingml/2006/main">
            <a:r>
              <a:t>3. Pause for a decision and exercise a resume path.</a:t>
            </a:r>
          </a:p>
          <a:p xmlns:a="http://schemas.openxmlformats.org/drawingml/2006/main">
            <a:r>
              <a:t>ACCEPTANCE EVIDENCE</a:t>
            </a:r>
          </a:p>
          <a:p xmlns:a="http://schemas.openxmlformats.org/drawingml/2006/main">
            <a:r>
              <a:t>1. An unapproved proposal performs no write.</a:t>
            </a:r>
          </a:p>
          <a:p xmlns:a="http://schemas.openxmlformats.org/drawingml/2006/main">
            <a:r>
              <a:t>2. The workflow has a bounded completion condition.</a:t>
            </a:r>
          </a:p>
          <a:p xmlns:a="http://schemas.openxmlformats.org/drawingml/2006/main">
            <a:r>
              <a:t>3. A resumed action rechecks mutable business facts.</a:t>
            </a:r>
          </a:p>
          <a:p xmlns:a="http://schemas.openxmlformats.org/drawingml/2006/main">
            <a:r>
              <a:t/>
            </a:r>
          </a:p>
          <a:p xmlns:a="http://schemas.openxmlformats.org/drawingml/2006/main">
            <a:r>
              <a:t>COURSE STATUS</a:t>
            </a:r>
          </a:p>
          <a:p xmlns:a="http://schemas.openxmlformats.org/drawingml/2006/main">
            <a:r>
              <a:t>Lab target. This describes course work, not a claim that the baseline repository already implements it.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PLAN</a:t>
            </a:r>
          </a:p>
          <a:p xmlns:a="http://schemas.openxmlformats.org/drawingml/2006/main">
            <a:r>
              <a:t>Allocate 3 hours: 25 minutes of concepts, 35 minutes of guided code, 70 minutes of lab work, 30 minutes of review, and 20 minutes for discussion or breaks. Adjust the suggested timings to the cohort. The lab acceptance criteria matter more than the number of slides.</a:t>
            </a:r>
          </a:p>
          <a:p xmlns:a="http://schemas.openxmlformats.org/drawingml/2006/main">
            <a:r>
              <a:t>MODULE OUTCOME</a:t>
            </a:r>
          </a:p>
          <a:p xmlns:a="http://schemas.openxmlformats.org/drawingml/2006/main">
            <a:r>
              <a:t>A stable server boundary with real execution events</a:t>
            </a:r>
          </a:p>
          <a:p xmlns:a="http://schemas.openxmlformats.org/drawingml/2006/main">
            <a:r>
              <a:t/>
            </a:r>
          </a:p>
          <a:p xmlns:a="http://schemas.openxmlformats.org/drawingml/2006/main">
            <a:r>
              <a:t>COURSE STATUS</a:t>
            </a:r>
          </a:p>
          <a:p xmlns:a="http://schemas.openxmlformats.org/drawingml/2006/main">
            <a:r>
              <a:t>Engineering design.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The current endpoint validates a non-empty message and creates a short conversation ID if missing. It returns HTTP 200 after the coordinator returns even when agent IsSuccess is false. The target contract should represent pending approval and business outcomes explicitly. Decide on compatibility or versioning before replacing the response model. A continuation ID must never serve as authorization.</a:t>
            </a:r>
          </a:p>
          <a:p xmlns:a="http://schemas.openxmlformats.org/drawingml/2006/main">
            <a:r>
              <a:t/>
            </a:r>
          </a:p>
          <a:p xmlns:a="http://schemas.openxmlformats.org/drawingml/2006/main">
            <a:r>
              <a:t>COURSE STATUS</a:t>
            </a:r>
          </a:p>
          <a:p xmlns:a="http://schemas.openxmlformats.org/drawingml/2006/main">
            <a:r>
              <a:t>Existing contract and target. This describes course work, not a claim that the baseline repository already implements it. </a:t>
            </a:r>
          </a:p>
          <a:p xmlns:a="http://schemas.openxmlformats.org/drawingml/2006/main">
            <a:r>
              <a:t/>
            </a:r>
          </a:p>
          <a:p xmlns:a="http://schemas.openxmlformats.org/drawingml/2006/main">
            <a:r>
              <a:t>SOURCES</a:t>
            </a:r>
          </a:p>
          <a:p xmlns:a="http://schemas.openxmlformats.org/drawingml/2006/main">
            <a:r>
              <a:t>src/InvoiceApp.Api/Endpoints/AiEndpoints.cs:21</a:t>
            </a:r>
          </a:p>
          <a:p xmlns:a="http://schemas.openxmlformats.org/drawingml/2006/main">
            <a:r>
              <a:t/>
            </a:r>
          </a:p>
          <a:p xmlns:a="http://schemas.openxmlformats.org/drawingml/2006/main">
            <a:r>
              <a:t>src/InvoiceApp.AI/Agents/AgentModels.cs:10</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These are proposed application types, not new framework APIs. They avoid forcing the existing MVC application to understand every provider-specific response. Discuss an async event-stream overload for streaming. The adapter can preserve the existing HTTP contract during a staged migration. The implementation must keep request scope alive while tools execute and should persist any required run state before returning.</a:t>
            </a:r>
          </a:p>
          <a:p xmlns:a="http://schemas.openxmlformats.org/drawingml/2006/main">
            <a:r>
              <a:t/>
            </a:r>
          </a:p>
          <a:p xmlns:a="http://schemas.openxmlformats.org/drawingml/2006/main">
            <a:r>
              <a:t>COURSE STATUS</a:t>
            </a:r>
          </a:p>
          <a:p xmlns:a="http://schemas.openxmlformats.org/drawingml/2006/main">
            <a:r>
              <a:t>Capstone code design. Code is a condensed teaching pattern. Supply the named host dependencies and use the pinned SDK's exact overloads in the lab project. </a:t>
            </a:r>
          </a:p>
          <a:p xmlns:a="http://schemas.openxmlformats.org/drawingml/2006/main">
            <a:r>
              <a:t/>
            </a:r>
          </a:p>
          <a:p xmlns:a="http://schemas.openxmlformats.org/drawingml/2006/main">
            <a:r>
              <a:t>SOURCES</a:t>
            </a:r>
          </a:p>
          <a:p xmlns:a="http://schemas.openxmlformats.org/drawingml/2006/main">
            <a:r>
              <a:t>src/InvoiceApp.Web/Controllers/AiController.cs:44</a:t>
            </a:r>
          </a:p>
          <a:p xmlns:a="http://schemas.openxmlformats.org/drawingml/2006/main">
            <a:r>
              <a:t/>
            </a:r>
          </a:p>
          <a:p xmlns:a="http://schemas.openxmlformats.org/drawingml/2006/main">
            <a:r>
              <a:t>src/InvoiceApp.Web/Services/Ai/AgentFrameworkAiAssistantService.cs:45</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Microsoft's hosting helpers include named agent/workflow registration and optional hosted session storage. They are an integration option, not a replacement for application authentication and authorization. Reuse the existing API host for the core project to minimize deployment changes. Inspect the selected package's scope behavior instead of assuming it matches the baseline scoped custom agents.</a:t>
            </a:r>
          </a:p>
          <a:p xmlns:a="http://schemas.openxmlformats.org/drawingml/2006/main">
            <a:r>
              <a:t/>
            </a:r>
          </a:p>
          <a:p xmlns:a="http://schemas.openxmlformats.org/drawingml/2006/main">
            <a:r>
              <a:t>COURSE STATUS</a:t>
            </a:r>
          </a:p>
          <a:p xmlns:a="http://schemas.openxmlformats.org/drawingml/2006/main">
            <a:r>
              <a:t>Framework hosting option. </a:t>
            </a:r>
          </a:p>
          <a:p xmlns:a="http://schemas.openxmlformats.org/drawingml/2006/main">
            <a:r>
              <a:t/>
            </a:r>
          </a:p>
          <a:p xmlns:a="http://schemas.openxmlformats.org/drawingml/2006/main">
            <a:r>
              <a:t>SOURCES</a:t>
            </a:r>
          </a:p>
          <a:p xmlns:a="http://schemas.openxmlformats.org/drawingml/2006/main">
            <a:r>
              <a:t>Self-hosting</a:t>
            </a:r>
          </a:p>
          <a:p xmlns:a="http://schemas.openxmlformats.org/drawingml/2006/main">
            <a:r>
              <a:t>https://learn.microsoft.com/en-us/agent-framework/hosting/self-hosting</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The current Studio guesses tools from prompt and reply keywords and emits a toolExecuted browser event after a normal reply. Replace that inference with actual execution events. Use stable run, tool-call, and operation IDs. A browser may disconnect after a commit, so refresh business state from the server rather than reissuing the tool request. Sanitize model content before HTML rendering.</a:t>
            </a:r>
          </a:p>
          <a:p xmlns:a="http://schemas.openxmlformats.org/drawingml/2006/main">
            <a:r>
              <a:t/>
            </a:r>
          </a:p>
          <a:p xmlns:a="http://schemas.openxmlformats.org/drawingml/2006/main">
            <a:r>
              <a:t>COURSE STATUS</a:t>
            </a:r>
          </a:p>
          <a:p xmlns:a="http://schemas.openxmlformats.org/drawingml/2006/main">
            <a:r>
              <a:t>Capstone target. This describes course work, not a claim that the baseline repository already implements it. </a:t>
            </a:r>
          </a:p>
          <a:p xmlns:a="http://schemas.openxmlformats.org/drawingml/2006/main">
            <a:r>
              <a:t/>
            </a:r>
          </a:p>
          <a:p xmlns:a="http://schemas.openxmlformats.org/drawingml/2006/main">
            <a:r>
              <a:t>SOURCES</a:t>
            </a:r>
          </a:p>
          <a:p xmlns:a="http://schemas.openxmlformats.org/drawingml/2006/main">
            <a:r>
              <a:t>src/InvoiceApp.Web/wwwroot/js/studio-chat.js:294</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This is the documented basic hosting pattern with a course-selected route. It is an optional alternative to a custom SSE adapter. Verify the exact prerelease hosting package and configure persisted hosted sessions when continuity must survive requests. The existing MVC proxy may need to forward streaming instead of buffering JSON. Do not claim that adding the route alone preserves sessions or enforces business permissions.</a:t>
            </a:r>
          </a:p>
          <a:p xmlns:a="http://schemas.openxmlformats.org/drawingml/2006/main">
            <a:r>
              <a:t/>
            </a:r>
          </a:p>
          <a:p xmlns:a="http://schemas.openxmlformats.org/drawingml/2006/main">
            <a:r>
              <a:t>COURSE STATUS</a:t>
            </a:r>
          </a:p>
          <a:p xmlns:a="http://schemas.openxmlformats.org/drawingml/2006/main">
            <a:r>
              <a:t>Framework code pattern. Code is a condensed teaching pattern. Supply the named host dependencies and use the pinned SDK's exact overloads in the lab project. </a:t>
            </a:r>
          </a:p>
          <a:p xmlns:a="http://schemas.openxmlformats.org/drawingml/2006/main">
            <a:r>
              <a:t/>
            </a:r>
          </a:p>
          <a:p xmlns:a="http://schemas.openxmlformats.org/drawingml/2006/main">
            <a:r>
              <a:t>SOURCES</a:t>
            </a:r>
          </a:p>
          <a:p xmlns:a="http://schemas.openxmlformats.org/drawingml/2006/main">
            <a:r>
              <a:t>AG-UI hosting setup</a:t>
            </a:r>
          </a:p>
          <a:p xmlns:a="http://schemas.openxmlformats.org/drawingml/2006/main">
            <a:r>
              <a:t>https://learn.microsoft.com/en-us/agent-framework/integrations/by-component/ui/ag-ui/getting-started</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Distinguish a provider continuation token from a durable workflow checkpoint and from the application's operation ID. Their lifecycles differ. The Durable Extension can support Azure Functions or other worker hosting, but it introduces deployment and operational choices beyond the core HTTP integration. Do not imply that every agent or provider supports background responses.</a:t>
            </a:r>
          </a:p>
          <a:p xmlns:a="http://schemas.openxmlformats.org/drawingml/2006/main">
            <a:r>
              <a:t/>
            </a:r>
          </a:p>
          <a:p xmlns:a="http://schemas.openxmlformats.org/drawingml/2006/main">
            <a:r>
              <a:t>COURSE STATUS</a:t>
            </a:r>
          </a:p>
          <a:p xmlns:a="http://schemas.openxmlformats.org/drawingml/2006/main">
            <a:r>
              <a:t>Hosting choices. </a:t>
            </a:r>
          </a:p>
          <a:p xmlns:a="http://schemas.openxmlformats.org/drawingml/2006/main">
            <a:r>
              <a:t/>
            </a:r>
          </a:p>
          <a:p xmlns:a="http://schemas.openxmlformats.org/drawingml/2006/main">
            <a:r>
              <a:t>SOURCES</a:t>
            </a:r>
          </a:p>
          <a:p xmlns:a="http://schemas.openxmlformats.org/drawingml/2006/main">
            <a:r>
              <a:t>Background responses</a:t>
            </a:r>
          </a:p>
          <a:p xmlns:a="http://schemas.openxmlformats.org/drawingml/2006/main">
            <a:r>
              <a:t>https://learn.microsoft.com/en-us/agent-framework/agents/background-responses</a:t>
            </a:r>
          </a:p>
          <a:p xmlns:a="http://schemas.openxmlformats.org/drawingml/2006/main">
            <a:r>
              <a:t/>
            </a:r>
          </a:p>
          <a:p xmlns:a="http://schemas.openxmlformats.org/drawingml/2006/main">
            <a:r>
              <a:t>Durable Extension</a:t>
            </a:r>
          </a:p>
          <a:p xmlns:a="http://schemas.openxmlformats.org/drawingml/2006/main">
            <a:r>
              <a:t>https://learn.microsoft.com/en-us/agent-framework/integrations/azure-functions</a:t>
            </a:r>
          </a:p>
          <a:p xmlns:a="http://schemas.openxmlformats.org/drawingml/2006/main">
            <a:r>
              <a:t/>
            </a:r>
          </a:p>
          <a:p xmlns:a="http://schemas.openxmlformats.org/drawingml/2006/main">
            <a:r>
              <a:t>Hosting models</a:t>
            </a:r>
          </a:p>
          <a:p xmlns:a="http://schemas.openxmlformats.org/drawingml/2006/main">
            <a:r>
              <a:t>https://learn.microsoft.com/en-us/agent-framework/hosting/</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Suggested lab: 70 minutes. Teams can retain the current MVC chat UI and use a custom event contract, or use the AG-UI option. Keep the first end-to-end slice read-only. Simulate a disconnected client and reload the final run outcome. Require an explicit decision about what a cancelled request means and which server work can continue.</a:t>
            </a:r>
          </a:p>
          <a:p xmlns:a="http://schemas.openxmlformats.org/drawingml/2006/main">
            <a:r>
              <a:t>IMPLEMENTATION TASKS</a:t>
            </a:r>
          </a:p>
          <a:p xmlns:a="http://schemas.openxmlformats.org/drawingml/2006/main">
            <a:r>
              <a:t>1. Connect the framework adapter to the AI API.</a:t>
            </a:r>
          </a:p>
          <a:p xmlns:a="http://schemas.openxmlformats.org/drawingml/2006/main">
            <a:r>
              <a:t>2. Preserve a session across two web requests.</a:t>
            </a:r>
          </a:p>
          <a:p xmlns:a="http://schemas.openxmlformats.org/drawingml/2006/main">
            <a:r>
              <a:t>3. Render actual run and tool events or a consistent JSON result.</a:t>
            </a:r>
          </a:p>
          <a:p xmlns:a="http://schemas.openxmlformats.org/drawingml/2006/main">
            <a:r>
              <a:t>ACCEPTANCE EVIDENCE</a:t>
            </a:r>
          </a:p>
          <a:p xmlns:a="http://schemas.openxmlformats.org/drawingml/2006/main">
            <a:r>
              <a:t>1. The browser uses server-issued identifiers.</a:t>
            </a:r>
          </a:p>
          <a:p xmlns:a="http://schemas.openxmlformats.org/drawingml/2006/main">
            <a:r>
              <a:t>2. A read failure is visible as a failure.</a:t>
            </a:r>
          </a:p>
          <a:p xmlns:a="http://schemas.openxmlformats.org/drawingml/2006/main">
            <a:r>
              <a:t>3. The answer and event stream share one run ID.</a:t>
            </a:r>
          </a:p>
          <a:p xmlns:a="http://schemas.openxmlformats.org/drawingml/2006/main">
            <a:r>
              <a:t/>
            </a:r>
          </a:p>
          <a:p xmlns:a="http://schemas.openxmlformats.org/drawingml/2006/main">
            <a:r>
              <a:t>COURSE STATUS</a:t>
            </a:r>
          </a:p>
          <a:p xmlns:a="http://schemas.openxmlformats.org/drawingml/2006/main">
            <a:r>
              <a:t>Lab target. This describes course work, not a claim that the baseline repository already implements it.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PLAN</a:t>
            </a:r>
          </a:p>
          <a:p xmlns:a="http://schemas.openxmlformats.org/drawingml/2006/main">
            <a:r>
              <a:t>Allocate 3 hours: 25 minutes of concepts, 35 minutes of guided code, 70 minutes of lab work, 30 minutes of review, and 20 minutes for discussion or breaks. Adjust the suggested timings to the cohort. The lab acceptance criteria matter more than the number of slides.</a:t>
            </a:r>
          </a:p>
          <a:p xmlns:a="http://schemas.openxmlformats.org/drawingml/2006/main">
            <a:r>
              <a:t>MODULE OUTCOME</a:t>
            </a:r>
          </a:p>
          <a:p xmlns:a="http://schemas.openxmlformats.org/drawingml/2006/main">
            <a:r>
              <a:t>Permissions and decisions enforced before state changes</a:t>
            </a:r>
          </a:p>
          <a:p xmlns:a="http://schemas.openxmlformats.org/drawingml/2006/main">
            <a:r>
              <a:t/>
            </a:r>
          </a:p>
          <a:p xmlns:a="http://schemas.openxmlformats.org/drawingml/2006/main">
            <a:r>
              <a:t>COURSE STATUS</a:t>
            </a:r>
          </a:p>
          <a:p xmlns:a="http://schemas.openxmlformats.org/drawingml/2006/main">
            <a:r>
              <a:t>Engineering design.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Use a concrete invoice note containing an instruction to export customer details as the threat scenario. The text is data, even when it looks like a system message. The model can be manipulated, so permission checks must be independent of model compliance. Classify data leaving the API for the model, telemetry, and any external connector.</a:t>
            </a:r>
          </a:p>
          <a:p xmlns:a="http://schemas.openxmlformats.org/drawingml/2006/main">
            <a:r>
              <a:t/>
            </a:r>
          </a:p>
          <a:p xmlns:a="http://schemas.openxmlformats.org/drawingml/2006/main">
            <a:r>
              <a:t>COURSE STATUS</a:t>
            </a:r>
          </a:p>
          <a:p xmlns:a="http://schemas.openxmlformats.org/drawingml/2006/main">
            <a:r>
              <a:t>Threat-model exercise. </a:t>
            </a:r>
          </a:p>
          <a:p xmlns:a="http://schemas.openxmlformats.org/drawingml/2006/main">
            <a:r>
              <a:t/>
            </a:r>
          </a:p>
          <a:p xmlns:a="http://schemas.openxmlformats.org/drawingml/2006/main">
            <a:r>
              <a:t>SOURCES</a:t>
            </a:r>
          </a:p>
          <a:p xmlns:a="http://schemas.openxmlformats.org/drawingml/2006/main">
            <a:r>
              <a:t>AIAgent trust boundaries</a:t>
            </a:r>
          </a:p>
          <a:p xmlns:a="http://schemas.openxmlformats.org/drawingml/2006/main">
            <a:r>
              <a:t>https://learn.microsoft.com/en-us/dotnet/api/microsoft.agents.ai.aiagent?view=agent-framework-dotnet-latest</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The inspected API Program and AI mapping do not implement a complete authenticated, tenant-scoped tool boundary. Treat the following controls as capstone work. Do not let the model choose a user ID or supply an unrestricted tenant ID. A UI antiforgery token protects a different concern from authorization. Add deterministic cross-tenant tests for both direct endpoint and tool execution paths.</a:t>
            </a:r>
          </a:p>
          <a:p xmlns:a="http://schemas.openxmlformats.org/drawingml/2006/main">
            <a:r>
              <a:t/>
            </a:r>
          </a:p>
          <a:p xmlns:a="http://schemas.openxmlformats.org/drawingml/2006/main">
            <a:r>
              <a:t>COURSE STATUS</a:t>
            </a:r>
          </a:p>
          <a:p xmlns:a="http://schemas.openxmlformats.org/drawingml/2006/main">
            <a:r>
              <a:t>Capstone requirement. </a:t>
            </a:r>
          </a:p>
          <a:p xmlns:a="http://schemas.openxmlformats.org/drawingml/2006/main">
            <a:r>
              <a:t/>
            </a:r>
          </a:p>
          <a:p xmlns:a="http://schemas.openxmlformats.org/drawingml/2006/main">
            <a:r>
              <a:t>SOURCES</a:t>
            </a:r>
          </a:p>
          <a:p xmlns:a="http://schemas.openxmlformats.org/drawingml/2006/main">
            <a:r>
              <a:t>src/InvoiceApp.Api/Program.cs:30</a:t>
            </a:r>
          </a:p>
          <a:p xmlns:a="http://schemas.openxmlformats.org/drawingml/2006/main">
            <a:r>
              <a:t/>
            </a:r>
          </a:p>
          <a:p xmlns:a="http://schemas.openxmlformats.org/drawingml/2006/main">
            <a:r>
              <a:t>src/InvoiceApp.Api/Endpoints/AiEndpoints.cs:21</a:t>
            </a:r>
          </a:p>
          <a:p xmlns:a="http://schemas.openxmlformats.org/drawingml/2006/main">
            <a:r>
              <a:t/>
            </a:r>
          </a:p>
          <a:p xmlns:a="http://schemas.openxmlformats.org/drawingml/2006/main">
            <a:r>
              <a:t>src/InvoiceApp.AI/Coordinator/AgentCoordinator.cs:72</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Security is a shared responsibility. Defensive prompts can reduce some attacks, but the application should enforce permissions and tool policy regardless of the model's answer. Test direct override prompts and indirect instructions in invoice notes and Markdown. Current Microsoft documentation marks FIDES experimental and Python-only, so it is not a .NET security dependency for this capstone. Use the documented .NET safety and approval approach.</a:t>
            </a:r>
          </a:p>
          <a:p xmlns:a="http://schemas.openxmlformats.org/drawingml/2006/main">
            <a:r>
              <a:t/>
            </a:r>
          </a:p>
          <a:p xmlns:a="http://schemas.openxmlformats.org/drawingml/2006/main">
            <a:r>
              <a:t>COURSE STATUS</a:t>
            </a:r>
          </a:p>
          <a:p xmlns:a="http://schemas.openxmlformats.org/drawingml/2006/main">
            <a:r>
              <a:t>Security design. </a:t>
            </a:r>
          </a:p>
          <a:p xmlns:a="http://schemas.openxmlformats.org/drawingml/2006/main">
            <a:r>
              <a:t/>
            </a:r>
          </a:p>
          <a:p xmlns:a="http://schemas.openxmlformats.org/drawingml/2006/main">
            <a:r>
              <a:t>SOURCES</a:t>
            </a:r>
          </a:p>
          <a:p xmlns:a="http://schemas.openxmlformats.org/drawingml/2006/main">
            <a:r>
              <a:t>Agent safety</a:t>
            </a:r>
          </a:p>
          <a:p xmlns:a="http://schemas.openxmlformats.org/drawingml/2006/main">
            <a:r>
              <a:t>https://learn.microsoft.com/en-gb/agent-framework/agents/safety</a:t>
            </a:r>
          </a:p>
          <a:p xmlns:a="http://schemas.openxmlformats.org/drawingml/2006/main">
            <a:r>
              <a:t/>
            </a:r>
          </a:p>
          <a:p xmlns:a="http://schemas.openxmlformats.org/drawingml/2006/main">
            <a:r>
              <a:t>FIDES status and limitations</a:t>
            </a:r>
          </a:p>
          <a:p xmlns:a="http://schemas.openxmlformats.org/drawingml/2006/main">
            <a:r>
              <a:t>https://learn.microsoft.com/en-us/agent-framework/agents/security</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The documented wrapper makes a function approval-required. The host inspects response content, obtains a decision, and resumes the same session with request.CreateResponse(approved) in a user ChatMessage. Authorization still precedes execution and must be repeated after a delay. Handle every pending request rather than assuming a run has only one approval.</a:t>
            </a:r>
          </a:p>
          <a:p xmlns:a="http://schemas.openxmlformats.org/drawingml/2006/main">
            <a:r>
              <a:t>ASK</a:t>
            </a:r>
          </a:p>
          <a:p xmlns:a="http://schemas.openxmlformats.org/drawingml/2006/main">
            <a:r>
              <a:t>Why should approval bind to the original tool call rather than an editable text description?</a:t>
            </a:r>
          </a:p>
          <a:p xmlns:a="http://schemas.openxmlformats.org/drawingml/2006/main">
            <a:r>
              <a:t/>
            </a:r>
          </a:p>
          <a:p xmlns:a="http://schemas.openxmlformats.org/drawingml/2006/main">
            <a:r>
              <a:t>COURSE STATUS</a:t>
            </a:r>
          </a:p>
          <a:p xmlns:a="http://schemas.openxmlformats.org/drawingml/2006/main">
            <a:r>
              <a:t>Framework code pattern. Code is a condensed teaching pattern. Supply the named host dependencies and use the pinned SDK's exact overloads in the lab project. </a:t>
            </a:r>
          </a:p>
          <a:p xmlns:a="http://schemas.openxmlformats.org/drawingml/2006/main">
            <a:r>
              <a:t/>
            </a:r>
          </a:p>
          <a:p xmlns:a="http://schemas.openxmlformats.org/drawingml/2006/main">
            <a:r>
              <a:t>SOURCES</a:t>
            </a:r>
          </a:p>
          <a:p xmlns:a="http://schemas.openxmlformats.org/drawingml/2006/main">
            <a:r>
              <a:t>Function approval</a:t>
            </a:r>
          </a:p>
          <a:p xmlns:a="http://schemas.openxmlformats.org/drawingml/2006/main">
            <a:r>
              <a:t>https://learn.microsoft.com/en-us/agent-framework/agents/tools/tool-approval</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This is application design beyond the framework approval wrapper. Choose a concurrency token or a versioned compare-and-update strategy appropriate to the database model. A repeated idempotency key must match the original operation payload and actor scope. Save the operation result consistently with the business mutation. Discuss the outbox pattern if external effects follow the commit. Do not promise universal exactly-once delivery.</a:t>
            </a:r>
          </a:p>
          <a:p xmlns:a="http://schemas.openxmlformats.org/drawingml/2006/main">
            <a:r>
              <a:t/>
            </a:r>
          </a:p>
          <a:p xmlns:a="http://schemas.openxmlformats.org/drawingml/2006/main">
            <a:r>
              <a:t>COURSE STATUS</a:t>
            </a:r>
          </a:p>
          <a:p xmlns:a="http://schemas.openxmlformats.org/drawingml/2006/main">
            <a:r>
              <a:t>Capstone requirement. </a:t>
            </a:r>
          </a:p>
          <a:p xmlns:a="http://schemas.openxmlformats.org/drawingml/2006/main">
            <a:r>
              <a:t/>
            </a:r>
          </a:p>
          <a:p xmlns:a="http://schemas.openxmlformats.org/drawingml/2006/main">
            <a:r>
              <a:t>SOURCES</a:t>
            </a:r>
          </a:p>
          <a:p xmlns:a="http://schemas.openxmlformats.org/drawingml/2006/main">
            <a:r>
              <a:t>src/InvoiceApp.Application/Features/Invoices/Commands/UpdateInvoiceStatus/UpdateInvoiceStatusCommand.cs:40</a:t>
            </a:r>
          </a:p>
          <a:p xmlns:a="http://schemas.openxmlformats.org/drawingml/2006/main">
            <a:r>
              <a:t/>
            </a:r>
          </a:p>
          <a:p xmlns:a="http://schemas.openxmlformats.org/drawingml/2006/main">
            <a:r>
              <a:t>src/InvoiceApp.Infrastructure/Persistence/Repositories/UnitOfWork.cs:14</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Have students inventory destinations rather than making a blanket compliance claim. Provider hosting location, storage behavior, and enterprise requirements need review in the actual deployment. An external tool response can carry sensitive data or malicious instructions. Use synthetic training data for demonstrations and red-team cases. Require a data-flow note with the capstone.</a:t>
            </a:r>
          </a:p>
          <a:p xmlns:a="http://schemas.openxmlformats.org/drawingml/2006/main">
            <a:r>
              <a:t/>
            </a:r>
          </a:p>
          <a:p xmlns:a="http://schemas.openxmlformats.org/drawingml/2006/main">
            <a:r>
              <a:t>COURSE STATUS</a:t>
            </a:r>
          </a:p>
          <a:p xmlns:a="http://schemas.openxmlformats.org/drawingml/2006/main">
            <a:r>
              <a:t>Application policy. </a:t>
            </a:r>
          </a:p>
          <a:p xmlns:a="http://schemas.openxmlformats.org/drawingml/2006/main">
            <a:r>
              <a:t/>
            </a:r>
          </a:p>
          <a:p xmlns:a="http://schemas.openxmlformats.org/drawingml/2006/main">
            <a:r>
              <a:t>SOURCES</a:t>
            </a:r>
          </a:p>
          <a:p xmlns:a="http://schemas.openxmlformats.org/drawingml/2006/main">
            <a:r>
              <a:t>MCP integration</a:t>
            </a:r>
          </a:p>
          <a:p xmlns:a="http://schemas.openxmlformats.org/drawingml/2006/main">
            <a:r>
              <a:t>https://learn.microsoft.com/en-us/agent-framework/agents/tools/local-mcp-tools</a:t>
            </a:r>
          </a:p>
          <a:p xmlns:a="http://schemas.openxmlformats.org/drawingml/2006/main">
            <a:r>
              <a:t/>
            </a:r>
          </a:p>
          <a:p xmlns:a="http://schemas.openxmlformats.org/drawingml/2006/main">
            <a:r>
              <a:t>Agent safety</a:t>
            </a:r>
          </a:p>
          <a:p xmlns:a="http://schemas.openxmlformats.org/drawingml/2006/main">
            <a:r>
              <a:t>https://learn.microsoft.com/en-gb/agent-framework/agents/safety</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Suggested lab: 70 minutes. Use disposable records and inspect state before and after each case. Test the command boundary without a model, then exercise the agent approval path. A plain Yes message must not authorize an unrelated operation. Simulate a second actor changing the invoice during review. Require evidence of the persisted result, not a screenshot of a confirmation sentence.</a:t>
            </a:r>
          </a:p>
          <a:p xmlns:a="http://schemas.openxmlformats.org/drawingml/2006/main">
            <a:r>
              <a:t>IMPLEMENTATION TASKS</a:t>
            </a:r>
          </a:p>
          <a:p xmlns:a="http://schemas.openxmlformats.org/drawingml/2006/main">
            <a:r>
              <a:t>1. Add authorization and approval for a status tool.</a:t>
            </a:r>
          </a:p>
          <a:p xmlns:a="http://schemas.openxmlformats.org/drawingml/2006/main">
            <a:r>
              <a:t>2. Bind the proposal to a known invoice and operation ID.</a:t>
            </a:r>
          </a:p>
          <a:p xmlns:a="http://schemas.openxmlformats.org/drawingml/2006/main">
            <a:r>
              <a:t>3. Test rejection, stale state, duplicate submission, and a foreign actor.</a:t>
            </a:r>
          </a:p>
          <a:p xmlns:a="http://schemas.openxmlformats.org/drawingml/2006/main">
            <a:r>
              <a:t>ACCEPTANCE EVIDENCE</a:t>
            </a:r>
          </a:p>
          <a:p xmlns:a="http://schemas.openxmlformats.org/drawingml/2006/main">
            <a:r>
              <a:t>1. A rejected or unauthorized request performs no write.</a:t>
            </a:r>
          </a:p>
          <a:p xmlns:a="http://schemas.openxmlformats.org/drawingml/2006/main">
            <a:r>
              <a:t>2. Draft-to-Paid still fails.</a:t>
            </a:r>
          </a:p>
          <a:p xmlns:a="http://schemas.openxmlformats.org/drawingml/2006/main">
            <a:r>
              <a:t>3. A duplicate approved request returns the recorded outcome.</a:t>
            </a:r>
          </a:p>
          <a:p xmlns:a="http://schemas.openxmlformats.org/drawingml/2006/main">
            <a:r>
              <a:t/>
            </a:r>
          </a:p>
          <a:p xmlns:a="http://schemas.openxmlformats.org/drawingml/2006/main">
            <a:r>
              <a:t>COURSE STATUS</a:t>
            </a:r>
          </a:p>
          <a:p xmlns:a="http://schemas.openxmlformats.org/drawingml/2006/main">
            <a:r>
              <a:t>Lab target. This describes course work, not a claim that the baseline repository already implements it.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PLAN</a:t>
            </a:r>
          </a:p>
          <a:p xmlns:a="http://schemas.openxmlformats.org/drawingml/2006/main">
            <a:r>
              <a:t>Allocate 3 hours: 25 minutes of concepts, 35 minutes of guided code, 70 minutes of lab work, 30 minutes of review, and 20 minutes for discussion or breaks. Adjust the suggested timings to the cohort. The lab acceptance criteria matter more than the number of slides.</a:t>
            </a:r>
          </a:p>
          <a:p xmlns:a="http://schemas.openxmlformats.org/drawingml/2006/main">
            <a:r>
              <a:t>MODULE OUTCOME</a:t>
            </a:r>
          </a:p>
          <a:p xmlns:a="http://schemas.openxmlformats.org/drawingml/2006/main">
            <a:r>
              <a:t>A traceable request with bounded latency and cost</a:t>
            </a:r>
          </a:p>
          <a:p xmlns:a="http://schemas.openxmlformats.org/drawingml/2006/main">
            <a:r>
              <a:t/>
            </a:r>
          </a:p>
          <a:p xmlns:a="http://schemas.openxmlformats.org/drawingml/2006/main">
            <a:r>
              <a:t>COURSE STATUS</a:t>
            </a:r>
          </a:p>
          <a:p xmlns:a="http://schemas.openxmlformats.org/drawingml/2006/main">
            <a:r>
              <a:t>Engineering design.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These signals overlap but answer different questions. Use one correlation chain from the HTTP request through the model call and command. A tool-call trace should not be the only financial audit record. Avoid logging full prompts and customer records by default. Record enough identifiers to diagnose a run while keeping sensitive content controlled.</a:t>
            </a:r>
          </a:p>
          <a:p xmlns:a="http://schemas.openxmlformats.org/drawingml/2006/main">
            <a:r>
              <a:t/>
            </a:r>
          </a:p>
          <a:p xmlns:a="http://schemas.openxmlformats.org/drawingml/2006/main">
            <a:r>
              <a:t>COURSE STATUS</a:t>
            </a:r>
          </a:p>
          <a:p xmlns:a="http://schemas.openxmlformats.org/drawingml/2006/main">
            <a:r>
              <a:t>Operations design. </a:t>
            </a:r>
          </a:p>
          <a:p xmlns:a="http://schemas.openxmlformats.org/drawingml/2006/main">
            <a:r>
              <a:t/>
            </a:r>
          </a:p>
          <a:p xmlns:a="http://schemas.openxmlformats.org/drawingml/2006/main">
            <a:r>
              <a:t>SOURCES</a:t>
            </a:r>
          </a:p>
          <a:p xmlns:a="http://schemas.openxmlformats.org/drawingml/2006/main">
            <a:r>
              <a:t>Observability</a:t>
            </a:r>
          </a:p>
          <a:p xmlns:a="http://schemas.openxmlformats.org/drawingml/2006/main">
            <a:r>
              <a:t>https://learn.microsoft.com/en-us/agent-framework/agents/observability?pivots=programming-language-csharp</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This is the documented builder instrumentation pattern, condensed to emphasize safe defaults. Review the selected SDK for instrumentation at agent and chat-client layers to avoid duplicate telemetry. Exporter configuration belongs in the host. A local Aspire dashboard can help the lab, while the production destination is a deployment decision. Do not present model-generated explanations or the Studio keyword list as telemetry.</a:t>
            </a:r>
          </a:p>
          <a:p xmlns:a="http://schemas.openxmlformats.org/drawingml/2006/main">
            <a:r>
              <a:t/>
            </a:r>
          </a:p>
          <a:p xmlns:a="http://schemas.openxmlformats.org/drawingml/2006/main">
            <a:r>
              <a:t>COURSE STATUS</a:t>
            </a:r>
          </a:p>
          <a:p xmlns:a="http://schemas.openxmlformats.org/drawingml/2006/main">
            <a:r>
              <a:t>Framework code pattern. Code is a condensed teaching pattern. Supply the named host dependencies and use the pinned SDK's exact overloads in the lab project. </a:t>
            </a:r>
          </a:p>
          <a:p xmlns:a="http://schemas.openxmlformats.org/drawingml/2006/main">
            <a:r>
              <a:t/>
            </a:r>
          </a:p>
          <a:p xmlns:a="http://schemas.openxmlformats.org/drawingml/2006/main">
            <a:r>
              <a:t>SOURCES</a:t>
            </a:r>
          </a:p>
          <a:p xmlns:a="http://schemas.openxmlformats.org/drawingml/2006/main">
            <a:r>
              <a:t>Observability</a:t>
            </a:r>
          </a:p>
          <a:p xmlns:a="http://schemas.openxmlformats.org/drawingml/2006/main">
            <a:r>
              <a:t>https://learn.microsoft.com/en-us/agent-framework/agents/observability?pivots=programming-language-csharp</a:t>
            </a:r>
          </a:p>
          <a:p xmlns:a="http://schemas.openxmlformats.org/drawingml/2006/main">
            <a:r>
              <a:t/>
            </a:r>
          </a:p>
          <a:p xmlns:a="http://schemas.openxmlformats.org/drawingml/2006/main">
            <a:r>
              <a:t>src/InvoiceApp.Web/wwwroot/js/studio-chat.js:294</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The baseline web client has a 60-second AI timeout, while other work can add latency. A model SDK may already retry, so avoid multiplying retry layers without analysis. Reads and writes need different retry semantics. A runtime cloud failure is not the same as missing configuration. Define who owns cancellation, what persists, and what the UI shows if the request ends after a commit.</a:t>
            </a:r>
          </a:p>
          <a:p xmlns:a="http://schemas.openxmlformats.org/drawingml/2006/main">
            <a:r>
              <a:t/>
            </a:r>
          </a:p>
          <a:p xmlns:a="http://schemas.openxmlformats.org/drawingml/2006/main">
            <a:r>
              <a:t>COURSE STATUS</a:t>
            </a:r>
          </a:p>
          <a:p xmlns:a="http://schemas.openxmlformats.org/drawingml/2006/main">
            <a:r>
              <a:t>Application reliability policy. </a:t>
            </a:r>
          </a:p>
          <a:p xmlns:a="http://schemas.openxmlformats.org/drawingml/2006/main">
            <a:r>
              <a:t/>
            </a:r>
          </a:p>
          <a:p xmlns:a="http://schemas.openxmlformats.org/drawingml/2006/main">
            <a:r>
              <a:t>SOURCES</a:t>
            </a:r>
          </a:p>
          <a:p xmlns:a="http://schemas.openxmlformats.org/drawingml/2006/main">
            <a:r>
              <a:t>src/InvoiceApp.AI/Agents/BaseAgent.cs:84</a:t>
            </a:r>
          </a:p>
          <a:p xmlns:a="http://schemas.openxmlformats.org/drawingml/2006/main">
            <a:r>
              <a:t/>
            </a:r>
          </a:p>
          <a:p xmlns:a="http://schemas.openxmlformats.org/drawingml/2006/main">
            <a:r>
              <a:t>src/InvoiceApp.Web/Services/Ai/AgentFrameworkAiAssistantService.cs:45</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Use the actual provider price sheet when preparing a live cost exercise; no prices are asserted here. Compare a single-agent lookup with a multi-agent report in measured tokens and calls. Cache stable documentation differently from live balances. Include evaluation traffic in the budget. Any cache holding customer-specific results needs correct ownership and freshness keys.</a:t>
            </a:r>
          </a:p>
          <a:p xmlns:a="http://schemas.openxmlformats.org/drawingml/2006/main">
            <a:r>
              <a:t/>
            </a:r>
          </a:p>
          <a:p xmlns:a="http://schemas.openxmlformats.org/drawingml/2006/main">
            <a:r>
              <a:t>COURSE STATUS</a:t>
            </a:r>
          </a:p>
          <a:p xmlns:a="http://schemas.openxmlformats.org/drawingml/2006/main">
            <a:r>
              <a:t>Cost engineering.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Students should identify these existing behaviors before replacing them. Backend simulation is not a universal dry run: it can change invoice status. The live failure envelope normally uses HTTP 200, so the web fallback need not run. The mock can choose the first customer for a debtor question rather than computing the largest debtor. A production mode policy should make reduced capability explicit and observable.</a:t>
            </a:r>
          </a:p>
          <a:p xmlns:a="http://schemas.openxmlformats.org/drawingml/2006/main">
            <a:r>
              <a:t/>
            </a:r>
          </a:p>
          <a:p xmlns:a="http://schemas.openxmlformats.org/drawingml/2006/main">
            <a:r>
              <a:t>COURSE STATUS</a:t>
            </a:r>
          </a:p>
          <a:p xmlns:a="http://schemas.openxmlformats.org/drawingml/2006/main">
            <a:r>
              <a:t>Existing implementation. </a:t>
            </a:r>
          </a:p>
          <a:p xmlns:a="http://schemas.openxmlformats.org/drawingml/2006/main">
            <a:r>
              <a:t/>
            </a:r>
          </a:p>
          <a:p xmlns:a="http://schemas.openxmlformats.org/drawingml/2006/main">
            <a:r>
              <a:t>SOURCES</a:t>
            </a:r>
          </a:p>
          <a:p xmlns:a="http://schemas.openxmlformats.org/drawingml/2006/main">
            <a:r>
              <a:t>src/InvoiceApp.AI/Agents/BaseAgent.cs:84</a:t>
            </a:r>
          </a:p>
          <a:p xmlns:a="http://schemas.openxmlformats.org/drawingml/2006/main">
            <a:r>
              <a:t/>
            </a:r>
          </a:p>
          <a:p xmlns:a="http://schemas.openxmlformats.org/drawingml/2006/main">
            <a:r>
              <a:t>src/InvoiceApp.AI/Agents/InvoiceAssistantAgent.cs:73</a:t>
            </a:r>
          </a:p>
          <a:p xmlns:a="http://schemas.openxmlformats.org/drawingml/2006/main">
            <a:r>
              <a:t/>
            </a:r>
          </a:p>
          <a:p xmlns:a="http://schemas.openxmlformats.org/drawingml/2006/main">
            <a:r>
              <a:t>src/InvoiceApp.Web/Services/Ai/AgentFrameworkAiAssistantService.cs:45</a:t>
            </a:r>
          </a:p>
          <a:p xmlns:a="http://schemas.openxmlformats.org/drawingml/2006/main">
            <a:r>
              <a:t/>
            </a:r>
          </a:p>
          <a:p xmlns:a="http://schemas.openxmlformats.org/drawingml/2006/main">
            <a:r>
              <a:t>src/InvoiceApp.Web/Services/Ai/MockAiAssistantService.cs:37</a:t>
            </a:r>
          </a:p>
          <a:p xmlns:a="http://schemas.openxmlformats.org/drawingml/2006/main">
            <a:r>
              <a:t/>
            </a:r>
          </a:p>
          <a:p xmlns:a="http://schemas.openxmlformats.org/drawingml/2006/main">
            <a:r>
              <a:t>src/InvoiceApp.Web/wwwroot/js/studio-chat.js:294</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The API catches database initialization failure at startup, so a running process alone does not establish usable business access. Add capability checks and a deployment-specific secret/identity strategy. The initial release can expose documentation and read tools before writes. A model or prompt rollback may be required even when the .NET binary did not change. Record ownership for incidents and customer corrections.</a:t>
            </a:r>
          </a:p>
          <a:p xmlns:a="http://schemas.openxmlformats.org/drawingml/2006/main">
            <a:r>
              <a:t/>
            </a:r>
          </a:p>
          <a:p xmlns:a="http://schemas.openxmlformats.org/drawingml/2006/main">
            <a:r>
              <a:t>COURSE STATUS</a:t>
            </a:r>
          </a:p>
          <a:p xmlns:a="http://schemas.openxmlformats.org/drawingml/2006/main">
            <a:r>
              <a:t>Capstone operations target. This describes course work, not a claim that the baseline repository already implements it. </a:t>
            </a:r>
          </a:p>
          <a:p xmlns:a="http://schemas.openxmlformats.org/drawingml/2006/main">
            <a:r>
              <a:t/>
            </a:r>
          </a:p>
          <a:p xmlns:a="http://schemas.openxmlformats.org/drawingml/2006/main">
            <a:r>
              <a:t>SOURCES</a:t>
            </a:r>
          </a:p>
          <a:p xmlns:a="http://schemas.openxmlformats.org/drawingml/2006/main">
            <a:r>
              <a:t>src/InvoiceApp.Api/Program.cs:30</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Suggested lab: 70 minutes. Use fakes or controlled faults rather than disrupting a shared service. Capture latency at the whole request and the model/tool boundaries. Students should detect that the baseline simulation stopwatch omits tool work, then measure correctly in the target. Require a short incident explanation using evidence rather than an inferred tool list.</a:t>
            </a:r>
          </a:p>
          <a:p xmlns:a="http://schemas.openxmlformats.org/drawingml/2006/main">
            <a:r>
              <a:t>IMPLEMENTATION TASKS</a:t>
            </a:r>
          </a:p>
          <a:p xmlns:a="http://schemas.openxmlformats.org/drawingml/2006/main">
            <a:r>
              <a:t>1. Instrument a model call, a tool, and the application operation.</a:t>
            </a:r>
          </a:p>
          <a:p xmlns:a="http://schemas.openxmlformats.org/drawingml/2006/main">
            <a:r>
              <a:t>2. Inject a database failure and a provider timeout.</a:t>
            </a:r>
          </a:p>
          <a:p xmlns:a="http://schemas.openxmlformats.org/drawingml/2006/main">
            <a:r>
              <a:t>3. Measure a run budget and document a rollback path.</a:t>
            </a:r>
          </a:p>
          <a:p xmlns:a="http://schemas.openxmlformats.org/drawingml/2006/main">
            <a:r>
              <a:t>ACCEPTANCE EVIDENCE</a:t>
            </a:r>
          </a:p>
          <a:p xmlns:a="http://schemas.openxmlformats.org/drawingml/2006/main">
            <a:r>
              <a:t>1. One trace explains the actual execution.</a:t>
            </a:r>
          </a:p>
          <a:p xmlns:a="http://schemas.openxmlformats.org/drawingml/2006/main">
            <a:r>
              <a:t>2. Sensitive data stays out of default telemetry.</a:t>
            </a:r>
          </a:p>
          <a:p xmlns:a="http://schemas.openxmlformats.org/drawingml/2006/main">
            <a:r>
              <a:t>3. The UI distinguishes failure from a completed write.</a:t>
            </a:r>
          </a:p>
          <a:p xmlns:a="http://schemas.openxmlformats.org/drawingml/2006/main">
            <a:r>
              <a:t/>
            </a:r>
          </a:p>
          <a:p xmlns:a="http://schemas.openxmlformats.org/drawingml/2006/main">
            <a:r>
              <a:t>COURSE STATUS</a:t>
            </a:r>
          </a:p>
          <a:p xmlns:a="http://schemas.openxmlformats.org/drawingml/2006/main">
            <a:r>
              <a:t>Lab target. This describes course work, not a claim that the baseline repository already implements it.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PLAN</a:t>
            </a:r>
          </a:p>
          <a:p xmlns:a="http://schemas.openxmlformats.org/drawingml/2006/main">
            <a:r>
              <a:t>Allocate 3 hours: 25 minutes of concepts, 35 minutes of guided code, 70 minutes of lab work, 30 minutes of review, and 20 minutes for discussion or breaks. Adjust the suggested timings to the cohort. The lab acceptance criteria matter more than the number of slides.</a:t>
            </a:r>
          </a:p>
          <a:p xmlns:a="http://schemas.openxmlformats.org/drawingml/2006/main">
            <a:r>
              <a:t>MODULE OUTCOME</a:t>
            </a:r>
          </a:p>
          <a:p xmlns:a="http://schemas.openxmlformats.org/drawingml/2006/main">
            <a:r>
              <a:t>A demonstrable integration with behavioral release criteria</a:t>
            </a:r>
          </a:p>
          <a:p xmlns:a="http://schemas.openxmlformats.org/drawingml/2006/main">
            <a:r>
              <a:t/>
            </a:r>
          </a:p>
          <a:p xmlns:a="http://schemas.openxmlformats.org/drawingml/2006/main">
            <a:r>
              <a:t>COURSE STATUS</a:t>
            </a:r>
          </a:p>
          <a:p xmlns:a="http://schemas.openxmlformats.org/drawingml/2006/main">
            <a:r>
              <a:t>Engineering design.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Use fast deterministic tests for guarantees the application can enforce. Behavioral tests need a representative prompt corpus and tolerances for harmless wording changes. Do not use exact response strings as the sole measure of model quality. Framework evaluation can combine local checks and external evaluators; retain authoritative assertions for money, permissions, and side effects.</a:t>
            </a:r>
          </a:p>
          <a:p xmlns:a="http://schemas.openxmlformats.org/drawingml/2006/main">
            <a:r>
              <a:t/>
            </a:r>
          </a:p>
          <a:p xmlns:a="http://schemas.openxmlformats.org/drawingml/2006/main">
            <a:r>
              <a:t>COURSE STATUS</a:t>
            </a:r>
          </a:p>
          <a:p xmlns:a="http://schemas.openxmlformats.org/drawingml/2006/main">
            <a:r>
              <a:t>Evaluation strategy. </a:t>
            </a:r>
          </a:p>
          <a:p xmlns:a="http://schemas.openxmlformats.org/drawingml/2006/main">
            <a:r>
              <a:t/>
            </a:r>
          </a:p>
          <a:p xmlns:a="http://schemas.openxmlformats.org/drawingml/2006/main">
            <a:r>
              <a:t>SOURCES</a:t>
            </a:r>
          </a:p>
          <a:p xmlns:a="http://schemas.openxmlformats.org/drawingml/2006/main">
            <a:r>
              <a:t>Evaluation</a:t>
            </a:r>
          </a:p>
          <a:p xmlns:a="http://schemas.openxmlformats.org/drawingml/2006/main">
            <a:r>
              <a:t>https://learn.microsoft.com/en-us/agent-framework/agents/evaluation?pivots=programming-language-csharp</a:t>
            </a:r>
          </a:p>
          <a:p xmlns:a="http://schemas.openxmlformats.org/drawingml/2006/main">
            <a:r>
              <a:t/>
            </a:r>
          </a:p>
          <a:p xmlns:a="http://schemas.openxmlformats.org/drawingml/2006/main">
            <a:r>
              <a:t>tests/InvoiceApp.UnitTests/Domain/InvoiceTests.cs:8</a:t>
            </a:r>
          </a:p>
          <a:p xmlns:a="http://schemas.openxmlformats.org/drawingml/2006/main">
            <a:r>
              <a:t/>
            </a:r>
          </a:p>
          <a:p xmlns:a="http://schemas.openxmlformats.org/drawingml/2006/main">
            <a:r>
              <a:t>tests/InvoiceApp.UnitTests/AI/AiTests.cs:14</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AgentEvaluationService is a deterministic string heuristic. It does not inspect query data, tool results, authorization, or the prompt. Present it as a baseline to replace or relabel, rather than claiming the application measures a 95 percent chance of correctness. The API exposes only the confidence value. Use this slide to distinguish a confidence UI label from an evaluated quality metric.</a:t>
            </a:r>
          </a:p>
          <a:p xmlns:a="http://schemas.openxmlformats.org/drawingml/2006/main">
            <a:r>
              <a:t/>
            </a:r>
          </a:p>
          <a:p xmlns:a="http://schemas.openxmlformats.org/drawingml/2006/main">
            <a:r>
              <a:t>COURSE STATUS</a:t>
            </a:r>
          </a:p>
          <a:p xmlns:a="http://schemas.openxmlformats.org/drawingml/2006/main">
            <a:r>
              <a:t>Existing implementation. </a:t>
            </a:r>
          </a:p>
          <a:p xmlns:a="http://schemas.openxmlformats.org/drawingml/2006/main">
            <a:r>
              <a:t/>
            </a:r>
          </a:p>
          <a:p xmlns:a="http://schemas.openxmlformats.org/drawingml/2006/main">
            <a:r>
              <a:t>SOURCES</a:t>
            </a:r>
          </a:p>
          <a:p xmlns:a="http://schemas.openxmlformats.org/drawingml/2006/main">
            <a:r>
              <a:t>src/InvoiceApp.AI/Evaluations/AgentEvaluationService.cs:44</a:t>
            </a:r>
          </a:p>
          <a:p xmlns:a="http://schemas.openxmlformats.org/drawingml/2006/main">
            <a:r>
              <a:t/>
            </a:r>
          </a:p>
          <a:p xmlns:a="http://schemas.openxmlformats.org/drawingml/2006/main">
            <a:r>
              <a:t>src/InvoiceApp.AI/Coordinator/AgentCoordinator.cs:72</a:t>
            </a:r>
          </a:p>
          <a:p xmlns:a="http://schemas.openxmlformats.org/drawingml/2006/main">
            <a:r>
              <a:t/>
            </a:r>
          </a:p>
          <a:p xmlns:a="http://schemas.openxmlformats.org/drawingml/2006/main">
            <a:r>
              <a:t>src/InvoiceApp.Api/Endpoints/AiEndpoints.cs:21</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This is a proposed corpus structure. Use synthetic fixtures and retain expected tool evidence. Add paraphrases, empty results, cancelled invoices, and conflicting context. Split development cases from a held-out regression set. Version each case with the prompt, tool definitions, model/deployment configuration, and expected business behavior. A model judge can supplement, but cannot replace, a deterministic unauthorized-write assertion.</a:t>
            </a:r>
          </a:p>
          <a:p xmlns:a="http://schemas.openxmlformats.org/drawingml/2006/main">
            <a:r>
              <a:t/>
            </a:r>
          </a:p>
          <a:p xmlns:a="http://schemas.openxmlformats.org/drawingml/2006/main">
            <a:r>
              <a:t>COURSE STATUS</a:t>
            </a:r>
          </a:p>
          <a:p xmlns:a="http://schemas.openxmlformats.org/drawingml/2006/main">
            <a:r>
              <a:t>Course evaluation design.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Explain the limitations of automated judges and calibrate them against human review. A change can improve helpfulness while increasing unauthorized tool attempts or cost. Keep safety and correctness gates independent of a single aggregate score. Run enough cases to reveal patterns and report the dataset scope, rather than presenting a small sample as a universal reliability claim.</a:t>
            </a:r>
          </a:p>
          <a:p xmlns:a="http://schemas.openxmlformats.org/drawingml/2006/main">
            <a:r>
              <a:t/>
            </a:r>
          </a:p>
          <a:p xmlns:a="http://schemas.openxmlformats.org/drawingml/2006/main">
            <a:r>
              <a:t>COURSE STATUS</a:t>
            </a:r>
          </a:p>
          <a:p xmlns:a="http://schemas.openxmlformats.org/drawingml/2006/main">
            <a:r>
              <a:t>Evaluation method. </a:t>
            </a:r>
          </a:p>
          <a:p xmlns:a="http://schemas.openxmlformats.org/drawingml/2006/main">
            <a:r>
              <a:t/>
            </a:r>
          </a:p>
          <a:p xmlns:a="http://schemas.openxmlformats.org/drawingml/2006/main">
            <a:r>
              <a:t>SOURCES</a:t>
            </a:r>
          </a:p>
          <a:p xmlns:a="http://schemas.openxmlformats.org/drawingml/2006/main">
            <a:r>
              <a:t>Foundry evaluation dimensions</a:t>
            </a:r>
          </a:p>
          <a:p xmlns:a="http://schemas.openxmlformats.org/drawingml/2006/main">
            <a:r>
              <a:t>https://learn.microsoft.com/en-us/azure/ai-foundry/concepts/evaluation-approach-gen-ai</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These are course release requirements. Teams choose thresholds before reviewing the candidate results, and justify the risk trade-offs. Do not invent a universal acceptable accuracy percentage. Separate mandatory invariant tests from statistical quality targets. A prompt-only or model-only change still passes through evaluation and release review. Keep environment configuration and secret references outside the deck and source commits.</a:t>
            </a:r>
          </a:p>
          <a:p xmlns:a="http://schemas.openxmlformats.org/drawingml/2006/main">
            <a:r>
              <a:t/>
            </a:r>
          </a:p>
          <a:p xmlns:a="http://schemas.openxmlformats.org/drawingml/2006/main">
            <a:r>
              <a:t>COURSE STATUS</a:t>
            </a:r>
          </a:p>
          <a:p xmlns:a="http://schemas.openxmlformats.org/drawingml/2006/main">
            <a:r>
              <a:t>Capstone acceptance.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The final project should integrate the preceding lab increments rather than rebuild them at the end. The invoice business system is the existing-system substrate. The course outcome replaces the custom runtime where appropriate, then adds the missing controls. Require a concise architecture decision record listing what was preserved, replaced, and deferred.</a:t>
            </a:r>
          </a:p>
          <a:p xmlns:a="http://schemas.openxmlformats.org/drawingml/2006/main">
            <a:r>
              <a:t/>
            </a:r>
          </a:p>
          <a:p xmlns:a="http://schemas.openxmlformats.org/drawingml/2006/main">
            <a:r>
              <a:t>COURSE STATUS</a:t>
            </a:r>
          </a:p>
          <a:p xmlns:a="http://schemas.openxmlformats.org/drawingml/2006/main">
            <a:r>
              <a:t>Capstone plan. </a:t>
            </a:r>
          </a:p>
          <a:p xmlns:a="http://schemas.openxmlformats.org/drawingml/2006/main">
            <a:r>
              <a:t/>
            </a:r>
          </a:p>
          <a:p xmlns:a="http://schemas.openxmlformats.org/drawingml/2006/main">
            <a:r>
              <a:t>SOURCES</a:t>
            </a:r>
          </a:p>
          <a:p xmlns:a="http://schemas.openxmlformats.org/drawingml/2006/main">
            <a:r>
              <a:t>src/InvoiceApp.AI/Agents/BaseAgent.cs:84</a:t>
            </a:r>
          </a:p>
          <a:p xmlns:a="http://schemas.openxmlformats.org/drawingml/2006/main">
            <a:r>
              <a:t/>
            </a:r>
          </a:p>
          <a:p xmlns:a="http://schemas.openxmlformats.org/drawingml/2006/main">
            <a:r>
              <a:t>src/InvoiceApp.Application/Features/Invoices/Commands/CreateInvoice/CreateInvoiceCommand.cs:76</a:t>
            </a:r>
          </a:p>
          <a:p xmlns:a="http://schemas.openxmlformats.org/drawingml/2006/main">
            <a:r>
              <a:t/>
            </a:r>
          </a:p>
          <a:p xmlns:a="http://schemas.openxmlformats.org/drawingml/2006/main">
            <a:r>
              <a:t>src/InvoiceApp.Domain/Entities/Invoice.cs:147</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Give teams a fixed scenario and a changed scenario they have not rehearsed verbatim. Require them to show framework package references, run identity, tool evidence, and the final invoice state. The baseline repository's custom agent names or UI animation do not establish that Microsoft Agent Framework is in use. Ask which behaviors are implemented and which remain proposed.</a:t>
            </a:r>
          </a:p>
          <a:p xmlns:a="http://schemas.openxmlformats.org/drawingml/2006/main">
            <a:r>
              <a:t/>
            </a:r>
          </a:p>
          <a:p xmlns:a="http://schemas.openxmlformats.org/drawingml/2006/main">
            <a:r>
              <a:t>COURSE STATUS</a:t>
            </a:r>
          </a:p>
          <a:p xmlns:a="http://schemas.openxmlformats.org/drawingml/2006/main">
            <a:r>
              <a:t>Demonstration requirements.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This is a proposed course rubric totaling 100 percent. A serious authorization or business-rule defect requires remediation regardless of the weighted total. Review code and behavioral evidence, not only presentation quality. Give individual engineers a short change or failure investigation so group work does not hide gaps in understanding.</a:t>
            </a:r>
          </a:p>
          <a:p xmlns:a="http://schemas.openxmlformats.org/drawingml/2006/main">
            <a:r>
              <a:t/>
            </a:r>
          </a:p>
          <a:p xmlns:a="http://schemas.openxmlformats.org/drawingml/2006/main">
            <a:r>
              <a:t>COURSE STATUS</a:t>
            </a:r>
          </a:p>
          <a:p xmlns:a="http://schemas.openxmlformats.org/drawingml/2006/main">
            <a:r>
              <a:t>Suggested course rubric.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Suggested lab: 70 minutes of integration review, with additional project work assigned outside contact hours as needed. Students submit configuration instructions without secrets, the package pins, focused tests, a behavior report, and a short runbook. The reviewer selects at least one unplanned edge case. Acknowledge deferred production work explicitly rather than overstating completeness.</a:t>
            </a:r>
          </a:p>
          <a:p xmlns:a="http://schemas.openxmlformats.org/drawingml/2006/main">
            <a:r>
              <a:t>IMPLEMENTATION TASKS</a:t>
            </a:r>
          </a:p>
          <a:p xmlns:a="http://schemas.openxmlformats.org/drawingml/2006/main">
            <a:r>
              <a:t>1. Assemble the lab increments into one reproducible branch.</a:t>
            </a:r>
          </a:p>
          <a:p xmlns:a="http://schemas.openxmlformats.org/drawingml/2006/main">
            <a:r>
              <a:t>2. Run the agreed deterministic and behavioral checks.</a:t>
            </a:r>
          </a:p>
          <a:p xmlns:a="http://schemas.openxmlformats.org/drawingml/2006/main">
            <a:r>
              <a:t>3. Deliver the demo, architecture decisions, and operational handoff.</a:t>
            </a:r>
          </a:p>
          <a:p xmlns:a="http://schemas.openxmlformats.org/drawingml/2006/main">
            <a:r>
              <a:t>ACCEPTANCE EVIDENCE</a:t>
            </a:r>
          </a:p>
          <a:p xmlns:a="http://schemas.openxmlformats.org/drawingml/2006/main">
            <a:r>
              <a:t>1. AIAgent and AgentSession drive the integration.</a:t>
            </a:r>
          </a:p>
          <a:p xmlns:a="http://schemas.openxmlformats.org/drawingml/2006/main">
            <a:r>
              <a:t>2. Business effects have verifiable outcomes.</a:t>
            </a:r>
          </a:p>
          <a:p xmlns:a="http://schemas.openxmlformats.org/drawingml/2006/main">
            <a:r>
              <a:t>3. The team can explain a failure and its recovery.</a:t>
            </a:r>
          </a:p>
          <a:p xmlns:a="http://schemas.openxmlformats.org/drawingml/2006/main">
            <a:r>
              <a:t/>
            </a:r>
          </a:p>
          <a:p xmlns:a="http://schemas.openxmlformats.org/drawingml/2006/main">
            <a:r>
              <a:t>COURSE STATUS</a:t>
            </a:r>
          </a:p>
          <a:p xmlns:a="http://schemas.openxmlformats.org/drawingml/2006/main">
            <a:r>
              <a:t>Lab target. This describes course work, not a claim that the baseline repository already implements it.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Do not paste an unreviewed latest-version list into a professional course. Microsoft examples and API references may use different package versions or prerelease components. Freeze one coherent set after compiling the supplied course project and recheck before teaching. The snippets in this deck are condensed implementation patterns, with exact API references in the notes. The presentation does not claim those snippets were compiled in this repository.</a:t>
            </a:r>
          </a:p>
          <a:p xmlns:a="http://schemas.openxmlformats.org/drawingml/2006/main">
            <a:r>
              <a:t/>
            </a:r>
          </a:p>
          <a:p xmlns:a="http://schemas.openxmlformats.org/drawingml/2006/main">
            <a:r>
              <a:t>COURSE STATUS</a:t>
            </a:r>
          </a:p>
          <a:p xmlns:a="http://schemas.openxmlformats.org/drawingml/2006/main">
            <a:r>
              <a:t>Preparation checklist. </a:t>
            </a:r>
          </a:p>
          <a:p xmlns:a="http://schemas.openxmlformats.org/drawingml/2006/main">
            <a:r>
              <a:t/>
            </a:r>
          </a:p>
          <a:p xmlns:a="http://schemas.openxmlformats.org/drawingml/2006/main">
            <a:r>
              <a:t>SOURCES</a:t>
            </a:r>
          </a:p>
          <a:p xmlns:a="http://schemas.openxmlformats.org/drawingml/2006/main">
            <a:r>
              <a:t>AsAIAgent API reference</a:t>
            </a:r>
          </a:p>
          <a:p xmlns:a="http://schemas.openxmlformats.org/drawingml/2006/main">
            <a:r>
              <a:t>https://learn.microsoft.com/en-us/dotnet/api/openai.chat.openaichatclientextensions.asaiagent?view=agent-framework-dotnet-latest</a:t>
            </a:r>
          </a:p>
          <a:p xmlns:a="http://schemas.openxmlformats.org/drawingml/2006/main">
            <a:r>
              <a:t/>
            </a:r>
          </a:p>
          <a:p xmlns:a="http://schemas.openxmlformats.org/drawingml/2006/main">
            <a:r>
              <a:t>src/InvoiceApp.AI/InvoiceApp.AI.csproj:16</a:t>
            </a:r>
          </a:p>
          <a:p xmlns:a="http://schemas.openxmlformats.org/drawingml/2006/main">
            <a:r>
              <a:t/>
            </a:r>
          </a:p>
          <a:p xmlns:a="http://schemas.openxmlformats.org/drawingml/2006/main">
            <a:r>
              <a:t>Directory.Packages.props:21</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This combines the earlier documented agent, tool, and session patterns. azureClient, deployment, invoiceTools, prompt, and ct are host-provided dependencies. It intentionally leaves out the surrounding API and persistence code. In the capstone, construct the agent within a lifetime that supports the tool's dispatcher dependencies. Show the request returning the real summary and discuss what additional enforcement is needed before writes.</a:t>
            </a:r>
          </a:p>
          <a:p xmlns:a="http://schemas.openxmlformats.org/drawingml/2006/main">
            <a:r>
              <a:t/>
            </a:r>
          </a:p>
          <a:p xmlns:a="http://schemas.openxmlformats.org/drawingml/2006/main">
            <a:r>
              <a:t>COURSE STATUS</a:t>
            </a:r>
          </a:p>
          <a:p xmlns:a="http://schemas.openxmlformats.org/drawingml/2006/main">
            <a:r>
              <a:t>Condensed framework pattern. Code is a condensed teaching pattern. Supply the named host dependencies and use the pinned SDK's exact overloads in the lab project. </a:t>
            </a:r>
          </a:p>
          <a:p xmlns:a="http://schemas.openxmlformats.org/drawingml/2006/main">
            <a:r>
              <a:t/>
            </a:r>
          </a:p>
          <a:p xmlns:a="http://schemas.openxmlformats.org/drawingml/2006/main">
            <a:r>
              <a:t>SOURCES</a:t>
            </a:r>
          </a:p>
          <a:p xmlns:a="http://schemas.openxmlformats.org/drawingml/2006/main">
            <a:r>
              <a:t>AsAIAgent API reference</a:t>
            </a:r>
          </a:p>
          <a:p xmlns:a="http://schemas.openxmlformats.org/drawingml/2006/main">
            <a:r>
              <a:t>https://learn.microsoft.com/en-us/dotnet/api/openai.chat.openaichatclientextensions.asaiagent?view=agent-framework-dotnet-latest</a:t>
            </a:r>
          </a:p>
          <a:p xmlns:a="http://schemas.openxmlformats.org/drawingml/2006/main">
            <a:r>
              <a:t/>
            </a:r>
          </a:p>
          <a:p xmlns:a="http://schemas.openxmlformats.org/drawingml/2006/main">
            <a:r>
              <a:t>Multi-turn conversations</a:t>
            </a:r>
          </a:p>
          <a:p xmlns:a="http://schemas.openxmlformats.org/drawingml/2006/main">
            <a:r>
              <a:t>https://learn.microsoft.com/en-us/agent-framework/get-started/multi-turn</a:t>
            </a:r>
          </a:p>
          <a:p xmlns:a="http://schemas.openxmlformats.org/drawingml/2006/main">
            <a:r>
              <a:t/>
            </a:r>
          </a:p>
          <a:p xmlns:a="http://schemas.openxmlformats.org/drawingml/2006/main">
            <a:r>
              <a:t>src/InvoiceApp.AI/Tools/InvoiceTools.cs:339</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These are optional extensions, not claimed features of the current app. An image or document-extraction result should become a reviewed draft, not an automatic financial fact. Background agent delegation differs from provider background responses. Harness capabilities and hooks vary by version and language, so consult current .NET documentation before adding them. Keep the core course project small enough to explain and evaluate end to end.</a:t>
            </a:r>
          </a:p>
          <a:p xmlns:a="http://schemas.openxmlformats.org/drawingml/2006/main">
            <a:r>
              <a:t/>
            </a:r>
          </a:p>
          <a:p xmlns:a="http://schemas.openxmlformats.org/drawingml/2006/main">
            <a:r>
              <a:t>COURSE STATUS</a:t>
            </a:r>
          </a:p>
          <a:p xmlns:a="http://schemas.openxmlformats.org/drawingml/2006/main">
            <a:r>
              <a:t>Optional extension. </a:t>
            </a:r>
          </a:p>
          <a:p xmlns:a="http://schemas.openxmlformats.org/drawingml/2006/main">
            <a:r>
              <a:t/>
            </a:r>
          </a:p>
          <a:p xmlns:a="http://schemas.openxmlformats.org/drawingml/2006/main">
            <a:r>
              <a:t>SOURCES</a:t>
            </a:r>
          </a:p>
          <a:p xmlns:a="http://schemas.openxmlformats.org/drawingml/2006/main">
            <a:r>
              <a:t>Additional agent capabilities</a:t>
            </a:r>
          </a:p>
          <a:p xmlns:a="http://schemas.openxmlformats.org/drawingml/2006/main">
            <a:r>
              <a:t>https://learn.microsoft.com/agent-framework/agents/</a:t>
            </a:r>
          </a:p>
          <a:p xmlns:a="http://schemas.openxmlformats.org/drawingml/2006/main">
            <a:r>
              <a:t/>
            </a:r>
          </a:p>
          <a:p xmlns:a="http://schemas.openxmlformats.org/drawingml/2006/main">
            <a:r>
              <a:t>Background responses</a:t>
            </a:r>
          </a:p>
          <a:p xmlns:a="http://schemas.openxmlformats.org/drawingml/2006/main">
            <a:r>
              <a:t>https://learn.microsoft.com/en-us/agent-framework/agents/background-responses</a:t>
            </a:r>
          </a:p>
          <a:p xmlns:a="http://schemas.openxmlformats.org/drawingml/2006/main">
            <a:r>
              <a:t/>
            </a:r>
          </a:p>
          <a:p xmlns:a="http://schemas.openxmlformats.org/drawingml/2006/main">
            <a:r>
              <a:t>Agent Skills</a:t>
            </a:r>
          </a:p>
          <a:p xmlns:a="http://schemas.openxmlformats.org/drawingml/2006/main">
            <a:r>
              <a:t>https://learn.microsoft.com/en-us/agent-framework/agents/skills</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Open files in this order for the final code tour, then follow one use case down to persistence. The exact local paths and cited line locations follow in the source notes for this slide. Students should distinguish comments describing intended capability from executable behavior. Avoid making the course a file-by-file reading exercise.</a:t>
            </a:r>
          </a:p>
          <a:p xmlns:a="http://schemas.openxmlformats.org/drawingml/2006/main">
            <a:r>
              <a:t/>
            </a:r>
          </a:p>
          <a:p xmlns:a="http://schemas.openxmlformats.org/drawingml/2006/main">
            <a:r>
              <a:t>COURSE STATUS</a:t>
            </a:r>
          </a:p>
          <a:p xmlns:a="http://schemas.openxmlformats.org/drawingml/2006/main">
            <a:r>
              <a:t>Code tour. </a:t>
            </a:r>
          </a:p>
          <a:p xmlns:a="http://schemas.openxmlformats.org/drawingml/2006/main">
            <a:r>
              <a:t/>
            </a:r>
          </a:p>
          <a:p xmlns:a="http://schemas.openxmlformats.org/drawingml/2006/main">
            <a:r>
              <a:t>SOURCES</a:t>
            </a:r>
          </a:p>
          <a:p xmlns:a="http://schemas.openxmlformats.org/drawingml/2006/main">
            <a:r>
              <a:t>src/InvoiceApp.Api/Endpoints/AiEndpoints.cs:21</a:t>
            </a:r>
          </a:p>
          <a:p xmlns:a="http://schemas.openxmlformats.org/drawingml/2006/main">
            <a:r>
              <a:t/>
            </a:r>
          </a:p>
          <a:p xmlns:a="http://schemas.openxmlformats.org/drawingml/2006/main">
            <a:r>
              <a:t>src/InvoiceApp.AI/Coordinator/AgentCoordinator.cs:72</a:t>
            </a:r>
          </a:p>
          <a:p xmlns:a="http://schemas.openxmlformats.org/drawingml/2006/main">
            <a:r>
              <a:t/>
            </a:r>
          </a:p>
          <a:p xmlns:a="http://schemas.openxmlformats.org/drawingml/2006/main">
            <a:r>
              <a:t>src/InvoiceApp.AI/Agents/BaseAgent.cs:84</a:t>
            </a:r>
          </a:p>
          <a:p xmlns:a="http://schemas.openxmlformats.org/drawingml/2006/main">
            <a:r>
              <a:t/>
            </a:r>
          </a:p>
          <a:p xmlns:a="http://schemas.openxmlformats.org/drawingml/2006/main">
            <a:r>
              <a:t>src/InvoiceApp.AI/DependencyInjection.cs:43</a:t>
            </a:r>
          </a:p>
          <a:p xmlns:a="http://schemas.openxmlformats.org/drawingml/2006/main">
            <a:r>
              <a:t/>
            </a:r>
          </a:p>
          <a:p xmlns:a="http://schemas.openxmlformats.org/drawingml/2006/main">
            <a:r>
              <a:t>src/InvoiceApp.AI/Tools/InvoiceTools.cs:48</a:t>
            </a:r>
          </a:p>
          <a:p xmlns:a="http://schemas.openxmlformats.org/drawingml/2006/main">
            <a:r>
              <a:t/>
            </a:r>
          </a:p>
          <a:p xmlns:a="http://schemas.openxmlformats.org/drawingml/2006/main">
            <a:r>
              <a:t>src/InvoiceApp.AI/Tools/CustomerTools.cs:40</a:t>
            </a:r>
          </a:p>
          <a:p xmlns:a="http://schemas.openxmlformats.org/drawingml/2006/main">
            <a:r>
              <a:t/>
            </a:r>
          </a:p>
          <a:p xmlns:a="http://schemas.openxmlformats.org/drawingml/2006/main">
            <a:r>
              <a:t>src/InvoiceApp.Domain/Entities/Invoice.cs:147</a:t>
            </a:r>
          </a:p>
          <a:p xmlns:a="http://schemas.openxmlformats.org/drawingml/2006/main">
            <a:r>
              <a:t/>
            </a:r>
          </a:p>
          <a:p xmlns:a="http://schemas.openxmlformats.org/drawingml/2006/main">
            <a:r>
              <a:t>src/InvoiceApp.Infrastructure/Persistence/Repositories/InvoiceReadRepository.cs:188</a:t>
            </a:r>
          </a:p>
          <a:p xmlns:a="http://schemas.openxmlformats.org/drawingml/2006/main">
            <a:r>
              <a:t/>
            </a:r>
          </a:p>
          <a:p xmlns:a="http://schemas.openxmlformats.org/drawingml/2006/main">
            <a:r>
              <a:t>tests/InvoiceApp.UnitTests/AI/AiTests.cs:14</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Use these references to prepare a version-pinned course environment. The main deck distinguishes existing repository behavior from framework capabilities and proposed application controls. Online documentation is a moving reference; record the exact course dependencies and recheck code samples before each cohort.</a:t>
            </a:r>
          </a:p>
          <a:p xmlns:a="http://schemas.openxmlformats.org/drawingml/2006/main">
            <a:r>
              <a:t/>
            </a:r>
          </a:p>
          <a:p xmlns:a="http://schemas.openxmlformats.org/drawingml/2006/main">
            <a:r>
              <a:t>COURSE STATUS</a:t>
            </a:r>
          </a:p>
          <a:p xmlns:a="http://schemas.openxmlformats.org/drawingml/2006/main">
            <a:r>
              <a:t>Primary sources. </a:t>
            </a:r>
          </a:p>
          <a:p xmlns:a="http://schemas.openxmlformats.org/drawingml/2006/main">
            <a:r>
              <a:t/>
            </a:r>
          </a:p>
          <a:p xmlns:a="http://schemas.openxmlformats.org/drawingml/2006/main">
            <a:r>
              <a:t>SOURCES</a:t>
            </a:r>
          </a:p>
          <a:p xmlns:a="http://schemas.openxmlformats.org/drawingml/2006/main">
            <a:r>
              <a:t>Microsoft Agent Framework overview</a:t>
            </a:r>
          </a:p>
          <a:p xmlns:a="http://schemas.openxmlformats.org/drawingml/2006/main">
            <a:r>
              <a:t>https://learn.microsoft.com/en-us/agent-framework/overview/</a:t>
            </a:r>
          </a:p>
          <a:p xmlns:a="http://schemas.openxmlformats.org/drawingml/2006/main">
            <a:r>
              <a:t/>
            </a:r>
          </a:p>
          <a:p xmlns:a="http://schemas.openxmlformats.org/drawingml/2006/main">
            <a:r>
              <a:t>Azure OpenAI provider</a:t>
            </a:r>
          </a:p>
          <a:p xmlns:a="http://schemas.openxmlformats.org/drawingml/2006/main">
            <a:r>
              <a:t>https://learn.microsoft.com/en-us/agent-framework/integrations/by-component/model-providers/azure-openai</a:t>
            </a:r>
          </a:p>
          <a:p xmlns:a="http://schemas.openxmlformats.org/drawingml/2006/main">
            <a:r>
              <a:t/>
            </a:r>
          </a:p>
          <a:p xmlns:a="http://schemas.openxmlformats.org/drawingml/2006/main">
            <a:r>
              <a:t>AsAIAgent API reference</a:t>
            </a:r>
          </a:p>
          <a:p xmlns:a="http://schemas.openxmlformats.org/drawingml/2006/main">
            <a:r>
              <a:t>https://learn.microsoft.com/en-us/dotnet/api/openai.chat.openaichatclientextensions.asaiagent?view=agent-framework-dotnet-latest</a:t>
            </a:r>
          </a:p>
          <a:p xmlns:a="http://schemas.openxmlformats.org/drawingml/2006/main">
            <a:r>
              <a:t/>
            </a:r>
          </a:p>
          <a:p xmlns:a="http://schemas.openxmlformats.org/drawingml/2006/main">
            <a:r>
              <a:t>Multi-turn conversations</a:t>
            </a:r>
          </a:p>
          <a:p xmlns:a="http://schemas.openxmlformats.org/drawingml/2006/main">
            <a:r>
              <a:t>https://learn.microsoft.com/en-us/agent-framework/get-started/multi-turn</a:t>
            </a:r>
          </a:p>
          <a:p xmlns:a="http://schemas.openxmlformats.org/drawingml/2006/main">
            <a:r>
              <a:t/>
            </a:r>
          </a:p>
          <a:p xmlns:a="http://schemas.openxmlformats.org/drawingml/2006/main">
            <a:r>
              <a:t>Function tools</a:t>
            </a:r>
          </a:p>
          <a:p xmlns:a="http://schemas.openxmlformats.org/drawingml/2006/main">
            <a:r>
              <a:t>https://learn.microsoft.com/en-us/agent-framework/get-started/add-tools</a:t>
            </a:r>
          </a:p>
          <a:p xmlns:a="http://schemas.openxmlformats.org/drawingml/2006/main">
            <a:r>
              <a:t/>
            </a:r>
          </a:p>
          <a:p xmlns:a="http://schemas.openxmlformats.org/drawingml/2006/main">
            <a:r>
              <a:t>Structured outputs</a:t>
            </a:r>
          </a:p>
          <a:p xmlns:a="http://schemas.openxmlformats.org/drawingml/2006/main">
            <a:r>
              <a:t>https://learn.microsoft.com/en-us/agent-framework/agents/structured-outputs</a:t>
            </a:r>
          </a:p>
          <a:p xmlns:a="http://schemas.openxmlformats.org/drawingml/2006/main">
            <a:r>
              <a:t/>
            </a:r>
          </a:p>
          <a:p xmlns:a="http://schemas.openxmlformats.org/drawingml/2006/main">
            <a:r>
              <a:t>Agent middleware</a:t>
            </a:r>
          </a:p>
          <a:p xmlns:a="http://schemas.openxmlformats.org/drawingml/2006/main">
            <a:r>
              <a:t>https://learn.microsoft.com/en-us/agent-framework/concepts/agents/middleware/</a:t>
            </a:r>
          </a:p>
          <a:p xmlns:a="http://schemas.openxmlformats.org/drawingml/2006/main">
            <a:r>
              <a:t/>
            </a:r>
          </a:p>
          <a:p xmlns:a="http://schemas.openxmlformats.org/drawingml/2006/main">
            <a:r>
              <a:t>Context providers</a:t>
            </a:r>
          </a:p>
          <a:p xmlns:a="http://schemas.openxmlformats.org/drawingml/2006/main">
            <a:r>
              <a:t>https://learn.microsoft.com/en-us/agent-framework/journey/adding-context-providers</a:t>
            </a:r>
          </a:p>
          <a:p xmlns:a="http://schemas.openxmlformats.org/drawingml/2006/main">
            <a:r>
              <a:t/>
            </a:r>
          </a:p>
          <a:p xmlns:a="http://schemas.openxmlformats.org/drawingml/2006/main">
            <a:r>
              <a:t>TextSearchProvider</a:t>
            </a:r>
          </a:p>
          <a:p xmlns:a="http://schemas.openxmlformats.org/drawingml/2006/main">
            <a:r>
              <a:t>https://learn.microsoft.com/en-us/dotnet/api/microsoft.agents.ai.textsearchprovider?view=agent-framework-dotnet-latest</a:t>
            </a:r>
          </a:p>
          <a:p xmlns:a="http://schemas.openxmlformats.org/drawingml/2006/main">
            <a:r>
              <a:t/>
            </a:r>
          </a:p>
          <a:p xmlns:a="http://schemas.openxmlformats.org/drawingml/2006/main">
            <a:r>
              <a:t>Microsoft.Extensions.AI</a:t>
            </a:r>
          </a:p>
          <a:p xmlns:a="http://schemas.openxmlformats.org/drawingml/2006/main">
            <a:r>
              <a:t>https://learn.microsoft.com/dotnet/core/extensions/artificial-intelligence</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The notes contain the official primary references for these topics. Select the .NET tabs and pinned package documentation when a page covers several languages. In particular, do not transfer Python-only storage or security APIs into a .NET example. Proposed course controls such as application idempotency and tenant authorization remain responsibilities of the application design.</a:t>
            </a:r>
          </a:p>
          <a:p xmlns:a="http://schemas.openxmlformats.org/drawingml/2006/main">
            <a:r>
              <a:t/>
            </a:r>
          </a:p>
          <a:p xmlns:a="http://schemas.openxmlformats.org/drawingml/2006/main">
            <a:r>
              <a:t>COURSE STATUS</a:t>
            </a:r>
          </a:p>
          <a:p xmlns:a="http://schemas.openxmlformats.org/drawingml/2006/main">
            <a:r>
              <a:t>Primary sources. </a:t>
            </a:r>
          </a:p>
          <a:p xmlns:a="http://schemas.openxmlformats.org/drawingml/2006/main">
            <a:r>
              <a:t/>
            </a:r>
          </a:p>
          <a:p xmlns:a="http://schemas.openxmlformats.org/drawingml/2006/main">
            <a:r>
              <a:t>SOURCES</a:t>
            </a:r>
          </a:p>
          <a:p xmlns:a="http://schemas.openxmlformats.org/drawingml/2006/main">
            <a:r>
              <a:t>WorkflowBuilder</a:t>
            </a:r>
          </a:p>
          <a:p xmlns:a="http://schemas.openxmlformats.org/drawingml/2006/main">
            <a:r>
              <a:t>https://learn.microsoft.com/agent-framework/workflows/workflows</a:t>
            </a:r>
          </a:p>
          <a:p xmlns:a="http://schemas.openxmlformats.org/drawingml/2006/main">
            <a:r>
              <a:t/>
            </a:r>
          </a:p>
          <a:p xmlns:a="http://schemas.openxmlformats.org/drawingml/2006/main">
            <a:r>
              <a:t>Orchestration patterns</a:t>
            </a:r>
          </a:p>
          <a:p xmlns:a="http://schemas.openxmlformats.org/drawingml/2006/main">
            <a:r>
              <a:t>https://learn.microsoft.com/agent-framework/workflows/orchestrations/</a:t>
            </a:r>
          </a:p>
          <a:p xmlns:a="http://schemas.openxmlformats.org/drawingml/2006/main">
            <a:r>
              <a:t/>
            </a:r>
          </a:p>
          <a:p xmlns:a="http://schemas.openxmlformats.org/drawingml/2006/main">
            <a:r>
              <a:t>Workflow human input</a:t>
            </a:r>
          </a:p>
          <a:p xmlns:a="http://schemas.openxmlformats.org/drawingml/2006/main">
            <a:r>
              <a:t>https://learn.microsoft.com/en-us/agent-framework/workflows/human-in-the-loop</a:t>
            </a:r>
          </a:p>
          <a:p xmlns:a="http://schemas.openxmlformats.org/drawingml/2006/main">
            <a:r>
              <a:t/>
            </a:r>
          </a:p>
          <a:p xmlns:a="http://schemas.openxmlformats.org/drawingml/2006/main">
            <a:r>
              <a:t>Workflow checkpoints</a:t>
            </a:r>
          </a:p>
          <a:p xmlns:a="http://schemas.openxmlformats.org/drawingml/2006/main">
            <a:r>
              <a:t>https://learn.microsoft.com/en-us/agent-framework/workflows/checkpoints</a:t>
            </a:r>
          </a:p>
          <a:p xmlns:a="http://schemas.openxmlformats.org/drawingml/2006/main">
            <a:r>
              <a:t/>
            </a:r>
          </a:p>
          <a:p xmlns:a="http://schemas.openxmlformats.org/drawingml/2006/main">
            <a:r>
              <a:t>Agents as tools</a:t>
            </a:r>
          </a:p>
          <a:p xmlns:a="http://schemas.openxmlformats.org/drawingml/2006/main">
            <a:r>
              <a:t>https://learn.microsoft.com/en-us/agent-framework/journey/agents-as-tools</a:t>
            </a:r>
          </a:p>
          <a:p xmlns:a="http://schemas.openxmlformats.org/drawingml/2006/main">
            <a:r>
              <a:t/>
            </a:r>
          </a:p>
          <a:p xmlns:a="http://schemas.openxmlformats.org/drawingml/2006/main">
            <a:r>
              <a:t>MCP integration</a:t>
            </a:r>
          </a:p>
          <a:p xmlns:a="http://schemas.openxmlformats.org/drawingml/2006/main">
            <a:r>
              <a:t>https://learn.microsoft.com/en-us/agent-framework/agents/tools/local-mcp-tools</a:t>
            </a:r>
          </a:p>
          <a:p xmlns:a="http://schemas.openxmlformats.org/drawingml/2006/main">
            <a:r>
              <a:t/>
            </a:r>
          </a:p>
          <a:p xmlns:a="http://schemas.openxmlformats.org/drawingml/2006/main">
            <a:r>
              <a:t>A2A hosting</a:t>
            </a:r>
          </a:p>
          <a:p xmlns:a="http://schemas.openxmlformats.org/drawingml/2006/main">
            <a:r>
              <a:t>https://learn.microsoft.com/en-us/agent-framework/hosting/self-hosting/a2a</a:t>
            </a:r>
          </a:p>
          <a:p xmlns:a="http://schemas.openxmlformats.org/drawingml/2006/main">
            <a:r>
              <a:t/>
            </a:r>
          </a:p>
          <a:p xmlns:a="http://schemas.openxmlformats.org/drawingml/2006/main">
            <a:r>
              <a:t>AG-UI overview</a:t>
            </a:r>
          </a:p>
          <a:p xmlns:a="http://schemas.openxmlformats.org/drawingml/2006/main">
            <a:r>
              <a:t>https://learn.microsoft.com/en-us/agent-framework/integrations/ag-ui/</a:t>
            </a:r>
          </a:p>
          <a:p xmlns:a="http://schemas.openxmlformats.org/drawingml/2006/main">
            <a:r>
              <a:t/>
            </a:r>
          </a:p>
          <a:p xmlns:a="http://schemas.openxmlformats.org/drawingml/2006/main">
            <a:r>
              <a:t>Self-hosting</a:t>
            </a:r>
          </a:p>
          <a:p xmlns:a="http://schemas.openxmlformats.org/drawingml/2006/main">
            <a:r>
              <a:t>https://learn.microsoft.com/en-us/agent-framework/hosting/self-hosting</a:t>
            </a:r>
          </a:p>
          <a:p xmlns:a="http://schemas.openxmlformats.org/drawingml/2006/main">
            <a:r>
              <a:t/>
            </a:r>
          </a:p>
          <a:p xmlns:a="http://schemas.openxmlformats.org/drawingml/2006/main">
            <a:r>
              <a:t>Durable Extension</a:t>
            </a:r>
          </a:p>
          <a:p xmlns:a="http://schemas.openxmlformats.org/drawingml/2006/main">
            <a:r>
              <a:t>https://learn.microsoft.com/en-us/agent-framework/integrations/azure-functions</a:t>
            </a:r>
          </a:p>
          <a:p xmlns:a="http://schemas.openxmlformats.org/drawingml/2006/main">
            <a:r>
              <a:t/>
            </a:r>
          </a:p>
          <a:p xmlns:a="http://schemas.openxmlformats.org/drawingml/2006/main">
            <a:r>
              <a:t>Agent safety</a:t>
            </a:r>
          </a:p>
          <a:p xmlns:a="http://schemas.openxmlformats.org/drawingml/2006/main">
            <a:r>
              <a:t>https://learn.microsoft.com/en-gb/agent-framework/agents/safety</a:t>
            </a:r>
          </a:p>
          <a:p xmlns:a="http://schemas.openxmlformats.org/drawingml/2006/main">
            <a:r>
              <a:t/>
            </a:r>
          </a:p>
          <a:p xmlns:a="http://schemas.openxmlformats.org/drawingml/2006/main">
            <a:r>
              <a:t>Function approval</a:t>
            </a:r>
          </a:p>
          <a:p xmlns:a="http://schemas.openxmlformats.org/drawingml/2006/main">
            <a:r>
              <a:t>https://learn.microsoft.com/en-us/agent-framework/agents/tools/tool-approval</a:t>
            </a:r>
          </a:p>
          <a:p xmlns:a="http://schemas.openxmlformats.org/drawingml/2006/main">
            <a:r>
              <a:t/>
            </a:r>
          </a:p>
          <a:p xmlns:a="http://schemas.openxmlformats.org/drawingml/2006/main">
            <a:r>
              <a:t>Observability</a:t>
            </a:r>
          </a:p>
          <a:p xmlns:a="http://schemas.openxmlformats.org/drawingml/2006/main">
            <a:r>
              <a:t>https://learn.microsoft.com/en-us/agent-framework/agents/observability?pivots=programming-language-csharp</a:t>
            </a:r>
          </a:p>
          <a:p xmlns:a="http://schemas.openxmlformats.org/drawingml/2006/main">
            <a:r>
              <a:t/>
            </a:r>
          </a:p>
          <a:p xmlns:a="http://schemas.openxmlformats.org/drawingml/2006/main">
            <a:r>
              <a:t>Evaluation</a:t>
            </a:r>
          </a:p>
          <a:p xmlns:a="http://schemas.openxmlformats.org/drawingml/2006/main">
            <a:r>
              <a:t>https://learn.microsoft.com/en-us/agent-framework/agents/evaluation?pivots=programming-language-csharp</a:t>
            </a:r>
          </a:p>
          <a:p xmlns:a="http://schemas.openxmlformats.org/drawingml/2006/main">
            <a:r>
              <a:t/>
            </a:r>
          </a:p>
          <a:p xmlns:a="http://schemas.openxmlformats.org/drawingml/2006/main">
            <a:r>
              <a:t>Agent Skills</a:t>
            </a:r>
          </a:p>
          <a:p xmlns:a="http://schemas.openxmlformats.org/drawingml/2006/main">
            <a:r>
              <a:t>https://learn.microsoft.com/en-us/agent-framework/agents/skills</a:t>
            </a:r>
          </a:p>
          <a:p xmlns:a="http://schemas.openxmlformats.org/drawingml/2006/main">
            <a:r>
              <a:t/>
            </a:r>
          </a:p>
          <a:p xmlns:a="http://schemas.openxmlformats.org/drawingml/2006/main">
            <a:r>
              <a:t>Harness Agent</a:t>
            </a:r>
          </a:p>
          <a:p xmlns:a="http://schemas.openxmlformats.org/drawingml/2006/main">
            <a:r>
              <a:t>https://learn.microsoft.com/agent-framework/get-started/harness</a:t>
            </a:r>
          </a:p>
          <a:p xmlns:a="http://schemas.openxmlformats.org/drawingml/2006/main">
            <a:r>
              <a:t/>
            </a:r>
          </a:p>
          <a:p xmlns:a="http://schemas.openxmlformats.org/drawingml/2006/main">
            <a:r>
              <a:t>FIDES status and limitations</a:t>
            </a:r>
          </a:p>
          <a:p xmlns:a="http://schemas.openxmlformats.org/drawingml/2006/main">
            <a:r>
              <a:t>https://learn.microsoft.com/en-us/agent-framework/agents/security</a:t>
            </a:r>
          </a:p>
          <a:p xmlns:a="http://schemas.openxmlformats.org/drawingml/2006/main">
            <a:r>
              <a:t/>
            </a:r>
          </a:p>
          <a:p xmlns:a="http://schemas.openxmlformats.org/drawingml/2006/main">
            <a:r>
              <a:t>Primary documentation checked 17 October 2026. Local line references describe the reviewed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COMMENTARY</a:t>
            </a:r>
          </a:p>
          <a:p xmlns:a="http://schemas.openxmlformats.org/drawingml/2006/main">
            <a:r>
              <a:t>Close by asking each engineer to describe how they would integrate the same pattern into their own system. The transferable skill is defining the boundary, exposing appropriate operations, managing state, and measuring outcomes. InvoiceAI is the capstone evidence that they can combine those decisions in a working .NET application.</a:t>
            </a:r>
          </a:p>
          <a:p xmlns:a="http://schemas.openxmlformats.org/drawingml/2006/main">
            <a:r>
              <a:t>FINAL DISCUSSION</a:t>
            </a:r>
          </a:p>
          <a:p xmlns:a="http://schemas.openxmlformats.org/drawingml/2006/main">
            <a:r>
              <a:t>Which feature would you ship first, which would you defer, and what evidence would change that decision?</a:t>
            </a:r>
          </a:p>
          <a:p xmlns:a="http://schemas.openxmlformats.org/drawingml/2006/main">
            <a:r>
              <a:t/>
            </a:r>
          </a:p>
          <a:p xmlns:a="http://schemas.openxmlformats.org/drawingml/2006/main">
            <a:r>
              <a:t>COURSE STATUS</a:t>
            </a:r>
          </a:p>
          <a:p xmlns:a="http://schemas.openxmlformats.org/drawingml/2006/main">
            <a:r>
              <a:t>Course close.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62dbbfbd174a1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b18cedb9672467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d804de3cc1a408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fc0b31098414a1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16af57ead314ff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72bcc987b2945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A627AD-DFB7-4750-9C82-7040075CBF0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FB3508C-210D-4D21-8A83-C35B603995A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AE4F31C-E71F-4603-8795-2BE66717E92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4C18E0D-FAA6-4EDE-B0B7-6C27BC9FC28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DA56FDB-5DB3-481B-8862-50E56FD31ED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C4854DB-B990-4419-8177-0B61733EF21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40F87F-55C8-44AD-B4D8-8F07D664222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8E3AAE2-9E8E-4EC3-A8E4-99586E8F6E0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6633BC-B7CA-46FB-B68F-F432B61084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DD09B7-37EE-4923-8836-8767E94D26F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8dd549a3734fbd" /><Relationship Type="http://schemas.openxmlformats.org/officeDocument/2006/relationships/slideLayout" Target="/ppt/slideLayouts/slideLayout1.xml" Id="Rf51aa3eb2a804583" /><Relationship Type="http://schemas.openxmlformats.org/officeDocument/2006/relationships/slideLayout" Target="/ppt/slideLayouts/slideLayout2.xml" Id="R1f8afbd70e8c4250" /><Relationship Type="http://schemas.openxmlformats.org/officeDocument/2006/relationships/slideLayout" Target="/ppt/slideLayouts/slideLayout3.xml" Id="R286fc519b97f476d" /><Relationship Type="http://schemas.openxmlformats.org/officeDocument/2006/relationships/slideLayout" Target="/ppt/slideLayouts/slideLayout4.xml" Id="Ra4a6e8bcad9743f9" /><Relationship Type="http://schemas.openxmlformats.org/officeDocument/2006/relationships/slideLayout" Target="/ppt/slideLayouts/slideLayout5.xml" Id="R73ae32fe4a0248b4" /><Relationship Type="http://schemas.openxmlformats.org/officeDocument/2006/relationships/slideLayout" Target="/ppt/slideLayouts/slideLayout6.xml" Id="R08514a903c4b44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51aa3eb2a804583"/>
    <p:sldLayoutId xmlns:r="http://schemas.openxmlformats.org/officeDocument/2006/relationships" id="2147483650" r:id="R1f8afbd70e8c4250"/>
    <p:sldLayoutId xmlns:r="http://schemas.openxmlformats.org/officeDocument/2006/relationships" id="2147483651" r:id="R286fc519b97f476d"/>
    <p:sldLayoutId xmlns:r="http://schemas.openxmlformats.org/officeDocument/2006/relationships" id="2147483652" r:id="Ra4a6e8bcad9743f9"/>
    <p:sldLayoutId xmlns:r="http://schemas.openxmlformats.org/officeDocument/2006/relationships" id="2147483653" r:id="R73ae32fe4a0248b4"/>
    <p:sldLayoutId xmlns:r="http://schemas.openxmlformats.org/officeDocument/2006/relationships" id="2147483654" r:id="R08514a903c4b44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96fd14769b545f1" /><Relationship Type="http://schemas.openxmlformats.org/officeDocument/2006/relationships/image" Target="/ppt/media/image.png" Id="R525e461eb903411a" /><Relationship Type="http://schemas.openxmlformats.org/officeDocument/2006/relationships/notesSlide" Target="/ppt/notesSlides/notesSlide1.xml" Id="Rdbdff75c347b4c6d" /><Relationship Type="http://schemas.microsoft.com/office/2018/10/relationships/comments" Target="/ppt/comments/modernComment.xml" Id="R82824cdd9d764e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a48723c00ab464b" /><Relationship Type="http://schemas.openxmlformats.org/officeDocument/2006/relationships/notesSlide" Target="/ppt/notesSlides/notesSlide2.xml" Id="R1a495003313b493b" /><Relationship Type="http://schemas.microsoft.com/office/2018/10/relationships/comments" Target="/ppt/comments/modernComment2.xml" Id="R418fc198e2c248f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5295ded02af4b97" /><Relationship Type="http://schemas.openxmlformats.org/officeDocument/2006/relationships/notesSlide" Target="/ppt/notesSlides/notesSlide3.xml" Id="Rd41904af18034681" /><Relationship Type="http://schemas.microsoft.com/office/2018/10/relationships/comments" Target="/ppt/comments/modernComment3.xml" Id="Rb63db556073649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6dd6c1f1ad240af" /><Relationship Type="http://schemas.openxmlformats.org/officeDocument/2006/relationships/notesSlide" Target="/ppt/notesSlides/notesSlide4.xml" Id="R4c552a1b3b6e4090" /><Relationship Type="http://schemas.microsoft.com/office/2018/10/relationships/comments" Target="/ppt/comments/modernComment4.xml" Id="R0a02467a23dc485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e2e0aafe7074d74" /><Relationship Type="http://schemas.openxmlformats.org/officeDocument/2006/relationships/image" Target="/ppt/media/image2.png" Id="R0980b1b8c5124fe8" /><Relationship Type="http://schemas.openxmlformats.org/officeDocument/2006/relationships/notesSlide" Target="/ppt/notesSlides/notesSlide5.xml" Id="Rdaa2a56fd16f4e7b" /><Relationship Type="http://schemas.microsoft.com/office/2018/10/relationships/comments" Target="/ppt/comments/modernComment5.xml" Id="R1779ce12896445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33e3346755d4689" /><Relationship Type="http://schemas.openxmlformats.org/officeDocument/2006/relationships/notesSlide" Target="/ppt/notesSlides/notesSlide6.xml" Id="Re97194a35bec4029" /><Relationship Type="http://schemas.microsoft.com/office/2018/10/relationships/comments" Target="/ppt/comments/modernComment6.xml" Id="Rb0cb76c581744a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37907a584514903" /><Relationship Type="http://schemas.openxmlformats.org/officeDocument/2006/relationships/image" Target="/ppt/media/image3.png" Id="Raca8b87c3d224ac6" /><Relationship Type="http://schemas.openxmlformats.org/officeDocument/2006/relationships/notesSlide" Target="/ppt/notesSlides/notesSlide7.xml" Id="Rc13ece66b5564351" /><Relationship Type="http://schemas.microsoft.com/office/2018/10/relationships/comments" Target="/ppt/comments/modernComment7.xml" Id="Rd19380930ff44d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161c3f9f37049f9" /><Relationship Type="http://schemas.openxmlformats.org/officeDocument/2006/relationships/notesSlide" Target="/ppt/notesSlides/notesSlide8.xml" Id="Rdb42a0dc54084ebd" /><Relationship Type="http://schemas.microsoft.com/office/2018/10/relationships/comments" Target="/ppt/comments/modernComment8.xml" Id="R8198f4a570c041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015559995634183" /><Relationship Type="http://schemas.openxmlformats.org/officeDocument/2006/relationships/notesSlide" Target="/ppt/notesSlides/notesSlide9.xml" Id="R5a632ead1db54500" /><Relationship Type="http://schemas.microsoft.com/office/2018/10/relationships/comments" Target="/ppt/comments/modernComment9.xml" Id="R06982f0c5a3c4ef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0bbf769321e4a7a" /><Relationship Type="http://schemas.openxmlformats.org/officeDocument/2006/relationships/notesSlide" Target="/ppt/notesSlides/notesSlide10.xml" Id="R0f20f4f0e591432c" /><Relationship Type="http://schemas.microsoft.com/office/2018/10/relationships/comments" Target="/ppt/comments/modernComment10.xml" Id="R9eb7f768ab3d432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905a8e9b4a04fc9" /><Relationship Type="http://schemas.openxmlformats.org/officeDocument/2006/relationships/notesSlide" Target="/ppt/notesSlides/notesSlide11.xml" Id="R093be2310a2d4984" /><Relationship Type="http://schemas.microsoft.com/office/2018/10/relationships/comments" Target="/ppt/comments/modernComment11.xml" Id="Rb73af584817f4cf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99350ed99ca4efd" /><Relationship Type="http://schemas.openxmlformats.org/officeDocument/2006/relationships/notesSlide" Target="/ppt/notesSlides/notesSlide12.xml" Id="R2dd0491f18e243b6" /><Relationship Type="http://schemas.microsoft.com/office/2018/10/relationships/comments" Target="/ppt/comments/modernComment12.xml" Id="R8ad3c85dffde45c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ded119556f94b50" /><Relationship Type="http://schemas.openxmlformats.org/officeDocument/2006/relationships/image" Target="/ppt/media/image4.png" Id="R37e9b69309dd4ca1" /><Relationship Type="http://schemas.openxmlformats.org/officeDocument/2006/relationships/notesSlide" Target="/ppt/notesSlides/notesSlide13.xml" Id="Rc3738ac7f64148c8" /><Relationship Type="http://schemas.microsoft.com/office/2018/10/relationships/comments" Target="/ppt/comments/modernComment13.xml" Id="R438ea0e5fc654ee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5d0b6b43ba74238" /><Relationship Type="http://schemas.openxmlformats.org/officeDocument/2006/relationships/notesSlide" Target="/ppt/notesSlides/notesSlide14.xml" Id="Re84be92da9ee4f60" /><Relationship Type="http://schemas.microsoft.com/office/2018/10/relationships/comments" Target="/ppt/comments/modernComment14.xml" Id="R0b5bbb5cda4041c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0f5201aa7af4a49" /><Relationship Type="http://schemas.openxmlformats.org/officeDocument/2006/relationships/notesSlide" Target="/ppt/notesSlides/notesSlide15.xml" Id="Ra71ec9c1e856402c" /><Relationship Type="http://schemas.microsoft.com/office/2018/10/relationships/comments" Target="/ppt/comments/modernComment15.xml" Id="R6d355d4b339d4bd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253d94fe7c1428d" /><Relationship Type="http://schemas.openxmlformats.org/officeDocument/2006/relationships/notesSlide" Target="/ppt/notesSlides/notesSlide16.xml" Id="R15e706ed99bd4657" /><Relationship Type="http://schemas.microsoft.com/office/2018/10/relationships/comments" Target="/ppt/comments/modernComment16.xml" Id="Ra6abf97365c74a6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cb8936e136d42ba" /><Relationship Type="http://schemas.openxmlformats.org/officeDocument/2006/relationships/notesSlide" Target="/ppt/notesSlides/notesSlide17.xml" Id="Raa01e63e8a31427f" /><Relationship Type="http://schemas.microsoft.com/office/2018/10/relationships/comments" Target="/ppt/comments/modernComment17.xml" Id="Rcef38a01f0ef44b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a5df40395fc47bd" /><Relationship Type="http://schemas.openxmlformats.org/officeDocument/2006/relationships/notesSlide" Target="/ppt/notesSlides/notesSlide18.xml" Id="R4d467fb8822348e5" /><Relationship Type="http://schemas.microsoft.com/office/2018/10/relationships/comments" Target="/ppt/comments/modernComment18.xml" Id="Rdd698fc88799490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6a9c25170164154" /><Relationship Type="http://schemas.openxmlformats.org/officeDocument/2006/relationships/notesSlide" Target="/ppt/notesSlides/notesSlide19.xml" Id="Ra2a0727555c54610" /><Relationship Type="http://schemas.microsoft.com/office/2018/10/relationships/comments" Target="/ppt/comments/modernComment19.xml" Id="Red0acd5c36d44a2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deed7d097374df2" /><Relationship Type="http://schemas.openxmlformats.org/officeDocument/2006/relationships/notesSlide" Target="/ppt/notesSlides/notesSlide20.xml" Id="Rf7b517806e5d4f10" /><Relationship Type="http://schemas.microsoft.com/office/2018/10/relationships/comments" Target="/ppt/comments/modernComment20.xml" Id="R869abf1803c14e6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e172c369f7a4d9b" /><Relationship Type="http://schemas.openxmlformats.org/officeDocument/2006/relationships/notesSlide" Target="/ppt/notesSlides/notesSlide21.xml" Id="R0c93361df5334bfb" /><Relationship Type="http://schemas.microsoft.com/office/2018/10/relationships/comments" Target="/ppt/comments/modernComment21.xml" Id="R73ab825b1e434d5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db044ab668f4db1" /><Relationship Type="http://schemas.openxmlformats.org/officeDocument/2006/relationships/image" Target="/ppt/media/image5.png" Id="Rc9d2f15a7a4d4683" /><Relationship Type="http://schemas.openxmlformats.org/officeDocument/2006/relationships/notesSlide" Target="/ppt/notesSlides/notesSlide22.xml" Id="Rb3e714eed20244fc" /><Relationship Type="http://schemas.microsoft.com/office/2018/10/relationships/comments" Target="/ppt/comments/modernComment22.xml" Id="Rfad8d673747b4fc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5656f8f6e084bd2" /><Relationship Type="http://schemas.openxmlformats.org/officeDocument/2006/relationships/notesSlide" Target="/ppt/notesSlides/notesSlide23.xml" Id="R9aac582bef2947df" /><Relationship Type="http://schemas.microsoft.com/office/2018/10/relationships/comments" Target="/ppt/comments/modernComment23.xml" Id="R2f57c0975f9248c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0acaa929aa3479b" /><Relationship Type="http://schemas.openxmlformats.org/officeDocument/2006/relationships/notesSlide" Target="/ppt/notesSlides/notesSlide24.xml" Id="R02eac1d7ad6449f7" /><Relationship Type="http://schemas.microsoft.com/office/2018/10/relationships/comments" Target="/ppt/comments/modernComment24.xml" Id="Rd25cb1a6412e473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ca48e9912ff4de6" /><Relationship Type="http://schemas.openxmlformats.org/officeDocument/2006/relationships/notesSlide" Target="/ppt/notesSlides/notesSlide25.xml" Id="Re0859e94f1004895" /><Relationship Type="http://schemas.microsoft.com/office/2018/10/relationships/comments" Target="/ppt/comments/modernComment25.xml" Id="R54f340e59e684e7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ab8284476c242e6" /><Relationship Type="http://schemas.openxmlformats.org/officeDocument/2006/relationships/notesSlide" Target="/ppt/notesSlides/notesSlide26.xml" Id="Rcab62f1e7cb14863" /><Relationship Type="http://schemas.microsoft.com/office/2018/10/relationships/comments" Target="/ppt/comments/modernComment26.xml" Id="R96296b3cdf2c4aa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a90a234ef2a480e" /><Relationship Type="http://schemas.openxmlformats.org/officeDocument/2006/relationships/notesSlide" Target="/ppt/notesSlides/notesSlide27.xml" Id="R110cc49d7de8470d" /><Relationship Type="http://schemas.microsoft.com/office/2018/10/relationships/comments" Target="/ppt/comments/modernComment27.xml" Id="R2b3e08c86ba34a3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e9d0f2f61d24ed0" /><Relationship Type="http://schemas.openxmlformats.org/officeDocument/2006/relationships/notesSlide" Target="/ppt/notesSlides/notesSlide28.xml" Id="R88e81b11035642ce" /><Relationship Type="http://schemas.microsoft.com/office/2018/10/relationships/comments" Target="/ppt/comments/modernComment28.xml" Id="R36bd04371c6645e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87e8ccabb3547a7" /><Relationship Type="http://schemas.openxmlformats.org/officeDocument/2006/relationships/notesSlide" Target="/ppt/notesSlides/notesSlide29.xml" Id="Rafc993119c544151" /><Relationship Type="http://schemas.microsoft.com/office/2018/10/relationships/comments" Target="/ppt/comments/modernComment29.xml" Id="R00748e0263894f5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3ba0d58188e4793" /><Relationship Type="http://schemas.openxmlformats.org/officeDocument/2006/relationships/notesSlide" Target="/ppt/notesSlides/notesSlide30.xml" Id="Rb7e1aa44506f43ba" /><Relationship Type="http://schemas.microsoft.com/office/2018/10/relationships/comments" Target="/ppt/comments/modernComment30.xml" Id="R469200da549142d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e74b0b39c98474a" /><Relationship Type="http://schemas.openxmlformats.org/officeDocument/2006/relationships/notesSlide" Target="/ppt/notesSlides/notesSlide31.xml" Id="R3638955a81be4b29" /><Relationship Type="http://schemas.microsoft.com/office/2018/10/relationships/comments" Target="/ppt/comments/modernComment31.xml" Id="Raf0fc50199de4f1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9dd2a023b6c340b0" /><Relationship Type="http://schemas.openxmlformats.org/officeDocument/2006/relationships/image" Target="/ppt/media/image6.png" Id="Rc9503d78bbde4132" /><Relationship Type="http://schemas.openxmlformats.org/officeDocument/2006/relationships/notesSlide" Target="/ppt/notesSlides/notesSlide32.xml" Id="R9a510139e3324441" /><Relationship Type="http://schemas.microsoft.com/office/2018/10/relationships/comments" Target="/ppt/comments/modernComment32.xml" Id="Rf2bbf3db9f5f445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c00006a39ca74f0e" /><Relationship Type="http://schemas.openxmlformats.org/officeDocument/2006/relationships/notesSlide" Target="/ppt/notesSlides/notesSlide33.xml" Id="Re9be89d310074719" /><Relationship Type="http://schemas.microsoft.com/office/2018/10/relationships/comments" Target="/ppt/comments/modernComment33.xml" Id="Rab6f2805f25146b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b4842f81d727440b" /><Relationship Type="http://schemas.openxmlformats.org/officeDocument/2006/relationships/notesSlide" Target="/ppt/notesSlides/notesSlide34.xml" Id="R25b4fd463a8a440f" /><Relationship Type="http://schemas.microsoft.com/office/2018/10/relationships/comments" Target="/ppt/comments/modernComment34.xml" Id="Raced7a90aecf492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bbf3bb00e958489c" /><Relationship Type="http://schemas.openxmlformats.org/officeDocument/2006/relationships/notesSlide" Target="/ppt/notesSlides/notesSlide35.xml" Id="Rc9f9532cf6014b28" /><Relationship Type="http://schemas.microsoft.com/office/2018/10/relationships/comments" Target="/ppt/comments/modernComment35.xml" Id="R81bda6a5dd95435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39bf27632ad64dde" /><Relationship Type="http://schemas.openxmlformats.org/officeDocument/2006/relationships/notesSlide" Target="/ppt/notesSlides/notesSlide36.xml" Id="Re6af988f376c4b73" /><Relationship Type="http://schemas.microsoft.com/office/2018/10/relationships/comments" Target="/ppt/comments/modernComment36.xml" Id="Rbdc98e9d931e4de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777ab18d81e84843" /><Relationship Type="http://schemas.openxmlformats.org/officeDocument/2006/relationships/notesSlide" Target="/ppt/notesSlides/notesSlide37.xml" Id="R15f46894c87c4bf3" /><Relationship Type="http://schemas.microsoft.com/office/2018/10/relationships/comments" Target="/ppt/comments/modernComment37.xml" Id="Rb44f748cef51428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b92711b079bd4153" /><Relationship Type="http://schemas.openxmlformats.org/officeDocument/2006/relationships/notesSlide" Target="/ppt/notesSlides/notesSlide38.xml" Id="R718e26b54bda4578" /><Relationship Type="http://schemas.microsoft.com/office/2018/10/relationships/comments" Target="/ppt/comments/modernComment38.xml" Id="R7b059d64d1c345a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74177eaa70164923" /><Relationship Type="http://schemas.openxmlformats.org/officeDocument/2006/relationships/notesSlide" Target="/ppt/notesSlides/notesSlide39.xml" Id="Rbc1094bec420422b" /><Relationship Type="http://schemas.microsoft.com/office/2018/10/relationships/comments" Target="/ppt/comments/modernComment39.xml" Id="Rdc715981749947f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ec2d73199edf462b" /><Relationship Type="http://schemas.openxmlformats.org/officeDocument/2006/relationships/image" Target="/ppt/media/image7.png" Id="R01c126ae0fad474a" /><Relationship Type="http://schemas.openxmlformats.org/officeDocument/2006/relationships/notesSlide" Target="/ppt/notesSlides/notesSlide40.xml" Id="R7f7b3380ee5b4022" /><Relationship Type="http://schemas.microsoft.com/office/2018/10/relationships/comments" Target="/ppt/comments/modernComment40.xml" Id="Rf43aa86d0b3e46f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e47031f662574bf5" /><Relationship Type="http://schemas.openxmlformats.org/officeDocument/2006/relationships/notesSlide" Target="/ppt/notesSlides/notesSlide41.xml" Id="R77709768e2e648e6" /><Relationship Type="http://schemas.microsoft.com/office/2018/10/relationships/comments" Target="/ppt/comments/modernComment41.xml" Id="Rc2d4e23f64ad475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dfec808f00654198" /><Relationship Type="http://schemas.openxmlformats.org/officeDocument/2006/relationships/notesSlide" Target="/ppt/notesSlides/notesSlide42.xml" Id="R2cf157ee45554d2e" /><Relationship Type="http://schemas.microsoft.com/office/2018/10/relationships/comments" Target="/ppt/comments/modernComment42.xml" Id="R1137c52c759e4369"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35cd9d4868894cb7" /><Relationship Type="http://schemas.openxmlformats.org/officeDocument/2006/relationships/notesSlide" Target="/ppt/notesSlides/notesSlide43.xml" Id="Rbc7d7051cddd4e3b" /><Relationship Type="http://schemas.microsoft.com/office/2018/10/relationships/comments" Target="/ppt/comments/modernComment43.xml" Id="R75e1d33e1e394d2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4d74804c0cdf4447" /><Relationship Type="http://schemas.openxmlformats.org/officeDocument/2006/relationships/notesSlide" Target="/ppt/notesSlides/notesSlide44.xml" Id="R8e30377ab4174584" /><Relationship Type="http://schemas.microsoft.com/office/2018/10/relationships/comments" Target="/ppt/comments/modernComment44.xml" Id="R5ed8b26fcb7948cf"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44d20962ddaa489f" /><Relationship Type="http://schemas.openxmlformats.org/officeDocument/2006/relationships/notesSlide" Target="/ppt/notesSlides/notesSlide45.xml" Id="Rb9449f2480d24739" /><Relationship Type="http://schemas.microsoft.com/office/2018/10/relationships/comments" Target="/ppt/comments/modernComment45.xml" Id="Rb5d0456510b54a18"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1ce94b03957e4260" /><Relationship Type="http://schemas.openxmlformats.org/officeDocument/2006/relationships/notesSlide" Target="/ppt/notesSlides/notesSlide46.xml" Id="R77f63b46d23240da" /><Relationship Type="http://schemas.microsoft.com/office/2018/10/relationships/comments" Target="/ppt/comments/modernComment46.xml" Id="R56a1ddfa2b5b45d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c606eacf22b1408e" /><Relationship Type="http://schemas.openxmlformats.org/officeDocument/2006/relationships/notesSlide" Target="/ppt/notesSlides/notesSlide47.xml" Id="R55cad30ae6184215" /><Relationship Type="http://schemas.microsoft.com/office/2018/10/relationships/comments" Target="/ppt/comments/modernComment47.xml" Id="Rc3524f3f421f4fbf"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699f4eadf9d645c1" /><Relationship Type="http://schemas.openxmlformats.org/officeDocument/2006/relationships/image" Target="/ppt/media/image8.png" Id="Rfb4875a48b274d3d" /><Relationship Type="http://schemas.openxmlformats.org/officeDocument/2006/relationships/notesSlide" Target="/ppt/notesSlides/notesSlide48.xml" Id="Re8b31d2b54d9478d" /><Relationship Type="http://schemas.microsoft.com/office/2018/10/relationships/comments" Target="/ppt/comments/modernComment48.xml" Id="Rc705e7ecee3042a7"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3100874d2a1c4ba3" /><Relationship Type="http://schemas.openxmlformats.org/officeDocument/2006/relationships/notesSlide" Target="/ppt/notesSlides/notesSlide49.xml" Id="Rfb7fa50fef7b4296" /><Relationship Type="http://schemas.microsoft.com/office/2018/10/relationships/comments" Target="/ppt/comments/modernComment49.xml" Id="R2ecdc6b0f6734fb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647e6b417abc4c15" /><Relationship Type="http://schemas.openxmlformats.org/officeDocument/2006/relationships/notesSlide" Target="/ppt/notesSlides/notesSlide50.xml" Id="Rd960e1d5bb2c4221" /><Relationship Type="http://schemas.microsoft.com/office/2018/10/relationships/comments" Target="/ppt/comments/modernComment50.xml" Id="Ree56d638d66549bc"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d623aca24f194b3f" /><Relationship Type="http://schemas.openxmlformats.org/officeDocument/2006/relationships/notesSlide" Target="/ppt/notesSlides/notesSlide51.xml" Id="R8a8472931e7340e8" /><Relationship Type="http://schemas.microsoft.com/office/2018/10/relationships/comments" Target="/ppt/comments/modernComment51.xml" Id="Rf3861a155a7049b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3e66761774fd4062" /><Relationship Type="http://schemas.openxmlformats.org/officeDocument/2006/relationships/image" Target="/ppt/media/image9.png" Id="R5117fbfc7d8a4cba" /><Relationship Type="http://schemas.openxmlformats.org/officeDocument/2006/relationships/notesSlide" Target="/ppt/notesSlides/notesSlide52.xml" Id="R78e74595ebd74cc0" /><Relationship Type="http://schemas.microsoft.com/office/2018/10/relationships/comments" Target="/ppt/comments/modernComment52.xml" Id="Rce7ce95f569a4df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11f00cc6e40a48c4" /><Relationship Type="http://schemas.openxmlformats.org/officeDocument/2006/relationships/notesSlide" Target="/ppt/notesSlides/notesSlide53.xml" Id="R0e849208501f4f36" /><Relationship Type="http://schemas.microsoft.com/office/2018/10/relationships/comments" Target="/ppt/comments/modernComment53.xml" Id="Rc57879c773c040ee"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3bc960d1781d49ad" /><Relationship Type="http://schemas.openxmlformats.org/officeDocument/2006/relationships/notesSlide" Target="/ppt/notesSlides/notesSlide54.xml" Id="Ra85ea73b9fd649a6" /><Relationship Type="http://schemas.microsoft.com/office/2018/10/relationships/comments" Target="/ppt/comments/modernComment54.xml" Id="Re21245b3d32e4f5d"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fe303dfdd2254226" /><Relationship Type="http://schemas.openxmlformats.org/officeDocument/2006/relationships/notesSlide" Target="/ppt/notesSlides/notesSlide55.xml" Id="Rc45f1ca139414fd3" /><Relationship Type="http://schemas.microsoft.com/office/2018/10/relationships/comments" Target="/ppt/comments/modernComment55.xml" Id="R4e544306168440fa"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8e9741c7b9514386" /><Relationship Type="http://schemas.openxmlformats.org/officeDocument/2006/relationships/notesSlide" Target="/ppt/notesSlides/notesSlide56.xml" Id="R2190dfbbdb9c4f2a" /><Relationship Type="http://schemas.microsoft.com/office/2018/10/relationships/comments" Target="/ppt/comments/modernComment56.xml" Id="R611900f53fc147c7"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56b1f19964664f9d" /><Relationship Type="http://schemas.openxmlformats.org/officeDocument/2006/relationships/notesSlide" Target="/ppt/notesSlides/notesSlide57.xml" Id="R49716ce3dce146e9" /><Relationship Type="http://schemas.microsoft.com/office/2018/10/relationships/comments" Target="/ppt/comments/modernComment57.xml" Id="Red79523f8e9f4274"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8ebeb49e323c455c" /><Relationship Type="http://schemas.openxmlformats.org/officeDocument/2006/relationships/image" Target="/ppt/media/image10.png" Id="Rb926378426f14fd1" /><Relationship Type="http://schemas.openxmlformats.org/officeDocument/2006/relationships/notesSlide" Target="/ppt/notesSlides/notesSlide58.xml" Id="R8f6843cbf81f4059" /><Relationship Type="http://schemas.microsoft.com/office/2018/10/relationships/comments" Target="/ppt/comments/modernComment58.xml" Id="Rd302102141794b64"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8f1bb11758dc4480" /><Relationship Type="http://schemas.openxmlformats.org/officeDocument/2006/relationships/notesSlide" Target="/ppt/notesSlides/notesSlide59.xml" Id="R82d2566188144083" /><Relationship Type="http://schemas.microsoft.com/office/2018/10/relationships/comments" Target="/ppt/comments/modernComment59.xml" Id="R16b9a00618c44526"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68a593a85eac4fa1" /><Relationship Type="http://schemas.openxmlformats.org/officeDocument/2006/relationships/notesSlide" Target="/ppt/notesSlides/notesSlide60.xml" Id="Rc8c772d444e74170" /><Relationship Type="http://schemas.microsoft.com/office/2018/10/relationships/comments" Target="/ppt/comments/modernComment60.xml" Id="R259eccd2ef964fd8"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94bd3142e7e44901" /><Relationship Type="http://schemas.openxmlformats.org/officeDocument/2006/relationships/notesSlide" Target="/ppt/notesSlides/notesSlide61.xml" Id="Re3640fc99b5f4f88" /><Relationship Type="http://schemas.microsoft.com/office/2018/10/relationships/comments" Target="/ppt/comments/modernComment61.xml" Id="R0932835549e34396"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497d36f8f321420a" /><Relationship Type="http://schemas.openxmlformats.org/officeDocument/2006/relationships/notesSlide" Target="/ppt/notesSlides/notesSlide62.xml" Id="Rf599d078fbe44876" /><Relationship Type="http://schemas.microsoft.com/office/2018/10/relationships/comments" Target="/ppt/comments/modernComment62.xml" Id="Rcd027731f60e4740"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a5661fe4ab5e40c5" /><Relationship Type="http://schemas.openxmlformats.org/officeDocument/2006/relationships/notesSlide" Target="/ppt/notesSlides/notesSlide63.xml" Id="R430e453f8fd74f72" /><Relationship Type="http://schemas.microsoft.com/office/2018/10/relationships/comments" Target="/ppt/comments/modernComment63.xml" Id="Rc9163c1ecb6642e5"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c5e73e0e87094d1b" /><Relationship Type="http://schemas.openxmlformats.org/officeDocument/2006/relationships/notesSlide" Target="/ppt/notesSlides/notesSlide64.xml" Id="R4b98122f3f4b4213" /><Relationship Type="http://schemas.microsoft.com/office/2018/10/relationships/comments" Target="/ppt/comments/modernComment64.xml" Id="R68f1968941e9484a"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f0fc3d6e63014b4a" /><Relationship Type="http://schemas.openxmlformats.org/officeDocument/2006/relationships/notesSlide" Target="/ppt/notesSlides/notesSlide65.xml" Id="R45d8225e95324c2f" /><Relationship Type="http://schemas.microsoft.com/office/2018/10/relationships/comments" Target="/ppt/comments/modernComment65.xml" Id="Reb137cbd9ea64af5"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28104e9a453446f3" /><Relationship Type="http://schemas.openxmlformats.org/officeDocument/2006/relationships/image" Target="/ppt/media/image11.png" Id="R401db7f7f31549ef" /><Relationship Type="http://schemas.openxmlformats.org/officeDocument/2006/relationships/notesSlide" Target="/ppt/notesSlides/notesSlide66.xml" Id="R8e280a1478da4831" /><Relationship Type="http://schemas.microsoft.com/office/2018/10/relationships/comments" Target="/ppt/comments/modernComment66.xml" Id="R8ee8486d7ecb49ff"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190f580186894989" /><Relationship Type="http://schemas.openxmlformats.org/officeDocument/2006/relationships/notesSlide" Target="/ppt/notesSlides/notesSlide67.xml" Id="Rb68e6cbb58a74adc" /><Relationship Type="http://schemas.microsoft.com/office/2018/10/relationships/comments" Target="/ppt/comments/modernComment67.xml" Id="R6999daa8dc564895"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3a97fc9836e84548" /><Relationship Type="http://schemas.openxmlformats.org/officeDocument/2006/relationships/notesSlide" Target="/ppt/notesSlides/notesSlide68.xml" Id="R35fb4890f7b248ac" /><Relationship Type="http://schemas.microsoft.com/office/2018/10/relationships/comments" Target="/ppt/comments/modernComment68.xml" Id="Ra0e428f8804b4d8e"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95dc778460394e8b" /><Relationship Type="http://schemas.openxmlformats.org/officeDocument/2006/relationships/notesSlide" Target="/ppt/notesSlides/notesSlide69.xml" Id="R1455fab03af14683" /><Relationship Type="http://schemas.microsoft.com/office/2018/10/relationships/comments" Target="/ppt/comments/modernComment69.xml" Id="Redeab5c55b82478a"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5972f5d5527c4ae2" /><Relationship Type="http://schemas.openxmlformats.org/officeDocument/2006/relationships/notesSlide" Target="/ppt/notesSlides/notesSlide70.xml" Id="Rd2641dffdaca411d" /><Relationship Type="http://schemas.microsoft.com/office/2018/10/relationships/comments" Target="/ppt/comments/modernComment70.xml" Id="R8c41596c26e44711"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53f4cef0d1b1429d" /><Relationship Type="http://schemas.openxmlformats.org/officeDocument/2006/relationships/notesSlide" Target="/ppt/notesSlides/notesSlide71.xml" Id="R86ec38e4ebf74063" /><Relationship Type="http://schemas.microsoft.com/office/2018/10/relationships/comments" Target="/ppt/comments/modernComment71.xml" Id="R9aa4849403174a57"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eae1781cd9e74a9f" /><Relationship Type="http://schemas.openxmlformats.org/officeDocument/2006/relationships/notesSlide" Target="/ppt/notesSlides/notesSlide72.xml" Id="R3d55d12b66ef4808" /><Relationship Type="http://schemas.microsoft.com/office/2018/10/relationships/comments" Target="/ppt/comments/modernComment72.xml" Id="Rf7d3cee459e54eeb"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33ecc6a47274405c" /><Relationship Type="http://schemas.openxmlformats.org/officeDocument/2006/relationships/notesSlide" Target="/ppt/notesSlides/notesSlide73.xml" Id="R466b449d23dc46db" /><Relationship Type="http://schemas.microsoft.com/office/2018/10/relationships/comments" Target="/ppt/comments/modernComment73.xml" Id="Rb5021964e4e246d4"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14b2ba3ce6d74017" /><Relationship Type="http://schemas.openxmlformats.org/officeDocument/2006/relationships/image" Target="/ppt/media/image12.png" Id="R249435e4a76f4aa6" /><Relationship Type="http://schemas.openxmlformats.org/officeDocument/2006/relationships/notesSlide" Target="/ppt/notesSlides/notesSlide74.xml" Id="Rb52c15f6938e4d05" /><Relationship Type="http://schemas.microsoft.com/office/2018/10/relationships/comments" Target="/ppt/comments/modernComment74.xml" Id="R532d1252846b431a"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4af942987a184fd6" /><Relationship Type="http://schemas.openxmlformats.org/officeDocument/2006/relationships/notesSlide" Target="/ppt/notesSlides/notesSlide75.xml" Id="R635a124ec0bf480a" /><Relationship Type="http://schemas.microsoft.com/office/2018/10/relationships/comments" Target="/ppt/comments/modernComment75.xml" Id="R1d015f8c92ff4377"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7835106821e945ed" /><Relationship Type="http://schemas.openxmlformats.org/officeDocument/2006/relationships/notesSlide" Target="/ppt/notesSlides/notesSlide76.xml" Id="R8171d38a2678431c" /><Relationship Type="http://schemas.microsoft.com/office/2018/10/relationships/comments" Target="/ppt/comments/modernComment76.xml" Id="Rae8c8083e4a94690"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1202023591704dd4" /><Relationship Type="http://schemas.openxmlformats.org/officeDocument/2006/relationships/notesSlide" Target="/ppt/notesSlides/notesSlide77.xml" Id="Rc35492a077834755" /><Relationship Type="http://schemas.microsoft.com/office/2018/10/relationships/comments" Target="/ppt/comments/modernComment77.xml" Id="R846e3bcf3fa648f3"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f007d7397773441d" /><Relationship Type="http://schemas.openxmlformats.org/officeDocument/2006/relationships/notesSlide" Target="/ppt/notesSlides/notesSlide78.xml" Id="Rd24592838ca74e28" /><Relationship Type="http://schemas.microsoft.com/office/2018/10/relationships/comments" Target="/ppt/comments/modernComment78.xml" Id="R4e3167f7ee4a4919"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a20e3e1412594367" /><Relationship Type="http://schemas.openxmlformats.org/officeDocument/2006/relationships/notesSlide" Target="/ppt/notesSlides/notesSlide79.xml" Id="Raa85340505344cc4" /><Relationship Type="http://schemas.microsoft.com/office/2018/10/relationships/comments" Target="/ppt/comments/modernComment79.xml" Id="Rb821d2dcc16745b3"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c1fd8d4647844545" /><Relationship Type="http://schemas.openxmlformats.org/officeDocument/2006/relationships/notesSlide" Target="/ppt/notesSlides/notesSlide80.xml" Id="Rd1024214384b4403" /><Relationship Type="http://schemas.microsoft.com/office/2018/10/relationships/comments" Target="/ppt/comments/modernComment80.xml" Id="R350997f41e744894"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6b3ee844706b4298" /><Relationship Type="http://schemas.openxmlformats.org/officeDocument/2006/relationships/notesSlide" Target="/ppt/notesSlides/notesSlide81.xml" Id="R58d929ec92bf46f9" /><Relationship Type="http://schemas.microsoft.com/office/2018/10/relationships/comments" Target="/ppt/comments/modernComment81.xml" Id="R40defaa4f4b04732"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5dd7a08cae8e4551" /><Relationship Type="http://schemas.openxmlformats.org/officeDocument/2006/relationships/image" Target="/ppt/media/image13.png" Id="R151886bd9aef4b89" /><Relationship Type="http://schemas.openxmlformats.org/officeDocument/2006/relationships/notesSlide" Target="/ppt/notesSlides/notesSlide82.xml" Id="Raf7768d148764559" /><Relationship Type="http://schemas.microsoft.com/office/2018/10/relationships/comments" Target="/ppt/comments/modernComment82.xml" Id="Ra4ce71893a684b31"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e18b5a4242ad46df" /><Relationship Type="http://schemas.openxmlformats.org/officeDocument/2006/relationships/notesSlide" Target="/ppt/notesSlides/notesSlide83.xml" Id="R04922afb8bfc4fab" /><Relationship Type="http://schemas.microsoft.com/office/2018/10/relationships/comments" Target="/ppt/comments/modernComment83.xml" Id="Rb214913a35984147"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4c6dc25cd49f4ce8" /><Relationship Type="http://schemas.openxmlformats.org/officeDocument/2006/relationships/notesSlide" Target="/ppt/notesSlides/notesSlide84.xml" Id="R42aca0bc31ba4435" /><Relationship Type="http://schemas.microsoft.com/office/2018/10/relationships/comments" Target="/ppt/comments/modernComment84.xml" Id="Rc67099445a204b74"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a3d30a6353bd442a" /><Relationship Type="http://schemas.openxmlformats.org/officeDocument/2006/relationships/notesSlide" Target="/ppt/notesSlides/notesSlide85.xml" Id="R5c605dce222741ae" /><Relationship Type="http://schemas.microsoft.com/office/2018/10/relationships/comments" Target="/ppt/comments/modernComment85.xml" Id="R0ab235af01064175"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8b5021d09dd5449c" /><Relationship Type="http://schemas.openxmlformats.org/officeDocument/2006/relationships/notesSlide" Target="/ppt/notesSlides/notesSlide86.xml" Id="R400df3ff35604b77" /><Relationship Type="http://schemas.microsoft.com/office/2018/10/relationships/comments" Target="/ppt/comments/modernComment86.xml" Id="Racbfea8f2c2949bb"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75d5e613038a463e" /><Relationship Type="http://schemas.openxmlformats.org/officeDocument/2006/relationships/notesSlide" Target="/ppt/notesSlides/notesSlide87.xml" Id="R4aa51d3ea36a4bc0" /><Relationship Type="http://schemas.microsoft.com/office/2018/10/relationships/comments" Target="/ppt/comments/modernComment87.xml" Id="R304e95d8159e4650"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8e4563b0d97b49a7" /><Relationship Type="http://schemas.openxmlformats.org/officeDocument/2006/relationships/notesSlide" Target="/ppt/notesSlides/notesSlide88.xml" Id="Rc793dd4a87df47a9" /><Relationship Type="http://schemas.microsoft.com/office/2018/10/relationships/comments" Target="/ppt/comments/modernComment88.xml" Id="R5512154b84174480"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177709d4c6f342eb" /><Relationship Type="http://schemas.openxmlformats.org/officeDocument/2006/relationships/notesSlide" Target="/ppt/notesSlides/notesSlide89.xml" Id="R8b878446dc6342db" /><Relationship Type="http://schemas.microsoft.com/office/2018/10/relationships/comments" Target="/ppt/comments/modernComment89.xml" Id="R4f8c3b1ca5d74ec5"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b8bd63da729b4be2" /><Relationship Type="http://schemas.openxmlformats.org/officeDocument/2006/relationships/notesSlide" Target="/ppt/notesSlides/notesSlide90.xml" Id="R8431ee0776434c47" /><Relationship Type="http://schemas.microsoft.com/office/2018/10/relationships/comments" Target="/ppt/comments/modernComment90.xml" Id="R62b20893359c4d08" /></Relationships>
</file>

<file path=ppt/slides/_rels/slide91.xml.rels>&#65279;<?xml version="1.0" encoding="utf-8"?><Relationships xmlns="http://schemas.openxmlformats.org/package/2006/relationships"><Relationship Type="http://schemas.openxmlformats.org/officeDocument/2006/relationships/slideLayout" Target="/ppt/slideLayouts/slideLayout6.xml" Id="R41275249b25a443c" /><Relationship Type="http://schemas.openxmlformats.org/officeDocument/2006/relationships/notesSlide" Target="/ppt/notesSlides/notesSlide91.xml" Id="R519e2c9f2615464c" /><Relationship Type="http://schemas.microsoft.com/office/2018/10/relationships/comments" Target="/ppt/comments/modernComment91.xml" Id="R5d148b3ab49a4445" /></Relationships>
</file>

<file path=ppt/slides/_rels/slide92.xml.rels>&#65279;<?xml version="1.0" encoding="utf-8"?><Relationships xmlns="http://schemas.openxmlformats.org/package/2006/relationships"><Relationship Type="http://schemas.openxmlformats.org/officeDocument/2006/relationships/slideLayout" Target="/ppt/slideLayouts/slideLayout6.xml" Id="R6d86f514712443fe" /><Relationship Type="http://schemas.openxmlformats.org/officeDocument/2006/relationships/notesSlide" Target="/ppt/notesSlides/notesSlide92.xml" Id="R7596ceb050ef47ed" /><Relationship Type="http://schemas.microsoft.com/office/2018/10/relationships/comments" Target="/ppt/comments/modernComment92.xml" Id="R12b6f27c8d884792" /></Relationships>
</file>

<file path=ppt/slides/_rels/slide93.xml.rels>&#65279;<?xml version="1.0" encoding="utf-8"?><Relationships xmlns="http://schemas.openxmlformats.org/package/2006/relationships"><Relationship Type="http://schemas.openxmlformats.org/officeDocument/2006/relationships/slideLayout" Target="/ppt/slideLayouts/slideLayout6.xml" Id="R0f2ecf0a9c004435" /><Relationship Type="http://schemas.openxmlformats.org/officeDocument/2006/relationships/notesSlide" Target="/ppt/notesSlides/notesSlide93.xml" Id="R46b403a6a66249da" /><Relationship Type="http://schemas.microsoft.com/office/2018/10/relationships/comments" Target="/ppt/comments/modernComment93.xml" Id="R8540d2084b074b7a" /></Relationships>
</file>

<file path=ppt/slides/_rels/slide94.xml.rels>&#65279;<?xml version="1.0" encoding="utf-8"?><Relationships xmlns="http://schemas.openxmlformats.org/package/2006/relationships"><Relationship Type="http://schemas.openxmlformats.org/officeDocument/2006/relationships/slideLayout" Target="/ppt/slideLayouts/slideLayout6.xml" Id="Rb6c0d98ec4164688" /><Relationship Type="http://schemas.openxmlformats.org/officeDocument/2006/relationships/notesSlide" Target="/ppt/notesSlides/notesSlide94.xml" Id="R652012b853e94187" /><Relationship Type="http://schemas.microsoft.com/office/2018/10/relationships/comments" Target="/ppt/comments/modernComment94.xml" Id="Re87034475da74221" /></Relationships>
</file>

<file path=ppt/slides/_rels/slide95.xml.rels>&#65279;<?xml version="1.0" encoding="utf-8"?><Relationships xmlns="http://schemas.openxmlformats.org/package/2006/relationships"><Relationship Type="http://schemas.openxmlformats.org/officeDocument/2006/relationships/slideLayout" Target="/ppt/slideLayouts/slideLayout6.xml" Id="Rc7325522947b4f04" /><Relationship Type="http://schemas.openxmlformats.org/officeDocument/2006/relationships/notesSlide" Target="/ppt/notesSlides/notesSlide95.xml" Id="R9013868a02a74360" /><Relationship Type="http://schemas.microsoft.com/office/2018/10/relationships/comments" Target="/ppt/comments/modernComment95.xml" Id="R13833642575d416a" /></Relationships>
</file>

<file path=ppt/slides/_rels/slide96.xml.rels>&#65279;<?xml version="1.0" encoding="utf-8"?><Relationships xmlns="http://schemas.openxmlformats.org/package/2006/relationships"><Relationship Type="http://schemas.openxmlformats.org/officeDocument/2006/relationships/slideLayout" Target="/ppt/slideLayouts/slideLayout6.xml" Id="R509e4b3b90b04c6a" /><Relationship Type="http://schemas.openxmlformats.org/officeDocument/2006/relationships/notesSlide" Target="/ppt/notesSlides/notesSlide96.xml" Id="Re4a3c6264cb6455d" /><Relationship Type="http://schemas.microsoft.com/office/2018/10/relationships/comments" Target="/ppt/comments/modernComment96.xml" Id="R8420b53d8f8b4cfb" /></Relationships>
</file>

<file path=ppt/slides/_rels/slide97.xml.rels>&#65279;<?xml version="1.0" encoding="utf-8"?><Relationships xmlns="http://schemas.openxmlformats.org/package/2006/relationships"><Relationship Type="http://schemas.openxmlformats.org/officeDocument/2006/relationships/slideLayout" Target="/ppt/slideLayouts/slideLayout6.xml" Id="R36af333c28dc4318" /><Relationship Type="http://schemas.openxmlformats.org/officeDocument/2006/relationships/notesSlide" Target="/ppt/notesSlides/notesSlide97.xml" Id="Re6c723aa7b0d49be" /><Relationship Type="http://schemas.microsoft.com/office/2018/10/relationships/comments" Target="/ppt/comments/modernComment97.xml" Id="R3eb8e9c911b64162" /></Relationships>
</file>

<file path=ppt/slides/_rels/slide98.xml.rels>&#65279;<?xml version="1.0" encoding="utf-8"?><Relationships xmlns="http://schemas.openxmlformats.org/package/2006/relationships"><Relationship Type="http://schemas.openxmlformats.org/officeDocument/2006/relationships/slideLayout" Target="/ppt/slideLayouts/slideLayout6.xml" Id="Rd19121c6dead4982" /><Relationship Type="http://schemas.openxmlformats.org/officeDocument/2006/relationships/image" Target="/ppt/media/image14.png" Id="R6c899fd4412f42a3" /><Relationship Type="http://schemas.openxmlformats.org/officeDocument/2006/relationships/notesSlide" Target="/ppt/notesSlides/notesSlide98.xml" Id="Rd786f81b929c4917" /><Relationship Type="http://schemas.microsoft.com/office/2018/10/relationships/comments" Target="/ppt/comments/modernComment98.xml" Id="Rc4d414ed287c4cf3" /></Relationships>
</file>

<file path=ppt/slides/slide1.xml><?xml version="1.0" encoding="utf-8"?>
<p:sld xmlns:p="http://schemas.openxmlformats.org/presentationml/2006/main">
  <p:cSld>
    <p:bg>
      <p:bgPr>
        <a:solidFill xmlns:a="http://schemas.openxmlformats.org/drawingml/2006/main">
          <a:srgbClr val="06182B"/>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3B7BAE05-4644-4EB9-9414-4235F1A2502C}"/>
              </a:ext>
            </a:extLst>
          </p:cNvPr>
          <p:cNvPicPr>
            <a:picLocks xmlns:a="http://schemas.openxmlformats.org/drawingml/2006/main" noChangeAspect="1"/>
          </p:cNvPicPr>
          <p:nvPr/>
        </p:nvPicPr>
        <p:blipFill>
          <a:blip xmlns:r="http://schemas.openxmlformats.org/officeDocument/2006/relationships" xmlns:a="http://schemas.openxmlformats.org/drawingml/2006/main" r:embed="R525e461eb903411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ntext">
            <a:extLst xmlns:a="http://schemas.openxmlformats.org/drawingml/2006/main">
              <a:ext uri="{FF2B5EF4-FFF2-40B4-BE49-F238E27FC236}">
                <a16:creationId xmlns:a16="http://schemas.microsoft.com/office/drawing/2014/main" id="{D1AC3A76-37C8-4696-9BAB-E8810BFF2FE0}"/>
              </a:ext>
            </a:extLst>
          </p:cNvPr>
          <p:cNvSpPr>
            <a:spLocks xmlns:a="http://schemas.openxmlformats.org/drawingml/2006/main" noGrp="1"/>
          </p:cNvSpPr>
          <p:nvPr/>
        </p:nvSpPr>
        <p:spPr>
          <a:xfrm xmlns:a="http://schemas.openxmlformats.org/drawingml/2006/main">
            <a:off x="647700" y="95250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73DEDC"/>
                </a:solidFill>
                <a:latin typeface="Segoe UI"/>
                <a:ea typeface="Segoe UI"/>
                <a:cs typeface="Segoe UI"/>
              </a:defRPr>
            </a:defPPr>
            <a:lvl1pPr algn="l">
              <a:defRPr sz="1500" b="1">
                <a:solidFill>
                  <a:srgbClr val="73DEDC"/>
                </a:solidFill>
                <a:latin typeface="Segoe UI"/>
                <a:ea typeface="Segoe UI"/>
                <a:cs typeface="Segoe UI"/>
              </a:defRPr>
            </a:lvl1pPr>
            <a:lvl2pPr algn="l">
              <a:defRPr sz="1500" b="1">
                <a:solidFill>
                  <a:srgbClr val="73DEDC"/>
                </a:solidFill>
                <a:latin typeface="Segoe UI"/>
                <a:ea typeface="Segoe UI"/>
                <a:cs typeface="Segoe UI"/>
              </a:defRPr>
            </a:lvl2pPr>
            <a:lvl3pPr algn="l">
              <a:defRPr sz="1500" b="1">
                <a:solidFill>
                  <a:srgbClr val="73DEDC"/>
                </a:solidFill>
                <a:latin typeface="Segoe UI"/>
                <a:ea typeface="Segoe UI"/>
                <a:cs typeface="Segoe UI"/>
              </a:defRPr>
            </a:lvl3pPr>
            <a:lvl4pPr algn="l">
              <a:defRPr sz="1500" b="1">
                <a:solidFill>
                  <a:srgbClr val="73DEDC"/>
                </a:solidFill>
                <a:latin typeface="Segoe UI"/>
                <a:ea typeface="Segoe UI"/>
                <a:cs typeface="Segoe UI"/>
              </a:defRPr>
            </a:lvl4pPr>
            <a:lvl5pPr algn="l">
              <a:defRPr sz="1500" b="1">
                <a:solidFill>
                  <a:srgbClr val="73DEDC"/>
                </a:solidFill>
                <a:latin typeface="Segoe UI"/>
                <a:ea typeface="Segoe UI"/>
                <a:cs typeface="Segoe UI"/>
              </a:defRPr>
            </a:lvl5pPr>
            <a:lvl6pPr algn="l">
              <a:defRPr sz="1500" b="1">
                <a:solidFill>
                  <a:srgbClr val="73DEDC"/>
                </a:solidFill>
                <a:latin typeface="Segoe UI"/>
                <a:ea typeface="Segoe UI"/>
                <a:cs typeface="Segoe UI"/>
              </a:defRPr>
            </a:lvl6pPr>
            <a:lvl7pPr algn="l">
              <a:defRPr sz="1500" b="1">
                <a:solidFill>
                  <a:srgbClr val="73DEDC"/>
                </a:solidFill>
                <a:latin typeface="Segoe UI"/>
                <a:ea typeface="Segoe UI"/>
                <a:cs typeface="Segoe UI"/>
              </a:defRPr>
            </a:lvl7pPr>
            <a:lvl8pPr algn="l">
              <a:defRPr sz="1500" b="1">
                <a:solidFill>
                  <a:srgbClr val="73DEDC"/>
                </a:solidFill>
                <a:latin typeface="Segoe UI"/>
                <a:ea typeface="Segoe UI"/>
                <a:cs typeface="Segoe UI"/>
              </a:defRPr>
            </a:lvl8pPr>
            <a:lvl9pPr algn="l">
              <a:defRPr sz="1500" b="1">
                <a:solidFill>
                  <a:srgbClr val="73DEDC"/>
                </a:solidFill>
                <a:latin typeface="Segoe UI"/>
                <a:ea typeface="Segoe UI"/>
                <a:cs typeface="Segoe UI"/>
              </a:defRPr>
            </a:lvl9pPr>
          </a:lstStyle>
          <a:p xmlns:a="http://schemas.openxmlformats.org/drawingml/2006/main">
            <a:pPr algn="l">
              <a:defRPr sz="1500" b="1">
                <a:solidFill>
                  <a:srgbClr val="73DEDC"/>
                </a:solidFill>
                <a:latin typeface="Segoe UI"/>
                <a:ea typeface="Segoe UI"/>
                <a:cs typeface="Segoe UI"/>
              </a:defRPr>
            </a:pPr>
            <a:r>
              <a:rPr sz="1500" b="1">
                <a:solidFill>
                  <a:srgbClr val="73DEDC"/>
                </a:solidFill>
                <a:latin typeface="Segoe UI"/>
                <a:ea typeface="Segoe UI"/>
                <a:cs typeface="Segoe UI"/>
              </a:rPr>
              <a:t>ADVANCED .NET ENGINEERING</a:t>
            </a:r>
          </a:p>
        </p:txBody>
      </p:sp>
      <p:sp>
        <p:nvSpPr>
          <p:cNvPr id="3" name="title">
            <a:extLst xmlns:a="http://schemas.openxmlformats.org/drawingml/2006/main">
              <a:ext uri="{FF2B5EF4-FFF2-40B4-BE49-F238E27FC236}">
                <a16:creationId xmlns:a16="http://schemas.microsoft.com/office/drawing/2014/main" id="{09237284-1D11-488D-98A8-BF4D77B2DD3C}"/>
              </a:ext>
            </a:extLst>
          </p:cNvPr>
          <p:cNvSpPr>
            <a:spLocks xmlns:a="http://schemas.openxmlformats.org/drawingml/2006/main" noGrp="1"/>
          </p:cNvSpPr>
          <p:nvPr/>
        </p:nvSpPr>
        <p:spPr>
          <a:xfrm xmlns:a="http://schemas.openxmlformats.org/drawingml/2006/main">
            <a:off x="647700" y="1809750"/>
            <a:ext cx="6858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125" b="1">
                <a:solidFill>
                  <a:srgbClr val="FFFFFF"/>
                </a:solidFill>
                <a:latin typeface="Segoe UI"/>
                <a:ea typeface="Segoe UI"/>
                <a:cs typeface="Segoe UI"/>
              </a:defRPr>
            </a:defPPr>
            <a:lvl1pPr algn="l">
              <a:defRPr sz="4125" b="1">
                <a:solidFill>
                  <a:srgbClr val="FFFFFF"/>
                </a:solidFill>
                <a:latin typeface="Segoe UI"/>
                <a:ea typeface="Segoe UI"/>
                <a:cs typeface="Segoe UI"/>
              </a:defRPr>
            </a:lvl1pPr>
            <a:lvl2pPr algn="l">
              <a:defRPr sz="4125" b="1">
                <a:solidFill>
                  <a:srgbClr val="FFFFFF"/>
                </a:solidFill>
                <a:latin typeface="Segoe UI"/>
                <a:ea typeface="Segoe UI"/>
                <a:cs typeface="Segoe UI"/>
              </a:defRPr>
            </a:lvl2pPr>
            <a:lvl3pPr algn="l">
              <a:defRPr sz="4125" b="1">
                <a:solidFill>
                  <a:srgbClr val="FFFFFF"/>
                </a:solidFill>
                <a:latin typeface="Segoe UI"/>
                <a:ea typeface="Segoe UI"/>
                <a:cs typeface="Segoe UI"/>
              </a:defRPr>
            </a:lvl3pPr>
            <a:lvl4pPr algn="l">
              <a:defRPr sz="4125" b="1">
                <a:solidFill>
                  <a:srgbClr val="FFFFFF"/>
                </a:solidFill>
                <a:latin typeface="Segoe UI"/>
                <a:ea typeface="Segoe UI"/>
                <a:cs typeface="Segoe UI"/>
              </a:defRPr>
            </a:lvl4pPr>
            <a:lvl5pPr algn="l">
              <a:defRPr sz="4125" b="1">
                <a:solidFill>
                  <a:srgbClr val="FFFFFF"/>
                </a:solidFill>
                <a:latin typeface="Segoe UI"/>
                <a:ea typeface="Segoe UI"/>
                <a:cs typeface="Segoe UI"/>
              </a:defRPr>
            </a:lvl5pPr>
            <a:lvl6pPr algn="l">
              <a:defRPr sz="4125" b="1">
                <a:solidFill>
                  <a:srgbClr val="FFFFFF"/>
                </a:solidFill>
                <a:latin typeface="Segoe UI"/>
                <a:ea typeface="Segoe UI"/>
                <a:cs typeface="Segoe UI"/>
              </a:defRPr>
            </a:lvl6pPr>
            <a:lvl7pPr algn="l">
              <a:defRPr sz="4125" b="1">
                <a:solidFill>
                  <a:srgbClr val="FFFFFF"/>
                </a:solidFill>
                <a:latin typeface="Segoe UI"/>
                <a:ea typeface="Segoe UI"/>
                <a:cs typeface="Segoe UI"/>
              </a:defRPr>
            </a:lvl7pPr>
            <a:lvl8pPr algn="l">
              <a:defRPr sz="4125" b="1">
                <a:solidFill>
                  <a:srgbClr val="FFFFFF"/>
                </a:solidFill>
                <a:latin typeface="Segoe UI"/>
                <a:ea typeface="Segoe UI"/>
                <a:cs typeface="Segoe UI"/>
              </a:defRPr>
            </a:lvl8pPr>
            <a:lvl9pPr algn="l">
              <a:defRPr sz="4125" b="1">
                <a:solidFill>
                  <a:srgbClr val="FFFFFF"/>
                </a:solidFill>
                <a:latin typeface="Segoe UI"/>
                <a:ea typeface="Segoe UI"/>
                <a:cs typeface="Segoe UI"/>
              </a:defRPr>
            </a:lvl9pPr>
          </a:lstStyle>
          <a:p xmlns:a="http://schemas.openxmlformats.org/drawingml/2006/main">
            <a:pPr algn="l">
              <a:defRPr sz="4125" b="1">
                <a:solidFill>
                  <a:srgbClr val="FFFFFF"/>
                </a:solidFill>
                <a:latin typeface="Segoe UI"/>
                <a:ea typeface="Segoe UI"/>
                <a:cs typeface="Segoe UI"/>
              </a:defRPr>
            </a:pPr>
            <a:r>
              <a:rPr sz="4125" b="1">
                <a:solidFill>
                  <a:srgbClr val="FFFFFF"/>
                </a:solidFill>
                <a:latin typeface="Segoe UI"/>
                <a:ea typeface="Segoe UI"/>
                <a:cs typeface="Segoe UI"/>
              </a:rPr>
              <a:t>AI integration with</a:t>
            </a:r>
          </a:p>
          <a:p xmlns:a="http://schemas.openxmlformats.org/drawingml/2006/main">
            <a:pPr algn="l">
              <a:defRPr sz="4125" b="1">
                <a:solidFill>
                  <a:srgbClr val="FFFFFF"/>
                </a:solidFill>
                <a:latin typeface="Segoe UI"/>
                <a:ea typeface="Segoe UI"/>
                <a:cs typeface="Segoe UI"/>
              </a:defRPr>
            </a:pPr>
            <a:r>
              <a:rPr sz="4125" b="1">
                <a:solidFill>
                  <a:srgbClr val="FFFFFF"/>
                </a:solidFill>
                <a:latin typeface="Segoe UI"/>
                <a:ea typeface="Segoe UI"/>
                <a:cs typeface="Segoe UI"/>
              </a:rPr>
              <a:t>Microsoft Agent Framework</a:t>
            </a:r>
          </a:p>
        </p:txBody>
      </p:sp>
      <p:sp>
        <p:nvSpPr>
          <p:cNvPr id="4" name="subtitle">
            <a:extLst xmlns:a="http://schemas.openxmlformats.org/drawingml/2006/main">
              <a:ext uri="{FF2B5EF4-FFF2-40B4-BE49-F238E27FC236}">
                <a16:creationId xmlns:a16="http://schemas.microsoft.com/office/drawing/2014/main" id="{65D39771-83CA-4BAB-8405-91F8CD701542}"/>
              </a:ext>
            </a:extLst>
          </p:cNvPr>
          <p:cNvSpPr>
            <a:spLocks xmlns:a="http://schemas.openxmlformats.org/drawingml/2006/main" noGrp="1"/>
          </p:cNvSpPr>
          <p:nvPr/>
        </p:nvSpPr>
        <p:spPr>
          <a:xfrm xmlns:a="http://schemas.openxmlformats.org/drawingml/2006/main">
            <a:off x="647700" y="4572000"/>
            <a:ext cx="6191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D9E6F0"/>
                </a:solidFill>
                <a:latin typeface="Segoe UI"/>
                <a:ea typeface="Segoe UI"/>
                <a:cs typeface="Segoe UI"/>
              </a:defRPr>
            </a:defPPr>
            <a:lvl1pPr algn="l">
              <a:defRPr sz="1950" b="0">
                <a:solidFill>
                  <a:srgbClr val="D9E6F0"/>
                </a:solidFill>
                <a:latin typeface="Segoe UI"/>
                <a:ea typeface="Segoe UI"/>
                <a:cs typeface="Segoe UI"/>
              </a:defRPr>
            </a:lvl1pPr>
            <a:lvl2pPr algn="l">
              <a:defRPr sz="1950" b="0">
                <a:solidFill>
                  <a:srgbClr val="D9E6F0"/>
                </a:solidFill>
                <a:latin typeface="Segoe UI"/>
                <a:ea typeface="Segoe UI"/>
                <a:cs typeface="Segoe UI"/>
              </a:defRPr>
            </a:lvl2pPr>
            <a:lvl3pPr algn="l">
              <a:defRPr sz="1950" b="0">
                <a:solidFill>
                  <a:srgbClr val="D9E6F0"/>
                </a:solidFill>
                <a:latin typeface="Segoe UI"/>
                <a:ea typeface="Segoe UI"/>
                <a:cs typeface="Segoe UI"/>
              </a:defRPr>
            </a:lvl3pPr>
            <a:lvl4pPr algn="l">
              <a:defRPr sz="1950" b="0">
                <a:solidFill>
                  <a:srgbClr val="D9E6F0"/>
                </a:solidFill>
                <a:latin typeface="Segoe UI"/>
                <a:ea typeface="Segoe UI"/>
                <a:cs typeface="Segoe UI"/>
              </a:defRPr>
            </a:lvl4pPr>
            <a:lvl5pPr algn="l">
              <a:defRPr sz="1950" b="0">
                <a:solidFill>
                  <a:srgbClr val="D9E6F0"/>
                </a:solidFill>
                <a:latin typeface="Segoe UI"/>
                <a:ea typeface="Segoe UI"/>
                <a:cs typeface="Segoe UI"/>
              </a:defRPr>
            </a:lvl5pPr>
            <a:lvl6pPr algn="l">
              <a:defRPr sz="1950" b="0">
                <a:solidFill>
                  <a:srgbClr val="D9E6F0"/>
                </a:solidFill>
                <a:latin typeface="Segoe UI"/>
                <a:ea typeface="Segoe UI"/>
                <a:cs typeface="Segoe UI"/>
              </a:defRPr>
            </a:lvl6pPr>
            <a:lvl7pPr algn="l">
              <a:defRPr sz="1950" b="0">
                <a:solidFill>
                  <a:srgbClr val="D9E6F0"/>
                </a:solidFill>
                <a:latin typeface="Segoe UI"/>
                <a:ea typeface="Segoe UI"/>
                <a:cs typeface="Segoe UI"/>
              </a:defRPr>
            </a:lvl7pPr>
            <a:lvl8pPr algn="l">
              <a:defRPr sz="1950" b="0">
                <a:solidFill>
                  <a:srgbClr val="D9E6F0"/>
                </a:solidFill>
                <a:latin typeface="Segoe UI"/>
                <a:ea typeface="Segoe UI"/>
                <a:cs typeface="Segoe UI"/>
              </a:defRPr>
            </a:lvl8pPr>
            <a:lvl9pPr algn="l">
              <a:defRPr sz="1950" b="0">
                <a:solidFill>
                  <a:srgbClr val="D9E6F0"/>
                </a:solidFill>
                <a:latin typeface="Segoe UI"/>
                <a:ea typeface="Segoe UI"/>
                <a:cs typeface="Segoe UI"/>
              </a:defRPr>
            </a:lvl9pPr>
          </a:lstStyle>
          <a:p xmlns:a="http://schemas.openxmlformats.org/drawingml/2006/main">
            <a:pPr algn="l">
              <a:defRPr sz="1950" b="0">
                <a:solidFill>
                  <a:srgbClr val="D9E6F0"/>
                </a:solidFill>
                <a:latin typeface="Segoe UI"/>
                <a:ea typeface="Segoe UI"/>
                <a:cs typeface="Segoe UI"/>
              </a:defRPr>
            </a:pPr>
            <a:r>
              <a:rPr sz="1950" b="0">
                <a:solidFill>
                  <a:srgbClr val="D9E6F0"/>
                </a:solidFill>
                <a:latin typeface="Segoe UI"/>
                <a:ea typeface="Segoe UI"/>
                <a:cs typeface="Segoe UI"/>
              </a:rPr>
              <a:t>Advanced .NET engineering course</a:t>
            </a:r>
          </a:p>
          <a:p xmlns:a="http://schemas.openxmlformats.org/drawingml/2006/main">
            <a:pPr algn="l">
              <a:defRPr sz="1950" b="0">
                <a:solidFill>
                  <a:srgbClr val="D9E6F0"/>
                </a:solidFill>
                <a:latin typeface="Segoe UI"/>
                <a:ea typeface="Segoe UI"/>
                <a:cs typeface="Segoe UI"/>
              </a:defRPr>
            </a:pPr>
            <a:r>
              <a:rPr sz="1950" b="0">
                <a:solidFill>
                  <a:srgbClr val="D9E6F0"/>
                </a:solidFill>
                <a:latin typeface="Segoe UI"/>
                <a:ea typeface="Segoe UI"/>
                <a:cs typeface="Segoe UI"/>
              </a:rPr>
              <a:t>InvoiceAI capstone</a:t>
            </a:r>
          </a:p>
        </p:txBody>
      </p:sp>
      <p:sp>
        <p:nvSpPr>
          <p:cNvPr id="5" name="footer">
            <a:extLst xmlns:a="http://schemas.openxmlformats.org/drawingml/2006/main">
              <a:ext uri="{FF2B5EF4-FFF2-40B4-BE49-F238E27FC236}">
                <a16:creationId xmlns:a16="http://schemas.microsoft.com/office/drawing/2014/main" id="{DD663891-88DA-4F2E-A15A-03B4CC979444}"/>
              </a:ext>
            </a:extLst>
          </p:cNvPr>
          <p:cNvSpPr>
            <a:spLocks xmlns:a="http://schemas.openxmlformats.org/drawingml/2006/main" noGrp="1"/>
          </p:cNvSpPr>
          <p:nvPr/>
        </p:nvSpPr>
        <p:spPr>
          <a:xfrm xmlns:a="http://schemas.openxmlformats.org/drawingml/2006/main">
            <a:off x="647700" y="6153150"/>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BC0D2"/>
                </a:solidFill>
                <a:latin typeface="Segoe UI"/>
                <a:ea typeface="Segoe UI"/>
                <a:cs typeface="Segoe UI"/>
              </a:defRPr>
            </a:defPPr>
            <a:lvl1pPr algn="l">
              <a:defRPr sz="1275" b="0">
                <a:solidFill>
                  <a:srgbClr val="ABC0D2"/>
                </a:solidFill>
                <a:latin typeface="Segoe UI"/>
                <a:ea typeface="Segoe UI"/>
                <a:cs typeface="Segoe UI"/>
              </a:defRPr>
            </a:lvl1pPr>
            <a:lvl2pPr algn="l">
              <a:defRPr sz="1275" b="0">
                <a:solidFill>
                  <a:srgbClr val="ABC0D2"/>
                </a:solidFill>
                <a:latin typeface="Segoe UI"/>
                <a:ea typeface="Segoe UI"/>
                <a:cs typeface="Segoe UI"/>
              </a:defRPr>
            </a:lvl2pPr>
            <a:lvl3pPr algn="l">
              <a:defRPr sz="1275" b="0">
                <a:solidFill>
                  <a:srgbClr val="ABC0D2"/>
                </a:solidFill>
                <a:latin typeface="Segoe UI"/>
                <a:ea typeface="Segoe UI"/>
                <a:cs typeface="Segoe UI"/>
              </a:defRPr>
            </a:lvl3pPr>
            <a:lvl4pPr algn="l">
              <a:defRPr sz="1275" b="0">
                <a:solidFill>
                  <a:srgbClr val="ABC0D2"/>
                </a:solidFill>
                <a:latin typeface="Segoe UI"/>
                <a:ea typeface="Segoe UI"/>
                <a:cs typeface="Segoe UI"/>
              </a:defRPr>
            </a:lvl4pPr>
            <a:lvl5pPr algn="l">
              <a:defRPr sz="1275" b="0">
                <a:solidFill>
                  <a:srgbClr val="ABC0D2"/>
                </a:solidFill>
                <a:latin typeface="Segoe UI"/>
                <a:ea typeface="Segoe UI"/>
                <a:cs typeface="Segoe UI"/>
              </a:defRPr>
            </a:lvl5pPr>
            <a:lvl6pPr algn="l">
              <a:defRPr sz="1275" b="0">
                <a:solidFill>
                  <a:srgbClr val="ABC0D2"/>
                </a:solidFill>
                <a:latin typeface="Segoe UI"/>
                <a:ea typeface="Segoe UI"/>
                <a:cs typeface="Segoe UI"/>
              </a:defRPr>
            </a:lvl6pPr>
            <a:lvl7pPr algn="l">
              <a:defRPr sz="1275" b="0">
                <a:solidFill>
                  <a:srgbClr val="ABC0D2"/>
                </a:solidFill>
                <a:latin typeface="Segoe UI"/>
                <a:ea typeface="Segoe UI"/>
                <a:cs typeface="Segoe UI"/>
              </a:defRPr>
            </a:lvl7pPr>
            <a:lvl8pPr algn="l">
              <a:defRPr sz="1275" b="0">
                <a:solidFill>
                  <a:srgbClr val="ABC0D2"/>
                </a:solidFill>
                <a:latin typeface="Segoe UI"/>
                <a:ea typeface="Segoe UI"/>
                <a:cs typeface="Segoe UI"/>
              </a:defRPr>
            </a:lvl8pPr>
            <a:lvl9pPr algn="l">
              <a:defRPr sz="1275" b="0">
                <a:solidFill>
                  <a:srgbClr val="ABC0D2"/>
                </a:solidFill>
                <a:latin typeface="Segoe UI"/>
                <a:ea typeface="Segoe UI"/>
                <a:cs typeface="Segoe UI"/>
              </a:defRPr>
            </a:lvl9pPr>
          </a:lstStyle>
          <a:p xmlns:a="http://schemas.openxmlformats.org/drawingml/2006/main">
            <a:pPr algn="l">
              <a:defRPr sz="1275" b="0">
                <a:solidFill>
                  <a:srgbClr val="ABC0D2"/>
                </a:solidFill>
                <a:latin typeface="Segoe UI"/>
                <a:ea typeface="Segoe UI"/>
                <a:cs typeface="Segoe UI"/>
              </a:defRPr>
            </a:pPr>
            <a:r>
              <a:rPr sz="1275" b="0">
                <a:solidFill>
                  <a:srgbClr val="ABC0D2"/>
                </a:solidFill>
                <a:latin typeface="Segoe UI"/>
                <a:ea typeface="Segoe UI"/>
                <a:cs typeface="Segoe UI"/>
              </a:rPr>
              <a:t>Instructor edition  /  October 2026</a:t>
            </a:r>
          </a:p>
        </p:txBody>
      </p:sp>
      <p:sp>
        <p:nvSpPr>
          <p:cNvPr id="6" name="page">
            <a:extLst xmlns:a="http://schemas.openxmlformats.org/drawingml/2006/main">
              <a:ext uri="{FF2B5EF4-FFF2-40B4-BE49-F238E27FC236}">
                <a16:creationId xmlns:a16="http://schemas.microsoft.com/office/drawing/2014/main" id="{4C400365-2423-44E5-A264-61FF8C640D63}"/>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ABC0D2"/>
                </a:solidFill>
                <a:latin typeface="Segoe UI"/>
                <a:ea typeface="Segoe UI"/>
                <a:cs typeface="Segoe UI"/>
              </a:defRPr>
            </a:defPPr>
            <a:lvl1pPr algn="r">
              <a:defRPr sz="1050" b="0">
                <a:solidFill>
                  <a:srgbClr val="ABC0D2"/>
                </a:solidFill>
                <a:latin typeface="Segoe UI"/>
                <a:ea typeface="Segoe UI"/>
                <a:cs typeface="Segoe UI"/>
              </a:defRPr>
            </a:lvl1pPr>
            <a:lvl2pPr algn="r">
              <a:defRPr sz="1050" b="0">
                <a:solidFill>
                  <a:srgbClr val="ABC0D2"/>
                </a:solidFill>
                <a:latin typeface="Segoe UI"/>
                <a:ea typeface="Segoe UI"/>
                <a:cs typeface="Segoe UI"/>
              </a:defRPr>
            </a:lvl2pPr>
            <a:lvl3pPr algn="r">
              <a:defRPr sz="1050" b="0">
                <a:solidFill>
                  <a:srgbClr val="ABC0D2"/>
                </a:solidFill>
                <a:latin typeface="Segoe UI"/>
                <a:ea typeface="Segoe UI"/>
                <a:cs typeface="Segoe UI"/>
              </a:defRPr>
            </a:lvl3pPr>
            <a:lvl4pPr algn="r">
              <a:defRPr sz="1050" b="0">
                <a:solidFill>
                  <a:srgbClr val="ABC0D2"/>
                </a:solidFill>
                <a:latin typeface="Segoe UI"/>
                <a:ea typeface="Segoe UI"/>
                <a:cs typeface="Segoe UI"/>
              </a:defRPr>
            </a:lvl4pPr>
            <a:lvl5pPr algn="r">
              <a:defRPr sz="1050" b="0">
                <a:solidFill>
                  <a:srgbClr val="ABC0D2"/>
                </a:solidFill>
                <a:latin typeface="Segoe UI"/>
                <a:ea typeface="Segoe UI"/>
                <a:cs typeface="Segoe UI"/>
              </a:defRPr>
            </a:lvl5pPr>
            <a:lvl6pPr algn="r">
              <a:defRPr sz="1050" b="0">
                <a:solidFill>
                  <a:srgbClr val="ABC0D2"/>
                </a:solidFill>
                <a:latin typeface="Segoe UI"/>
                <a:ea typeface="Segoe UI"/>
                <a:cs typeface="Segoe UI"/>
              </a:defRPr>
            </a:lvl6pPr>
            <a:lvl7pPr algn="r">
              <a:defRPr sz="1050" b="0">
                <a:solidFill>
                  <a:srgbClr val="ABC0D2"/>
                </a:solidFill>
                <a:latin typeface="Segoe UI"/>
                <a:ea typeface="Segoe UI"/>
                <a:cs typeface="Segoe UI"/>
              </a:defRPr>
            </a:lvl7pPr>
            <a:lvl8pPr algn="r">
              <a:defRPr sz="1050" b="0">
                <a:solidFill>
                  <a:srgbClr val="ABC0D2"/>
                </a:solidFill>
                <a:latin typeface="Segoe UI"/>
                <a:ea typeface="Segoe UI"/>
                <a:cs typeface="Segoe UI"/>
              </a:defRPr>
            </a:lvl8pPr>
            <a:lvl9pPr algn="r">
              <a:defRPr sz="1050" b="0">
                <a:solidFill>
                  <a:srgbClr val="ABC0D2"/>
                </a:solidFill>
                <a:latin typeface="Segoe UI"/>
                <a:ea typeface="Segoe UI"/>
                <a:cs typeface="Segoe UI"/>
              </a:defRPr>
            </a:lvl9pPr>
          </a:lstStyle>
          <a:p xmlns:a="http://schemas.openxmlformats.org/drawingml/2006/main">
            <a:pPr algn="r">
              <a:defRPr sz="1050" b="0">
                <a:solidFill>
                  <a:srgbClr val="ABC0D2"/>
                </a:solidFill>
                <a:latin typeface="Segoe UI"/>
                <a:ea typeface="Segoe UI"/>
                <a:cs typeface="Segoe UI"/>
              </a:defRPr>
            </a:pPr>
            <a:r>
              <a:rPr sz="1050" b="0">
                <a:solidFill>
                  <a:srgbClr val="ABC0D2"/>
                </a:solidFill>
                <a:latin typeface="Segoe UI"/>
                <a:ea typeface="Segoe UI"/>
                <a:cs typeface="Segoe UI"/>
              </a:rPr>
              <a:t>01</a:t>
            </a:r>
          </a:p>
        </p:txBody>
      </p:sp>
    </p:spTree>
    <p:extLst>
      <p:ext uri="{BB962C8B-B14F-4D97-AF65-F5344CB8AC3E}">
        <p14:creationId xmlns:p14="http://schemas.microsoft.com/office/powerpoint/2010/main" val="2093318952"/>
      </p:ext>
    </p:extLst>
  </p:cSld>
  <p:extLst>
    <p:ext uri="{6950BFC3-D8DA-4A85-94F7-54DA5524770B}">
      <p188:commentRel xmlns:r="http://schemas.openxmlformats.org/officeDocument/2006/relationships" xmlns:p188="http://schemas.microsoft.com/office/powerpoint/2018/8/main" r:id="R82824cdd9d764e54"/>
    </p:ext>
  </p:extLst>
</p:sld>
</file>

<file path=ppt/slides/slide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3AA26E25-680D-4E5E-9158-92BB480D1251}"/>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Course target</a:t>
            </a:r>
          </a:p>
        </p:txBody>
      </p:sp>
      <p:sp>
        <p:nvSpPr>
          <p:cNvPr id="2" name="title">
            <a:extLst xmlns:a="http://schemas.openxmlformats.org/drawingml/2006/main">
              <a:ext uri="{FF2B5EF4-FFF2-40B4-BE49-F238E27FC236}">
                <a16:creationId xmlns:a16="http://schemas.microsoft.com/office/drawing/2014/main" id="{E820BD2B-2CD4-4E1A-9D6B-54032399604C}"/>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The engineering outcomes</a:t>
            </a:r>
          </a:p>
        </p:txBody>
      </p:sp>
      <p:sp>
        <p:nvSpPr>
          <p:cNvPr id="3" name="footer">
            <a:extLst xmlns:a="http://schemas.openxmlformats.org/drawingml/2006/main">
              <a:ext uri="{FF2B5EF4-FFF2-40B4-BE49-F238E27FC236}">
                <a16:creationId xmlns:a16="http://schemas.microsoft.com/office/drawing/2014/main" id="{0E90048A-2C1A-4EA5-BC3A-48455EF30B6A}"/>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InvoiceAI capstone course</a:t>
            </a:r>
          </a:p>
        </p:txBody>
      </p:sp>
      <p:sp>
        <p:nvSpPr>
          <p:cNvPr id="4" name="page">
            <a:extLst xmlns:a="http://schemas.openxmlformats.org/drawingml/2006/main">
              <a:ext uri="{FF2B5EF4-FFF2-40B4-BE49-F238E27FC236}">
                <a16:creationId xmlns:a16="http://schemas.microsoft.com/office/drawing/2014/main" id="{5F329B01-DACA-479D-A378-E0A896503962}"/>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02</a:t>
            </a:r>
          </a:p>
        </p:txBody>
      </p:sp>
      <p:sp>
        <p:nvSpPr>
          <p:cNvPr id="5" name="label-0">
            <a:extLst xmlns:a="http://schemas.openxmlformats.org/drawingml/2006/main">
              <a:ext uri="{FF2B5EF4-FFF2-40B4-BE49-F238E27FC236}">
                <a16:creationId xmlns:a16="http://schemas.microsoft.com/office/drawing/2014/main" id="{CA13C580-B206-40DB-9B3E-C4672071614E}"/>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Integrate</a:t>
            </a:r>
          </a:p>
        </p:txBody>
      </p:sp>
      <p:sp>
        <p:nvSpPr>
          <p:cNvPr id="6" name="point-0">
            <a:extLst xmlns:a="http://schemas.openxmlformats.org/drawingml/2006/main">
              <a:ext uri="{FF2B5EF4-FFF2-40B4-BE49-F238E27FC236}">
                <a16:creationId xmlns:a16="http://schemas.microsoft.com/office/drawing/2014/main" id="{86B1C388-A664-4189-9A03-4B8B9D8D5191}"/>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Introduce a framework agent through a stable application boundary.</a:t>
            </a:r>
          </a:p>
        </p:txBody>
      </p:sp>
      <p:sp>
        <p:nvSpPr>
          <p:cNvPr id="7" name="label-1">
            <a:extLst xmlns:a="http://schemas.openxmlformats.org/drawingml/2006/main">
              <a:ext uri="{FF2B5EF4-FFF2-40B4-BE49-F238E27FC236}">
                <a16:creationId xmlns:a16="http://schemas.microsoft.com/office/drawing/2014/main" id="{A7445364-E842-4344-A559-CDF1BB74E81A}"/>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Constrain</a:t>
            </a:r>
          </a:p>
        </p:txBody>
      </p:sp>
      <p:sp>
        <p:nvSpPr>
          <p:cNvPr id="8" name="point-1">
            <a:extLst xmlns:a="http://schemas.openxmlformats.org/drawingml/2006/main">
              <a:ext uri="{FF2B5EF4-FFF2-40B4-BE49-F238E27FC236}">
                <a16:creationId xmlns:a16="http://schemas.microsoft.com/office/drawing/2014/main" id="{7A5DC5D6-8FE8-4487-AFA7-5AB4D26BC57E}"/>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Expose narrow tools and enforce permissions before business writes.</a:t>
            </a:r>
          </a:p>
        </p:txBody>
      </p:sp>
      <p:sp>
        <p:nvSpPr>
          <p:cNvPr id="9" name="label-2">
            <a:extLst xmlns:a="http://schemas.openxmlformats.org/drawingml/2006/main">
              <a:ext uri="{FF2B5EF4-FFF2-40B4-BE49-F238E27FC236}">
                <a16:creationId xmlns:a16="http://schemas.microsoft.com/office/drawing/2014/main" id="{803D11BF-7A9A-41F4-858A-1B990B8CA0C4}"/>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Operate</a:t>
            </a:r>
          </a:p>
        </p:txBody>
      </p:sp>
      <p:sp>
        <p:nvSpPr>
          <p:cNvPr id="10" name="point-2">
            <a:extLst xmlns:a="http://schemas.openxmlformats.org/drawingml/2006/main">
              <a:ext uri="{FF2B5EF4-FFF2-40B4-BE49-F238E27FC236}">
                <a16:creationId xmlns:a16="http://schemas.microsoft.com/office/drawing/2014/main" id="{05C745D3-BF78-4BC6-B374-CBB8AD8CC073}"/>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Measure execution, evaluate behavior, and ship a reversible rollout.</a:t>
            </a:r>
          </a:p>
        </p:txBody>
      </p:sp>
      <p:sp>
        <p:nvSpPr>
          <p:cNvPr id="11" name="label-3">
            <a:extLst xmlns:a="http://schemas.openxmlformats.org/drawingml/2006/main">
              <a:ext uri="{FF2B5EF4-FFF2-40B4-BE49-F238E27FC236}">
                <a16:creationId xmlns:a16="http://schemas.microsoft.com/office/drawing/2014/main" id="{C0439586-5E2A-4A5B-A3D1-AECD459A1957}"/>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Deliver</a:t>
            </a:r>
          </a:p>
        </p:txBody>
      </p:sp>
      <p:sp>
        <p:nvSpPr>
          <p:cNvPr id="12" name="point-3">
            <a:extLst xmlns:a="http://schemas.openxmlformats.org/drawingml/2006/main">
              <a:ext uri="{FF2B5EF4-FFF2-40B4-BE49-F238E27FC236}">
                <a16:creationId xmlns:a16="http://schemas.microsoft.com/office/drawing/2014/main" id="{5B2514BF-6431-4AB7-BAE1-9A865F27D506}"/>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Build InvoiceAI as a working capstone with evidence of correct outcomes.</a:t>
            </a:r>
          </a:p>
        </p:txBody>
      </p:sp>
    </p:spTree>
    <p:extLst>
      <p:ext uri="{BB962C8B-B14F-4D97-AF65-F5344CB8AC3E}">
        <p14:creationId xmlns:p14="http://schemas.microsoft.com/office/powerpoint/2010/main" val="1892307086"/>
      </p:ext>
    </p:extLst>
  </p:cSld>
  <p:extLst>
    <p:ext uri="{6950BFC3-D8DA-4A85-94F7-54DA5524770B}">
      <p188:commentRel xmlns:r="http://schemas.openxmlformats.org/officeDocument/2006/relationships" xmlns:p188="http://schemas.microsoft.com/office/powerpoint/2018/8/main" r:id="R418fc198e2c248f9"/>
    </p:ext>
  </p:extLst>
</p:sld>
</file>

<file path=ppt/slides/slide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context">
            <a:extLst xmlns:a="http://schemas.openxmlformats.org/drawingml/2006/main">
              <a:ext uri="{FF2B5EF4-FFF2-40B4-BE49-F238E27FC236}">
                <a16:creationId xmlns:a16="http://schemas.microsoft.com/office/drawing/2014/main" id="{6CC44DDD-C260-433A-985A-5C41127192F3}"/>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Suggested course plan</a:t>
            </a:r>
          </a:p>
        </p:txBody>
      </p:sp>
      <p:sp>
        <p:nvSpPr>
          <p:cNvPr id="2" name="title">
            <a:extLst xmlns:a="http://schemas.openxmlformats.org/drawingml/2006/main">
              <a:ext uri="{FF2B5EF4-FFF2-40B4-BE49-F238E27FC236}">
                <a16:creationId xmlns:a16="http://schemas.microsoft.com/office/drawing/2014/main" id="{268EE51C-B43E-4031-9DC0-9B20E3784640}"/>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Course structure</a:t>
            </a:r>
          </a:p>
        </p:txBody>
      </p:sp>
      <p:sp>
        <p:nvSpPr>
          <p:cNvPr id="3" name="footer">
            <a:extLst xmlns:a="http://schemas.openxmlformats.org/drawingml/2006/main">
              <a:ext uri="{FF2B5EF4-FFF2-40B4-BE49-F238E27FC236}">
                <a16:creationId xmlns:a16="http://schemas.microsoft.com/office/drawing/2014/main" id="{6995A7CC-25EA-4164-BE67-D81E6F59889B}"/>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InvoiceAI capstone course</a:t>
            </a:r>
          </a:p>
        </p:txBody>
      </p:sp>
      <p:sp>
        <p:nvSpPr>
          <p:cNvPr id="4" name="page">
            <a:extLst xmlns:a="http://schemas.openxmlformats.org/drawingml/2006/main">
              <a:ext uri="{FF2B5EF4-FFF2-40B4-BE49-F238E27FC236}">
                <a16:creationId xmlns:a16="http://schemas.microsoft.com/office/drawing/2014/main" id="{E69A9653-3C63-4003-8C9A-1FBD79A79B96}"/>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03</a:t>
            </a:r>
          </a:p>
        </p:txBody>
      </p:sp>
      <p:graphicFrame>
        <p:nvGraphicFramePr>
          <p:cNvPr id="5" name="">
            <a:extLst xmlns:a="http://schemas.openxmlformats.org/drawingml/2006/main">
              <a:ext uri="{FF2B5EF4-FFF2-40B4-BE49-F238E27FC236}">
                <a16:creationId xmlns:a16="http://schemas.microsoft.com/office/drawing/2014/main" id="{1B789635-3F85-4DC1-B46E-414A748F1093}"/>
              </a:ext>
            </a:extLst>
          </p:cNvPr>
          <p:cNvGraphicFramePr/>
          <p:nvPr/>
        </p:nvGraphicFramePr>
        <p:xfrm>
          <a:off xmlns:a="http://schemas.openxmlformats.org/drawingml/2006/main" x="685800" y="1809750"/>
          <a:ext xmlns:a="http://schemas.openxmlformats.org/drawingml/2006/main" cx="10820400" cy="4022979"/>
        </p:xfrm>
        <a:graphic xmlns:a="http://schemas.openxmlformats.org/drawingml/2006/main">
          <a:graphicData uri="http://schemas.openxmlformats.org/drawingml/2006/table">
            <a:tbl>
              <a:tblPr/>
              <a:tblGrid>
                <a:gridCol w="1406652"/>
                <a:gridCol w="4652772"/>
                <a:gridCol w="4760976"/>
              </a:tblGrid>
              <a:tr h="552450">
                <a:tc>
                  <a:txBody>
                    <a:bodyPr/>
                    <a:lstStyle/>
                    <a:p>
                      <a:r>
                        <a:rPr sz="1725" b="1">
                          <a:solidFill>
                            <a:srgbClr val="FFFFFF"/>
                          </a:solidFill>
                          <a:latin typeface="Segoe UI"/>
                          <a:ea typeface="Segoe UI"/>
                          <a:cs typeface="Segoe UI"/>
                        </a:rPr>
                        <a:t>Module</a:t>
                      </a:r>
                    </a:p>
                  </a:txBody>
                  <a:tcPr marL="133350" marR="133350" marT="114300" marB="95250" anchor="t">
                    <a:lnL w="5715">
                      <a:solidFill>
                        <a:srgbClr val="DCE5EA"/>
                      </a:solidFill>
                      <a:prstDash val="solid"/>
                    </a:lnL>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Engineering focus</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Lab increment</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r>
              <a:tr h="763143">
                <a:tc>
                  <a:txBody>
                    <a:bodyPr/>
                    <a:lstStyle/>
                    <a:p>
                      <a:r>
                        <a:rPr sz="1725" b="0">
                          <a:solidFill>
                            <a:srgbClr val="34495B"/>
                          </a:solidFill>
                          <a:latin typeface="Segoe UI"/>
                          <a:ea typeface="Segoe UI"/>
                          <a:cs typeface="Segoe UI"/>
                        </a:rPr>
                        <a:t>01-02</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Architecture and framework runtime</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Characterize the system, then run a real AIAgent</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763143">
                <a:tc>
                  <a:txBody>
                    <a:bodyPr/>
                    <a:lstStyle/>
                    <a:p>
                      <a:r>
                        <a:rPr sz="1725" b="0">
                          <a:solidFill>
                            <a:srgbClr val="34495B"/>
                          </a:solidFill>
                          <a:latin typeface="Segoe UI"/>
                          <a:ea typeface="Segoe UI"/>
                          <a:cs typeface="Segoe UI"/>
                        </a:rPr>
                        <a:t>03-04</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Tools, prompts, sessions, and context</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Ground a billing query and preserve conversation state</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r h="590550">
                <a:tc>
                  <a:txBody>
                    <a:bodyPr/>
                    <a:lstStyle/>
                    <a:p>
                      <a:r>
                        <a:rPr sz="1725" b="0">
                          <a:solidFill>
                            <a:srgbClr val="34495B"/>
                          </a:solidFill>
                          <a:latin typeface="Segoe UI"/>
                          <a:ea typeface="Segoe UI"/>
                          <a:cs typeface="Segoe UI"/>
                        </a:rPr>
                        <a:t>05-06</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Retrieval, workflows, and interoperability</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Add cited knowledge and an explicit workflow</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590550">
                <a:tc>
                  <a:txBody>
                    <a:bodyPr/>
                    <a:lstStyle/>
                    <a:p>
                      <a:r>
                        <a:rPr sz="1725" b="0">
                          <a:solidFill>
                            <a:srgbClr val="34495B"/>
                          </a:solidFill>
                          <a:latin typeface="Segoe UI"/>
                          <a:ea typeface="Segoe UI"/>
                          <a:cs typeface="Segoe UI"/>
                        </a:rPr>
                        <a:t>07-08</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ASP.NET Core, identity, and approvals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Host the agent and control a business write</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r h="763143">
                <a:tc>
                  <a:txBody>
                    <a:bodyPr/>
                    <a:lstStyle/>
                    <a:p>
                      <a:r>
                        <a:rPr sz="1725" b="0">
                          <a:solidFill>
                            <a:srgbClr val="34495B"/>
                          </a:solidFill>
                          <a:latin typeface="Segoe UI"/>
                          <a:ea typeface="Segoe UI"/>
                          <a:cs typeface="Segoe UI"/>
                        </a:rPr>
                        <a:t>09-10</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Reliability, evaluation, and delivery</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Instrument, test, and demonstrate the capstone</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bl>
          </a:graphicData>
        </a:graphic>
      </p:graphicFrame>
    </p:spTree>
    <p:extLst>
      <p:ext uri="{BB962C8B-B14F-4D97-AF65-F5344CB8AC3E}">
        <p14:creationId xmlns:p14="http://schemas.microsoft.com/office/powerpoint/2010/main" val="79570449"/>
      </p:ext>
    </p:extLst>
  </p:cSld>
  <p:extLst>
    <p:ext uri="{6950BFC3-D8DA-4A85-94F7-54DA5524770B}">
      <p188:commentRel xmlns:r="http://schemas.openxmlformats.org/officeDocument/2006/relationships" xmlns:p188="http://schemas.microsoft.com/office/powerpoint/2018/8/main" r:id="Rb63db556073649dd"/>
    </p:ext>
  </p:extLst>
</p:sld>
</file>

<file path=ppt/slides/slide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context">
            <a:extLst xmlns:a="http://schemas.openxmlformats.org/drawingml/2006/main">
              <a:ext uri="{FF2B5EF4-FFF2-40B4-BE49-F238E27FC236}">
                <a16:creationId xmlns:a16="http://schemas.microsoft.com/office/drawing/2014/main" id="{E7527EF9-30E3-4E7A-8968-7AA6ED639207}"/>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Existing vs target</a:t>
            </a:r>
          </a:p>
        </p:txBody>
      </p:sp>
      <p:sp>
        <p:nvSpPr>
          <p:cNvPr id="2" name="title">
            <a:extLst xmlns:a="http://schemas.openxmlformats.org/drawingml/2006/main">
              <a:ext uri="{FF2B5EF4-FFF2-40B4-BE49-F238E27FC236}">
                <a16:creationId xmlns:a16="http://schemas.microsoft.com/office/drawing/2014/main" id="{2A2BBD45-CAEC-421B-902D-74C0C15EE700}"/>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Repository baseline and course target</a:t>
            </a:r>
          </a:p>
        </p:txBody>
      </p:sp>
      <p:sp>
        <p:nvSpPr>
          <p:cNvPr id="3" name="footer">
            <a:extLst xmlns:a="http://schemas.openxmlformats.org/drawingml/2006/main">
              <a:ext uri="{FF2B5EF4-FFF2-40B4-BE49-F238E27FC236}">
                <a16:creationId xmlns:a16="http://schemas.microsoft.com/office/drawing/2014/main" id="{0CDF4BDF-A4EE-4C21-8A4F-C097BAB9F87B}"/>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InvoiceAI capstone course</a:t>
            </a:r>
          </a:p>
        </p:txBody>
      </p:sp>
      <p:sp>
        <p:nvSpPr>
          <p:cNvPr id="4" name="page">
            <a:extLst xmlns:a="http://schemas.openxmlformats.org/drawingml/2006/main">
              <a:ext uri="{FF2B5EF4-FFF2-40B4-BE49-F238E27FC236}">
                <a16:creationId xmlns:a16="http://schemas.microsoft.com/office/drawing/2014/main" id="{5AF95EB6-B762-4BD9-BAE0-2831D17A0FBB}"/>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04</a:t>
            </a:r>
          </a:p>
        </p:txBody>
      </p:sp>
      <p:graphicFrame>
        <p:nvGraphicFramePr>
          <p:cNvPr id="5" name="">
            <a:extLst xmlns:a="http://schemas.openxmlformats.org/drawingml/2006/main">
              <a:ext uri="{FF2B5EF4-FFF2-40B4-BE49-F238E27FC236}">
                <a16:creationId xmlns:a16="http://schemas.microsoft.com/office/drawing/2014/main" id="{2B12B76E-28F8-4A05-BCD7-781CE07B9946}"/>
              </a:ext>
            </a:extLst>
          </p:cNvPr>
          <p:cNvGraphicFramePr/>
          <p:nvPr/>
        </p:nvGraphicFramePr>
        <p:xfrm>
          <a:off xmlns:a="http://schemas.openxmlformats.org/drawingml/2006/main" x="685800" y="1809750"/>
          <a:ext xmlns:a="http://schemas.openxmlformats.org/drawingml/2006/main" cx="10820400" cy="3087243"/>
        </p:xfrm>
        <a:graphic xmlns:a="http://schemas.openxmlformats.org/drawingml/2006/main">
          <a:graphicData uri="http://schemas.openxmlformats.org/drawingml/2006/table">
            <a:tbl>
              <a:tblPr/>
              <a:tblGrid>
                <a:gridCol w="2055876"/>
                <a:gridCol w="4328160"/>
                <a:gridCol w="4436364"/>
              </a:tblGrid>
              <a:tr h="552450">
                <a:tc>
                  <a:txBody>
                    <a:bodyPr/>
                    <a:lstStyle/>
                    <a:p>
                      <a:r>
                        <a:rPr sz="1725" b="1">
                          <a:solidFill>
                            <a:srgbClr val="FFFFFF"/>
                          </a:solidFill>
                          <a:latin typeface="Segoe UI"/>
                          <a:ea typeface="Segoe UI"/>
                          <a:cs typeface="Segoe UI"/>
                        </a:rPr>
                        <a:t>Area</a:t>
                      </a:r>
                    </a:p>
                  </a:txBody>
                  <a:tcPr marL="133350" marR="133350" marT="114300" marB="95250" anchor="t">
                    <a:lnL w="5715">
                      <a:solidFill>
                        <a:srgbClr val="DCE5EA"/>
                      </a:solidFill>
                      <a:prstDash val="solid"/>
                    </a:lnL>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Current workspace</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Capstone target</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r>
              <a:tr h="590550">
                <a:tc>
                  <a:txBody>
                    <a:bodyPr/>
                    <a:lstStyle/>
                    <a:p>
                      <a:r>
                        <a:rPr sz="1725" b="0">
                          <a:solidFill>
                            <a:srgbClr val="34495B"/>
                          </a:solidFill>
                          <a:latin typeface="Segoe UI"/>
                          <a:ea typeface="Segoe UI"/>
                          <a:cs typeface="Segoe UI"/>
                        </a:rPr>
                        <a:t>Agent runtime</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Custom BaseAgent around IChatClient</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AIAgent and AgentSession</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590550">
                <a:tc>
                  <a:txBody>
                    <a:bodyPr/>
                    <a:lstStyle/>
                    <a:p>
                      <a:r>
                        <a:rPr sz="1725" b="0">
                          <a:solidFill>
                            <a:srgbClr val="34495B"/>
                          </a:solidFill>
                          <a:latin typeface="Segoe UI"/>
                          <a:ea typeface="Segoe UI"/>
                          <a:cs typeface="Segoe UI"/>
                        </a:rPr>
                        <a:t>Coordination</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Keyword router chooses one agent</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Explicit routing plus a bounded workflow</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r h="763143">
                <a:tc>
                  <a:txBody>
                    <a:bodyPr/>
                    <a:lstStyle/>
                    <a:p>
                      <a:r>
                        <a:rPr sz="1725" b="0">
                          <a:solidFill>
                            <a:srgbClr val="34495B"/>
                          </a:solidFill>
                          <a:latin typeface="Segoe UI"/>
                          <a:ea typeface="Segoe UI"/>
                          <a:cs typeface="Segoe UI"/>
                        </a:rPr>
                        <a:t>Tools</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Invoice/customer methods dispatch CQRS</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Validated, authorized tool contracts</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590550">
                <a:tc>
                  <a:txBody>
                    <a:bodyPr/>
                    <a:lstStyle/>
                    <a:p>
                      <a:r>
                        <a:rPr sz="1725" b="0">
                          <a:solidFill>
                            <a:srgbClr val="34495B"/>
                          </a:solidFill>
                          <a:latin typeface="Segoe UI"/>
                          <a:ea typeface="Segoe UI"/>
                          <a:cs typeface="Segoe UI"/>
                        </a:rPr>
                        <a:t>Operations</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Log metrics and heuristic scoring</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Traces, behavioral evaluation, rollout gates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bl>
          </a:graphicData>
        </a:graphic>
      </p:graphicFrame>
    </p:spTree>
    <p:extLst>
      <p:ext uri="{BB962C8B-B14F-4D97-AF65-F5344CB8AC3E}">
        <p14:creationId xmlns:p14="http://schemas.microsoft.com/office/powerpoint/2010/main" val="1360794186"/>
      </p:ext>
    </p:extLst>
  </p:cSld>
  <p:extLst>
    <p:ext uri="{6950BFC3-D8DA-4A85-94F7-54DA5524770B}">
      <p188:commentRel xmlns:r="http://schemas.openxmlformats.org/officeDocument/2006/relationships" xmlns:p188="http://schemas.microsoft.com/office/powerpoint/2018/8/main" r:id="R0a02467a23dc4857"/>
    </p:ext>
  </p:extLst>
</p:sld>
</file>

<file path=ppt/slides/slide5.xml><?xml version="1.0" encoding="utf-8"?>
<p:sld xmlns:p="http://schemas.openxmlformats.org/presentationml/2006/main">
  <p:cSld>
    <p:bg>
      <p:bgPr>
        <a:solidFill xmlns:a="http://schemas.openxmlformats.org/drawingml/2006/main">
          <a:srgbClr val="06182B"/>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FCE4071-32A0-4D69-A2FB-44875257540A}"/>
              </a:ext>
            </a:extLst>
          </p:cNvPr>
          <p:cNvPicPr>
            <a:picLocks xmlns:a="http://schemas.openxmlformats.org/drawingml/2006/main" noChangeAspect="1"/>
          </p:cNvPicPr>
          <p:nvPr/>
        </p:nvPicPr>
        <p:blipFill>
          <a:blip xmlns:r="http://schemas.openxmlformats.org/officeDocument/2006/relationships" xmlns:a="http://schemas.openxmlformats.org/drawingml/2006/main" r:embed="R0980b1b8c5124fe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ntext">
            <a:extLst xmlns:a="http://schemas.openxmlformats.org/drawingml/2006/main">
              <a:ext uri="{FF2B5EF4-FFF2-40B4-BE49-F238E27FC236}">
                <a16:creationId xmlns:a16="http://schemas.microsoft.com/office/drawing/2014/main" id="{6D73C23D-3E2B-452F-BCEF-7012FA151A7B}"/>
              </a:ext>
            </a:extLst>
          </p:cNvPr>
          <p:cNvSpPr>
            <a:spLocks xmlns:a="http://schemas.openxmlformats.org/drawingml/2006/main" noGrp="1"/>
          </p:cNvSpPr>
          <p:nvPr/>
        </p:nvSpPr>
        <p:spPr>
          <a:xfrm xmlns:a="http://schemas.openxmlformats.org/drawingml/2006/main">
            <a:off x="647700" y="95250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73DEDC"/>
                </a:solidFill>
                <a:latin typeface="Segoe UI"/>
                <a:ea typeface="Segoe UI"/>
                <a:cs typeface="Segoe UI"/>
              </a:defRPr>
            </a:defPPr>
            <a:lvl1pPr algn="l">
              <a:defRPr sz="1500" b="1">
                <a:solidFill>
                  <a:srgbClr val="73DEDC"/>
                </a:solidFill>
                <a:latin typeface="Segoe UI"/>
                <a:ea typeface="Segoe UI"/>
                <a:cs typeface="Segoe UI"/>
              </a:defRPr>
            </a:lvl1pPr>
            <a:lvl2pPr algn="l">
              <a:defRPr sz="1500" b="1">
                <a:solidFill>
                  <a:srgbClr val="73DEDC"/>
                </a:solidFill>
                <a:latin typeface="Segoe UI"/>
                <a:ea typeface="Segoe UI"/>
                <a:cs typeface="Segoe UI"/>
              </a:defRPr>
            </a:lvl2pPr>
            <a:lvl3pPr algn="l">
              <a:defRPr sz="1500" b="1">
                <a:solidFill>
                  <a:srgbClr val="73DEDC"/>
                </a:solidFill>
                <a:latin typeface="Segoe UI"/>
                <a:ea typeface="Segoe UI"/>
                <a:cs typeface="Segoe UI"/>
              </a:defRPr>
            </a:lvl3pPr>
            <a:lvl4pPr algn="l">
              <a:defRPr sz="1500" b="1">
                <a:solidFill>
                  <a:srgbClr val="73DEDC"/>
                </a:solidFill>
                <a:latin typeface="Segoe UI"/>
                <a:ea typeface="Segoe UI"/>
                <a:cs typeface="Segoe UI"/>
              </a:defRPr>
            </a:lvl4pPr>
            <a:lvl5pPr algn="l">
              <a:defRPr sz="1500" b="1">
                <a:solidFill>
                  <a:srgbClr val="73DEDC"/>
                </a:solidFill>
                <a:latin typeface="Segoe UI"/>
                <a:ea typeface="Segoe UI"/>
                <a:cs typeface="Segoe UI"/>
              </a:defRPr>
            </a:lvl5pPr>
            <a:lvl6pPr algn="l">
              <a:defRPr sz="1500" b="1">
                <a:solidFill>
                  <a:srgbClr val="73DEDC"/>
                </a:solidFill>
                <a:latin typeface="Segoe UI"/>
                <a:ea typeface="Segoe UI"/>
                <a:cs typeface="Segoe UI"/>
              </a:defRPr>
            </a:lvl6pPr>
            <a:lvl7pPr algn="l">
              <a:defRPr sz="1500" b="1">
                <a:solidFill>
                  <a:srgbClr val="73DEDC"/>
                </a:solidFill>
                <a:latin typeface="Segoe UI"/>
                <a:ea typeface="Segoe UI"/>
                <a:cs typeface="Segoe UI"/>
              </a:defRPr>
            </a:lvl7pPr>
            <a:lvl8pPr algn="l">
              <a:defRPr sz="1500" b="1">
                <a:solidFill>
                  <a:srgbClr val="73DEDC"/>
                </a:solidFill>
                <a:latin typeface="Segoe UI"/>
                <a:ea typeface="Segoe UI"/>
                <a:cs typeface="Segoe UI"/>
              </a:defRPr>
            </a:lvl8pPr>
            <a:lvl9pPr algn="l">
              <a:defRPr sz="1500" b="1">
                <a:solidFill>
                  <a:srgbClr val="73DEDC"/>
                </a:solidFill>
                <a:latin typeface="Segoe UI"/>
                <a:ea typeface="Segoe UI"/>
                <a:cs typeface="Segoe UI"/>
              </a:defRPr>
            </a:lvl9pPr>
          </a:lstStyle>
          <a:p xmlns:a="http://schemas.openxmlformats.org/drawingml/2006/main">
            <a:pPr algn="l">
              <a:defRPr sz="1500" b="1">
                <a:solidFill>
                  <a:srgbClr val="73DEDC"/>
                </a:solidFill>
                <a:latin typeface="Segoe UI"/>
                <a:ea typeface="Segoe UI"/>
                <a:cs typeface="Segoe UI"/>
              </a:defRPr>
            </a:pPr>
            <a:r>
              <a:rPr sz="1500" b="1">
                <a:solidFill>
                  <a:srgbClr val="73DEDC"/>
                </a:solidFill>
                <a:latin typeface="Segoe UI"/>
                <a:ea typeface="Segoe UI"/>
                <a:cs typeface="Segoe UI"/>
              </a:rPr>
              <a:t>MODULE 01</a:t>
            </a:r>
          </a:p>
        </p:txBody>
      </p:sp>
      <p:sp>
        <p:nvSpPr>
          <p:cNvPr id="3" name="title">
            <a:extLst xmlns:a="http://schemas.openxmlformats.org/drawingml/2006/main">
              <a:ext uri="{FF2B5EF4-FFF2-40B4-BE49-F238E27FC236}">
                <a16:creationId xmlns:a16="http://schemas.microsoft.com/office/drawing/2014/main" id="{8023533A-9BF5-45A3-BD17-652716298BED}"/>
              </a:ext>
            </a:extLst>
          </p:cNvPr>
          <p:cNvSpPr>
            <a:spLocks xmlns:a="http://schemas.openxmlformats.org/drawingml/2006/main" noGrp="1"/>
          </p:cNvSpPr>
          <p:nvPr/>
        </p:nvSpPr>
        <p:spPr>
          <a:xfrm xmlns:a="http://schemas.openxmlformats.org/drawingml/2006/main">
            <a:off x="647700" y="1809750"/>
            <a:ext cx="6858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Segoe UI"/>
                <a:ea typeface="Segoe UI"/>
                <a:cs typeface="Segoe UI"/>
              </a:defRPr>
            </a:defPPr>
            <a:lvl1pPr algn="l">
              <a:defRPr sz="3900" b="1">
                <a:solidFill>
                  <a:srgbClr val="FFFFFF"/>
                </a:solidFill>
                <a:latin typeface="Segoe UI"/>
                <a:ea typeface="Segoe UI"/>
                <a:cs typeface="Segoe UI"/>
              </a:defRPr>
            </a:lvl1pPr>
            <a:lvl2pPr algn="l">
              <a:defRPr sz="3900" b="1">
                <a:solidFill>
                  <a:srgbClr val="FFFFFF"/>
                </a:solidFill>
                <a:latin typeface="Segoe UI"/>
                <a:ea typeface="Segoe UI"/>
                <a:cs typeface="Segoe UI"/>
              </a:defRPr>
            </a:lvl2pPr>
            <a:lvl3pPr algn="l">
              <a:defRPr sz="3900" b="1">
                <a:solidFill>
                  <a:srgbClr val="FFFFFF"/>
                </a:solidFill>
                <a:latin typeface="Segoe UI"/>
                <a:ea typeface="Segoe UI"/>
                <a:cs typeface="Segoe UI"/>
              </a:defRPr>
            </a:lvl3pPr>
            <a:lvl4pPr algn="l">
              <a:defRPr sz="3900" b="1">
                <a:solidFill>
                  <a:srgbClr val="FFFFFF"/>
                </a:solidFill>
                <a:latin typeface="Segoe UI"/>
                <a:ea typeface="Segoe UI"/>
                <a:cs typeface="Segoe UI"/>
              </a:defRPr>
            </a:lvl4pPr>
            <a:lvl5pPr algn="l">
              <a:defRPr sz="3900" b="1">
                <a:solidFill>
                  <a:srgbClr val="FFFFFF"/>
                </a:solidFill>
                <a:latin typeface="Segoe UI"/>
                <a:ea typeface="Segoe UI"/>
                <a:cs typeface="Segoe UI"/>
              </a:defRPr>
            </a:lvl5pPr>
            <a:lvl6pPr algn="l">
              <a:defRPr sz="3900" b="1">
                <a:solidFill>
                  <a:srgbClr val="FFFFFF"/>
                </a:solidFill>
                <a:latin typeface="Segoe UI"/>
                <a:ea typeface="Segoe UI"/>
                <a:cs typeface="Segoe UI"/>
              </a:defRPr>
            </a:lvl6pPr>
            <a:lvl7pPr algn="l">
              <a:defRPr sz="3900" b="1">
                <a:solidFill>
                  <a:srgbClr val="FFFFFF"/>
                </a:solidFill>
                <a:latin typeface="Segoe UI"/>
                <a:ea typeface="Segoe UI"/>
                <a:cs typeface="Segoe UI"/>
              </a:defRPr>
            </a:lvl7pPr>
            <a:lvl8pPr algn="l">
              <a:defRPr sz="3900" b="1">
                <a:solidFill>
                  <a:srgbClr val="FFFFFF"/>
                </a:solidFill>
                <a:latin typeface="Segoe UI"/>
                <a:ea typeface="Segoe UI"/>
                <a:cs typeface="Segoe UI"/>
              </a:defRPr>
            </a:lvl8pPr>
            <a:lvl9pPr algn="l">
              <a:defRPr sz="3900" b="1">
                <a:solidFill>
                  <a:srgbClr val="FFFFFF"/>
                </a:solidFill>
                <a:latin typeface="Segoe UI"/>
                <a:ea typeface="Segoe UI"/>
                <a:cs typeface="Segoe UI"/>
              </a:defRPr>
            </a:lvl9pPr>
          </a:lstStyle>
          <a:p xmlns:a="http://schemas.openxmlformats.org/drawingml/2006/main">
            <a:pPr algn="l">
              <a:defRPr sz="3900" b="1">
                <a:solidFill>
                  <a:srgbClr val="FFFFFF"/>
                </a:solidFill>
                <a:latin typeface="Segoe UI"/>
                <a:ea typeface="Segoe UI"/>
                <a:cs typeface="Segoe UI"/>
              </a:defRPr>
            </a:pPr>
            <a:r>
              <a:rPr sz="3900" b="1">
                <a:solidFill>
                  <a:srgbClr val="FFFFFF"/>
                </a:solidFill>
                <a:latin typeface="Segoe UI"/>
                <a:ea typeface="Segoe UI"/>
                <a:cs typeface="Segoe UI"/>
              </a:rPr>
              <a:t>Integration architecture</a:t>
            </a:r>
          </a:p>
        </p:txBody>
      </p:sp>
      <p:sp>
        <p:nvSpPr>
          <p:cNvPr id="4" name="subtitle">
            <a:extLst xmlns:a="http://schemas.openxmlformats.org/drawingml/2006/main">
              <a:ext uri="{FF2B5EF4-FFF2-40B4-BE49-F238E27FC236}">
                <a16:creationId xmlns:a16="http://schemas.microsoft.com/office/drawing/2014/main" id="{B1A67B80-A73E-429A-820B-73E05F73B1BF}"/>
              </a:ext>
            </a:extLst>
          </p:cNvPr>
          <p:cNvSpPr>
            <a:spLocks xmlns:a="http://schemas.openxmlformats.org/drawingml/2006/main" noGrp="1"/>
          </p:cNvSpPr>
          <p:nvPr/>
        </p:nvSpPr>
        <p:spPr>
          <a:xfrm xmlns:a="http://schemas.openxmlformats.org/drawingml/2006/main">
            <a:off x="647700" y="4000500"/>
            <a:ext cx="619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D9E6F0"/>
                </a:solidFill>
                <a:latin typeface="Segoe UI"/>
                <a:ea typeface="Segoe UI"/>
                <a:cs typeface="Segoe UI"/>
              </a:defRPr>
            </a:defPPr>
            <a:lvl1pPr algn="l">
              <a:defRPr sz="2025" b="0">
                <a:solidFill>
                  <a:srgbClr val="D9E6F0"/>
                </a:solidFill>
                <a:latin typeface="Segoe UI"/>
                <a:ea typeface="Segoe UI"/>
                <a:cs typeface="Segoe UI"/>
              </a:defRPr>
            </a:lvl1pPr>
            <a:lvl2pPr algn="l">
              <a:defRPr sz="2025" b="0">
                <a:solidFill>
                  <a:srgbClr val="D9E6F0"/>
                </a:solidFill>
                <a:latin typeface="Segoe UI"/>
                <a:ea typeface="Segoe UI"/>
                <a:cs typeface="Segoe UI"/>
              </a:defRPr>
            </a:lvl2pPr>
            <a:lvl3pPr algn="l">
              <a:defRPr sz="2025" b="0">
                <a:solidFill>
                  <a:srgbClr val="D9E6F0"/>
                </a:solidFill>
                <a:latin typeface="Segoe UI"/>
                <a:ea typeface="Segoe UI"/>
                <a:cs typeface="Segoe UI"/>
              </a:defRPr>
            </a:lvl3pPr>
            <a:lvl4pPr algn="l">
              <a:defRPr sz="2025" b="0">
                <a:solidFill>
                  <a:srgbClr val="D9E6F0"/>
                </a:solidFill>
                <a:latin typeface="Segoe UI"/>
                <a:ea typeface="Segoe UI"/>
                <a:cs typeface="Segoe UI"/>
              </a:defRPr>
            </a:lvl4pPr>
            <a:lvl5pPr algn="l">
              <a:defRPr sz="2025" b="0">
                <a:solidFill>
                  <a:srgbClr val="D9E6F0"/>
                </a:solidFill>
                <a:latin typeface="Segoe UI"/>
                <a:ea typeface="Segoe UI"/>
                <a:cs typeface="Segoe UI"/>
              </a:defRPr>
            </a:lvl5pPr>
            <a:lvl6pPr algn="l">
              <a:defRPr sz="2025" b="0">
                <a:solidFill>
                  <a:srgbClr val="D9E6F0"/>
                </a:solidFill>
                <a:latin typeface="Segoe UI"/>
                <a:ea typeface="Segoe UI"/>
                <a:cs typeface="Segoe UI"/>
              </a:defRPr>
            </a:lvl6pPr>
            <a:lvl7pPr algn="l">
              <a:defRPr sz="2025" b="0">
                <a:solidFill>
                  <a:srgbClr val="D9E6F0"/>
                </a:solidFill>
                <a:latin typeface="Segoe UI"/>
                <a:ea typeface="Segoe UI"/>
                <a:cs typeface="Segoe UI"/>
              </a:defRPr>
            </a:lvl7pPr>
            <a:lvl8pPr algn="l">
              <a:defRPr sz="2025" b="0">
                <a:solidFill>
                  <a:srgbClr val="D9E6F0"/>
                </a:solidFill>
                <a:latin typeface="Segoe UI"/>
                <a:ea typeface="Segoe UI"/>
                <a:cs typeface="Segoe UI"/>
              </a:defRPr>
            </a:lvl8pPr>
            <a:lvl9pPr algn="l">
              <a:defRPr sz="2025" b="0">
                <a:solidFill>
                  <a:srgbClr val="D9E6F0"/>
                </a:solidFill>
                <a:latin typeface="Segoe UI"/>
                <a:ea typeface="Segoe UI"/>
                <a:cs typeface="Segoe UI"/>
              </a:defRPr>
            </a:lvl9pPr>
          </a:lstStyle>
          <a:p xmlns:a="http://schemas.openxmlformats.org/drawingml/2006/main">
            <a:pPr algn="l">
              <a:defRPr sz="2025" b="0">
                <a:solidFill>
                  <a:srgbClr val="D9E6F0"/>
                </a:solidFill>
                <a:latin typeface="Segoe UI"/>
                <a:ea typeface="Segoe UI"/>
                <a:cs typeface="Segoe UI"/>
              </a:defRPr>
            </a:pPr>
            <a:r>
              <a:rPr sz="2025" b="0">
                <a:solidFill>
                  <a:srgbClr val="D9E6F0"/>
                </a:solidFill>
                <a:latin typeface="Segoe UI"/>
                <a:ea typeface="Segoe UI"/>
                <a:cs typeface="Segoe UI"/>
              </a:rPr>
              <a:t>An AI capability that preserves the existing system's contracts</a:t>
            </a:r>
          </a:p>
        </p:txBody>
      </p:sp>
      <p:sp>
        <p:nvSpPr>
          <p:cNvPr id="5" name="footer">
            <a:extLst xmlns:a="http://schemas.openxmlformats.org/drawingml/2006/main">
              <a:ext uri="{FF2B5EF4-FFF2-40B4-BE49-F238E27FC236}">
                <a16:creationId xmlns:a16="http://schemas.microsoft.com/office/drawing/2014/main" id="{FE9C4A71-4041-43CB-A82A-1D255AB9511A}"/>
              </a:ext>
            </a:extLst>
          </p:cNvPr>
          <p:cNvSpPr>
            <a:spLocks xmlns:a="http://schemas.openxmlformats.org/drawingml/2006/main" noGrp="1"/>
          </p:cNvSpPr>
          <p:nvPr/>
        </p:nvSpPr>
        <p:spPr>
          <a:xfrm xmlns:a="http://schemas.openxmlformats.org/drawingml/2006/main">
            <a:off x="647700" y="6153150"/>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BC0D2"/>
                </a:solidFill>
                <a:latin typeface="Segoe UI"/>
                <a:ea typeface="Segoe UI"/>
                <a:cs typeface="Segoe UI"/>
              </a:defRPr>
            </a:defPPr>
            <a:lvl1pPr algn="l">
              <a:defRPr sz="1275" b="0">
                <a:solidFill>
                  <a:srgbClr val="ABC0D2"/>
                </a:solidFill>
                <a:latin typeface="Segoe UI"/>
                <a:ea typeface="Segoe UI"/>
                <a:cs typeface="Segoe UI"/>
              </a:defRPr>
            </a:lvl1pPr>
            <a:lvl2pPr algn="l">
              <a:defRPr sz="1275" b="0">
                <a:solidFill>
                  <a:srgbClr val="ABC0D2"/>
                </a:solidFill>
                <a:latin typeface="Segoe UI"/>
                <a:ea typeface="Segoe UI"/>
                <a:cs typeface="Segoe UI"/>
              </a:defRPr>
            </a:lvl2pPr>
            <a:lvl3pPr algn="l">
              <a:defRPr sz="1275" b="0">
                <a:solidFill>
                  <a:srgbClr val="ABC0D2"/>
                </a:solidFill>
                <a:latin typeface="Segoe UI"/>
                <a:ea typeface="Segoe UI"/>
                <a:cs typeface="Segoe UI"/>
              </a:defRPr>
            </a:lvl3pPr>
            <a:lvl4pPr algn="l">
              <a:defRPr sz="1275" b="0">
                <a:solidFill>
                  <a:srgbClr val="ABC0D2"/>
                </a:solidFill>
                <a:latin typeface="Segoe UI"/>
                <a:ea typeface="Segoe UI"/>
                <a:cs typeface="Segoe UI"/>
              </a:defRPr>
            </a:lvl4pPr>
            <a:lvl5pPr algn="l">
              <a:defRPr sz="1275" b="0">
                <a:solidFill>
                  <a:srgbClr val="ABC0D2"/>
                </a:solidFill>
                <a:latin typeface="Segoe UI"/>
                <a:ea typeface="Segoe UI"/>
                <a:cs typeface="Segoe UI"/>
              </a:defRPr>
            </a:lvl5pPr>
            <a:lvl6pPr algn="l">
              <a:defRPr sz="1275" b="0">
                <a:solidFill>
                  <a:srgbClr val="ABC0D2"/>
                </a:solidFill>
                <a:latin typeface="Segoe UI"/>
                <a:ea typeface="Segoe UI"/>
                <a:cs typeface="Segoe UI"/>
              </a:defRPr>
            </a:lvl6pPr>
            <a:lvl7pPr algn="l">
              <a:defRPr sz="1275" b="0">
                <a:solidFill>
                  <a:srgbClr val="ABC0D2"/>
                </a:solidFill>
                <a:latin typeface="Segoe UI"/>
                <a:ea typeface="Segoe UI"/>
                <a:cs typeface="Segoe UI"/>
              </a:defRPr>
            </a:lvl7pPr>
            <a:lvl8pPr algn="l">
              <a:defRPr sz="1275" b="0">
                <a:solidFill>
                  <a:srgbClr val="ABC0D2"/>
                </a:solidFill>
                <a:latin typeface="Segoe UI"/>
                <a:ea typeface="Segoe UI"/>
                <a:cs typeface="Segoe UI"/>
              </a:defRPr>
            </a:lvl8pPr>
            <a:lvl9pPr algn="l">
              <a:defRPr sz="1275" b="0">
                <a:solidFill>
                  <a:srgbClr val="ABC0D2"/>
                </a:solidFill>
                <a:latin typeface="Segoe UI"/>
                <a:ea typeface="Segoe UI"/>
                <a:cs typeface="Segoe UI"/>
              </a:defRPr>
            </a:lvl9pPr>
          </a:lstStyle>
          <a:p xmlns:a="http://schemas.openxmlformats.org/drawingml/2006/main">
            <a:pPr algn="l">
              <a:defRPr sz="1275" b="0">
                <a:solidFill>
                  <a:srgbClr val="ABC0D2"/>
                </a:solidFill>
                <a:latin typeface="Segoe UI"/>
                <a:ea typeface="Segoe UI"/>
                <a:cs typeface="Segoe UI"/>
              </a:defRPr>
            </a:pPr>
            <a:r>
              <a:rPr sz="1275" b="0">
                <a:solidFill>
                  <a:srgbClr val="ABC0D2"/>
                </a:solidFill>
                <a:latin typeface="Segoe UI"/>
                <a:ea typeface="Segoe UI"/>
                <a:cs typeface="Segoe UI"/>
              </a:rPr>
              <a:t>3 contact hours including the module lab</a:t>
            </a:r>
          </a:p>
        </p:txBody>
      </p:sp>
      <p:sp>
        <p:nvSpPr>
          <p:cNvPr id="6" name="page">
            <a:extLst xmlns:a="http://schemas.openxmlformats.org/drawingml/2006/main">
              <a:ext uri="{FF2B5EF4-FFF2-40B4-BE49-F238E27FC236}">
                <a16:creationId xmlns:a16="http://schemas.microsoft.com/office/drawing/2014/main" id="{D41F9A27-8906-4DE0-8B71-E138E08DBBA6}"/>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ABC0D2"/>
                </a:solidFill>
                <a:latin typeface="Segoe UI"/>
                <a:ea typeface="Segoe UI"/>
                <a:cs typeface="Segoe UI"/>
              </a:defRPr>
            </a:defPPr>
            <a:lvl1pPr algn="r">
              <a:defRPr sz="1050" b="0">
                <a:solidFill>
                  <a:srgbClr val="ABC0D2"/>
                </a:solidFill>
                <a:latin typeface="Segoe UI"/>
                <a:ea typeface="Segoe UI"/>
                <a:cs typeface="Segoe UI"/>
              </a:defRPr>
            </a:lvl1pPr>
            <a:lvl2pPr algn="r">
              <a:defRPr sz="1050" b="0">
                <a:solidFill>
                  <a:srgbClr val="ABC0D2"/>
                </a:solidFill>
                <a:latin typeface="Segoe UI"/>
                <a:ea typeface="Segoe UI"/>
                <a:cs typeface="Segoe UI"/>
              </a:defRPr>
            </a:lvl2pPr>
            <a:lvl3pPr algn="r">
              <a:defRPr sz="1050" b="0">
                <a:solidFill>
                  <a:srgbClr val="ABC0D2"/>
                </a:solidFill>
                <a:latin typeface="Segoe UI"/>
                <a:ea typeface="Segoe UI"/>
                <a:cs typeface="Segoe UI"/>
              </a:defRPr>
            </a:lvl3pPr>
            <a:lvl4pPr algn="r">
              <a:defRPr sz="1050" b="0">
                <a:solidFill>
                  <a:srgbClr val="ABC0D2"/>
                </a:solidFill>
                <a:latin typeface="Segoe UI"/>
                <a:ea typeface="Segoe UI"/>
                <a:cs typeface="Segoe UI"/>
              </a:defRPr>
            </a:lvl4pPr>
            <a:lvl5pPr algn="r">
              <a:defRPr sz="1050" b="0">
                <a:solidFill>
                  <a:srgbClr val="ABC0D2"/>
                </a:solidFill>
                <a:latin typeface="Segoe UI"/>
                <a:ea typeface="Segoe UI"/>
                <a:cs typeface="Segoe UI"/>
              </a:defRPr>
            </a:lvl5pPr>
            <a:lvl6pPr algn="r">
              <a:defRPr sz="1050" b="0">
                <a:solidFill>
                  <a:srgbClr val="ABC0D2"/>
                </a:solidFill>
                <a:latin typeface="Segoe UI"/>
                <a:ea typeface="Segoe UI"/>
                <a:cs typeface="Segoe UI"/>
              </a:defRPr>
            </a:lvl6pPr>
            <a:lvl7pPr algn="r">
              <a:defRPr sz="1050" b="0">
                <a:solidFill>
                  <a:srgbClr val="ABC0D2"/>
                </a:solidFill>
                <a:latin typeface="Segoe UI"/>
                <a:ea typeface="Segoe UI"/>
                <a:cs typeface="Segoe UI"/>
              </a:defRPr>
            </a:lvl7pPr>
            <a:lvl8pPr algn="r">
              <a:defRPr sz="1050" b="0">
                <a:solidFill>
                  <a:srgbClr val="ABC0D2"/>
                </a:solidFill>
                <a:latin typeface="Segoe UI"/>
                <a:ea typeface="Segoe UI"/>
                <a:cs typeface="Segoe UI"/>
              </a:defRPr>
            </a:lvl8pPr>
            <a:lvl9pPr algn="r">
              <a:defRPr sz="1050" b="0">
                <a:solidFill>
                  <a:srgbClr val="ABC0D2"/>
                </a:solidFill>
                <a:latin typeface="Segoe UI"/>
                <a:ea typeface="Segoe UI"/>
                <a:cs typeface="Segoe UI"/>
              </a:defRPr>
            </a:lvl9pPr>
          </a:lstStyle>
          <a:p xmlns:a="http://schemas.openxmlformats.org/drawingml/2006/main">
            <a:pPr algn="r">
              <a:defRPr sz="1050" b="0">
                <a:solidFill>
                  <a:srgbClr val="ABC0D2"/>
                </a:solidFill>
                <a:latin typeface="Segoe UI"/>
                <a:ea typeface="Segoe UI"/>
                <a:cs typeface="Segoe UI"/>
              </a:defRPr>
            </a:pPr>
            <a:r>
              <a:rPr sz="1050" b="0">
                <a:solidFill>
                  <a:srgbClr val="ABC0D2"/>
                </a:solidFill>
                <a:latin typeface="Segoe UI"/>
                <a:ea typeface="Segoe UI"/>
                <a:cs typeface="Segoe UI"/>
              </a:rPr>
              <a:t>05</a:t>
            </a:r>
          </a:p>
        </p:txBody>
      </p:sp>
    </p:spTree>
    <p:extLst>
      <p:ext uri="{BB962C8B-B14F-4D97-AF65-F5344CB8AC3E}">
        <p14:creationId xmlns:p14="http://schemas.microsoft.com/office/powerpoint/2010/main" val="1080931883"/>
      </p:ext>
    </p:extLst>
  </p:cSld>
  <p:extLst>
    <p:ext uri="{6950BFC3-D8DA-4A85-94F7-54DA5524770B}">
      <p188:commentRel xmlns:r="http://schemas.openxmlformats.org/officeDocument/2006/relationships" xmlns:p188="http://schemas.microsoft.com/office/powerpoint/2018/8/main" r:id="R1779ce1289644572"/>
    </p:ext>
  </p:extLst>
</p:sld>
</file>

<file path=ppt/slides/slide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context">
            <a:extLst xmlns:a="http://schemas.openxmlformats.org/drawingml/2006/main">
              <a:ext uri="{FF2B5EF4-FFF2-40B4-BE49-F238E27FC236}">
                <a16:creationId xmlns:a16="http://schemas.microsoft.com/office/drawing/2014/main" id="{428500D2-6E7A-491B-8638-24335D031EEB}"/>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Design decision</a:t>
            </a:r>
          </a:p>
        </p:txBody>
      </p:sp>
      <p:sp>
        <p:nvSpPr>
          <p:cNvPr id="2" name="title">
            <a:extLst xmlns:a="http://schemas.openxmlformats.org/drawingml/2006/main">
              <a:ext uri="{FF2B5EF4-FFF2-40B4-BE49-F238E27FC236}">
                <a16:creationId xmlns:a16="http://schemas.microsoft.com/office/drawing/2014/main" id="{66F8D2A5-7ED9-4D8C-AA01-7EFBCD6B509E}"/>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Use-case selection</a:t>
            </a:r>
          </a:p>
        </p:txBody>
      </p:sp>
      <p:sp>
        <p:nvSpPr>
          <p:cNvPr id="3" name="footer">
            <a:extLst xmlns:a="http://schemas.openxmlformats.org/drawingml/2006/main">
              <a:ext uri="{FF2B5EF4-FFF2-40B4-BE49-F238E27FC236}">
                <a16:creationId xmlns:a16="http://schemas.microsoft.com/office/drawing/2014/main" id="{BDD4A04F-B66C-4C12-B904-32ACC25BEA23}"/>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01  Integration architecture</a:t>
            </a:r>
          </a:p>
        </p:txBody>
      </p:sp>
      <p:sp>
        <p:nvSpPr>
          <p:cNvPr id="4" name="page">
            <a:extLst xmlns:a="http://schemas.openxmlformats.org/drawingml/2006/main">
              <a:ext uri="{FF2B5EF4-FFF2-40B4-BE49-F238E27FC236}">
                <a16:creationId xmlns:a16="http://schemas.microsoft.com/office/drawing/2014/main" id="{E224F587-64DD-4C2F-A8C8-CAA561D6BA43}"/>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06</a:t>
            </a:r>
          </a:p>
        </p:txBody>
      </p:sp>
      <p:graphicFrame>
        <p:nvGraphicFramePr>
          <p:cNvPr id="5" name="">
            <a:extLst xmlns:a="http://schemas.openxmlformats.org/drawingml/2006/main">
              <a:ext uri="{FF2B5EF4-FFF2-40B4-BE49-F238E27FC236}">
                <a16:creationId xmlns:a16="http://schemas.microsoft.com/office/drawing/2014/main" id="{5371113D-8632-4B2A-9114-EF8134C42926}"/>
              </a:ext>
            </a:extLst>
          </p:cNvPr>
          <p:cNvGraphicFramePr/>
          <p:nvPr/>
        </p:nvGraphicFramePr>
        <p:xfrm>
          <a:off xmlns:a="http://schemas.openxmlformats.org/drawingml/2006/main" x="685800" y="1809750"/>
          <a:ext xmlns:a="http://schemas.openxmlformats.org/drawingml/2006/main" cx="10820400" cy="3605022"/>
        </p:xfrm>
        <a:graphic xmlns:a="http://schemas.openxmlformats.org/drawingml/2006/main">
          <a:graphicData uri="http://schemas.openxmlformats.org/drawingml/2006/table">
            <a:tbl>
              <a:tblPr/>
              <a:tblGrid>
                <a:gridCol w="3678936"/>
                <a:gridCol w="4219956"/>
                <a:gridCol w="2921508"/>
              </a:tblGrid>
              <a:tr h="552450">
                <a:tc>
                  <a:txBody>
                    <a:bodyPr/>
                    <a:lstStyle/>
                    <a:p>
                      <a:r>
                        <a:rPr sz="1725" b="1">
                          <a:solidFill>
                            <a:srgbClr val="FFFFFF"/>
                          </a:solidFill>
                          <a:latin typeface="Segoe UI"/>
                          <a:ea typeface="Segoe UI"/>
                          <a:cs typeface="Segoe UI"/>
                        </a:rPr>
                        <a:t>InvoiceAI request</a:t>
                      </a:r>
                    </a:p>
                  </a:txBody>
                  <a:tcPr marL="133350" marR="133350" marT="114300" marB="95250" anchor="t">
                    <a:lnL w="5715">
                      <a:solidFill>
                        <a:srgbClr val="DCE5EA"/>
                      </a:solidFill>
                      <a:prstDash val="solid"/>
                    </a:lnL>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Suitable mechanism</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Evidence</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r>
              <a:tr h="763143">
                <a:tc>
                  <a:txBody>
                    <a:bodyPr/>
                    <a:lstStyle/>
                    <a:p>
                      <a:r>
                        <a:rPr sz="1725" b="0">
                          <a:solidFill>
                            <a:srgbClr val="34495B"/>
                          </a:solidFill>
                          <a:latin typeface="Segoe UI"/>
                          <a:ea typeface="Segoe UI"/>
                          <a:cs typeface="Segoe UI"/>
                        </a:rPr>
                        <a:t>Explain an invoice rule</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Retrieved documentation and an agent</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A supported answer with a source</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763143">
                <a:tc>
                  <a:txBody>
                    <a:bodyPr/>
                    <a:lstStyle/>
                    <a:p>
                      <a:r>
                        <a:rPr sz="1725" b="0">
                          <a:solidFill>
                            <a:srgbClr val="34495B"/>
                          </a:solidFill>
                          <a:latin typeface="Segoe UI"/>
                          <a:ea typeface="Segoe UI"/>
                          <a:cs typeface="Segoe UI"/>
                        </a:rPr>
                        <a:t>Read outstanding balances</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Application query through a tool</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Numbers match the query result</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r h="763143">
                <a:tc>
                  <a:txBody>
                    <a:bodyPr/>
                    <a:lstStyle/>
                    <a:p>
                      <a:r>
                        <a:rPr sz="1725" b="0">
                          <a:solidFill>
                            <a:srgbClr val="34495B"/>
                          </a:solidFill>
                          <a:latin typeface="Segoe UI"/>
                          <a:ea typeface="Segoe UI"/>
                          <a:cs typeface="Segoe UI"/>
                        </a:rPr>
                        <a:t>Change invoice status</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Controlled application command</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Authorized, approved, persisted transition</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763143">
                <a:tc>
                  <a:txBody>
                    <a:bodyPr/>
                    <a:lstStyle/>
                    <a:p>
                      <a:r>
                        <a:rPr sz="1725" b="0">
                          <a:solidFill>
                            <a:srgbClr val="34495B"/>
                          </a:solidFill>
                          <a:latin typeface="Segoe UI"/>
                          <a:ea typeface="Segoe UI"/>
                          <a:cs typeface="Segoe UI"/>
                        </a:rPr>
                        <a:t>Calculate invoice totals</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Existing deterministic domain code</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Quantity multiplied by price</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bl>
          </a:graphicData>
        </a:graphic>
      </p:graphicFrame>
    </p:spTree>
    <p:extLst>
      <p:ext uri="{BB962C8B-B14F-4D97-AF65-F5344CB8AC3E}">
        <p14:creationId xmlns:p14="http://schemas.microsoft.com/office/powerpoint/2010/main" val="170819126"/>
      </p:ext>
    </p:extLst>
  </p:cSld>
  <p:extLst>
    <p:ext uri="{6950BFC3-D8DA-4A85-94F7-54DA5524770B}">
      <p188:commentRel xmlns:r="http://schemas.openxmlformats.org/officeDocument/2006/relationships" xmlns:p188="http://schemas.microsoft.com/office/powerpoint/2018/8/main" r:id="Rb0cb76c581744a8d"/>
    </p:ext>
  </p:extLst>
</p:sld>
</file>

<file path=ppt/slides/slide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context">
            <a:extLst xmlns:a="http://schemas.openxmlformats.org/drawingml/2006/main">
              <a:ext uri="{FF2B5EF4-FFF2-40B4-BE49-F238E27FC236}">
                <a16:creationId xmlns:a16="http://schemas.microsoft.com/office/drawing/2014/main" id="{664ECE94-1125-46EA-BC9B-6798DD3F1E13}"/>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Capstone target</a:t>
            </a:r>
          </a:p>
        </p:txBody>
      </p:sp>
      <p:sp>
        <p:nvSpPr>
          <p:cNvPr id="2" name="title">
            <a:extLst xmlns:a="http://schemas.openxmlformats.org/drawingml/2006/main">
              <a:ext uri="{FF2B5EF4-FFF2-40B4-BE49-F238E27FC236}">
                <a16:creationId xmlns:a16="http://schemas.microsoft.com/office/drawing/2014/main" id="{0FAF1BE9-582B-464A-9388-F884DB2E02FF}"/>
              </a:ext>
            </a:extLst>
          </p:cNvPr>
          <p:cNvSpPr>
            <a:spLocks xmlns:a="http://schemas.openxmlformats.org/drawingml/2006/main" noGrp="1"/>
          </p:cNvSpPr>
          <p:nvPr/>
        </p:nvSpPr>
        <p:spPr>
          <a:xfrm xmlns:a="http://schemas.openxmlformats.org/drawingml/2006/main">
            <a:off x="685800" y="6572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12C43"/>
                </a:solidFill>
                <a:latin typeface="Segoe UI"/>
                <a:ea typeface="Segoe UI"/>
                <a:cs typeface="Segoe UI"/>
              </a:defRPr>
            </a:defPPr>
            <a:lvl1pPr algn="l">
              <a:defRPr sz="3225" b="1">
                <a:solidFill>
                  <a:srgbClr val="112C43"/>
                </a:solidFill>
                <a:latin typeface="Segoe UI"/>
                <a:ea typeface="Segoe UI"/>
                <a:cs typeface="Segoe UI"/>
              </a:defRPr>
            </a:lvl1pPr>
            <a:lvl2pPr algn="l">
              <a:defRPr sz="3225" b="1">
                <a:solidFill>
                  <a:srgbClr val="112C43"/>
                </a:solidFill>
                <a:latin typeface="Segoe UI"/>
                <a:ea typeface="Segoe UI"/>
                <a:cs typeface="Segoe UI"/>
              </a:defRPr>
            </a:lvl2pPr>
            <a:lvl3pPr algn="l">
              <a:defRPr sz="3225" b="1">
                <a:solidFill>
                  <a:srgbClr val="112C43"/>
                </a:solidFill>
                <a:latin typeface="Segoe UI"/>
                <a:ea typeface="Segoe UI"/>
                <a:cs typeface="Segoe UI"/>
              </a:defRPr>
            </a:lvl3pPr>
            <a:lvl4pPr algn="l">
              <a:defRPr sz="3225" b="1">
                <a:solidFill>
                  <a:srgbClr val="112C43"/>
                </a:solidFill>
                <a:latin typeface="Segoe UI"/>
                <a:ea typeface="Segoe UI"/>
                <a:cs typeface="Segoe UI"/>
              </a:defRPr>
            </a:lvl4pPr>
            <a:lvl5pPr algn="l">
              <a:defRPr sz="3225" b="1">
                <a:solidFill>
                  <a:srgbClr val="112C43"/>
                </a:solidFill>
                <a:latin typeface="Segoe UI"/>
                <a:ea typeface="Segoe UI"/>
                <a:cs typeface="Segoe UI"/>
              </a:defRPr>
            </a:lvl5pPr>
            <a:lvl6pPr algn="l">
              <a:defRPr sz="3225" b="1">
                <a:solidFill>
                  <a:srgbClr val="112C43"/>
                </a:solidFill>
                <a:latin typeface="Segoe UI"/>
                <a:ea typeface="Segoe UI"/>
                <a:cs typeface="Segoe UI"/>
              </a:defRPr>
            </a:lvl6pPr>
            <a:lvl7pPr algn="l">
              <a:defRPr sz="3225" b="1">
                <a:solidFill>
                  <a:srgbClr val="112C43"/>
                </a:solidFill>
                <a:latin typeface="Segoe UI"/>
                <a:ea typeface="Segoe UI"/>
                <a:cs typeface="Segoe UI"/>
              </a:defRPr>
            </a:lvl7pPr>
            <a:lvl8pPr algn="l">
              <a:defRPr sz="3225" b="1">
                <a:solidFill>
                  <a:srgbClr val="112C43"/>
                </a:solidFill>
                <a:latin typeface="Segoe UI"/>
                <a:ea typeface="Segoe UI"/>
                <a:cs typeface="Segoe UI"/>
              </a:defRPr>
            </a:lvl8pPr>
            <a:lvl9pPr algn="l">
              <a:defRPr sz="3225" b="1">
                <a:solidFill>
                  <a:srgbClr val="112C43"/>
                </a:solidFill>
                <a:latin typeface="Segoe UI"/>
                <a:ea typeface="Segoe UI"/>
                <a:cs typeface="Segoe UI"/>
              </a:defRPr>
            </a:lvl9pPr>
          </a:lstStyle>
          <a:p xmlns:a="http://schemas.openxmlformats.org/drawingml/2006/main">
            <a:pPr algn="l">
              <a:defRPr sz="3225" b="1">
                <a:solidFill>
                  <a:srgbClr val="112C43"/>
                </a:solidFill>
                <a:latin typeface="Segoe UI"/>
                <a:ea typeface="Segoe UI"/>
                <a:cs typeface="Segoe UI"/>
              </a:defRPr>
            </a:pPr>
            <a:r>
              <a:rPr sz="3225" b="1">
                <a:solidFill>
                  <a:srgbClr val="112C43"/>
                </a:solidFill>
                <a:latin typeface="Segoe UI"/>
                <a:ea typeface="Segoe UI"/>
                <a:cs typeface="Segoe UI"/>
              </a:rPr>
              <a:t>InvoiceAI integration boundary</a:t>
            </a:r>
          </a:p>
        </p:txBody>
      </p:sp>
      <p:pic>
        <p:nvPicPr>
          <p:cNvPr id="3" name="">
            <a:extLst xmlns:a="http://schemas.openxmlformats.org/drawingml/2006/main">
              <a:ext uri="{FF2B5EF4-FFF2-40B4-BE49-F238E27FC236}">
                <a16:creationId xmlns:a16="http://schemas.microsoft.com/office/drawing/2014/main" id="{F8FC304D-D252-4DD5-A44B-C0A58C97FAE3}"/>
              </a:ext>
            </a:extLst>
          </p:cNvPr>
          <p:cNvPicPr>
            <a:picLocks xmlns:a="http://schemas.openxmlformats.org/drawingml/2006/main" noChangeAspect="1"/>
          </p:cNvPicPr>
          <p:nvPr/>
        </p:nvPicPr>
        <p:blipFill>
          <a:blip xmlns:r="http://schemas.openxmlformats.org/officeDocument/2006/relationships" xmlns:a="http://schemas.openxmlformats.org/drawingml/2006/main" r:embed="Raca8b87c3d224ac6"/>
          <a:stretch xmlns:a="http://schemas.openxmlformats.org/drawingml/2006/main"/>
        </p:blipFill>
        <p:spPr>
          <a:xfrm xmlns:a="http://schemas.openxmlformats.org/drawingml/2006/main">
            <a:off x="1695673" y="1333500"/>
            <a:ext cx="8800655" cy="4953000"/>
          </a:xfrm>
          <a:prstGeom xmlns:a="http://schemas.openxmlformats.org/drawingml/2006/main" prst="rect">
            <a:avLst/>
          </a:prstGeom>
        </p:spPr>
      </p:pic>
      <p:sp>
        <p:nvSpPr>
          <p:cNvPr id="4" name="footer">
            <a:extLst xmlns:a="http://schemas.openxmlformats.org/drawingml/2006/main">
              <a:ext uri="{FF2B5EF4-FFF2-40B4-BE49-F238E27FC236}">
                <a16:creationId xmlns:a16="http://schemas.microsoft.com/office/drawing/2014/main" id="{9F030480-D6CD-489A-A864-16DD8C041397}"/>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01  Integration architecture</a:t>
            </a:r>
          </a:p>
        </p:txBody>
      </p:sp>
      <p:sp>
        <p:nvSpPr>
          <p:cNvPr id="5" name="page">
            <a:extLst xmlns:a="http://schemas.openxmlformats.org/drawingml/2006/main">
              <a:ext uri="{FF2B5EF4-FFF2-40B4-BE49-F238E27FC236}">
                <a16:creationId xmlns:a16="http://schemas.microsoft.com/office/drawing/2014/main" id="{290B75A8-BB2A-4C67-ABD2-3528FC1CD0EC}"/>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07</a:t>
            </a:r>
          </a:p>
        </p:txBody>
      </p:sp>
    </p:spTree>
    <p:extLst>
      <p:ext uri="{BB962C8B-B14F-4D97-AF65-F5344CB8AC3E}">
        <p14:creationId xmlns:p14="http://schemas.microsoft.com/office/powerpoint/2010/main" val="1486157604"/>
      </p:ext>
    </p:extLst>
  </p:cSld>
  <p:extLst>
    <p:ext uri="{6950BFC3-D8DA-4A85-94F7-54DA5524770B}">
      <p188:commentRel xmlns:r="http://schemas.openxmlformats.org/officeDocument/2006/relationships" xmlns:p188="http://schemas.microsoft.com/office/powerpoint/2018/8/main" r:id="Rd19380930ff44d92"/>
    </p:ext>
  </p:extLst>
</p:sld>
</file>

<file path=ppt/slides/slide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7EBC8B3D-6A2B-4D0A-90FE-B22CBFB2CCB7}"/>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Integration method</a:t>
            </a:r>
          </a:p>
        </p:txBody>
      </p:sp>
      <p:sp>
        <p:nvSpPr>
          <p:cNvPr id="2" name="title">
            <a:extLst xmlns:a="http://schemas.openxmlformats.org/drawingml/2006/main">
              <a:ext uri="{FF2B5EF4-FFF2-40B4-BE49-F238E27FC236}">
                <a16:creationId xmlns:a16="http://schemas.microsoft.com/office/drawing/2014/main" id="{A3D668BC-6FA0-401C-B940-D37ECDF89F4E}"/>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The integration inventory</a:t>
            </a:r>
          </a:p>
        </p:txBody>
      </p:sp>
      <p:sp>
        <p:nvSpPr>
          <p:cNvPr id="3" name="footer">
            <a:extLst xmlns:a="http://schemas.openxmlformats.org/drawingml/2006/main">
              <a:ext uri="{FF2B5EF4-FFF2-40B4-BE49-F238E27FC236}">
                <a16:creationId xmlns:a16="http://schemas.microsoft.com/office/drawing/2014/main" id="{0FD1BD31-E528-492C-92CC-7BDA48032CA5}"/>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01  Integration architecture</a:t>
            </a:r>
          </a:p>
        </p:txBody>
      </p:sp>
      <p:sp>
        <p:nvSpPr>
          <p:cNvPr id="4" name="page">
            <a:extLst xmlns:a="http://schemas.openxmlformats.org/drawingml/2006/main">
              <a:ext uri="{FF2B5EF4-FFF2-40B4-BE49-F238E27FC236}">
                <a16:creationId xmlns:a16="http://schemas.microsoft.com/office/drawing/2014/main" id="{4E6D60DC-D9AD-4F01-8336-9CF9D3DF0498}"/>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08</a:t>
            </a:r>
          </a:p>
        </p:txBody>
      </p:sp>
      <p:sp>
        <p:nvSpPr>
          <p:cNvPr id="5" name="label-0">
            <a:extLst xmlns:a="http://schemas.openxmlformats.org/drawingml/2006/main">
              <a:ext uri="{FF2B5EF4-FFF2-40B4-BE49-F238E27FC236}">
                <a16:creationId xmlns:a16="http://schemas.microsoft.com/office/drawing/2014/main" id="{B71BBB31-00DA-459E-BDEC-9D8CD6706634}"/>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Contracts</a:t>
            </a:r>
          </a:p>
        </p:txBody>
      </p:sp>
      <p:sp>
        <p:nvSpPr>
          <p:cNvPr id="6" name="point-0">
            <a:extLst xmlns:a="http://schemas.openxmlformats.org/drawingml/2006/main">
              <a:ext uri="{FF2B5EF4-FFF2-40B4-BE49-F238E27FC236}">
                <a16:creationId xmlns:a16="http://schemas.microsoft.com/office/drawing/2014/main" id="{5CD6A558-F051-4ADE-916F-261D255891C2}"/>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Commands, queries, DTOs, error codes, and cancellation behavior.</a:t>
            </a:r>
          </a:p>
        </p:txBody>
      </p:sp>
      <p:sp>
        <p:nvSpPr>
          <p:cNvPr id="7" name="label-1">
            <a:extLst xmlns:a="http://schemas.openxmlformats.org/drawingml/2006/main">
              <a:ext uri="{FF2B5EF4-FFF2-40B4-BE49-F238E27FC236}">
                <a16:creationId xmlns:a16="http://schemas.microsoft.com/office/drawing/2014/main" id="{A0347734-3F2A-4866-9D2D-43A5E9B1BA2F}"/>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Data</a:t>
            </a:r>
          </a:p>
        </p:txBody>
      </p:sp>
      <p:sp>
        <p:nvSpPr>
          <p:cNvPr id="8" name="point-1">
            <a:extLst xmlns:a="http://schemas.openxmlformats.org/drawingml/2006/main">
              <a:ext uri="{FF2B5EF4-FFF2-40B4-BE49-F238E27FC236}">
                <a16:creationId xmlns:a16="http://schemas.microsoft.com/office/drawing/2014/main" id="{3F280AD2-8715-4288-90C0-48432AF7CB24}"/>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Sensitive fields, tenant boundaries, freshness, and authoritative sources.</a:t>
            </a:r>
          </a:p>
        </p:txBody>
      </p:sp>
      <p:sp>
        <p:nvSpPr>
          <p:cNvPr id="9" name="label-2">
            <a:extLst xmlns:a="http://schemas.openxmlformats.org/drawingml/2006/main">
              <a:ext uri="{FF2B5EF4-FFF2-40B4-BE49-F238E27FC236}">
                <a16:creationId xmlns:a16="http://schemas.microsoft.com/office/drawing/2014/main" id="{37D1AA3F-E017-401F-AA81-C78EAAE0B594}"/>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Side effects</a:t>
            </a:r>
          </a:p>
        </p:txBody>
      </p:sp>
      <p:sp>
        <p:nvSpPr>
          <p:cNvPr id="10" name="point-2">
            <a:extLst xmlns:a="http://schemas.openxmlformats.org/drawingml/2006/main">
              <a:ext uri="{FF2B5EF4-FFF2-40B4-BE49-F238E27FC236}">
                <a16:creationId xmlns:a16="http://schemas.microsoft.com/office/drawing/2014/main" id="{BBA47065-AE24-4BA9-B2DA-BD680237BB0B}"/>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Status changes, deletions, duplicate requests, and partial completion.</a:t>
            </a:r>
          </a:p>
        </p:txBody>
      </p:sp>
      <p:sp>
        <p:nvSpPr>
          <p:cNvPr id="11" name="label-3">
            <a:extLst xmlns:a="http://schemas.openxmlformats.org/drawingml/2006/main">
              <a:ext uri="{FF2B5EF4-FFF2-40B4-BE49-F238E27FC236}">
                <a16:creationId xmlns:a16="http://schemas.microsoft.com/office/drawing/2014/main" id="{85A9D674-17BA-401A-A2C9-FA36EDE5DD06}"/>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Service levels</a:t>
            </a:r>
          </a:p>
        </p:txBody>
      </p:sp>
      <p:sp>
        <p:nvSpPr>
          <p:cNvPr id="12" name="point-3">
            <a:extLst xmlns:a="http://schemas.openxmlformats.org/drawingml/2006/main">
              <a:ext uri="{FF2B5EF4-FFF2-40B4-BE49-F238E27FC236}">
                <a16:creationId xmlns:a16="http://schemas.microsoft.com/office/drawing/2014/main" id="{13F08307-087E-4E1E-95CA-EFA25D005A1D}"/>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Latency budget, model quota, availability, and support ownership.</a:t>
            </a:r>
          </a:p>
        </p:txBody>
      </p:sp>
    </p:spTree>
    <p:extLst>
      <p:ext uri="{BB962C8B-B14F-4D97-AF65-F5344CB8AC3E}">
        <p14:creationId xmlns:p14="http://schemas.microsoft.com/office/powerpoint/2010/main" val="1915043904"/>
      </p:ext>
    </p:extLst>
  </p:cSld>
  <p:extLst>
    <p:ext uri="{6950BFC3-D8DA-4A85-94F7-54DA5524770B}">
      <p188:commentRel xmlns:r="http://schemas.openxmlformats.org/officeDocument/2006/relationships" xmlns:p188="http://schemas.microsoft.com/office/powerpoint/2018/8/main" r:id="R8198f4a570c0414a"/>
    </p:ext>
  </p:extLst>
</p:sld>
</file>

<file path=ppt/slides/slide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BBEF44A9-18A5-4513-99E1-8D4276005077}"/>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Engineering fundamentals</a:t>
            </a:r>
          </a:p>
        </p:txBody>
      </p:sp>
      <p:sp>
        <p:nvSpPr>
          <p:cNvPr id="2" name="title">
            <a:extLst xmlns:a="http://schemas.openxmlformats.org/drawingml/2006/main">
              <a:ext uri="{FF2B5EF4-FFF2-40B4-BE49-F238E27FC236}">
                <a16:creationId xmlns:a16="http://schemas.microsoft.com/office/drawing/2014/main" id="{AD76191F-26AE-4F2E-BC33-C8F93E5D4FC4}"/>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Model behavior that affects system design</a:t>
            </a:r>
          </a:p>
        </p:txBody>
      </p:sp>
      <p:sp>
        <p:nvSpPr>
          <p:cNvPr id="3" name="footer">
            <a:extLst xmlns:a="http://schemas.openxmlformats.org/drawingml/2006/main">
              <a:ext uri="{FF2B5EF4-FFF2-40B4-BE49-F238E27FC236}">
                <a16:creationId xmlns:a16="http://schemas.microsoft.com/office/drawing/2014/main" id="{6BE0FBE0-4E9C-4AD0-B15D-3CB23ED3C6CC}"/>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01  Integration architecture</a:t>
            </a:r>
          </a:p>
        </p:txBody>
      </p:sp>
      <p:sp>
        <p:nvSpPr>
          <p:cNvPr id="4" name="page">
            <a:extLst xmlns:a="http://schemas.openxmlformats.org/drawingml/2006/main">
              <a:ext uri="{FF2B5EF4-FFF2-40B4-BE49-F238E27FC236}">
                <a16:creationId xmlns:a16="http://schemas.microsoft.com/office/drawing/2014/main" id="{8ADEBBE1-8963-4A14-B4F2-BBFA38D7770B}"/>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09</a:t>
            </a:r>
          </a:p>
        </p:txBody>
      </p:sp>
      <p:sp>
        <p:nvSpPr>
          <p:cNvPr id="5" name="label-0">
            <a:extLst xmlns:a="http://schemas.openxmlformats.org/drawingml/2006/main">
              <a:ext uri="{FF2B5EF4-FFF2-40B4-BE49-F238E27FC236}">
                <a16:creationId xmlns:a16="http://schemas.microsoft.com/office/drawing/2014/main" id="{39DA20F0-C11A-43DC-9913-8C879FDCE719}"/>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Tokens</a:t>
            </a:r>
          </a:p>
        </p:txBody>
      </p:sp>
      <p:sp>
        <p:nvSpPr>
          <p:cNvPr id="6" name="point-0">
            <a:extLst xmlns:a="http://schemas.openxmlformats.org/drawingml/2006/main">
              <a:ext uri="{FF2B5EF4-FFF2-40B4-BE49-F238E27FC236}">
                <a16:creationId xmlns:a16="http://schemas.microsoft.com/office/drawing/2014/main" id="{F81D9B1A-8A8D-45DB-B04B-23D42F9B234B}"/>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Every instruction, message, tool schema, and retrieved passage consumes context.</a:t>
            </a:r>
          </a:p>
        </p:txBody>
      </p:sp>
      <p:sp>
        <p:nvSpPr>
          <p:cNvPr id="7" name="label-1">
            <a:extLst xmlns:a="http://schemas.openxmlformats.org/drawingml/2006/main">
              <a:ext uri="{FF2B5EF4-FFF2-40B4-BE49-F238E27FC236}">
                <a16:creationId xmlns:a16="http://schemas.microsoft.com/office/drawing/2014/main" id="{896C2F23-B7D3-4962-9914-AC82346A3FFB}"/>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Generation</a:t>
            </a:r>
          </a:p>
        </p:txBody>
      </p:sp>
      <p:sp>
        <p:nvSpPr>
          <p:cNvPr id="8" name="point-1">
            <a:extLst xmlns:a="http://schemas.openxmlformats.org/drawingml/2006/main">
              <a:ext uri="{FF2B5EF4-FFF2-40B4-BE49-F238E27FC236}">
                <a16:creationId xmlns:a16="http://schemas.microsoft.com/office/drawing/2014/main" id="{CF86165F-E32E-4FFC-BDFD-0974666D7DD4}"/>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Outputs and tool choices can vary across runs and model versions.</a:t>
            </a:r>
          </a:p>
        </p:txBody>
      </p:sp>
      <p:sp>
        <p:nvSpPr>
          <p:cNvPr id="9" name="label-2">
            <a:extLst xmlns:a="http://schemas.openxmlformats.org/drawingml/2006/main">
              <a:ext uri="{FF2B5EF4-FFF2-40B4-BE49-F238E27FC236}">
                <a16:creationId xmlns:a16="http://schemas.microsoft.com/office/drawing/2014/main" id="{D6E2F9E0-F22D-4E75-8E2F-A3080287D59D}"/>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Capabilities</a:t>
            </a:r>
          </a:p>
        </p:txBody>
      </p:sp>
      <p:sp>
        <p:nvSpPr>
          <p:cNvPr id="10" name="point-2">
            <a:extLst xmlns:a="http://schemas.openxmlformats.org/drawingml/2006/main">
              <a:ext uri="{FF2B5EF4-FFF2-40B4-BE49-F238E27FC236}">
                <a16:creationId xmlns:a16="http://schemas.microsoft.com/office/drawing/2014/main" id="{9C6D5A03-F631-4A0D-ADCA-0E049C709DC8}"/>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Streaming, schemas, images, and hosted tools depend on the provider.</a:t>
            </a:r>
          </a:p>
        </p:txBody>
      </p:sp>
      <p:sp>
        <p:nvSpPr>
          <p:cNvPr id="11" name="label-3">
            <a:extLst xmlns:a="http://schemas.openxmlformats.org/drawingml/2006/main">
              <a:ext uri="{FF2B5EF4-FFF2-40B4-BE49-F238E27FC236}">
                <a16:creationId xmlns:a16="http://schemas.microsoft.com/office/drawing/2014/main" id="{E4F71046-BF91-4CDE-8DE6-0DEFDE00E327}"/>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Control</a:t>
            </a:r>
          </a:p>
        </p:txBody>
      </p:sp>
      <p:sp>
        <p:nvSpPr>
          <p:cNvPr id="12" name="point-3">
            <a:extLst xmlns:a="http://schemas.openxmlformats.org/drawingml/2006/main">
              <a:ext uri="{FF2B5EF4-FFF2-40B4-BE49-F238E27FC236}">
                <a16:creationId xmlns:a16="http://schemas.microsoft.com/office/drawing/2014/main" id="{4E29499E-4B82-4882-A0A9-D6C4CDB02E33}"/>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Application policy decides which operations the model may request.</a:t>
            </a:r>
          </a:p>
        </p:txBody>
      </p:sp>
    </p:spTree>
    <p:extLst>
      <p:ext uri="{BB962C8B-B14F-4D97-AF65-F5344CB8AC3E}">
        <p14:creationId xmlns:p14="http://schemas.microsoft.com/office/powerpoint/2010/main" val="648304663"/>
      </p:ext>
    </p:extLst>
  </p:cSld>
  <p:extLst>
    <p:ext uri="{6950BFC3-D8DA-4A85-94F7-54DA5524770B}">
      <p188:commentRel xmlns:r="http://schemas.openxmlformats.org/officeDocument/2006/relationships" xmlns:p188="http://schemas.microsoft.com/office/powerpoint/2018/8/main" r:id="R06982f0c5a3c4ef3"/>
    </p:ext>
  </p:extLst>
</p:sld>
</file>

<file path=ppt/slides/slide10.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AB1C6877-A789-41C9-998F-F43756C84340}"/>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Capstone target</a:t>
            </a:r>
          </a:p>
        </p:txBody>
      </p:sp>
      <p:sp>
        <p:nvSpPr>
          <p:cNvPr id="2" name="title">
            <a:extLst xmlns:a="http://schemas.openxmlformats.org/drawingml/2006/main">
              <a:ext uri="{FF2B5EF4-FFF2-40B4-BE49-F238E27FC236}">
                <a16:creationId xmlns:a16="http://schemas.microsoft.com/office/drawing/2014/main" id="{DD2ADC2F-285C-40A0-86FD-1258B185AF27}"/>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The integration contract</a:t>
            </a:r>
          </a:p>
        </p:txBody>
      </p:sp>
      <p:sp>
        <p:nvSpPr>
          <p:cNvPr id="3" name="footer">
            <a:extLst xmlns:a="http://schemas.openxmlformats.org/drawingml/2006/main">
              <a:ext uri="{FF2B5EF4-FFF2-40B4-BE49-F238E27FC236}">
                <a16:creationId xmlns:a16="http://schemas.microsoft.com/office/drawing/2014/main" id="{85117E7A-9635-4461-9052-43462EC1A980}"/>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01  Integration architecture</a:t>
            </a:r>
          </a:p>
        </p:txBody>
      </p:sp>
      <p:sp>
        <p:nvSpPr>
          <p:cNvPr id="4" name="page">
            <a:extLst xmlns:a="http://schemas.openxmlformats.org/drawingml/2006/main">
              <a:ext uri="{FF2B5EF4-FFF2-40B4-BE49-F238E27FC236}">
                <a16:creationId xmlns:a16="http://schemas.microsoft.com/office/drawing/2014/main" id="{CC60C28C-6157-409E-95CE-EEB0DC67D9C0}"/>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10</a:t>
            </a:r>
          </a:p>
        </p:txBody>
      </p:sp>
      <p:sp>
        <p:nvSpPr>
          <p:cNvPr id="5" name="label-0">
            <a:extLst xmlns:a="http://schemas.openxmlformats.org/drawingml/2006/main">
              <a:ext uri="{FF2B5EF4-FFF2-40B4-BE49-F238E27FC236}">
                <a16:creationId xmlns:a16="http://schemas.microsoft.com/office/drawing/2014/main" id="{9DFAC8E6-8C14-4A3A-960B-9E0D317FEF6F}"/>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Input</a:t>
            </a:r>
          </a:p>
        </p:txBody>
      </p:sp>
      <p:sp>
        <p:nvSpPr>
          <p:cNvPr id="6" name="point-0">
            <a:extLst xmlns:a="http://schemas.openxmlformats.org/drawingml/2006/main">
              <a:ext uri="{FF2B5EF4-FFF2-40B4-BE49-F238E27FC236}">
                <a16:creationId xmlns:a16="http://schemas.microsoft.com/office/drawing/2014/main" id="{F68CC3D7-8743-4AA9-B412-F6DDA77D01B5}"/>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A user message plus server-resolved identity and record context.</a:t>
            </a:r>
          </a:p>
        </p:txBody>
      </p:sp>
      <p:sp>
        <p:nvSpPr>
          <p:cNvPr id="7" name="label-1">
            <a:extLst xmlns:a="http://schemas.openxmlformats.org/drawingml/2006/main">
              <a:ext uri="{FF2B5EF4-FFF2-40B4-BE49-F238E27FC236}">
                <a16:creationId xmlns:a16="http://schemas.microsoft.com/office/drawing/2014/main" id="{9B342555-97C4-4802-B8AD-F4BCB787D068}"/>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Output</a:t>
            </a:r>
          </a:p>
        </p:txBody>
      </p:sp>
      <p:sp>
        <p:nvSpPr>
          <p:cNvPr id="8" name="point-1">
            <a:extLst xmlns:a="http://schemas.openxmlformats.org/drawingml/2006/main">
              <a:ext uri="{FF2B5EF4-FFF2-40B4-BE49-F238E27FC236}">
                <a16:creationId xmlns:a16="http://schemas.microsoft.com/office/drawing/2014/main" id="{EC52EECE-D0A3-483C-9B13-60D4C471DB3F}"/>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An answer, source evidence, execution state, and correlation identifiers.</a:t>
            </a:r>
          </a:p>
        </p:txBody>
      </p:sp>
      <p:sp>
        <p:nvSpPr>
          <p:cNvPr id="9" name="label-2">
            <a:extLst xmlns:a="http://schemas.openxmlformats.org/drawingml/2006/main">
              <a:ext uri="{FF2B5EF4-FFF2-40B4-BE49-F238E27FC236}">
                <a16:creationId xmlns:a16="http://schemas.microsoft.com/office/drawing/2014/main" id="{4695E3E9-D046-4101-A3C1-C4854B0698FF}"/>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Policy</a:t>
            </a:r>
          </a:p>
        </p:txBody>
      </p:sp>
      <p:sp>
        <p:nvSpPr>
          <p:cNvPr id="10" name="point-2">
            <a:extLst xmlns:a="http://schemas.openxmlformats.org/drawingml/2006/main">
              <a:ext uri="{FF2B5EF4-FFF2-40B4-BE49-F238E27FC236}">
                <a16:creationId xmlns:a16="http://schemas.microsoft.com/office/drawing/2014/main" id="{21B4E739-5508-44E1-AB21-C44AB8F2E36C}"/>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Allowed tools, approval requirements, deadlines, and budgets.</a:t>
            </a:r>
          </a:p>
        </p:txBody>
      </p:sp>
      <p:sp>
        <p:nvSpPr>
          <p:cNvPr id="11" name="label-3">
            <a:extLst xmlns:a="http://schemas.openxmlformats.org/drawingml/2006/main">
              <a:ext uri="{FF2B5EF4-FFF2-40B4-BE49-F238E27FC236}">
                <a16:creationId xmlns:a16="http://schemas.microsoft.com/office/drawing/2014/main" id="{A2E5E21E-D286-4E36-8FE1-2FE424070414}"/>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Failure</a:t>
            </a:r>
          </a:p>
        </p:txBody>
      </p:sp>
      <p:sp>
        <p:nvSpPr>
          <p:cNvPr id="12" name="point-3">
            <a:extLst xmlns:a="http://schemas.openxmlformats.org/drawingml/2006/main">
              <a:ext uri="{FF2B5EF4-FFF2-40B4-BE49-F238E27FC236}">
                <a16:creationId xmlns:a16="http://schemas.microsoft.com/office/drawing/2014/main" id="{05EE23D8-0408-4383-9269-499776797668}"/>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A safe error contract that preserves known business outcomes.</a:t>
            </a:r>
          </a:p>
        </p:txBody>
      </p:sp>
    </p:spTree>
    <p:extLst>
      <p:ext uri="{BB962C8B-B14F-4D97-AF65-F5344CB8AC3E}">
        <p14:creationId xmlns:p14="http://schemas.microsoft.com/office/powerpoint/2010/main" val="1229473595"/>
      </p:ext>
    </p:extLst>
  </p:cSld>
  <p:extLst>
    <p:ext uri="{6950BFC3-D8DA-4A85-94F7-54DA5524770B}">
      <p188:commentRel xmlns:r="http://schemas.openxmlformats.org/officeDocument/2006/relationships" xmlns:p188="http://schemas.microsoft.com/office/powerpoint/2018/8/main" r:id="R9eb7f768ab3d432d"/>
    </p:ext>
  </p:extLst>
</p:sld>
</file>

<file path=ppt/slides/slide1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2FB52DD5-1E17-4FCB-8F84-DB8C6802C740}"/>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Existing implementation</a:t>
            </a:r>
          </a:p>
        </p:txBody>
      </p:sp>
      <p:sp>
        <p:nvSpPr>
          <p:cNvPr id="2" name="title">
            <a:extLst xmlns:a="http://schemas.openxmlformats.org/drawingml/2006/main">
              <a:ext uri="{FF2B5EF4-FFF2-40B4-BE49-F238E27FC236}">
                <a16:creationId xmlns:a16="http://schemas.microsoft.com/office/drawing/2014/main" id="{C2AD1CEF-4DA4-499F-979C-4C309D8FB563}"/>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The existing command boundary</a:t>
            </a:r>
          </a:p>
        </p:txBody>
      </p:sp>
      <p:sp>
        <p:nvSpPr>
          <p:cNvPr id="3" name="footer">
            <a:extLst xmlns:a="http://schemas.openxmlformats.org/drawingml/2006/main">
              <a:ext uri="{FF2B5EF4-FFF2-40B4-BE49-F238E27FC236}">
                <a16:creationId xmlns:a16="http://schemas.microsoft.com/office/drawing/2014/main" id="{BA057E83-4359-4FD2-8112-AAECAC117E47}"/>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01  Integration architecture</a:t>
            </a:r>
          </a:p>
        </p:txBody>
      </p:sp>
      <p:sp>
        <p:nvSpPr>
          <p:cNvPr id="4" name="page">
            <a:extLst xmlns:a="http://schemas.openxmlformats.org/drawingml/2006/main">
              <a:ext uri="{FF2B5EF4-FFF2-40B4-BE49-F238E27FC236}">
                <a16:creationId xmlns:a16="http://schemas.microsoft.com/office/drawing/2014/main" id="{3BB26024-08C5-49AC-A47D-988171E24FEF}"/>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11</a:t>
            </a:r>
          </a:p>
        </p:txBody>
      </p:sp>
      <p:sp>
        <p:nvSpPr>
          <p:cNvPr id="5" name="label-0">
            <a:extLst xmlns:a="http://schemas.openxmlformats.org/drawingml/2006/main">
              <a:ext uri="{FF2B5EF4-FFF2-40B4-BE49-F238E27FC236}">
                <a16:creationId xmlns:a16="http://schemas.microsoft.com/office/drawing/2014/main" id="{D0C653C9-BC5F-4186-A46E-F6238B4129DB}"/>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Command</a:t>
            </a:r>
          </a:p>
        </p:txBody>
      </p:sp>
      <p:sp>
        <p:nvSpPr>
          <p:cNvPr id="6" name="point-0">
            <a:extLst xmlns:a="http://schemas.openxmlformats.org/drawingml/2006/main">
              <a:ext uri="{FF2B5EF4-FFF2-40B4-BE49-F238E27FC236}">
                <a16:creationId xmlns:a16="http://schemas.microsoft.com/office/drawing/2014/main" id="{78AFA349-7903-487B-82B5-74AD08B4A749}"/>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UpdateInvoiceStatusCommand describes the requested business change.</a:t>
            </a:r>
          </a:p>
        </p:txBody>
      </p:sp>
      <p:sp>
        <p:nvSpPr>
          <p:cNvPr id="7" name="label-1">
            <a:extLst xmlns:a="http://schemas.openxmlformats.org/drawingml/2006/main">
              <a:ext uri="{FF2B5EF4-FFF2-40B4-BE49-F238E27FC236}">
                <a16:creationId xmlns:a16="http://schemas.microsoft.com/office/drawing/2014/main" id="{07127DDA-CACD-4F83-99F9-5803D25AB8DC}"/>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Handler</a:t>
            </a:r>
          </a:p>
        </p:txBody>
      </p:sp>
      <p:sp>
        <p:nvSpPr>
          <p:cNvPr id="8" name="point-1">
            <a:extLst xmlns:a="http://schemas.openxmlformats.org/drawingml/2006/main">
              <a:ext uri="{FF2B5EF4-FFF2-40B4-BE49-F238E27FC236}">
                <a16:creationId xmlns:a16="http://schemas.microsoft.com/office/drawing/2014/main" id="{3FE73166-2FC6-4824-9F43-7CD1214E63AB}"/>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Loads the invoice and invokes Invoice.TransitionTo.</a:t>
            </a:r>
          </a:p>
        </p:txBody>
      </p:sp>
      <p:sp>
        <p:nvSpPr>
          <p:cNvPr id="9" name="label-2">
            <a:extLst xmlns:a="http://schemas.openxmlformats.org/drawingml/2006/main">
              <a:ext uri="{FF2B5EF4-FFF2-40B4-BE49-F238E27FC236}">
                <a16:creationId xmlns:a16="http://schemas.microsoft.com/office/drawing/2014/main" id="{F3092B11-CEF9-4527-A839-23EAF68C6120}"/>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Invariant</a:t>
            </a:r>
          </a:p>
        </p:txBody>
      </p:sp>
      <p:sp>
        <p:nvSpPr>
          <p:cNvPr id="10" name="point-2">
            <a:extLst xmlns:a="http://schemas.openxmlformats.org/drawingml/2006/main">
              <a:ext uri="{FF2B5EF4-FFF2-40B4-BE49-F238E27FC236}">
                <a16:creationId xmlns:a16="http://schemas.microsoft.com/office/drawing/2014/main" id="{76EC6063-37E9-4CB3-BACA-E512743581C8}"/>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Draft cannot transition directly to Paid.</a:t>
            </a:r>
          </a:p>
        </p:txBody>
      </p:sp>
      <p:sp>
        <p:nvSpPr>
          <p:cNvPr id="11" name="label-3">
            <a:extLst xmlns:a="http://schemas.openxmlformats.org/drawingml/2006/main">
              <a:ext uri="{FF2B5EF4-FFF2-40B4-BE49-F238E27FC236}">
                <a16:creationId xmlns:a16="http://schemas.microsoft.com/office/drawing/2014/main" id="{14A16162-5C9D-492C-BDAC-90EB8BAB8DAC}"/>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Persistence</a:t>
            </a:r>
          </a:p>
        </p:txBody>
      </p:sp>
      <p:sp>
        <p:nvSpPr>
          <p:cNvPr id="12" name="point-3">
            <a:extLst xmlns:a="http://schemas.openxmlformats.org/drawingml/2006/main">
              <a:ext uri="{FF2B5EF4-FFF2-40B4-BE49-F238E27FC236}">
                <a16:creationId xmlns:a16="http://schemas.microsoft.com/office/drawing/2014/main" id="{1E37F01A-41FC-43FE-8BEC-F5F64DAA7702}"/>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The handler saves only after the transition succeeds.</a:t>
            </a:r>
          </a:p>
        </p:txBody>
      </p:sp>
    </p:spTree>
    <p:extLst>
      <p:ext uri="{BB962C8B-B14F-4D97-AF65-F5344CB8AC3E}">
        <p14:creationId xmlns:p14="http://schemas.microsoft.com/office/powerpoint/2010/main" val="166559435"/>
      </p:ext>
    </p:extLst>
  </p:cSld>
  <p:extLst>
    <p:ext uri="{6950BFC3-D8DA-4A85-94F7-54DA5524770B}">
      <p188:commentRel xmlns:r="http://schemas.openxmlformats.org/officeDocument/2006/relationships" xmlns:p188="http://schemas.microsoft.com/office/powerpoint/2018/8/main" r:id="Rb73af584817f4cfa"/>
    </p:ext>
  </p:extLst>
</p:sld>
</file>

<file path=ppt/slides/slide1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4" name="context">
            <a:extLst xmlns:a="http://schemas.openxmlformats.org/drawingml/2006/main">
              <a:ext uri="{FF2B5EF4-FFF2-40B4-BE49-F238E27FC236}">
                <a16:creationId xmlns:a16="http://schemas.microsoft.com/office/drawing/2014/main" id="{D89FD003-8758-41EA-B202-D75FC247D7A1}"/>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Lab target</a:t>
            </a:r>
          </a:p>
        </p:txBody>
      </p:sp>
      <p:sp>
        <p:nvSpPr>
          <p:cNvPr id="2" name="title">
            <a:extLst xmlns:a="http://schemas.openxmlformats.org/drawingml/2006/main">
              <a:ext uri="{FF2B5EF4-FFF2-40B4-BE49-F238E27FC236}">
                <a16:creationId xmlns:a16="http://schemas.microsoft.com/office/drawing/2014/main" id="{4A3301BA-A720-451F-978D-F6A35D9BD5F7}"/>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Lab 01: characterize the existing system</a:t>
            </a:r>
          </a:p>
        </p:txBody>
      </p:sp>
      <p:sp>
        <p:nvSpPr>
          <p:cNvPr id="3" name="footer">
            <a:extLst xmlns:a="http://schemas.openxmlformats.org/drawingml/2006/main">
              <a:ext uri="{FF2B5EF4-FFF2-40B4-BE49-F238E27FC236}">
                <a16:creationId xmlns:a16="http://schemas.microsoft.com/office/drawing/2014/main" id="{4315B87D-3E43-4B3E-966B-19E17BF4BF59}"/>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01  Integration architecture</a:t>
            </a:r>
          </a:p>
        </p:txBody>
      </p:sp>
      <p:sp>
        <p:nvSpPr>
          <p:cNvPr id="4" name="page">
            <a:extLst xmlns:a="http://schemas.openxmlformats.org/drawingml/2006/main">
              <a:ext uri="{FF2B5EF4-FFF2-40B4-BE49-F238E27FC236}">
                <a16:creationId xmlns:a16="http://schemas.microsoft.com/office/drawing/2014/main" id="{4B116BD9-92A7-4F03-96F3-B6A09B8A1CD4}"/>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12</a:t>
            </a:r>
          </a:p>
        </p:txBody>
      </p:sp>
      <p:sp>
        <p:nvSpPr>
          <p:cNvPr id="5" name="implementation">
            <a:extLst xmlns:a="http://schemas.openxmlformats.org/drawingml/2006/main">
              <a:ext uri="{FF2B5EF4-FFF2-40B4-BE49-F238E27FC236}">
                <a16:creationId xmlns:a16="http://schemas.microsoft.com/office/drawing/2014/main" id="{9A1F1010-0011-4D9C-8062-82685B278D55}"/>
              </a:ext>
            </a:extLst>
          </p:cNvPr>
          <p:cNvSpPr>
            <a:spLocks xmlns:a="http://schemas.openxmlformats.org/drawingml/2006/main" noGrp="1"/>
          </p:cNvSpPr>
          <p:nvPr/>
        </p:nvSpPr>
        <p:spPr>
          <a:xfrm xmlns:a="http://schemas.openxmlformats.org/drawingml/2006/main">
            <a:off x="685800" y="1857375"/>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Implementation</a:t>
            </a:r>
          </a:p>
        </p:txBody>
      </p:sp>
      <p:sp>
        <p:nvSpPr>
          <p:cNvPr id="6" name="acceptance">
            <a:extLst xmlns:a="http://schemas.openxmlformats.org/drawingml/2006/main">
              <a:ext uri="{FF2B5EF4-FFF2-40B4-BE49-F238E27FC236}">
                <a16:creationId xmlns:a16="http://schemas.microsoft.com/office/drawing/2014/main" id="{0D06E16E-16BE-445D-BDB6-4F935C4FBE71}"/>
              </a:ext>
            </a:extLst>
          </p:cNvPr>
          <p:cNvSpPr>
            <a:spLocks xmlns:a="http://schemas.openxmlformats.org/drawingml/2006/main" noGrp="1"/>
          </p:cNvSpPr>
          <p:nvPr/>
        </p:nvSpPr>
        <p:spPr>
          <a:xfrm xmlns:a="http://schemas.openxmlformats.org/drawingml/2006/main">
            <a:off x="7477125" y="1857375"/>
            <a:ext cx="4029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Acceptance</a:t>
            </a:r>
          </a:p>
        </p:txBody>
      </p:sp>
      <p:sp>
        <p:nvSpPr>
          <p:cNvPr id="7" name="task-0">
            <a:extLst xmlns:a="http://schemas.openxmlformats.org/drawingml/2006/main">
              <a:ext uri="{FF2B5EF4-FFF2-40B4-BE49-F238E27FC236}">
                <a16:creationId xmlns:a16="http://schemas.microsoft.com/office/drawing/2014/main" id="{87C29CC8-99DF-4D8E-9B92-B83A08616066}"/>
              </a:ext>
            </a:extLst>
          </p:cNvPr>
          <p:cNvSpPr>
            <a:spLocks xmlns:a="http://schemas.openxmlformats.org/drawingml/2006/main" noGrp="1"/>
          </p:cNvSpPr>
          <p:nvPr/>
        </p:nvSpPr>
        <p:spPr>
          <a:xfrm xmlns:a="http://schemas.openxmlformats.org/drawingml/2006/main">
            <a:off x="685800" y="2476500"/>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1. Select one billing query and one status command.</a:t>
            </a:r>
          </a:p>
        </p:txBody>
      </p:sp>
      <p:sp>
        <p:nvSpPr>
          <p:cNvPr id="8" name="task-1">
            <a:extLst xmlns:a="http://schemas.openxmlformats.org/drawingml/2006/main">
              <a:ext uri="{FF2B5EF4-FFF2-40B4-BE49-F238E27FC236}">
                <a16:creationId xmlns:a16="http://schemas.microsoft.com/office/drawing/2014/main" id="{C33B9C37-5952-4AF1-AE36-DC7C4F54B0C4}"/>
              </a:ext>
            </a:extLst>
          </p:cNvPr>
          <p:cNvSpPr>
            <a:spLocks xmlns:a="http://schemas.openxmlformats.org/drawingml/2006/main" noGrp="1"/>
          </p:cNvSpPr>
          <p:nvPr/>
        </p:nvSpPr>
        <p:spPr>
          <a:xfrm xmlns:a="http://schemas.openxmlformats.org/drawingml/2006/main">
            <a:off x="685800" y="3495675"/>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2. Document contracts, side effects, and current failure behavior.</a:t>
            </a:r>
          </a:p>
        </p:txBody>
      </p:sp>
      <p:sp>
        <p:nvSpPr>
          <p:cNvPr id="9" name="task-2">
            <a:extLst xmlns:a="http://schemas.openxmlformats.org/drawingml/2006/main">
              <a:ext uri="{FF2B5EF4-FFF2-40B4-BE49-F238E27FC236}">
                <a16:creationId xmlns:a16="http://schemas.microsoft.com/office/drawing/2014/main" id="{C649B9EB-D31D-4E98-845D-08A7F7B8668C}"/>
              </a:ext>
            </a:extLst>
          </p:cNvPr>
          <p:cNvSpPr>
            <a:spLocks xmlns:a="http://schemas.openxmlformats.org/drawingml/2006/main" noGrp="1"/>
          </p:cNvSpPr>
          <p:nvPr/>
        </p:nvSpPr>
        <p:spPr>
          <a:xfrm xmlns:a="http://schemas.openxmlformats.org/drawingml/2006/main">
            <a:off x="685800" y="4514850"/>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3. Record a baseline test or reproducible request for each.</a:t>
            </a:r>
          </a:p>
        </p:txBody>
      </p:sp>
      <p:sp>
        <p:nvSpPr>
          <p:cNvPr id="10" name="criterion-0">
            <a:extLst xmlns:a="http://schemas.openxmlformats.org/drawingml/2006/main">
              <a:ext uri="{FF2B5EF4-FFF2-40B4-BE49-F238E27FC236}">
                <a16:creationId xmlns:a16="http://schemas.microsoft.com/office/drawing/2014/main" id="{F7DAE7DA-DDAB-4C25-81ED-0ED874A98D4C}"/>
              </a:ext>
            </a:extLst>
          </p:cNvPr>
          <p:cNvSpPr>
            <a:spLocks xmlns:a="http://schemas.openxmlformats.org/drawingml/2006/main" noGrp="1"/>
          </p:cNvSpPr>
          <p:nvPr/>
        </p:nvSpPr>
        <p:spPr>
          <a:xfrm xmlns:a="http://schemas.openxmlformats.org/drawingml/2006/main">
            <a:off x="7477125" y="2476500"/>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The read result matches authoritative data.</a:t>
            </a:r>
          </a:p>
        </p:txBody>
      </p:sp>
      <p:sp>
        <p:nvSpPr>
          <p:cNvPr id="11" name="criterion-1">
            <a:extLst xmlns:a="http://schemas.openxmlformats.org/drawingml/2006/main">
              <a:ext uri="{FF2B5EF4-FFF2-40B4-BE49-F238E27FC236}">
                <a16:creationId xmlns:a16="http://schemas.microsoft.com/office/drawing/2014/main" id="{A5008734-EE75-4B4B-950B-5DA790966EDC}"/>
              </a:ext>
            </a:extLst>
          </p:cNvPr>
          <p:cNvSpPr>
            <a:spLocks xmlns:a="http://schemas.openxmlformats.org/drawingml/2006/main" noGrp="1"/>
          </p:cNvSpPr>
          <p:nvPr/>
        </p:nvSpPr>
        <p:spPr>
          <a:xfrm xmlns:a="http://schemas.openxmlformats.org/drawingml/2006/main">
            <a:off x="7477125" y="3495675"/>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Draft-to-Paid fails in the domain.</a:t>
            </a:r>
          </a:p>
        </p:txBody>
      </p:sp>
      <p:sp>
        <p:nvSpPr>
          <p:cNvPr id="12" name="criterion-2">
            <a:extLst xmlns:a="http://schemas.openxmlformats.org/drawingml/2006/main">
              <a:ext uri="{FF2B5EF4-FFF2-40B4-BE49-F238E27FC236}">
                <a16:creationId xmlns:a16="http://schemas.microsoft.com/office/drawing/2014/main" id="{1A8EF1BC-975E-4572-95D2-92162410E144}"/>
              </a:ext>
            </a:extLst>
          </p:cNvPr>
          <p:cNvSpPr>
            <a:spLocks xmlns:a="http://schemas.openxmlformats.org/drawingml/2006/main" noGrp="1"/>
          </p:cNvSpPr>
          <p:nvPr/>
        </p:nvSpPr>
        <p:spPr>
          <a:xfrm xmlns:a="http://schemas.openxmlformats.org/drawingml/2006/main">
            <a:off x="7477125" y="4514850"/>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The integration boundary has a clear owner.</a:t>
            </a:r>
          </a:p>
        </p:txBody>
      </p:sp>
      <p:sp>
        <p:nvSpPr>
          <p:cNvPr id="13" name="lab-time">
            <a:extLst xmlns:a="http://schemas.openxmlformats.org/drawingml/2006/main">
              <a:ext uri="{FF2B5EF4-FFF2-40B4-BE49-F238E27FC236}">
                <a16:creationId xmlns:a16="http://schemas.microsoft.com/office/drawing/2014/main" id="{DFBE0867-0B0E-416B-A83A-BC662C6FF904}"/>
              </a:ext>
            </a:extLst>
          </p:cNvPr>
          <p:cNvSpPr>
            <a:spLocks xmlns:a="http://schemas.openxmlformats.org/drawingml/2006/main" noGrp="1"/>
          </p:cNvSpPr>
          <p:nvPr/>
        </p:nvSpPr>
        <p:spPr>
          <a:xfrm xmlns:a="http://schemas.openxmlformats.org/drawingml/2006/main">
            <a:off x="685800" y="588645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17384"/>
                </a:solidFill>
                <a:latin typeface="Segoe UI"/>
                <a:ea typeface="Segoe UI"/>
                <a:cs typeface="Segoe UI"/>
              </a:defRPr>
            </a:defPPr>
            <a:lvl1pPr algn="l">
              <a:defRPr sz="1500" b="0">
                <a:solidFill>
                  <a:srgbClr val="617384"/>
                </a:solidFill>
                <a:latin typeface="Segoe UI"/>
                <a:ea typeface="Segoe UI"/>
                <a:cs typeface="Segoe UI"/>
              </a:defRPr>
            </a:lvl1pPr>
            <a:lvl2pPr algn="l">
              <a:defRPr sz="1500" b="0">
                <a:solidFill>
                  <a:srgbClr val="617384"/>
                </a:solidFill>
                <a:latin typeface="Segoe UI"/>
                <a:ea typeface="Segoe UI"/>
                <a:cs typeface="Segoe UI"/>
              </a:defRPr>
            </a:lvl2pPr>
            <a:lvl3pPr algn="l">
              <a:defRPr sz="1500" b="0">
                <a:solidFill>
                  <a:srgbClr val="617384"/>
                </a:solidFill>
                <a:latin typeface="Segoe UI"/>
                <a:ea typeface="Segoe UI"/>
                <a:cs typeface="Segoe UI"/>
              </a:defRPr>
            </a:lvl3pPr>
            <a:lvl4pPr algn="l">
              <a:defRPr sz="1500" b="0">
                <a:solidFill>
                  <a:srgbClr val="617384"/>
                </a:solidFill>
                <a:latin typeface="Segoe UI"/>
                <a:ea typeface="Segoe UI"/>
                <a:cs typeface="Segoe UI"/>
              </a:defRPr>
            </a:lvl4pPr>
            <a:lvl5pPr algn="l">
              <a:defRPr sz="1500" b="0">
                <a:solidFill>
                  <a:srgbClr val="617384"/>
                </a:solidFill>
                <a:latin typeface="Segoe UI"/>
                <a:ea typeface="Segoe UI"/>
                <a:cs typeface="Segoe UI"/>
              </a:defRPr>
            </a:lvl5pPr>
            <a:lvl6pPr algn="l">
              <a:defRPr sz="1500" b="0">
                <a:solidFill>
                  <a:srgbClr val="617384"/>
                </a:solidFill>
                <a:latin typeface="Segoe UI"/>
                <a:ea typeface="Segoe UI"/>
                <a:cs typeface="Segoe UI"/>
              </a:defRPr>
            </a:lvl6pPr>
            <a:lvl7pPr algn="l">
              <a:defRPr sz="1500" b="0">
                <a:solidFill>
                  <a:srgbClr val="617384"/>
                </a:solidFill>
                <a:latin typeface="Segoe UI"/>
                <a:ea typeface="Segoe UI"/>
                <a:cs typeface="Segoe UI"/>
              </a:defRPr>
            </a:lvl7pPr>
            <a:lvl8pPr algn="l">
              <a:defRPr sz="1500" b="0">
                <a:solidFill>
                  <a:srgbClr val="617384"/>
                </a:solidFill>
                <a:latin typeface="Segoe UI"/>
                <a:ea typeface="Segoe UI"/>
                <a:cs typeface="Segoe UI"/>
              </a:defRPr>
            </a:lvl8pPr>
            <a:lvl9pPr algn="l">
              <a:defRPr sz="1500" b="0">
                <a:solidFill>
                  <a:srgbClr val="617384"/>
                </a:solidFill>
                <a:latin typeface="Segoe UI"/>
                <a:ea typeface="Segoe UI"/>
                <a:cs typeface="Segoe UI"/>
              </a:defRPr>
            </a:lvl9pPr>
          </a:lstStyle>
          <a:p xmlns:a="http://schemas.openxmlformats.org/drawingml/2006/main">
            <a:pPr algn="l">
              <a:defRPr sz="1500" b="0">
                <a:solidFill>
                  <a:srgbClr val="617384"/>
                </a:solidFill>
                <a:latin typeface="Segoe UI"/>
                <a:ea typeface="Segoe UI"/>
                <a:cs typeface="Segoe UI"/>
              </a:defRPr>
            </a:pPr>
            <a:r>
              <a:rPr sz="1500" b="0">
                <a:solidFill>
                  <a:srgbClr val="617384"/>
                </a:solidFill>
                <a:latin typeface="Segoe UI"/>
                <a:ea typeface="Segoe UI"/>
                <a:cs typeface="Segoe UI"/>
              </a:rPr>
              <a:t>Suggested lab work: 70 minutes. Review the evidence before continuing.</a:t>
            </a:r>
          </a:p>
        </p:txBody>
      </p:sp>
    </p:spTree>
    <p:extLst>
      <p:ext uri="{BB962C8B-B14F-4D97-AF65-F5344CB8AC3E}">
        <p14:creationId xmlns:p14="http://schemas.microsoft.com/office/powerpoint/2010/main" val="50994311"/>
      </p:ext>
    </p:extLst>
  </p:cSld>
  <p:extLst>
    <p:ext uri="{6950BFC3-D8DA-4A85-94F7-54DA5524770B}">
      <p188:commentRel xmlns:r="http://schemas.openxmlformats.org/officeDocument/2006/relationships" xmlns:p188="http://schemas.microsoft.com/office/powerpoint/2018/8/main" r:id="R8ad3c85dffde45c9"/>
    </p:ext>
  </p:extLst>
</p:sld>
</file>

<file path=ppt/slides/slide13.xml><?xml version="1.0" encoding="utf-8"?>
<p:sld xmlns:p="http://schemas.openxmlformats.org/presentationml/2006/main">
  <p:cSld>
    <p:bg>
      <p:bgPr>
        <a:solidFill xmlns:a="http://schemas.openxmlformats.org/drawingml/2006/main">
          <a:srgbClr val="06182B"/>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3534F1BD-7745-4410-A552-78AB4F568B00}"/>
              </a:ext>
            </a:extLst>
          </p:cNvPr>
          <p:cNvPicPr>
            <a:picLocks xmlns:a="http://schemas.openxmlformats.org/drawingml/2006/main" noChangeAspect="1"/>
          </p:cNvPicPr>
          <p:nvPr/>
        </p:nvPicPr>
        <p:blipFill>
          <a:blip xmlns:r="http://schemas.openxmlformats.org/officeDocument/2006/relationships" xmlns:a="http://schemas.openxmlformats.org/drawingml/2006/main" r:embed="R37e9b69309dd4ca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ntext">
            <a:extLst xmlns:a="http://schemas.openxmlformats.org/drawingml/2006/main">
              <a:ext uri="{FF2B5EF4-FFF2-40B4-BE49-F238E27FC236}">
                <a16:creationId xmlns:a16="http://schemas.microsoft.com/office/drawing/2014/main" id="{7C9B7195-F808-496E-BF13-362F12EA7988}"/>
              </a:ext>
            </a:extLst>
          </p:cNvPr>
          <p:cNvSpPr>
            <a:spLocks xmlns:a="http://schemas.openxmlformats.org/drawingml/2006/main" noGrp="1"/>
          </p:cNvSpPr>
          <p:nvPr/>
        </p:nvSpPr>
        <p:spPr>
          <a:xfrm xmlns:a="http://schemas.openxmlformats.org/drawingml/2006/main">
            <a:off x="647700" y="95250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73DEDC"/>
                </a:solidFill>
                <a:latin typeface="Segoe UI"/>
                <a:ea typeface="Segoe UI"/>
                <a:cs typeface="Segoe UI"/>
              </a:defRPr>
            </a:defPPr>
            <a:lvl1pPr algn="l">
              <a:defRPr sz="1500" b="1">
                <a:solidFill>
                  <a:srgbClr val="73DEDC"/>
                </a:solidFill>
                <a:latin typeface="Segoe UI"/>
                <a:ea typeface="Segoe UI"/>
                <a:cs typeface="Segoe UI"/>
              </a:defRPr>
            </a:lvl1pPr>
            <a:lvl2pPr algn="l">
              <a:defRPr sz="1500" b="1">
                <a:solidFill>
                  <a:srgbClr val="73DEDC"/>
                </a:solidFill>
                <a:latin typeface="Segoe UI"/>
                <a:ea typeface="Segoe UI"/>
                <a:cs typeface="Segoe UI"/>
              </a:defRPr>
            </a:lvl2pPr>
            <a:lvl3pPr algn="l">
              <a:defRPr sz="1500" b="1">
                <a:solidFill>
                  <a:srgbClr val="73DEDC"/>
                </a:solidFill>
                <a:latin typeface="Segoe UI"/>
                <a:ea typeface="Segoe UI"/>
                <a:cs typeface="Segoe UI"/>
              </a:defRPr>
            </a:lvl3pPr>
            <a:lvl4pPr algn="l">
              <a:defRPr sz="1500" b="1">
                <a:solidFill>
                  <a:srgbClr val="73DEDC"/>
                </a:solidFill>
                <a:latin typeface="Segoe UI"/>
                <a:ea typeface="Segoe UI"/>
                <a:cs typeface="Segoe UI"/>
              </a:defRPr>
            </a:lvl4pPr>
            <a:lvl5pPr algn="l">
              <a:defRPr sz="1500" b="1">
                <a:solidFill>
                  <a:srgbClr val="73DEDC"/>
                </a:solidFill>
                <a:latin typeface="Segoe UI"/>
                <a:ea typeface="Segoe UI"/>
                <a:cs typeface="Segoe UI"/>
              </a:defRPr>
            </a:lvl5pPr>
            <a:lvl6pPr algn="l">
              <a:defRPr sz="1500" b="1">
                <a:solidFill>
                  <a:srgbClr val="73DEDC"/>
                </a:solidFill>
                <a:latin typeface="Segoe UI"/>
                <a:ea typeface="Segoe UI"/>
                <a:cs typeface="Segoe UI"/>
              </a:defRPr>
            </a:lvl6pPr>
            <a:lvl7pPr algn="l">
              <a:defRPr sz="1500" b="1">
                <a:solidFill>
                  <a:srgbClr val="73DEDC"/>
                </a:solidFill>
                <a:latin typeface="Segoe UI"/>
                <a:ea typeface="Segoe UI"/>
                <a:cs typeface="Segoe UI"/>
              </a:defRPr>
            </a:lvl7pPr>
            <a:lvl8pPr algn="l">
              <a:defRPr sz="1500" b="1">
                <a:solidFill>
                  <a:srgbClr val="73DEDC"/>
                </a:solidFill>
                <a:latin typeface="Segoe UI"/>
                <a:ea typeface="Segoe UI"/>
                <a:cs typeface="Segoe UI"/>
              </a:defRPr>
            </a:lvl8pPr>
            <a:lvl9pPr algn="l">
              <a:defRPr sz="1500" b="1">
                <a:solidFill>
                  <a:srgbClr val="73DEDC"/>
                </a:solidFill>
                <a:latin typeface="Segoe UI"/>
                <a:ea typeface="Segoe UI"/>
                <a:cs typeface="Segoe UI"/>
              </a:defRPr>
            </a:lvl9pPr>
          </a:lstStyle>
          <a:p xmlns:a="http://schemas.openxmlformats.org/drawingml/2006/main">
            <a:pPr algn="l">
              <a:defRPr sz="1500" b="1">
                <a:solidFill>
                  <a:srgbClr val="73DEDC"/>
                </a:solidFill>
                <a:latin typeface="Segoe UI"/>
                <a:ea typeface="Segoe UI"/>
                <a:cs typeface="Segoe UI"/>
              </a:defRPr>
            </a:pPr>
            <a:r>
              <a:rPr sz="1500" b="1">
                <a:solidFill>
                  <a:srgbClr val="73DEDC"/>
                </a:solidFill>
                <a:latin typeface="Segoe UI"/>
                <a:ea typeface="Segoe UI"/>
                <a:cs typeface="Segoe UI"/>
              </a:rPr>
              <a:t>MODULE 02</a:t>
            </a:r>
          </a:p>
        </p:txBody>
      </p:sp>
      <p:sp>
        <p:nvSpPr>
          <p:cNvPr id="3" name="title">
            <a:extLst xmlns:a="http://schemas.openxmlformats.org/drawingml/2006/main">
              <a:ext uri="{FF2B5EF4-FFF2-40B4-BE49-F238E27FC236}">
                <a16:creationId xmlns:a16="http://schemas.microsoft.com/office/drawing/2014/main" id="{95DBF78B-F607-4A4B-9B0C-6F1A2963DDBC}"/>
              </a:ext>
            </a:extLst>
          </p:cNvPr>
          <p:cNvSpPr>
            <a:spLocks xmlns:a="http://schemas.openxmlformats.org/drawingml/2006/main" noGrp="1"/>
          </p:cNvSpPr>
          <p:nvPr/>
        </p:nvSpPr>
        <p:spPr>
          <a:xfrm xmlns:a="http://schemas.openxmlformats.org/drawingml/2006/main">
            <a:off x="647700" y="1809750"/>
            <a:ext cx="6858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Segoe UI"/>
                <a:ea typeface="Segoe UI"/>
                <a:cs typeface="Segoe UI"/>
              </a:defRPr>
            </a:defPPr>
            <a:lvl1pPr algn="l">
              <a:defRPr sz="3900" b="1">
                <a:solidFill>
                  <a:srgbClr val="FFFFFF"/>
                </a:solidFill>
                <a:latin typeface="Segoe UI"/>
                <a:ea typeface="Segoe UI"/>
                <a:cs typeface="Segoe UI"/>
              </a:defRPr>
            </a:lvl1pPr>
            <a:lvl2pPr algn="l">
              <a:defRPr sz="3900" b="1">
                <a:solidFill>
                  <a:srgbClr val="FFFFFF"/>
                </a:solidFill>
                <a:latin typeface="Segoe UI"/>
                <a:ea typeface="Segoe UI"/>
                <a:cs typeface="Segoe UI"/>
              </a:defRPr>
            </a:lvl2pPr>
            <a:lvl3pPr algn="l">
              <a:defRPr sz="3900" b="1">
                <a:solidFill>
                  <a:srgbClr val="FFFFFF"/>
                </a:solidFill>
                <a:latin typeface="Segoe UI"/>
                <a:ea typeface="Segoe UI"/>
                <a:cs typeface="Segoe UI"/>
              </a:defRPr>
            </a:lvl3pPr>
            <a:lvl4pPr algn="l">
              <a:defRPr sz="3900" b="1">
                <a:solidFill>
                  <a:srgbClr val="FFFFFF"/>
                </a:solidFill>
                <a:latin typeface="Segoe UI"/>
                <a:ea typeface="Segoe UI"/>
                <a:cs typeface="Segoe UI"/>
              </a:defRPr>
            </a:lvl4pPr>
            <a:lvl5pPr algn="l">
              <a:defRPr sz="3900" b="1">
                <a:solidFill>
                  <a:srgbClr val="FFFFFF"/>
                </a:solidFill>
                <a:latin typeface="Segoe UI"/>
                <a:ea typeface="Segoe UI"/>
                <a:cs typeface="Segoe UI"/>
              </a:defRPr>
            </a:lvl5pPr>
            <a:lvl6pPr algn="l">
              <a:defRPr sz="3900" b="1">
                <a:solidFill>
                  <a:srgbClr val="FFFFFF"/>
                </a:solidFill>
                <a:latin typeface="Segoe UI"/>
                <a:ea typeface="Segoe UI"/>
                <a:cs typeface="Segoe UI"/>
              </a:defRPr>
            </a:lvl6pPr>
            <a:lvl7pPr algn="l">
              <a:defRPr sz="3900" b="1">
                <a:solidFill>
                  <a:srgbClr val="FFFFFF"/>
                </a:solidFill>
                <a:latin typeface="Segoe UI"/>
                <a:ea typeface="Segoe UI"/>
                <a:cs typeface="Segoe UI"/>
              </a:defRPr>
            </a:lvl7pPr>
            <a:lvl8pPr algn="l">
              <a:defRPr sz="3900" b="1">
                <a:solidFill>
                  <a:srgbClr val="FFFFFF"/>
                </a:solidFill>
                <a:latin typeface="Segoe UI"/>
                <a:ea typeface="Segoe UI"/>
                <a:cs typeface="Segoe UI"/>
              </a:defRPr>
            </a:lvl8pPr>
            <a:lvl9pPr algn="l">
              <a:defRPr sz="3900" b="1">
                <a:solidFill>
                  <a:srgbClr val="FFFFFF"/>
                </a:solidFill>
                <a:latin typeface="Segoe UI"/>
                <a:ea typeface="Segoe UI"/>
                <a:cs typeface="Segoe UI"/>
              </a:defRPr>
            </a:lvl9pPr>
          </a:lstStyle>
          <a:p xmlns:a="http://schemas.openxmlformats.org/drawingml/2006/main">
            <a:pPr algn="l">
              <a:defRPr sz="3900" b="1">
                <a:solidFill>
                  <a:srgbClr val="FFFFFF"/>
                </a:solidFill>
                <a:latin typeface="Segoe UI"/>
                <a:ea typeface="Segoe UI"/>
                <a:cs typeface="Segoe UI"/>
              </a:defRPr>
            </a:pPr>
            <a:r>
              <a:rPr sz="3900" b="1">
                <a:solidFill>
                  <a:srgbClr val="FFFFFF"/>
                </a:solidFill>
                <a:latin typeface="Segoe UI"/>
                <a:ea typeface="Segoe UI"/>
                <a:cs typeface="Segoe UI"/>
              </a:rPr>
              <a:t>Framework runtime</a:t>
            </a:r>
          </a:p>
        </p:txBody>
      </p:sp>
      <p:sp>
        <p:nvSpPr>
          <p:cNvPr id="4" name="subtitle">
            <a:extLst xmlns:a="http://schemas.openxmlformats.org/drawingml/2006/main">
              <a:ext uri="{FF2B5EF4-FFF2-40B4-BE49-F238E27FC236}">
                <a16:creationId xmlns:a16="http://schemas.microsoft.com/office/drawing/2014/main" id="{DDC6BBBA-4466-40ED-B9C1-2994AD09FF65}"/>
              </a:ext>
            </a:extLst>
          </p:cNvPr>
          <p:cNvSpPr>
            <a:spLocks xmlns:a="http://schemas.openxmlformats.org/drawingml/2006/main" noGrp="1"/>
          </p:cNvSpPr>
          <p:nvPr/>
        </p:nvSpPr>
        <p:spPr>
          <a:xfrm xmlns:a="http://schemas.openxmlformats.org/drawingml/2006/main">
            <a:off x="647700" y="4000500"/>
            <a:ext cx="619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D9E6F0"/>
                </a:solidFill>
                <a:latin typeface="Segoe UI"/>
                <a:ea typeface="Segoe UI"/>
                <a:cs typeface="Segoe UI"/>
              </a:defRPr>
            </a:defPPr>
            <a:lvl1pPr algn="l">
              <a:defRPr sz="2025" b="0">
                <a:solidFill>
                  <a:srgbClr val="D9E6F0"/>
                </a:solidFill>
                <a:latin typeface="Segoe UI"/>
                <a:ea typeface="Segoe UI"/>
                <a:cs typeface="Segoe UI"/>
              </a:defRPr>
            </a:lvl1pPr>
            <a:lvl2pPr algn="l">
              <a:defRPr sz="2025" b="0">
                <a:solidFill>
                  <a:srgbClr val="D9E6F0"/>
                </a:solidFill>
                <a:latin typeface="Segoe UI"/>
                <a:ea typeface="Segoe UI"/>
                <a:cs typeface="Segoe UI"/>
              </a:defRPr>
            </a:lvl2pPr>
            <a:lvl3pPr algn="l">
              <a:defRPr sz="2025" b="0">
                <a:solidFill>
                  <a:srgbClr val="D9E6F0"/>
                </a:solidFill>
                <a:latin typeface="Segoe UI"/>
                <a:ea typeface="Segoe UI"/>
                <a:cs typeface="Segoe UI"/>
              </a:defRPr>
            </a:lvl3pPr>
            <a:lvl4pPr algn="l">
              <a:defRPr sz="2025" b="0">
                <a:solidFill>
                  <a:srgbClr val="D9E6F0"/>
                </a:solidFill>
                <a:latin typeface="Segoe UI"/>
                <a:ea typeface="Segoe UI"/>
                <a:cs typeface="Segoe UI"/>
              </a:defRPr>
            </a:lvl4pPr>
            <a:lvl5pPr algn="l">
              <a:defRPr sz="2025" b="0">
                <a:solidFill>
                  <a:srgbClr val="D9E6F0"/>
                </a:solidFill>
                <a:latin typeface="Segoe UI"/>
                <a:ea typeface="Segoe UI"/>
                <a:cs typeface="Segoe UI"/>
              </a:defRPr>
            </a:lvl5pPr>
            <a:lvl6pPr algn="l">
              <a:defRPr sz="2025" b="0">
                <a:solidFill>
                  <a:srgbClr val="D9E6F0"/>
                </a:solidFill>
                <a:latin typeface="Segoe UI"/>
                <a:ea typeface="Segoe UI"/>
                <a:cs typeface="Segoe UI"/>
              </a:defRPr>
            </a:lvl6pPr>
            <a:lvl7pPr algn="l">
              <a:defRPr sz="2025" b="0">
                <a:solidFill>
                  <a:srgbClr val="D9E6F0"/>
                </a:solidFill>
                <a:latin typeface="Segoe UI"/>
                <a:ea typeface="Segoe UI"/>
                <a:cs typeface="Segoe UI"/>
              </a:defRPr>
            </a:lvl7pPr>
            <a:lvl8pPr algn="l">
              <a:defRPr sz="2025" b="0">
                <a:solidFill>
                  <a:srgbClr val="D9E6F0"/>
                </a:solidFill>
                <a:latin typeface="Segoe UI"/>
                <a:ea typeface="Segoe UI"/>
                <a:cs typeface="Segoe UI"/>
              </a:defRPr>
            </a:lvl8pPr>
            <a:lvl9pPr algn="l">
              <a:defRPr sz="2025" b="0">
                <a:solidFill>
                  <a:srgbClr val="D9E6F0"/>
                </a:solidFill>
                <a:latin typeface="Segoe UI"/>
                <a:ea typeface="Segoe UI"/>
                <a:cs typeface="Segoe UI"/>
              </a:defRPr>
            </a:lvl9pPr>
          </a:lstStyle>
          <a:p xmlns:a="http://schemas.openxmlformats.org/drawingml/2006/main">
            <a:pPr algn="l">
              <a:defRPr sz="2025" b="0">
                <a:solidFill>
                  <a:srgbClr val="D9E6F0"/>
                </a:solidFill>
                <a:latin typeface="Segoe UI"/>
                <a:ea typeface="Segoe UI"/>
                <a:cs typeface="Segoe UI"/>
              </a:defRPr>
            </a:pPr>
            <a:r>
              <a:rPr sz="2025" b="0">
                <a:solidFill>
                  <a:srgbClr val="D9E6F0"/>
                </a:solidFill>
                <a:latin typeface="Segoe UI"/>
                <a:ea typeface="Segoe UI"/>
                <a:cs typeface="Segoe UI"/>
              </a:rPr>
              <a:t>A real Microsoft Agent Framework agent behind a .NET adapter</a:t>
            </a:r>
          </a:p>
        </p:txBody>
      </p:sp>
      <p:sp>
        <p:nvSpPr>
          <p:cNvPr id="5" name="footer">
            <a:extLst xmlns:a="http://schemas.openxmlformats.org/drawingml/2006/main">
              <a:ext uri="{FF2B5EF4-FFF2-40B4-BE49-F238E27FC236}">
                <a16:creationId xmlns:a16="http://schemas.microsoft.com/office/drawing/2014/main" id="{766BCDF3-E66C-494E-BEB1-52F09415F89A}"/>
              </a:ext>
            </a:extLst>
          </p:cNvPr>
          <p:cNvSpPr>
            <a:spLocks xmlns:a="http://schemas.openxmlformats.org/drawingml/2006/main" noGrp="1"/>
          </p:cNvSpPr>
          <p:nvPr/>
        </p:nvSpPr>
        <p:spPr>
          <a:xfrm xmlns:a="http://schemas.openxmlformats.org/drawingml/2006/main">
            <a:off x="647700" y="6153150"/>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BC0D2"/>
                </a:solidFill>
                <a:latin typeface="Segoe UI"/>
                <a:ea typeface="Segoe UI"/>
                <a:cs typeface="Segoe UI"/>
              </a:defRPr>
            </a:defPPr>
            <a:lvl1pPr algn="l">
              <a:defRPr sz="1275" b="0">
                <a:solidFill>
                  <a:srgbClr val="ABC0D2"/>
                </a:solidFill>
                <a:latin typeface="Segoe UI"/>
                <a:ea typeface="Segoe UI"/>
                <a:cs typeface="Segoe UI"/>
              </a:defRPr>
            </a:lvl1pPr>
            <a:lvl2pPr algn="l">
              <a:defRPr sz="1275" b="0">
                <a:solidFill>
                  <a:srgbClr val="ABC0D2"/>
                </a:solidFill>
                <a:latin typeface="Segoe UI"/>
                <a:ea typeface="Segoe UI"/>
                <a:cs typeface="Segoe UI"/>
              </a:defRPr>
            </a:lvl2pPr>
            <a:lvl3pPr algn="l">
              <a:defRPr sz="1275" b="0">
                <a:solidFill>
                  <a:srgbClr val="ABC0D2"/>
                </a:solidFill>
                <a:latin typeface="Segoe UI"/>
                <a:ea typeface="Segoe UI"/>
                <a:cs typeface="Segoe UI"/>
              </a:defRPr>
            </a:lvl3pPr>
            <a:lvl4pPr algn="l">
              <a:defRPr sz="1275" b="0">
                <a:solidFill>
                  <a:srgbClr val="ABC0D2"/>
                </a:solidFill>
                <a:latin typeface="Segoe UI"/>
                <a:ea typeface="Segoe UI"/>
                <a:cs typeface="Segoe UI"/>
              </a:defRPr>
            </a:lvl4pPr>
            <a:lvl5pPr algn="l">
              <a:defRPr sz="1275" b="0">
                <a:solidFill>
                  <a:srgbClr val="ABC0D2"/>
                </a:solidFill>
                <a:latin typeface="Segoe UI"/>
                <a:ea typeface="Segoe UI"/>
                <a:cs typeface="Segoe UI"/>
              </a:defRPr>
            </a:lvl5pPr>
            <a:lvl6pPr algn="l">
              <a:defRPr sz="1275" b="0">
                <a:solidFill>
                  <a:srgbClr val="ABC0D2"/>
                </a:solidFill>
                <a:latin typeface="Segoe UI"/>
                <a:ea typeface="Segoe UI"/>
                <a:cs typeface="Segoe UI"/>
              </a:defRPr>
            </a:lvl6pPr>
            <a:lvl7pPr algn="l">
              <a:defRPr sz="1275" b="0">
                <a:solidFill>
                  <a:srgbClr val="ABC0D2"/>
                </a:solidFill>
                <a:latin typeface="Segoe UI"/>
                <a:ea typeface="Segoe UI"/>
                <a:cs typeface="Segoe UI"/>
              </a:defRPr>
            </a:lvl7pPr>
            <a:lvl8pPr algn="l">
              <a:defRPr sz="1275" b="0">
                <a:solidFill>
                  <a:srgbClr val="ABC0D2"/>
                </a:solidFill>
                <a:latin typeface="Segoe UI"/>
                <a:ea typeface="Segoe UI"/>
                <a:cs typeface="Segoe UI"/>
              </a:defRPr>
            </a:lvl8pPr>
            <a:lvl9pPr algn="l">
              <a:defRPr sz="1275" b="0">
                <a:solidFill>
                  <a:srgbClr val="ABC0D2"/>
                </a:solidFill>
                <a:latin typeface="Segoe UI"/>
                <a:ea typeface="Segoe UI"/>
                <a:cs typeface="Segoe UI"/>
              </a:defRPr>
            </a:lvl9pPr>
          </a:lstStyle>
          <a:p xmlns:a="http://schemas.openxmlformats.org/drawingml/2006/main">
            <a:pPr algn="l">
              <a:defRPr sz="1275" b="0">
                <a:solidFill>
                  <a:srgbClr val="ABC0D2"/>
                </a:solidFill>
                <a:latin typeface="Segoe UI"/>
                <a:ea typeface="Segoe UI"/>
                <a:cs typeface="Segoe UI"/>
              </a:defRPr>
            </a:pPr>
            <a:r>
              <a:rPr sz="1275" b="0">
                <a:solidFill>
                  <a:srgbClr val="ABC0D2"/>
                </a:solidFill>
                <a:latin typeface="Segoe UI"/>
                <a:ea typeface="Segoe UI"/>
                <a:cs typeface="Segoe UI"/>
              </a:rPr>
              <a:t>3 contact hours including the module lab</a:t>
            </a:r>
          </a:p>
        </p:txBody>
      </p:sp>
      <p:sp>
        <p:nvSpPr>
          <p:cNvPr id="6" name="page">
            <a:extLst xmlns:a="http://schemas.openxmlformats.org/drawingml/2006/main">
              <a:ext uri="{FF2B5EF4-FFF2-40B4-BE49-F238E27FC236}">
                <a16:creationId xmlns:a16="http://schemas.microsoft.com/office/drawing/2014/main" id="{A9E6CAD5-3972-471A-A0AD-AB8A2182643E}"/>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ABC0D2"/>
                </a:solidFill>
                <a:latin typeface="Segoe UI"/>
                <a:ea typeface="Segoe UI"/>
                <a:cs typeface="Segoe UI"/>
              </a:defRPr>
            </a:defPPr>
            <a:lvl1pPr algn="r">
              <a:defRPr sz="1050" b="0">
                <a:solidFill>
                  <a:srgbClr val="ABC0D2"/>
                </a:solidFill>
                <a:latin typeface="Segoe UI"/>
                <a:ea typeface="Segoe UI"/>
                <a:cs typeface="Segoe UI"/>
              </a:defRPr>
            </a:lvl1pPr>
            <a:lvl2pPr algn="r">
              <a:defRPr sz="1050" b="0">
                <a:solidFill>
                  <a:srgbClr val="ABC0D2"/>
                </a:solidFill>
                <a:latin typeface="Segoe UI"/>
                <a:ea typeface="Segoe UI"/>
                <a:cs typeface="Segoe UI"/>
              </a:defRPr>
            </a:lvl2pPr>
            <a:lvl3pPr algn="r">
              <a:defRPr sz="1050" b="0">
                <a:solidFill>
                  <a:srgbClr val="ABC0D2"/>
                </a:solidFill>
                <a:latin typeface="Segoe UI"/>
                <a:ea typeface="Segoe UI"/>
                <a:cs typeface="Segoe UI"/>
              </a:defRPr>
            </a:lvl3pPr>
            <a:lvl4pPr algn="r">
              <a:defRPr sz="1050" b="0">
                <a:solidFill>
                  <a:srgbClr val="ABC0D2"/>
                </a:solidFill>
                <a:latin typeface="Segoe UI"/>
                <a:ea typeface="Segoe UI"/>
                <a:cs typeface="Segoe UI"/>
              </a:defRPr>
            </a:lvl4pPr>
            <a:lvl5pPr algn="r">
              <a:defRPr sz="1050" b="0">
                <a:solidFill>
                  <a:srgbClr val="ABC0D2"/>
                </a:solidFill>
                <a:latin typeface="Segoe UI"/>
                <a:ea typeface="Segoe UI"/>
                <a:cs typeface="Segoe UI"/>
              </a:defRPr>
            </a:lvl5pPr>
            <a:lvl6pPr algn="r">
              <a:defRPr sz="1050" b="0">
                <a:solidFill>
                  <a:srgbClr val="ABC0D2"/>
                </a:solidFill>
                <a:latin typeface="Segoe UI"/>
                <a:ea typeface="Segoe UI"/>
                <a:cs typeface="Segoe UI"/>
              </a:defRPr>
            </a:lvl6pPr>
            <a:lvl7pPr algn="r">
              <a:defRPr sz="1050" b="0">
                <a:solidFill>
                  <a:srgbClr val="ABC0D2"/>
                </a:solidFill>
                <a:latin typeface="Segoe UI"/>
                <a:ea typeface="Segoe UI"/>
                <a:cs typeface="Segoe UI"/>
              </a:defRPr>
            </a:lvl7pPr>
            <a:lvl8pPr algn="r">
              <a:defRPr sz="1050" b="0">
                <a:solidFill>
                  <a:srgbClr val="ABC0D2"/>
                </a:solidFill>
                <a:latin typeface="Segoe UI"/>
                <a:ea typeface="Segoe UI"/>
                <a:cs typeface="Segoe UI"/>
              </a:defRPr>
            </a:lvl8pPr>
            <a:lvl9pPr algn="r">
              <a:defRPr sz="1050" b="0">
                <a:solidFill>
                  <a:srgbClr val="ABC0D2"/>
                </a:solidFill>
                <a:latin typeface="Segoe UI"/>
                <a:ea typeface="Segoe UI"/>
                <a:cs typeface="Segoe UI"/>
              </a:defRPr>
            </a:lvl9pPr>
          </a:lstStyle>
          <a:p xmlns:a="http://schemas.openxmlformats.org/drawingml/2006/main">
            <a:pPr algn="r">
              <a:defRPr sz="1050" b="0">
                <a:solidFill>
                  <a:srgbClr val="ABC0D2"/>
                </a:solidFill>
                <a:latin typeface="Segoe UI"/>
                <a:ea typeface="Segoe UI"/>
                <a:cs typeface="Segoe UI"/>
              </a:defRPr>
            </a:pPr>
            <a:r>
              <a:rPr sz="1050" b="0">
                <a:solidFill>
                  <a:srgbClr val="ABC0D2"/>
                </a:solidFill>
                <a:latin typeface="Segoe UI"/>
                <a:ea typeface="Segoe UI"/>
                <a:cs typeface="Segoe UI"/>
              </a:rPr>
              <a:t>13</a:t>
            </a:r>
          </a:p>
        </p:txBody>
      </p:sp>
    </p:spTree>
    <p:extLst>
      <p:ext uri="{BB962C8B-B14F-4D97-AF65-F5344CB8AC3E}">
        <p14:creationId xmlns:p14="http://schemas.microsoft.com/office/powerpoint/2010/main" val="1322383751"/>
      </p:ext>
    </p:extLst>
  </p:cSld>
  <p:extLst>
    <p:ext uri="{6950BFC3-D8DA-4A85-94F7-54DA5524770B}">
      <p188:commentRel xmlns:r="http://schemas.openxmlformats.org/officeDocument/2006/relationships" xmlns:p188="http://schemas.microsoft.com/office/powerpoint/2018/8/main" r:id="R438ea0e5fc654ee9"/>
    </p:ext>
  </p:extLst>
</p:sld>
</file>

<file path=ppt/slides/slide1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context">
            <a:extLst xmlns:a="http://schemas.openxmlformats.org/drawingml/2006/main">
              <a:ext uri="{FF2B5EF4-FFF2-40B4-BE49-F238E27FC236}">
                <a16:creationId xmlns:a16="http://schemas.microsoft.com/office/drawing/2014/main" id="{4335A347-B414-4F13-9767-9242116FD516}"/>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Framework architecture</a:t>
            </a:r>
          </a:p>
        </p:txBody>
      </p:sp>
      <p:sp>
        <p:nvSpPr>
          <p:cNvPr id="2" name="title">
            <a:extLst xmlns:a="http://schemas.openxmlformats.org/drawingml/2006/main">
              <a:ext uri="{FF2B5EF4-FFF2-40B4-BE49-F238E27FC236}">
                <a16:creationId xmlns:a16="http://schemas.microsoft.com/office/drawing/2014/main" id="{7181A8DC-DBAD-4D8A-80CE-D9ACD4D91B23}"/>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The .NET AI stack</a:t>
            </a:r>
          </a:p>
        </p:txBody>
      </p:sp>
      <p:sp>
        <p:nvSpPr>
          <p:cNvPr id="3" name="footer">
            <a:extLst xmlns:a="http://schemas.openxmlformats.org/drawingml/2006/main">
              <a:ext uri="{FF2B5EF4-FFF2-40B4-BE49-F238E27FC236}">
                <a16:creationId xmlns:a16="http://schemas.microsoft.com/office/drawing/2014/main" id="{4DC24A9C-186F-464D-8FE6-166A9F02C260}"/>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02  Framework runtime</a:t>
            </a:r>
          </a:p>
        </p:txBody>
      </p:sp>
      <p:sp>
        <p:nvSpPr>
          <p:cNvPr id="4" name="page">
            <a:extLst xmlns:a="http://schemas.openxmlformats.org/drawingml/2006/main">
              <a:ext uri="{FF2B5EF4-FFF2-40B4-BE49-F238E27FC236}">
                <a16:creationId xmlns:a16="http://schemas.microsoft.com/office/drawing/2014/main" id="{968981E1-B506-4131-908A-CC9B6B34FB8D}"/>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14</a:t>
            </a:r>
          </a:p>
        </p:txBody>
      </p:sp>
      <p:graphicFrame>
        <p:nvGraphicFramePr>
          <p:cNvPr id="5" name="">
            <a:extLst xmlns:a="http://schemas.openxmlformats.org/drawingml/2006/main">
              <a:ext uri="{FF2B5EF4-FFF2-40B4-BE49-F238E27FC236}">
                <a16:creationId xmlns:a16="http://schemas.microsoft.com/office/drawing/2014/main" id="{3A725204-54E6-4135-9299-2AE21A102B52}"/>
              </a:ext>
            </a:extLst>
          </p:cNvPr>
          <p:cNvGraphicFramePr/>
          <p:nvPr/>
        </p:nvGraphicFramePr>
        <p:xfrm>
          <a:off xmlns:a="http://schemas.openxmlformats.org/drawingml/2006/main" x="685800" y="1809750"/>
          <a:ext xmlns:a="http://schemas.openxmlformats.org/drawingml/2006/main" cx="10820400" cy="3605022"/>
        </p:xfrm>
        <a:graphic xmlns:a="http://schemas.openxmlformats.org/drawingml/2006/main">
          <a:graphicData uri="http://schemas.openxmlformats.org/drawingml/2006/table">
            <a:tbl>
              <a:tblPr/>
              <a:tblGrid>
                <a:gridCol w="3246120"/>
                <a:gridCol w="4003548"/>
                <a:gridCol w="3570732"/>
              </a:tblGrid>
              <a:tr h="552450">
                <a:tc>
                  <a:txBody>
                    <a:bodyPr/>
                    <a:lstStyle/>
                    <a:p>
                      <a:r>
                        <a:rPr sz="1725" b="1">
                          <a:solidFill>
                            <a:srgbClr val="FFFFFF"/>
                          </a:solidFill>
                          <a:latin typeface="Segoe UI"/>
                          <a:ea typeface="Segoe UI"/>
                          <a:cs typeface="Segoe UI"/>
                        </a:rPr>
                        <a:t>Layer</a:t>
                      </a:r>
                    </a:p>
                  </a:txBody>
                  <a:tcPr marL="133350" marR="133350" marT="114300" marB="95250" anchor="t">
                    <a:lnL w="5715">
                      <a:solidFill>
                        <a:srgbClr val="DCE5EA"/>
                      </a:solidFill>
                      <a:prstDash val="solid"/>
                    </a:lnL>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Role</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InvoiceAI decision</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r>
              <a:tr h="763143">
                <a:tc>
                  <a:txBody>
                    <a:bodyPr/>
                    <a:lstStyle/>
                    <a:p>
                      <a:r>
                        <a:rPr sz="1725" b="0">
                          <a:solidFill>
                            <a:srgbClr val="34495B"/>
                          </a:solidFill>
                          <a:latin typeface="Segoe UI"/>
                          <a:ea typeface="Segoe UI"/>
                          <a:cs typeface="Segoe UI"/>
                        </a:rPr>
                        <a:t>Azure.AI.OpenAI</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Provider client and model connectivity</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Retain the existing provider initially</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763143">
                <a:tc>
                  <a:txBody>
                    <a:bodyPr/>
                    <a:lstStyle/>
                    <a:p>
                      <a:r>
                        <a:rPr sz="1725" b="0">
                          <a:solidFill>
                            <a:srgbClr val="34495B"/>
                          </a:solidFill>
                          <a:latin typeface="Segoe UI"/>
                          <a:ea typeface="Segoe UI"/>
                          <a:cs typeface="Segoe UI"/>
                        </a:rPr>
                        <a:t>Microsoft.Extensions.AI</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Common chat/tool abstractions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Reuse compatible AIFunction contracts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r h="763143">
                <a:tc>
                  <a:txBody>
                    <a:bodyPr/>
                    <a:lstStyle/>
                    <a:p>
                      <a:r>
                        <a:rPr sz="1725" b="0">
                          <a:solidFill>
                            <a:srgbClr val="34495B"/>
                          </a:solidFill>
                          <a:latin typeface="Segoe UI"/>
                          <a:ea typeface="Segoe UI"/>
                          <a:cs typeface="Segoe UI"/>
                        </a:rPr>
                        <a:t>Microsoft.Agents.AI</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Agent execution, sessions, and composition</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Adopt AIAgent through the adapter</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763143">
                <a:tc>
                  <a:txBody>
                    <a:bodyPr/>
                    <a:lstStyle/>
                    <a:p>
                      <a:r>
                        <a:rPr sz="1725" b="0">
                          <a:solidFill>
                            <a:srgbClr val="34495B"/>
                          </a:solidFill>
                          <a:latin typeface="Segoe UI"/>
                          <a:ea typeface="Segoe UI"/>
                          <a:cs typeface="Segoe UI"/>
                        </a:rPr>
                        <a:t>Application/domain</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Business rules and persistence contracts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Preserve deterministic operations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bl>
          </a:graphicData>
        </a:graphic>
      </p:graphicFrame>
    </p:spTree>
    <p:extLst>
      <p:ext uri="{BB962C8B-B14F-4D97-AF65-F5344CB8AC3E}">
        <p14:creationId xmlns:p14="http://schemas.microsoft.com/office/powerpoint/2010/main" val="1225054985"/>
      </p:ext>
    </p:extLst>
  </p:cSld>
  <p:extLst>
    <p:ext uri="{6950BFC3-D8DA-4A85-94F7-54DA5524770B}">
      <p188:commentRel xmlns:r="http://schemas.openxmlformats.org/officeDocument/2006/relationships" xmlns:p188="http://schemas.microsoft.com/office/powerpoint/2018/8/main" r:id="R0b5bbb5cda4041c3"/>
    </p:ext>
  </p:extLst>
</p:sld>
</file>

<file path=ppt/slides/slide1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798B7286-C907-49E3-9039-5F91C2A410CB}"/>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Course setup</a:t>
            </a:r>
          </a:p>
        </p:txBody>
      </p:sp>
      <p:sp>
        <p:nvSpPr>
          <p:cNvPr id="2" name="title">
            <a:extLst xmlns:a="http://schemas.openxmlformats.org/drawingml/2006/main">
              <a:ext uri="{FF2B5EF4-FFF2-40B4-BE49-F238E27FC236}">
                <a16:creationId xmlns:a16="http://schemas.microsoft.com/office/drawing/2014/main" id="{DC4359A8-E240-4B8E-B732-5096CC14DFE0}"/>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A reproducible course environment</a:t>
            </a:r>
          </a:p>
        </p:txBody>
      </p:sp>
      <p:sp>
        <p:nvSpPr>
          <p:cNvPr id="3" name="footer">
            <a:extLst xmlns:a="http://schemas.openxmlformats.org/drawingml/2006/main">
              <a:ext uri="{FF2B5EF4-FFF2-40B4-BE49-F238E27FC236}">
                <a16:creationId xmlns:a16="http://schemas.microsoft.com/office/drawing/2014/main" id="{6A79D42B-18AA-4CA0-83D9-314715EDF3AD}"/>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02  Framework runtime</a:t>
            </a:r>
          </a:p>
        </p:txBody>
      </p:sp>
      <p:sp>
        <p:nvSpPr>
          <p:cNvPr id="4" name="page">
            <a:extLst xmlns:a="http://schemas.openxmlformats.org/drawingml/2006/main">
              <a:ext uri="{FF2B5EF4-FFF2-40B4-BE49-F238E27FC236}">
                <a16:creationId xmlns:a16="http://schemas.microsoft.com/office/drawing/2014/main" id="{785B55D7-2EA9-49F2-941F-86512344F3BE}"/>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15</a:t>
            </a:r>
          </a:p>
        </p:txBody>
      </p:sp>
      <p:sp>
        <p:nvSpPr>
          <p:cNvPr id="5" name="label-0">
            <a:extLst xmlns:a="http://schemas.openxmlformats.org/drawingml/2006/main">
              <a:ext uri="{FF2B5EF4-FFF2-40B4-BE49-F238E27FC236}">
                <a16:creationId xmlns:a16="http://schemas.microsoft.com/office/drawing/2014/main" id="{875918D8-2D8A-4CC4-B045-D7B0CFB32E2B}"/>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Project</a:t>
            </a:r>
          </a:p>
        </p:txBody>
      </p:sp>
      <p:sp>
        <p:nvSpPr>
          <p:cNvPr id="6" name="point-0">
            <a:extLst xmlns:a="http://schemas.openxmlformats.org/drawingml/2006/main">
              <a:ext uri="{FF2B5EF4-FFF2-40B4-BE49-F238E27FC236}">
                <a16:creationId xmlns:a16="http://schemas.microsoft.com/office/drawing/2014/main" id="{05695C0F-F1A9-4BEA-9D4B-CDD74D444F7F}"/>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Use a separate lab project or branch before changing the integration.</a:t>
            </a:r>
          </a:p>
        </p:txBody>
      </p:sp>
      <p:sp>
        <p:nvSpPr>
          <p:cNvPr id="7" name="label-1">
            <a:extLst xmlns:a="http://schemas.openxmlformats.org/drawingml/2006/main">
              <a:ext uri="{FF2B5EF4-FFF2-40B4-BE49-F238E27FC236}">
                <a16:creationId xmlns:a16="http://schemas.microsoft.com/office/drawing/2014/main" id="{DE538F7D-1849-4A23-98C6-4BA1DDB15364}"/>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Packages</a:t>
            </a:r>
          </a:p>
        </p:txBody>
      </p:sp>
      <p:sp>
        <p:nvSpPr>
          <p:cNvPr id="8" name="point-1">
            <a:extLst xmlns:a="http://schemas.openxmlformats.org/drawingml/2006/main">
              <a:ext uri="{FF2B5EF4-FFF2-40B4-BE49-F238E27FC236}">
                <a16:creationId xmlns:a16="http://schemas.microsoft.com/office/drawing/2014/main" id="{F8C48124-66AB-419F-861F-183A60EFB078}"/>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Select compatible Agent Framework, provider, and hosting versions.</a:t>
            </a:r>
          </a:p>
        </p:txBody>
      </p:sp>
      <p:sp>
        <p:nvSpPr>
          <p:cNvPr id="9" name="label-2">
            <a:extLst xmlns:a="http://schemas.openxmlformats.org/drawingml/2006/main">
              <a:ext uri="{FF2B5EF4-FFF2-40B4-BE49-F238E27FC236}">
                <a16:creationId xmlns:a16="http://schemas.microsoft.com/office/drawing/2014/main" id="{6D4C09B5-2B5A-498E-8CAC-95110AC597FE}"/>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Configuration</a:t>
            </a:r>
          </a:p>
        </p:txBody>
      </p:sp>
      <p:sp>
        <p:nvSpPr>
          <p:cNvPr id="10" name="point-2">
            <a:extLst xmlns:a="http://schemas.openxmlformats.org/drawingml/2006/main">
              <a:ext uri="{FF2B5EF4-FFF2-40B4-BE49-F238E27FC236}">
                <a16:creationId xmlns:a16="http://schemas.microsoft.com/office/drawing/2014/main" id="{25BC0515-3498-4BE4-B8D3-D563524CDA9F}"/>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Separate deployment names and endpoints from credentials.</a:t>
            </a:r>
          </a:p>
        </p:txBody>
      </p:sp>
      <p:sp>
        <p:nvSpPr>
          <p:cNvPr id="11" name="label-3">
            <a:extLst xmlns:a="http://schemas.openxmlformats.org/drawingml/2006/main">
              <a:ext uri="{FF2B5EF4-FFF2-40B4-BE49-F238E27FC236}">
                <a16:creationId xmlns:a16="http://schemas.microsoft.com/office/drawing/2014/main" id="{086E84AB-FFEE-414F-A2F9-808BC3B1474F}"/>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Reproduction</a:t>
            </a:r>
          </a:p>
        </p:txBody>
      </p:sp>
      <p:sp>
        <p:nvSpPr>
          <p:cNvPr id="12" name="point-3">
            <a:extLst xmlns:a="http://schemas.openxmlformats.org/drawingml/2006/main">
              <a:ext uri="{FF2B5EF4-FFF2-40B4-BE49-F238E27FC236}">
                <a16:creationId xmlns:a16="http://schemas.microsoft.com/office/drawing/2014/main" id="{844ED5F1-B7FF-4785-9EE9-7D7B621FA96F}"/>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Commit package pins and the lab instructions after a successful restore.</a:t>
            </a:r>
          </a:p>
        </p:txBody>
      </p:sp>
    </p:spTree>
    <p:extLst>
      <p:ext uri="{BB962C8B-B14F-4D97-AF65-F5344CB8AC3E}">
        <p14:creationId xmlns:p14="http://schemas.microsoft.com/office/powerpoint/2010/main" val="265503247"/>
      </p:ext>
    </p:extLst>
  </p:cSld>
  <p:extLst>
    <p:ext uri="{6950BFC3-D8DA-4A85-94F7-54DA5524770B}">
      <p188:commentRel xmlns:r="http://schemas.openxmlformats.org/officeDocument/2006/relationships" xmlns:p188="http://schemas.microsoft.com/office/powerpoint/2018/8/main" r:id="R6d355d4b339d4bd2"/>
    </p:ext>
  </p:extLst>
</p:sld>
</file>

<file path=ppt/slides/slide1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context">
            <a:extLst xmlns:a="http://schemas.openxmlformats.org/drawingml/2006/main">
              <a:ext uri="{FF2B5EF4-FFF2-40B4-BE49-F238E27FC236}">
                <a16:creationId xmlns:a16="http://schemas.microsoft.com/office/drawing/2014/main" id="{E6D335CF-C0AA-434D-9E00-D9CB879DCE34}"/>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Provider choice</a:t>
            </a:r>
          </a:p>
        </p:txBody>
      </p:sp>
      <p:sp>
        <p:nvSpPr>
          <p:cNvPr id="2" name="title">
            <a:extLst xmlns:a="http://schemas.openxmlformats.org/drawingml/2006/main">
              <a:ext uri="{FF2B5EF4-FFF2-40B4-BE49-F238E27FC236}">
                <a16:creationId xmlns:a16="http://schemas.microsoft.com/office/drawing/2014/main" id="{7AD2B627-92CC-48CF-B516-841CFCD5E583}"/>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Provider and identity choices</a:t>
            </a:r>
          </a:p>
        </p:txBody>
      </p:sp>
      <p:sp>
        <p:nvSpPr>
          <p:cNvPr id="3" name="footer">
            <a:extLst xmlns:a="http://schemas.openxmlformats.org/drawingml/2006/main">
              <a:ext uri="{FF2B5EF4-FFF2-40B4-BE49-F238E27FC236}">
                <a16:creationId xmlns:a16="http://schemas.microsoft.com/office/drawing/2014/main" id="{09F7B1BB-300D-49E1-A135-FDA4C426EE47}"/>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02  Framework runtime</a:t>
            </a:r>
          </a:p>
        </p:txBody>
      </p:sp>
      <p:sp>
        <p:nvSpPr>
          <p:cNvPr id="4" name="page">
            <a:extLst xmlns:a="http://schemas.openxmlformats.org/drawingml/2006/main">
              <a:ext uri="{FF2B5EF4-FFF2-40B4-BE49-F238E27FC236}">
                <a16:creationId xmlns:a16="http://schemas.microsoft.com/office/drawing/2014/main" id="{3FEA47DD-C59B-413D-8222-7102D710F162}"/>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16</a:t>
            </a:r>
          </a:p>
        </p:txBody>
      </p:sp>
      <p:graphicFrame>
        <p:nvGraphicFramePr>
          <p:cNvPr id="5" name="">
            <a:extLst xmlns:a="http://schemas.openxmlformats.org/drawingml/2006/main">
              <a:ext uri="{FF2B5EF4-FFF2-40B4-BE49-F238E27FC236}">
                <a16:creationId xmlns:a16="http://schemas.microsoft.com/office/drawing/2014/main" id="{B9D306FB-8819-46E4-AF11-8505994C4D62}"/>
              </a:ext>
            </a:extLst>
          </p:cNvPr>
          <p:cNvGraphicFramePr/>
          <p:nvPr/>
        </p:nvGraphicFramePr>
        <p:xfrm>
          <a:off xmlns:a="http://schemas.openxmlformats.org/drawingml/2006/main" x="685800" y="1809750"/>
          <a:ext xmlns:a="http://schemas.openxmlformats.org/drawingml/2006/main" cx="10820400" cy="3605022"/>
        </p:xfrm>
        <a:graphic xmlns:a="http://schemas.openxmlformats.org/drawingml/2006/main">
          <a:graphicData uri="http://schemas.openxmlformats.org/drawingml/2006/table">
            <a:tbl>
              <a:tblPr/>
              <a:tblGrid>
                <a:gridCol w="2813304"/>
                <a:gridCol w="4003548"/>
                <a:gridCol w="4003548"/>
              </a:tblGrid>
              <a:tr h="552450">
                <a:tc>
                  <a:txBody>
                    <a:bodyPr/>
                    <a:lstStyle/>
                    <a:p>
                      <a:r>
                        <a:rPr sz="1725" b="1">
                          <a:solidFill>
                            <a:srgbClr val="FFFFFF"/>
                          </a:solidFill>
                          <a:latin typeface="Segoe UI"/>
                          <a:ea typeface="Segoe UI"/>
                          <a:cs typeface="Segoe UI"/>
                        </a:rPr>
                        <a:t>Choice</a:t>
                      </a:r>
                    </a:p>
                  </a:txBody>
                  <a:tcPr marL="133350" marR="133350" marT="114300" marB="95250" anchor="t">
                    <a:lnL w="5715">
                      <a:solidFill>
                        <a:srgbClr val="DCE5EA"/>
                      </a:solidFill>
                      <a:prstDash val="solid"/>
                    </a:lnL>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Use in the course</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Engineering implication</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r>
              <a:tr h="763143">
                <a:tc>
                  <a:txBody>
                    <a:bodyPr/>
                    <a:lstStyle/>
                    <a:p>
                      <a:r>
                        <a:rPr sz="1725" b="0">
                          <a:solidFill>
                            <a:srgbClr val="34495B"/>
                          </a:solidFill>
                          <a:latin typeface="Segoe UI"/>
                          <a:ea typeface="Segoe UI"/>
                          <a:cs typeface="Segoe UI"/>
                        </a:rPr>
                        <a:t>Chat Completions</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Initial migration from the current client</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A smaller behavioral change</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763143">
                <a:tc>
                  <a:txBody>
                    <a:bodyPr/>
                    <a:lstStyle/>
                    <a:p>
                      <a:r>
                        <a:rPr sz="1725" b="0">
                          <a:solidFill>
                            <a:srgbClr val="34495B"/>
                          </a:solidFill>
                          <a:latin typeface="Segoe UI"/>
                          <a:ea typeface="Segoe UI"/>
                          <a:cs typeface="Segoe UI"/>
                        </a:rPr>
                        <a:t>Responses</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Extension for richer provider capabilities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Review tool support and continuation semantics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r h="763143">
                <a:tc>
                  <a:txBody>
                    <a:bodyPr/>
                    <a:lstStyle/>
                    <a:p>
                      <a:r>
                        <a:rPr sz="1725" b="0">
                          <a:solidFill>
                            <a:srgbClr val="34495B"/>
                          </a:solidFill>
                          <a:latin typeface="Segoe UI"/>
                          <a:ea typeface="Segoe UI"/>
                          <a:cs typeface="Segoe UI"/>
                        </a:rPr>
                        <a:t>Development identity</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Developer credential or a controlled secret</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Keep credentials outside source control</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763143">
                <a:tc>
                  <a:txBody>
                    <a:bodyPr/>
                    <a:lstStyle/>
                    <a:p>
                      <a:r>
                        <a:rPr sz="1725" b="0">
                          <a:solidFill>
                            <a:srgbClr val="34495B"/>
                          </a:solidFill>
                          <a:latin typeface="Segoe UI"/>
                          <a:ea typeface="Segoe UI"/>
                          <a:cs typeface="Segoe UI"/>
                        </a:rPr>
                        <a:t>Production identity</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A specific managed identity when supported</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Assign narrowly scoped service permissions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bl>
          </a:graphicData>
        </a:graphic>
      </p:graphicFrame>
    </p:spTree>
    <p:extLst>
      <p:ext uri="{BB962C8B-B14F-4D97-AF65-F5344CB8AC3E}">
        <p14:creationId xmlns:p14="http://schemas.microsoft.com/office/powerpoint/2010/main" val="1774258327"/>
      </p:ext>
    </p:extLst>
  </p:cSld>
  <p:extLst>
    <p:ext uri="{6950BFC3-D8DA-4A85-94F7-54DA5524770B}">
      <p188:commentRel xmlns:r="http://schemas.openxmlformats.org/officeDocument/2006/relationships" xmlns:p188="http://schemas.microsoft.com/office/powerpoint/2018/8/main" r:id="Ra6abf97365c74a69"/>
    </p:ext>
  </p:extLst>
</p:sld>
</file>

<file path=ppt/slides/slide1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context">
            <a:extLst xmlns:a="http://schemas.openxmlformats.org/drawingml/2006/main">
              <a:ext uri="{FF2B5EF4-FFF2-40B4-BE49-F238E27FC236}">
                <a16:creationId xmlns:a16="http://schemas.microsoft.com/office/drawing/2014/main" id="{DAA33942-5806-4D82-BEC9-B05D4372F29A}"/>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Framework code pattern</a:t>
            </a:r>
          </a:p>
        </p:txBody>
      </p:sp>
      <p:sp>
        <p:nvSpPr>
          <p:cNvPr id="2" name="title">
            <a:extLst xmlns:a="http://schemas.openxmlformats.org/drawingml/2006/main">
              <a:ext uri="{FF2B5EF4-FFF2-40B4-BE49-F238E27FC236}">
                <a16:creationId xmlns:a16="http://schemas.microsoft.com/office/drawing/2014/main" id="{D7166FB2-B6E2-4926-82F6-9FDDE69A80C3}"/>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The first framework agent</a:t>
            </a:r>
          </a:p>
        </p:txBody>
      </p:sp>
      <p:sp>
        <p:nvSpPr>
          <p:cNvPr id="3" name="footer">
            <a:extLst xmlns:a="http://schemas.openxmlformats.org/drawingml/2006/main">
              <a:ext uri="{FF2B5EF4-FFF2-40B4-BE49-F238E27FC236}">
                <a16:creationId xmlns:a16="http://schemas.microsoft.com/office/drawing/2014/main" id="{76B43AF3-4E50-49A4-8E71-6C62A6C5F7CC}"/>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02  Framework runtime</a:t>
            </a:r>
          </a:p>
        </p:txBody>
      </p:sp>
      <p:sp>
        <p:nvSpPr>
          <p:cNvPr id="4" name="page">
            <a:extLst xmlns:a="http://schemas.openxmlformats.org/drawingml/2006/main">
              <a:ext uri="{FF2B5EF4-FFF2-40B4-BE49-F238E27FC236}">
                <a16:creationId xmlns:a16="http://schemas.microsoft.com/office/drawing/2014/main" id="{A0D13351-7DC4-43D8-8583-BB468CA6E450}"/>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17</a:t>
            </a:r>
          </a:p>
        </p:txBody>
      </p:sp>
      <p:sp>
        <p:nvSpPr>
          <p:cNvPr id="5" name="code">
            <a:extLst xmlns:a="http://schemas.openxmlformats.org/drawingml/2006/main">
              <a:ext uri="{FF2B5EF4-FFF2-40B4-BE49-F238E27FC236}">
                <a16:creationId xmlns:a16="http://schemas.microsoft.com/office/drawing/2014/main" id="{BA96560E-6BB4-4240-AF20-1CBB1FDA42EC}"/>
              </a:ext>
            </a:extLst>
          </p:cNvPr>
          <p:cNvSpPr>
            <a:spLocks xmlns:a="http://schemas.openxmlformats.org/drawingml/2006/main" noGrp="1"/>
          </p:cNvSpPr>
          <p:nvPr/>
        </p:nvSpPr>
        <p:spPr>
          <a:xfrm xmlns:a="http://schemas.openxmlformats.org/drawingml/2006/main">
            <a:off x="685800" y="1857375"/>
            <a:ext cx="752475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12C43"/>
                </a:solidFill>
                <a:latin typeface="Consolas"/>
                <a:ea typeface="Consolas"/>
                <a:cs typeface="Consolas"/>
              </a:defRPr>
            </a:defPPr>
            <a:lvl1pPr algn="l">
              <a:defRPr sz="1725" b="0">
                <a:solidFill>
                  <a:srgbClr val="112C43"/>
                </a:solidFill>
                <a:latin typeface="Consolas"/>
                <a:ea typeface="Consolas"/>
                <a:cs typeface="Consolas"/>
              </a:defRPr>
            </a:lvl1pPr>
            <a:lvl2pPr algn="l">
              <a:defRPr sz="1725" b="0">
                <a:solidFill>
                  <a:srgbClr val="112C43"/>
                </a:solidFill>
                <a:latin typeface="Consolas"/>
                <a:ea typeface="Consolas"/>
                <a:cs typeface="Consolas"/>
              </a:defRPr>
            </a:lvl2pPr>
            <a:lvl3pPr algn="l">
              <a:defRPr sz="1725" b="0">
                <a:solidFill>
                  <a:srgbClr val="112C43"/>
                </a:solidFill>
                <a:latin typeface="Consolas"/>
                <a:ea typeface="Consolas"/>
                <a:cs typeface="Consolas"/>
              </a:defRPr>
            </a:lvl3pPr>
            <a:lvl4pPr algn="l">
              <a:defRPr sz="1725" b="0">
                <a:solidFill>
                  <a:srgbClr val="112C43"/>
                </a:solidFill>
                <a:latin typeface="Consolas"/>
                <a:ea typeface="Consolas"/>
                <a:cs typeface="Consolas"/>
              </a:defRPr>
            </a:lvl4pPr>
            <a:lvl5pPr algn="l">
              <a:defRPr sz="1725" b="0">
                <a:solidFill>
                  <a:srgbClr val="112C43"/>
                </a:solidFill>
                <a:latin typeface="Consolas"/>
                <a:ea typeface="Consolas"/>
                <a:cs typeface="Consolas"/>
              </a:defRPr>
            </a:lvl5pPr>
            <a:lvl6pPr algn="l">
              <a:defRPr sz="1725" b="0">
                <a:solidFill>
                  <a:srgbClr val="112C43"/>
                </a:solidFill>
                <a:latin typeface="Consolas"/>
                <a:ea typeface="Consolas"/>
                <a:cs typeface="Consolas"/>
              </a:defRPr>
            </a:lvl6pPr>
            <a:lvl7pPr algn="l">
              <a:defRPr sz="1725" b="0">
                <a:solidFill>
                  <a:srgbClr val="112C43"/>
                </a:solidFill>
                <a:latin typeface="Consolas"/>
                <a:ea typeface="Consolas"/>
                <a:cs typeface="Consolas"/>
              </a:defRPr>
            </a:lvl7pPr>
            <a:lvl8pPr algn="l">
              <a:defRPr sz="1725" b="0">
                <a:solidFill>
                  <a:srgbClr val="112C43"/>
                </a:solidFill>
                <a:latin typeface="Consolas"/>
                <a:ea typeface="Consolas"/>
                <a:cs typeface="Consolas"/>
              </a:defRPr>
            </a:lvl8pPr>
            <a:lvl9pPr algn="l">
              <a:defRPr sz="1725" b="0">
                <a:solidFill>
                  <a:srgbClr val="112C43"/>
                </a:solidFill>
                <a:latin typeface="Consolas"/>
                <a:ea typeface="Consolas"/>
                <a:cs typeface="Consolas"/>
              </a:defRPr>
            </a:lvl9pPr>
          </a:lstStyle>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using Microsoft.Agents.AI;</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using OpenAI.Chat;</a:t>
            </a:r>
          </a:p>
          <a:p xmlns:a="http://schemas.openxmlformats.org/drawingml/2006/main">
            <a:r>
              <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azureClient, deployment, and ct come from the host</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AIAgent billing = azureClient.GetChatClient(deployment)</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.AsAIAgent(</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name: "Billing",</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instructions: "Explain invoice operations clearly.");</a:t>
            </a:r>
          </a:p>
          <a:p xmlns:a="http://schemas.openxmlformats.org/drawingml/2006/main">
            <a:r>
              <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var reply = await billing.RunAsync(</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"What makes an invoice overdue?", cancellationToken: ct);</a:t>
            </a:r>
          </a:p>
        </p:txBody>
      </p:sp>
      <p:sp>
        <p:nvSpPr>
          <p:cNvPr id="6" name="explanation-0">
            <a:extLst xmlns:a="http://schemas.openxmlformats.org/drawingml/2006/main">
              <a:ext uri="{FF2B5EF4-FFF2-40B4-BE49-F238E27FC236}">
                <a16:creationId xmlns:a16="http://schemas.microsoft.com/office/drawing/2014/main" id="{6921F45D-33D6-43FE-8DE1-62E0E1F0C2AE}"/>
              </a:ext>
            </a:extLst>
          </p:cNvPr>
          <p:cNvSpPr>
            <a:spLocks xmlns:a="http://schemas.openxmlformats.org/drawingml/2006/main" noGrp="1"/>
          </p:cNvSpPr>
          <p:nvPr/>
        </p:nvSpPr>
        <p:spPr>
          <a:xfrm xmlns:a="http://schemas.openxmlformats.org/drawingml/2006/main">
            <a:off x="8715375" y="20002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83"/>
                </a:solidFill>
                <a:latin typeface="Segoe UI"/>
                <a:ea typeface="Segoe UI"/>
                <a:cs typeface="Segoe UI"/>
              </a:defRPr>
            </a:defPPr>
            <a:lvl1pPr algn="l">
              <a:defRPr sz="1800" b="0">
                <a:solidFill>
                  <a:srgbClr val="007F83"/>
                </a:solidFill>
                <a:latin typeface="Segoe UI"/>
                <a:ea typeface="Segoe UI"/>
                <a:cs typeface="Segoe UI"/>
              </a:defRPr>
            </a:lvl1pPr>
            <a:lvl2pPr algn="l">
              <a:defRPr sz="1800" b="0">
                <a:solidFill>
                  <a:srgbClr val="007F83"/>
                </a:solidFill>
                <a:latin typeface="Segoe UI"/>
                <a:ea typeface="Segoe UI"/>
                <a:cs typeface="Segoe UI"/>
              </a:defRPr>
            </a:lvl2pPr>
            <a:lvl3pPr algn="l">
              <a:defRPr sz="1800" b="0">
                <a:solidFill>
                  <a:srgbClr val="007F83"/>
                </a:solidFill>
                <a:latin typeface="Segoe UI"/>
                <a:ea typeface="Segoe UI"/>
                <a:cs typeface="Segoe UI"/>
              </a:defRPr>
            </a:lvl3pPr>
            <a:lvl4pPr algn="l">
              <a:defRPr sz="1800" b="0">
                <a:solidFill>
                  <a:srgbClr val="007F83"/>
                </a:solidFill>
                <a:latin typeface="Segoe UI"/>
                <a:ea typeface="Segoe UI"/>
                <a:cs typeface="Segoe UI"/>
              </a:defRPr>
            </a:lvl4pPr>
            <a:lvl5pPr algn="l">
              <a:defRPr sz="1800" b="0">
                <a:solidFill>
                  <a:srgbClr val="007F83"/>
                </a:solidFill>
                <a:latin typeface="Segoe UI"/>
                <a:ea typeface="Segoe UI"/>
                <a:cs typeface="Segoe UI"/>
              </a:defRPr>
            </a:lvl5pPr>
            <a:lvl6pPr algn="l">
              <a:defRPr sz="1800" b="0">
                <a:solidFill>
                  <a:srgbClr val="007F83"/>
                </a:solidFill>
                <a:latin typeface="Segoe UI"/>
                <a:ea typeface="Segoe UI"/>
                <a:cs typeface="Segoe UI"/>
              </a:defRPr>
            </a:lvl6pPr>
            <a:lvl7pPr algn="l">
              <a:defRPr sz="1800" b="0">
                <a:solidFill>
                  <a:srgbClr val="007F83"/>
                </a:solidFill>
                <a:latin typeface="Segoe UI"/>
                <a:ea typeface="Segoe UI"/>
                <a:cs typeface="Segoe UI"/>
              </a:defRPr>
            </a:lvl7pPr>
            <a:lvl8pPr algn="l">
              <a:defRPr sz="1800" b="0">
                <a:solidFill>
                  <a:srgbClr val="007F83"/>
                </a:solidFill>
                <a:latin typeface="Segoe UI"/>
                <a:ea typeface="Segoe UI"/>
                <a:cs typeface="Segoe UI"/>
              </a:defRPr>
            </a:lvl8pPr>
            <a:lvl9pPr algn="l">
              <a:defRPr sz="1800" b="0">
                <a:solidFill>
                  <a:srgbClr val="007F83"/>
                </a:solidFill>
                <a:latin typeface="Segoe UI"/>
                <a:ea typeface="Segoe UI"/>
                <a:cs typeface="Segoe UI"/>
              </a:defRPr>
            </a:lvl9pPr>
          </a:lstStyle>
          <a:p xmlns:a="http://schemas.openxmlformats.org/drawingml/2006/main">
            <a:pPr algn="l">
              <a:defRPr sz="1800" b="0">
                <a:solidFill>
                  <a:srgbClr val="007F83"/>
                </a:solidFill>
                <a:latin typeface="Segoe UI"/>
                <a:ea typeface="Segoe UI"/>
                <a:cs typeface="Segoe UI"/>
              </a:defRPr>
            </a:pPr>
            <a:r>
              <a:rPr sz="1800" b="0">
                <a:solidFill>
                  <a:srgbClr val="007F83"/>
                </a:solidFill>
                <a:latin typeface="Segoe UI"/>
                <a:ea typeface="Segoe UI"/>
                <a:cs typeface="Segoe UI"/>
              </a:rPr>
              <a:t>AIAgent is the framework runtime.</a:t>
            </a:r>
          </a:p>
        </p:txBody>
      </p:sp>
      <p:sp>
        <p:nvSpPr>
          <p:cNvPr id="7" name="explanation-1">
            <a:extLst xmlns:a="http://schemas.openxmlformats.org/drawingml/2006/main">
              <a:ext uri="{FF2B5EF4-FFF2-40B4-BE49-F238E27FC236}">
                <a16:creationId xmlns:a16="http://schemas.microsoft.com/office/drawing/2014/main" id="{547D9C0F-5F9C-4CE1-9032-9F20E4C0F677}"/>
              </a:ext>
            </a:extLst>
          </p:cNvPr>
          <p:cNvSpPr>
            <a:spLocks xmlns:a="http://schemas.openxmlformats.org/drawingml/2006/main" noGrp="1"/>
          </p:cNvSpPr>
          <p:nvPr/>
        </p:nvSpPr>
        <p:spPr>
          <a:xfrm xmlns:a="http://schemas.openxmlformats.org/drawingml/2006/main">
            <a:off x="8715375" y="320040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The provider client comes from configuration.</a:t>
            </a:r>
          </a:p>
        </p:txBody>
      </p:sp>
      <p:sp>
        <p:nvSpPr>
          <p:cNvPr id="8" name="explanation-2">
            <a:extLst xmlns:a="http://schemas.openxmlformats.org/drawingml/2006/main">
              <a:ext uri="{FF2B5EF4-FFF2-40B4-BE49-F238E27FC236}">
                <a16:creationId xmlns:a16="http://schemas.microsoft.com/office/drawing/2014/main" id="{8E128F79-A3CD-43BB-8716-71A12965A40A}"/>
              </a:ext>
            </a:extLst>
          </p:cNvPr>
          <p:cNvSpPr>
            <a:spLocks xmlns:a="http://schemas.openxmlformats.org/drawingml/2006/main" noGrp="1"/>
          </p:cNvSpPr>
          <p:nvPr/>
        </p:nvSpPr>
        <p:spPr>
          <a:xfrm xmlns:a="http://schemas.openxmlformats.org/drawingml/2006/main">
            <a:off x="8715375" y="44005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This first run has no business tools.</a:t>
            </a:r>
          </a:p>
        </p:txBody>
      </p:sp>
    </p:spTree>
    <p:extLst>
      <p:ext uri="{BB962C8B-B14F-4D97-AF65-F5344CB8AC3E}">
        <p14:creationId xmlns:p14="http://schemas.microsoft.com/office/powerpoint/2010/main" val="384620359"/>
      </p:ext>
    </p:extLst>
  </p:cSld>
  <p:extLst>
    <p:ext uri="{6950BFC3-D8DA-4A85-94F7-54DA5524770B}">
      <p188:commentRel xmlns:r="http://schemas.openxmlformats.org/officeDocument/2006/relationships" xmlns:p188="http://schemas.microsoft.com/office/powerpoint/2018/8/main" r:id="Rcef38a01f0ef44b8"/>
    </p:ext>
  </p:extLst>
</p:sld>
</file>

<file path=ppt/slides/slide1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context">
            <a:extLst xmlns:a="http://schemas.openxmlformats.org/drawingml/2006/main">
              <a:ext uri="{FF2B5EF4-FFF2-40B4-BE49-F238E27FC236}">
                <a16:creationId xmlns:a16="http://schemas.microsoft.com/office/drawing/2014/main" id="{38C04805-7ED4-4C7D-9644-E7C7E29CAD38}"/>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Framework code pattern</a:t>
            </a:r>
          </a:p>
        </p:txBody>
      </p:sp>
      <p:sp>
        <p:nvSpPr>
          <p:cNvPr id="2" name="title">
            <a:extLst xmlns:a="http://schemas.openxmlformats.org/drawingml/2006/main">
              <a:ext uri="{FF2B5EF4-FFF2-40B4-BE49-F238E27FC236}">
                <a16:creationId xmlns:a16="http://schemas.microsoft.com/office/drawing/2014/main" id="{94C60F57-24DC-4C6B-882A-E7EC18813A5E}"/>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Conversation continuity with AgentSession</a:t>
            </a:r>
          </a:p>
        </p:txBody>
      </p:sp>
      <p:sp>
        <p:nvSpPr>
          <p:cNvPr id="3" name="footer">
            <a:extLst xmlns:a="http://schemas.openxmlformats.org/drawingml/2006/main">
              <a:ext uri="{FF2B5EF4-FFF2-40B4-BE49-F238E27FC236}">
                <a16:creationId xmlns:a16="http://schemas.microsoft.com/office/drawing/2014/main" id="{F19F21B7-9330-4D7F-B93B-8A2C5D135326}"/>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02  Framework runtime</a:t>
            </a:r>
          </a:p>
        </p:txBody>
      </p:sp>
      <p:sp>
        <p:nvSpPr>
          <p:cNvPr id="4" name="page">
            <a:extLst xmlns:a="http://schemas.openxmlformats.org/drawingml/2006/main">
              <a:ext uri="{FF2B5EF4-FFF2-40B4-BE49-F238E27FC236}">
                <a16:creationId xmlns:a16="http://schemas.microsoft.com/office/drawing/2014/main" id="{5F276888-9655-416D-A1D0-9A775D7A6D1B}"/>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18</a:t>
            </a:r>
          </a:p>
        </p:txBody>
      </p:sp>
      <p:sp>
        <p:nvSpPr>
          <p:cNvPr id="5" name="code">
            <a:extLst xmlns:a="http://schemas.openxmlformats.org/drawingml/2006/main">
              <a:ext uri="{FF2B5EF4-FFF2-40B4-BE49-F238E27FC236}">
                <a16:creationId xmlns:a16="http://schemas.microsoft.com/office/drawing/2014/main" id="{ED84D492-AB21-470C-9475-49A4E80EEFE2}"/>
              </a:ext>
            </a:extLst>
          </p:cNvPr>
          <p:cNvSpPr>
            <a:spLocks xmlns:a="http://schemas.openxmlformats.org/drawingml/2006/main" noGrp="1"/>
          </p:cNvSpPr>
          <p:nvPr/>
        </p:nvSpPr>
        <p:spPr>
          <a:xfrm xmlns:a="http://schemas.openxmlformats.org/drawingml/2006/main">
            <a:off x="685800" y="1857375"/>
            <a:ext cx="752475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12C43"/>
                </a:solidFill>
                <a:latin typeface="Consolas"/>
                <a:ea typeface="Consolas"/>
                <a:cs typeface="Consolas"/>
              </a:defRPr>
            </a:defPPr>
            <a:lvl1pPr algn="l">
              <a:defRPr sz="1725" b="0">
                <a:solidFill>
                  <a:srgbClr val="112C43"/>
                </a:solidFill>
                <a:latin typeface="Consolas"/>
                <a:ea typeface="Consolas"/>
                <a:cs typeface="Consolas"/>
              </a:defRPr>
            </a:lvl1pPr>
            <a:lvl2pPr algn="l">
              <a:defRPr sz="1725" b="0">
                <a:solidFill>
                  <a:srgbClr val="112C43"/>
                </a:solidFill>
                <a:latin typeface="Consolas"/>
                <a:ea typeface="Consolas"/>
                <a:cs typeface="Consolas"/>
              </a:defRPr>
            </a:lvl2pPr>
            <a:lvl3pPr algn="l">
              <a:defRPr sz="1725" b="0">
                <a:solidFill>
                  <a:srgbClr val="112C43"/>
                </a:solidFill>
                <a:latin typeface="Consolas"/>
                <a:ea typeface="Consolas"/>
                <a:cs typeface="Consolas"/>
              </a:defRPr>
            </a:lvl3pPr>
            <a:lvl4pPr algn="l">
              <a:defRPr sz="1725" b="0">
                <a:solidFill>
                  <a:srgbClr val="112C43"/>
                </a:solidFill>
                <a:latin typeface="Consolas"/>
                <a:ea typeface="Consolas"/>
                <a:cs typeface="Consolas"/>
              </a:defRPr>
            </a:lvl4pPr>
            <a:lvl5pPr algn="l">
              <a:defRPr sz="1725" b="0">
                <a:solidFill>
                  <a:srgbClr val="112C43"/>
                </a:solidFill>
                <a:latin typeface="Consolas"/>
                <a:ea typeface="Consolas"/>
                <a:cs typeface="Consolas"/>
              </a:defRPr>
            </a:lvl5pPr>
            <a:lvl6pPr algn="l">
              <a:defRPr sz="1725" b="0">
                <a:solidFill>
                  <a:srgbClr val="112C43"/>
                </a:solidFill>
                <a:latin typeface="Consolas"/>
                <a:ea typeface="Consolas"/>
                <a:cs typeface="Consolas"/>
              </a:defRPr>
            </a:lvl6pPr>
            <a:lvl7pPr algn="l">
              <a:defRPr sz="1725" b="0">
                <a:solidFill>
                  <a:srgbClr val="112C43"/>
                </a:solidFill>
                <a:latin typeface="Consolas"/>
                <a:ea typeface="Consolas"/>
                <a:cs typeface="Consolas"/>
              </a:defRPr>
            </a:lvl7pPr>
            <a:lvl8pPr algn="l">
              <a:defRPr sz="1725" b="0">
                <a:solidFill>
                  <a:srgbClr val="112C43"/>
                </a:solidFill>
                <a:latin typeface="Consolas"/>
                <a:ea typeface="Consolas"/>
                <a:cs typeface="Consolas"/>
              </a:defRPr>
            </a:lvl8pPr>
            <a:lvl9pPr algn="l">
              <a:defRPr sz="1725" b="0">
                <a:solidFill>
                  <a:srgbClr val="112C43"/>
                </a:solidFill>
                <a:latin typeface="Consolas"/>
                <a:ea typeface="Consolas"/>
                <a:cs typeface="Consolas"/>
              </a:defRPr>
            </a:lvl9pPr>
          </a:lstStyle>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AgentSession session = await billing.CreateSessionAsync(ct);</a:t>
            </a:r>
          </a:p>
          <a:p xmlns:a="http://schemas.openxmlformats.org/drawingml/2006/main">
            <a:r>
              <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await billing.RunAsync(</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"We are reviewing customer Apex.", session,</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cancellationToken: ct);</a:t>
            </a:r>
          </a:p>
          <a:p xmlns:a="http://schemas.openxmlformats.org/drawingml/2006/main">
            <a:r>
              <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var next = await billing.RunAsync(</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"Which customer are we reviewing?", session,</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cancellationToken: ct);</a:t>
            </a:r>
          </a:p>
        </p:txBody>
      </p:sp>
      <p:sp>
        <p:nvSpPr>
          <p:cNvPr id="6" name="explanation-0">
            <a:extLst xmlns:a="http://schemas.openxmlformats.org/drawingml/2006/main">
              <a:ext uri="{FF2B5EF4-FFF2-40B4-BE49-F238E27FC236}">
                <a16:creationId xmlns:a16="http://schemas.microsoft.com/office/drawing/2014/main" id="{E626990A-C36F-4E96-9F30-8296FCC4A380}"/>
              </a:ext>
            </a:extLst>
          </p:cNvPr>
          <p:cNvSpPr>
            <a:spLocks xmlns:a="http://schemas.openxmlformats.org/drawingml/2006/main" noGrp="1"/>
          </p:cNvSpPr>
          <p:nvPr/>
        </p:nvSpPr>
        <p:spPr>
          <a:xfrm xmlns:a="http://schemas.openxmlformats.org/drawingml/2006/main">
            <a:off x="8715375" y="20002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83"/>
                </a:solidFill>
                <a:latin typeface="Segoe UI"/>
                <a:ea typeface="Segoe UI"/>
                <a:cs typeface="Segoe UI"/>
              </a:defRPr>
            </a:defPPr>
            <a:lvl1pPr algn="l">
              <a:defRPr sz="1800" b="0">
                <a:solidFill>
                  <a:srgbClr val="007F83"/>
                </a:solidFill>
                <a:latin typeface="Segoe UI"/>
                <a:ea typeface="Segoe UI"/>
                <a:cs typeface="Segoe UI"/>
              </a:defRPr>
            </a:lvl1pPr>
            <a:lvl2pPr algn="l">
              <a:defRPr sz="1800" b="0">
                <a:solidFill>
                  <a:srgbClr val="007F83"/>
                </a:solidFill>
                <a:latin typeface="Segoe UI"/>
                <a:ea typeface="Segoe UI"/>
                <a:cs typeface="Segoe UI"/>
              </a:defRPr>
            </a:lvl2pPr>
            <a:lvl3pPr algn="l">
              <a:defRPr sz="1800" b="0">
                <a:solidFill>
                  <a:srgbClr val="007F83"/>
                </a:solidFill>
                <a:latin typeface="Segoe UI"/>
                <a:ea typeface="Segoe UI"/>
                <a:cs typeface="Segoe UI"/>
              </a:defRPr>
            </a:lvl3pPr>
            <a:lvl4pPr algn="l">
              <a:defRPr sz="1800" b="0">
                <a:solidFill>
                  <a:srgbClr val="007F83"/>
                </a:solidFill>
                <a:latin typeface="Segoe UI"/>
                <a:ea typeface="Segoe UI"/>
                <a:cs typeface="Segoe UI"/>
              </a:defRPr>
            </a:lvl4pPr>
            <a:lvl5pPr algn="l">
              <a:defRPr sz="1800" b="0">
                <a:solidFill>
                  <a:srgbClr val="007F83"/>
                </a:solidFill>
                <a:latin typeface="Segoe UI"/>
                <a:ea typeface="Segoe UI"/>
                <a:cs typeface="Segoe UI"/>
              </a:defRPr>
            </a:lvl5pPr>
            <a:lvl6pPr algn="l">
              <a:defRPr sz="1800" b="0">
                <a:solidFill>
                  <a:srgbClr val="007F83"/>
                </a:solidFill>
                <a:latin typeface="Segoe UI"/>
                <a:ea typeface="Segoe UI"/>
                <a:cs typeface="Segoe UI"/>
              </a:defRPr>
            </a:lvl6pPr>
            <a:lvl7pPr algn="l">
              <a:defRPr sz="1800" b="0">
                <a:solidFill>
                  <a:srgbClr val="007F83"/>
                </a:solidFill>
                <a:latin typeface="Segoe UI"/>
                <a:ea typeface="Segoe UI"/>
                <a:cs typeface="Segoe UI"/>
              </a:defRPr>
            </a:lvl7pPr>
            <a:lvl8pPr algn="l">
              <a:defRPr sz="1800" b="0">
                <a:solidFill>
                  <a:srgbClr val="007F83"/>
                </a:solidFill>
                <a:latin typeface="Segoe UI"/>
                <a:ea typeface="Segoe UI"/>
                <a:cs typeface="Segoe UI"/>
              </a:defRPr>
            </a:lvl8pPr>
            <a:lvl9pPr algn="l">
              <a:defRPr sz="1800" b="0">
                <a:solidFill>
                  <a:srgbClr val="007F83"/>
                </a:solidFill>
                <a:latin typeface="Segoe UI"/>
                <a:ea typeface="Segoe UI"/>
                <a:cs typeface="Segoe UI"/>
              </a:defRPr>
            </a:lvl9pPr>
          </a:lstStyle>
          <a:p xmlns:a="http://schemas.openxmlformats.org/drawingml/2006/main">
            <a:pPr algn="l">
              <a:defRPr sz="1800" b="0">
                <a:solidFill>
                  <a:srgbClr val="007F83"/>
                </a:solidFill>
                <a:latin typeface="Segoe UI"/>
                <a:ea typeface="Segoe UI"/>
                <a:cs typeface="Segoe UI"/>
              </a:defRPr>
            </a:pPr>
            <a:r>
              <a:rPr sz="1800" b="0">
                <a:solidFill>
                  <a:srgbClr val="007F83"/>
                </a:solidFill>
                <a:latin typeface="Segoe UI"/>
                <a:ea typeface="Segoe UI"/>
                <a:cs typeface="Segoe UI"/>
              </a:rPr>
              <a:t>Reuse the session for related turns.</a:t>
            </a:r>
          </a:p>
        </p:txBody>
      </p:sp>
      <p:sp>
        <p:nvSpPr>
          <p:cNvPr id="7" name="explanation-1">
            <a:extLst xmlns:a="http://schemas.openxmlformats.org/drawingml/2006/main">
              <a:ext uri="{FF2B5EF4-FFF2-40B4-BE49-F238E27FC236}">
                <a16:creationId xmlns:a16="http://schemas.microsoft.com/office/drawing/2014/main" id="{A99748CC-97CC-4565-8C68-6D2755C9C592}"/>
              </a:ext>
            </a:extLst>
          </p:cNvPr>
          <p:cNvSpPr>
            <a:spLocks xmlns:a="http://schemas.openxmlformats.org/drawingml/2006/main" noGrp="1"/>
          </p:cNvSpPr>
          <p:nvPr/>
        </p:nvSpPr>
        <p:spPr>
          <a:xfrm xmlns:a="http://schemas.openxmlformats.org/drawingml/2006/main">
            <a:off x="8715375" y="320040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Bind ownership in the application.</a:t>
            </a:r>
          </a:p>
        </p:txBody>
      </p:sp>
      <p:sp>
        <p:nvSpPr>
          <p:cNvPr id="8" name="explanation-2">
            <a:extLst xmlns:a="http://schemas.openxmlformats.org/drawingml/2006/main">
              <a:ext uri="{FF2B5EF4-FFF2-40B4-BE49-F238E27FC236}">
                <a16:creationId xmlns:a16="http://schemas.microsoft.com/office/drawing/2014/main" id="{B67FDE00-9248-4AAF-9D40-314854E6A0C7}"/>
              </a:ext>
            </a:extLst>
          </p:cNvPr>
          <p:cNvSpPr>
            <a:spLocks xmlns:a="http://schemas.openxmlformats.org/drawingml/2006/main" noGrp="1"/>
          </p:cNvSpPr>
          <p:nvPr/>
        </p:nvSpPr>
        <p:spPr>
          <a:xfrm xmlns:a="http://schemas.openxmlformats.org/drawingml/2006/main">
            <a:off x="8715375" y="44005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Persist state when requests outlive a process.</a:t>
            </a:r>
          </a:p>
        </p:txBody>
      </p:sp>
    </p:spTree>
    <p:extLst>
      <p:ext uri="{BB962C8B-B14F-4D97-AF65-F5344CB8AC3E}">
        <p14:creationId xmlns:p14="http://schemas.microsoft.com/office/powerpoint/2010/main" val="228382181"/>
      </p:ext>
    </p:extLst>
  </p:cSld>
  <p:extLst>
    <p:ext uri="{6950BFC3-D8DA-4A85-94F7-54DA5524770B}">
      <p188:commentRel xmlns:r="http://schemas.openxmlformats.org/officeDocument/2006/relationships" xmlns:p188="http://schemas.microsoft.com/office/powerpoint/2018/8/main" r:id="Rdd698fc887994900"/>
    </p:ext>
  </p:extLst>
</p:sld>
</file>

<file path=ppt/slides/slide1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context">
            <a:extLst xmlns:a="http://schemas.openxmlformats.org/drawingml/2006/main">
              <a:ext uri="{FF2B5EF4-FFF2-40B4-BE49-F238E27FC236}">
                <a16:creationId xmlns:a16="http://schemas.microsoft.com/office/drawing/2014/main" id="{8BC91E2A-8FBD-4ABA-82DA-F120F562F51D}"/>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Framework code pattern</a:t>
            </a:r>
          </a:p>
        </p:txBody>
      </p:sp>
      <p:sp>
        <p:nvSpPr>
          <p:cNvPr id="2" name="title">
            <a:extLst xmlns:a="http://schemas.openxmlformats.org/drawingml/2006/main">
              <a:ext uri="{FF2B5EF4-FFF2-40B4-BE49-F238E27FC236}">
                <a16:creationId xmlns:a16="http://schemas.microsoft.com/office/drawing/2014/main" id="{25896DE6-C9B3-421F-8FCB-8081FCAE0A17}"/>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Streaming at the agent boundary</a:t>
            </a:r>
          </a:p>
        </p:txBody>
      </p:sp>
      <p:sp>
        <p:nvSpPr>
          <p:cNvPr id="3" name="footer">
            <a:extLst xmlns:a="http://schemas.openxmlformats.org/drawingml/2006/main">
              <a:ext uri="{FF2B5EF4-FFF2-40B4-BE49-F238E27FC236}">
                <a16:creationId xmlns:a16="http://schemas.microsoft.com/office/drawing/2014/main" id="{CE0E88CF-1563-4829-BBAC-71F3C4909FE7}"/>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02  Framework runtime</a:t>
            </a:r>
          </a:p>
        </p:txBody>
      </p:sp>
      <p:sp>
        <p:nvSpPr>
          <p:cNvPr id="4" name="page">
            <a:extLst xmlns:a="http://schemas.openxmlformats.org/drawingml/2006/main">
              <a:ext uri="{FF2B5EF4-FFF2-40B4-BE49-F238E27FC236}">
                <a16:creationId xmlns:a16="http://schemas.microsoft.com/office/drawing/2014/main" id="{6B386FE2-72CB-4F69-BE51-E5719F0B6384}"/>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19</a:t>
            </a:r>
          </a:p>
        </p:txBody>
      </p:sp>
      <p:sp>
        <p:nvSpPr>
          <p:cNvPr id="5" name="code">
            <a:extLst xmlns:a="http://schemas.openxmlformats.org/drawingml/2006/main">
              <a:ext uri="{FF2B5EF4-FFF2-40B4-BE49-F238E27FC236}">
                <a16:creationId xmlns:a16="http://schemas.microsoft.com/office/drawing/2014/main" id="{725D5C1B-6D26-48F4-8576-5E0ED7394028}"/>
              </a:ext>
            </a:extLst>
          </p:cNvPr>
          <p:cNvSpPr>
            <a:spLocks xmlns:a="http://schemas.openxmlformats.org/drawingml/2006/main" noGrp="1"/>
          </p:cNvSpPr>
          <p:nvPr/>
        </p:nvSpPr>
        <p:spPr>
          <a:xfrm xmlns:a="http://schemas.openxmlformats.org/drawingml/2006/main">
            <a:off x="685800" y="1857375"/>
            <a:ext cx="752475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12C43"/>
                </a:solidFill>
                <a:latin typeface="Consolas"/>
                <a:ea typeface="Consolas"/>
                <a:cs typeface="Consolas"/>
              </a:defRPr>
            </a:defPPr>
            <a:lvl1pPr algn="l">
              <a:defRPr sz="1725" b="0">
                <a:solidFill>
                  <a:srgbClr val="112C43"/>
                </a:solidFill>
                <a:latin typeface="Consolas"/>
                <a:ea typeface="Consolas"/>
                <a:cs typeface="Consolas"/>
              </a:defRPr>
            </a:lvl1pPr>
            <a:lvl2pPr algn="l">
              <a:defRPr sz="1725" b="0">
                <a:solidFill>
                  <a:srgbClr val="112C43"/>
                </a:solidFill>
                <a:latin typeface="Consolas"/>
                <a:ea typeface="Consolas"/>
                <a:cs typeface="Consolas"/>
              </a:defRPr>
            </a:lvl2pPr>
            <a:lvl3pPr algn="l">
              <a:defRPr sz="1725" b="0">
                <a:solidFill>
                  <a:srgbClr val="112C43"/>
                </a:solidFill>
                <a:latin typeface="Consolas"/>
                <a:ea typeface="Consolas"/>
                <a:cs typeface="Consolas"/>
              </a:defRPr>
            </a:lvl3pPr>
            <a:lvl4pPr algn="l">
              <a:defRPr sz="1725" b="0">
                <a:solidFill>
                  <a:srgbClr val="112C43"/>
                </a:solidFill>
                <a:latin typeface="Consolas"/>
                <a:ea typeface="Consolas"/>
                <a:cs typeface="Consolas"/>
              </a:defRPr>
            </a:lvl4pPr>
            <a:lvl5pPr algn="l">
              <a:defRPr sz="1725" b="0">
                <a:solidFill>
                  <a:srgbClr val="112C43"/>
                </a:solidFill>
                <a:latin typeface="Consolas"/>
                <a:ea typeface="Consolas"/>
                <a:cs typeface="Consolas"/>
              </a:defRPr>
            </a:lvl5pPr>
            <a:lvl6pPr algn="l">
              <a:defRPr sz="1725" b="0">
                <a:solidFill>
                  <a:srgbClr val="112C43"/>
                </a:solidFill>
                <a:latin typeface="Consolas"/>
                <a:ea typeface="Consolas"/>
                <a:cs typeface="Consolas"/>
              </a:defRPr>
            </a:lvl6pPr>
            <a:lvl7pPr algn="l">
              <a:defRPr sz="1725" b="0">
                <a:solidFill>
                  <a:srgbClr val="112C43"/>
                </a:solidFill>
                <a:latin typeface="Consolas"/>
                <a:ea typeface="Consolas"/>
                <a:cs typeface="Consolas"/>
              </a:defRPr>
            </a:lvl7pPr>
            <a:lvl8pPr algn="l">
              <a:defRPr sz="1725" b="0">
                <a:solidFill>
                  <a:srgbClr val="112C43"/>
                </a:solidFill>
                <a:latin typeface="Consolas"/>
                <a:ea typeface="Consolas"/>
                <a:cs typeface="Consolas"/>
              </a:defRPr>
            </a:lvl8pPr>
            <a:lvl9pPr algn="l">
              <a:defRPr sz="1725" b="0">
                <a:solidFill>
                  <a:srgbClr val="112C43"/>
                </a:solidFill>
                <a:latin typeface="Consolas"/>
                <a:ea typeface="Consolas"/>
                <a:cs typeface="Consolas"/>
              </a:defRPr>
            </a:lvl9pPr>
          </a:lstStyle>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await foreach (var update in billing.RunStreamingAsync(</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"Explain the invoice workflow.",</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session, cancellationToken: ct))</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 Convert updates to the application's event contract.</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await eventSink.PublishAsync(update, ct);</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a:t>
            </a:r>
          </a:p>
        </p:txBody>
      </p:sp>
      <p:sp>
        <p:nvSpPr>
          <p:cNvPr id="6" name="explanation-0">
            <a:extLst xmlns:a="http://schemas.openxmlformats.org/drawingml/2006/main">
              <a:ext uri="{FF2B5EF4-FFF2-40B4-BE49-F238E27FC236}">
                <a16:creationId xmlns:a16="http://schemas.microsoft.com/office/drawing/2014/main" id="{B7DEEDCD-5B02-4244-9E84-35CCE062AE80}"/>
              </a:ext>
            </a:extLst>
          </p:cNvPr>
          <p:cNvSpPr>
            <a:spLocks xmlns:a="http://schemas.openxmlformats.org/drawingml/2006/main" noGrp="1"/>
          </p:cNvSpPr>
          <p:nvPr/>
        </p:nvSpPr>
        <p:spPr>
          <a:xfrm xmlns:a="http://schemas.openxmlformats.org/drawingml/2006/main">
            <a:off x="8715375" y="20002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83"/>
                </a:solidFill>
                <a:latin typeface="Segoe UI"/>
                <a:ea typeface="Segoe UI"/>
                <a:cs typeface="Segoe UI"/>
              </a:defRPr>
            </a:defPPr>
            <a:lvl1pPr algn="l">
              <a:defRPr sz="1800" b="0">
                <a:solidFill>
                  <a:srgbClr val="007F83"/>
                </a:solidFill>
                <a:latin typeface="Segoe UI"/>
                <a:ea typeface="Segoe UI"/>
                <a:cs typeface="Segoe UI"/>
              </a:defRPr>
            </a:lvl1pPr>
            <a:lvl2pPr algn="l">
              <a:defRPr sz="1800" b="0">
                <a:solidFill>
                  <a:srgbClr val="007F83"/>
                </a:solidFill>
                <a:latin typeface="Segoe UI"/>
                <a:ea typeface="Segoe UI"/>
                <a:cs typeface="Segoe UI"/>
              </a:defRPr>
            </a:lvl2pPr>
            <a:lvl3pPr algn="l">
              <a:defRPr sz="1800" b="0">
                <a:solidFill>
                  <a:srgbClr val="007F83"/>
                </a:solidFill>
                <a:latin typeface="Segoe UI"/>
                <a:ea typeface="Segoe UI"/>
                <a:cs typeface="Segoe UI"/>
              </a:defRPr>
            </a:lvl3pPr>
            <a:lvl4pPr algn="l">
              <a:defRPr sz="1800" b="0">
                <a:solidFill>
                  <a:srgbClr val="007F83"/>
                </a:solidFill>
                <a:latin typeface="Segoe UI"/>
                <a:ea typeface="Segoe UI"/>
                <a:cs typeface="Segoe UI"/>
              </a:defRPr>
            </a:lvl4pPr>
            <a:lvl5pPr algn="l">
              <a:defRPr sz="1800" b="0">
                <a:solidFill>
                  <a:srgbClr val="007F83"/>
                </a:solidFill>
                <a:latin typeface="Segoe UI"/>
                <a:ea typeface="Segoe UI"/>
                <a:cs typeface="Segoe UI"/>
              </a:defRPr>
            </a:lvl5pPr>
            <a:lvl6pPr algn="l">
              <a:defRPr sz="1800" b="0">
                <a:solidFill>
                  <a:srgbClr val="007F83"/>
                </a:solidFill>
                <a:latin typeface="Segoe UI"/>
                <a:ea typeface="Segoe UI"/>
                <a:cs typeface="Segoe UI"/>
              </a:defRPr>
            </a:lvl6pPr>
            <a:lvl7pPr algn="l">
              <a:defRPr sz="1800" b="0">
                <a:solidFill>
                  <a:srgbClr val="007F83"/>
                </a:solidFill>
                <a:latin typeface="Segoe UI"/>
                <a:ea typeface="Segoe UI"/>
                <a:cs typeface="Segoe UI"/>
              </a:defRPr>
            </a:lvl7pPr>
            <a:lvl8pPr algn="l">
              <a:defRPr sz="1800" b="0">
                <a:solidFill>
                  <a:srgbClr val="007F83"/>
                </a:solidFill>
                <a:latin typeface="Segoe UI"/>
                <a:ea typeface="Segoe UI"/>
                <a:cs typeface="Segoe UI"/>
              </a:defRPr>
            </a:lvl8pPr>
            <a:lvl9pPr algn="l">
              <a:defRPr sz="1800" b="0">
                <a:solidFill>
                  <a:srgbClr val="007F83"/>
                </a:solidFill>
                <a:latin typeface="Segoe UI"/>
                <a:ea typeface="Segoe UI"/>
                <a:cs typeface="Segoe UI"/>
              </a:defRPr>
            </a:lvl9pPr>
          </a:lstStyle>
          <a:p xmlns:a="http://schemas.openxmlformats.org/drawingml/2006/main">
            <a:pPr algn="l">
              <a:defRPr sz="1800" b="0">
                <a:solidFill>
                  <a:srgbClr val="007F83"/>
                </a:solidFill>
                <a:latin typeface="Segoe UI"/>
                <a:ea typeface="Segoe UI"/>
                <a:cs typeface="Segoe UI"/>
              </a:defRPr>
            </a:pPr>
            <a:r>
              <a:rPr sz="1800" b="0">
                <a:solidFill>
                  <a:srgbClr val="007F83"/>
                </a:solidFill>
                <a:latin typeface="Segoe UI"/>
                <a:ea typeface="Segoe UI"/>
                <a:cs typeface="Segoe UI"/>
              </a:rPr>
              <a:t>Treat output as incremental events.</a:t>
            </a:r>
          </a:p>
        </p:txBody>
      </p:sp>
      <p:sp>
        <p:nvSpPr>
          <p:cNvPr id="7" name="explanation-1">
            <a:extLst xmlns:a="http://schemas.openxmlformats.org/drawingml/2006/main">
              <a:ext uri="{FF2B5EF4-FFF2-40B4-BE49-F238E27FC236}">
                <a16:creationId xmlns:a16="http://schemas.microsoft.com/office/drawing/2014/main" id="{31D3F62B-E172-475C-BF8D-A4B11B00BD38}"/>
              </a:ext>
            </a:extLst>
          </p:cNvPr>
          <p:cNvSpPr>
            <a:spLocks xmlns:a="http://schemas.openxmlformats.org/drawingml/2006/main" noGrp="1"/>
          </p:cNvSpPr>
          <p:nvPr/>
        </p:nvSpPr>
        <p:spPr>
          <a:xfrm xmlns:a="http://schemas.openxmlformats.org/drawingml/2006/main">
            <a:off x="8715375" y="320040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Handle completion and failure explicitly.</a:t>
            </a:r>
          </a:p>
        </p:txBody>
      </p:sp>
      <p:sp>
        <p:nvSpPr>
          <p:cNvPr id="8" name="explanation-2">
            <a:extLst xmlns:a="http://schemas.openxmlformats.org/drawingml/2006/main">
              <a:ext uri="{FF2B5EF4-FFF2-40B4-BE49-F238E27FC236}">
                <a16:creationId xmlns:a16="http://schemas.microsoft.com/office/drawing/2014/main" id="{F147E73C-43FF-42C1-A5DF-A0A77444BC4A}"/>
              </a:ext>
            </a:extLst>
          </p:cNvPr>
          <p:cNvSpPr>
            <a:spLocks xmlns:a="http://schemas.openxmlformats.org/drawingml/2006/main" noGrp="1"/>
          </p:cNvSpPr>
          <p:nvPr/>
        </p:nvSpPr>
        <p:spPr>
          <a:xfrm xmlns:a="http://schemas.openxmlformats.org/drawingml/2006/main">
            <a:off x="8715375" y="44005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Keep an authoritative final run state.</a:t>
            </a:r>
          </a:p>
        </p:txBody>
      </p:sp>
    </p:spTree>
    <p:extLst>
      <p:ext uri="{BB962C8B-B14F-4D97-AF65-F5344CB8AC3E}">
        <p14:creationId xmlns:p14="http://schemas.microsoft.com/office/powerpoint/2010/main" val="1778608354"/>
      </p:ext>
    </p:extLst>
  </p:cSld>
  <p:extLst>
    <p:ext uri="{6950BFC3-D8DA-4A85-94F7-54DA5524770B}">
      <p188:commentRel xmlns:r="http://schemas.openxmlformats.org/officeDocument/2006/relationships" xmlns:p188="http://schemas.microsoft.com/office/powerpoint/2018/8/main" r:id="Red0acd5c36d44a21"/>
    </p:ext>
  </p:extLst>
</p:sld>
</file>

<file path=ppt/slides/slide20.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CAFF18C9-D3CE-4F7B-B8B3-43B94011D2CC}"/>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Integration design</a:t>
            </a:r>
          </a:p>
        </p:txBody>
      </p:sp>
      <p:sp>
        <p:nvSpPr>
          <p:cNvPr id="2" name="title">
            <a:extLst xmlns:a="http://schemas.openxmlformats.org/drawingml/2006/main">
              <a:ext uri="{FF2B5EF4-FFF2-40B4-BE49-F238E27FC236}">
                <a16:creationId xmlns:a16="http://schemas.microsoft.com/office/drawing/2014/main" id="{3078FA61-6218-461C-A71B-8FC6FD19DD4C}"/>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Dependency injection and lifetime boundaries</a:t>
            </a:r>
          </a:p>
        </p:txBody>
      </p:sp>
      <p:sp>
        <p:nvSpPr>
          <p:cNvPr id="3" name="footer">
            <a:extLst xmlns:a="http://schemas.openxmlformats.org/drawingml/2006/main">
              <a:ext uri="{FF2B5EF4-FFF2-40B4-BE49-F238E27FC236}">
                <a16:creationId xmlns:a16="http://schemas.microsoft.com/office/drawing/2014/main" id="{6DA169B4-E0D3-48CA-855A-D2A4CC3C8EF6}"/>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02  Framework runtime</a:t>
            </a:r>
          </a:p>
        </p:txBody>
      </p:sp>
      <p:sp>
        <p:nvSpPr>
          <p:cNvPr id="4" name="page">
            <a:extLst xmlns:a="http://schemas.openxmlformats.org/drawingml/2006/main">
              <a:ext uri="{FF2B5EF4-FFF2-40B4-BE49-F238E27FC236}">
                <a16:creationId xmlns:a16="http://schemas.microsoft.com/office/drawing/2014/main" id="{7F3167F4-74C4-40F3-B52E-8EFCA7233490}"/>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20</a:t>
            </a:r>
          </a:p>
        </p:txBody>
      </p:sp>
      <p:sp>
        <p:nvSpPr>
          <p:cNvPr id="5" name="label-0">
            <a:extLst xmlns:a="http://schemas.openxmlformats.org/drawingml/2006/main">
              <a:ext uri="{FF2B5EF4-FFF2-40B4-BE49-F238E27FC236}">
                <a16:creationId xmlns:a16="http://schemas.microsoft.com/office/drawing/2014/main" id="{FCB26FA8-A341-453C-BD87-7F943FACDFA6}"/>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Clients</a:t>
            </a:r>
          </a:p>
        </p:txBody>
      </p:sp>
      <p:sp>
        <p:nvSpPr>
          <p:cNvPr id="6" name="point-0">
            <a:extLst xmlns:a="http://schemas.openxmlformats.org/drawingml/2006/main">
              <a:ext uri="{FF2B5EF4-FFF2-40B4-BE49-F238E27FC236}">
                <a16:creationId xmlns:a16="http://schemas.microsoft.com/office/drawing/2014/main" id="{86592494-AEDD-4E5F-AA6B-6DD657708B11}"/>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Reuse suitable provider clients without capturing request-specific state.</a:t>
            </a:r>
          </a:p>
        </p:txBody>
      </p:sp>
      <p:sp>
        <p:nvSpPr>
          <p:cNvPr id="7" name="label-1">
            <a:extLst xmlns:a="http://schemas.openxmlformats.org/drawingml/2006/main">
              <a:ext uri="{FF2B5EF4-FFF2-40B4-BE49-F238E27FC236}">
                <a16:creationId xmlns:a16="http://schemas.microsoft.com/office/drawing/2014/main" id="{7F4A0E53-BD83-4E47-9923-3E4BDE472555}"/>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Tools</a:t>
            </a:r>
          </a:p>
        </p:txBody>
      </p:sp>
      <p:sp>
        <p:nvSpPr>
          <p:cNvPr id="8" name="point-1">
            <a:extLst xmlns:a="http://schemas.openxmlformats.org/drawingml/2006/main">
              <a:ext uri="{FF2B5EF4-FFF2-40B4-BE49-F238E27FC236}">
                <a16:creationId xmlns:a16="http://schemas.microsoft.com/office/drawing/2014/main" id="{B30DA120-51DE-493A-B666-92C2CB139C35}"/>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Resolve dispatcher and DbContext dependencies within a valid scope.</a:t>
            </a:r>
          </a:p>
        </p:txBody>
      </p:sp>
      <p:sp>
        <p:nvSpPr>
          <p:cNvPr id="9" name="label-2">
            <a:extLst xmlns:a="http://schemas.openxmlformats.org/drawingml/2006/main">
              <a:ext uri="{FF2B5EF4-FFF2-40B4-BE49-F238E27FC236}">
                <a16:creationId xmlns:a16="http://schemas.microsoft.com/office/drawing/2014/main" id="{35D59563-89DF-4436-A365-C89EF6D33FB4}"/>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Sessions</a:t>
            </a:r>
          </a:p>
        </p:txBody>
      </p:sp>
      <p:sp>
        <p:nvSpPr>
          <p:cNvPr id="10" name="point-2">
            <a:extLst xmlns:a="http://schemas.openxmlformats.org/drawingml/2006/main">
              <a:ext uri="{FF2B5EF4-FFF2-40B4-BE49-F238E27FC236}">
                <a16:creationId xmlns:a16="http://schemas.microsoft.com/office/drawing/2014/main" id="{A45306C8-3DB8-4607-8052-FB293921F050}"/>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Store conversation state independently of the agent instance.</a:t>
            </a:r>
          </a:p>
        </p:txBody>
      </p:sp>
      <p:sp>
        <p:nvSpPr>
          <p:cNvPr id="11" name="label-3">
            <a:extLst xmlns:a="http://schemas.openxmlformats.org/drawingml/2006/main">
              <a:ext uri="{FF2B5EF4-FFF2-40B4-BE49-F238E27FC236}">
                <a16:creationId xmlns:a16="http://schemas.microsoft.com/office/drawing/2014/main" id="{952E1BA5-E3D6-4F11-A91D-0037CC306E62}"/>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Adapters</a:t>
            </a:r>
          </a:p>
        </p:txBody>
      </p:sp>
      <p:sp>
        <p:nvSpPr>
          <p:cNvPr id="12" name="point-3">
            <a:extLst xmlns:a="http://schemas.openxmlformats.org/drawingml/2006/main">
              <a:ext uri="{FF2B5EF4-FFF2-40B4-BE49-F238E27FC236}">
                <a16:creationId xmlns:a16="http://schemas.microsoft.com/office/drawing/2014/main" id="{7D6FCE32-8BFC-4595-ACE6-5FDE26363F85}"/>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Translate framework results to the existing application response contract.</a:t>
            </a:r>
          </a:p>
        </p:txBody>
      </p:sp>
    </p:spTree>
    <p:extLst>
      <p:ext uri="{BB962C8B-B14F-4D97-AF65-F5344CB8AC3E}">
        <p14:creationId xmlns:p14="http://schemas.microsoft.com/office/powerpoint/2010/main" val="1906001195"/>
      </p:ext>
    </p:extLst>
  </p:cSld>
  <p:extLst>
    <p:ext uri="{6950BFC3-D8DA-4A85-94F7-54DA5524770B}">
      <p188:commentRel xmlns:r="http://schemas.openxmlformats.org/officeDocument/2006/relationships" xmlns:p188="http://schemas.microsoft.com/office/powerpoint/2018/8/main" r:id="R869abf1803c14e6f"/>
    </p:ext>
  </p:extLst>
</p:sld>
</file>

<file path=ppt/slides/slide2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4" name="context">
            <a:extLst xmlns:a="http://schemas.openxmlformats.org/drawingml/2006/main">
              <a:ext uri="{FF2B5EF4-FFF2-40B4-BE49-F238E27FC236}">
                <a16:creationId xmlns:a16="http://schemas.microsoft.com/office/drawing/2014/main" id="{5FC77976-5745-444B-ACF9-DFF74257769A}"/>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Lab target</a:t>
            </a:r>
          </a:p>
        </p:txBody>
      </p:sp>
      <p:sp>
        <p:nvSpPr>
          <p:cNvPr id="2" name="title">
            <a:extLst xmlns:a="http://schemas.openxmlformats.org/drawingml/2006/main">
              <a:ext uri="{FF2B5EF4-FFF2-40B4-BE49-F238E27FC236}">
                <a16:creationId xmlns:a16="http://schemas.microsoft.com/office/drawing/2014/main" id="{E0D2E484-792A-40C5-A9AC-34559E84458F}"/>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Lab 02: add the framework runtime</a:t>
            </a:r>
          </a:p>
        </p:txBody>
      </p:sp>
      <p:sp>
        <p:nvSpPr>
          <p:cNvPr id="3" name="footer">
            <a:extLst xmlns:a="http://schemas.openxmlformats.org/drawingml/2006/main">
              <a:ext uri="{FF2B5EF4-FFF2-40B4-BE49-F238E27FC236}">
                <a16:creationId xmlns:a16="http://schemas.microsoft.com/office/drawing/2014/main" id="{251D46FE-3A4D-41E0-8EE9-D8C8CDF7BFB6}"/>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02  Framework runtime</a:t>
            </a:r>
          </a:p>
        </p:txBody>
      </p:sp>
      <p:sp>
        <p:nvSpPr>
          <p:cNvPr id="4" name="page">
            <a:extLst xmlns:a="http://schemas.openxmlformats.org/drawingml/2006/main">
              <a:ext uri="{FF2B5EF4-FFF2-40B4-BE49-F238E27FC236}">
                <a16:creationId xmlns:a16="http://schemas.microsoft.com/office/drawing/2014/main" id="{04A5D3C8-D231-49CA-B4B1-EACA21D4F0FA}"/>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21</a:t>
            </a:r>
          </a:p>
        </p:txBody>
      </p:sp>
      <p:sp>
        <p:nvSpPr>
          <p:cNvPr id="5" name="implementation">
            <a:extLst xmlns:a="http://schemas.openxmlformats.org/drawingml/2006/main">
              <a:ext uri="{FF2B5EF4-FFF2-40B4-BE49-F238E27FC236}">
                <a16:creationId xmlns:a16="http://schemas.microsoft.com/office/drawing/2014/main" id="{AC349E1A-CF72-4753-8874-936BB67F7CE7}"/>
              </a:ext>
            </a:extLst>
          </p:cNvPr>
          <p:cNvSpPr>
            <a:spLocks xmlns:a="http://schemas.openxmlformats.org/drawingml/2006/main" noGrp="1"/>
          </p:cNvSpPr>
          <p:nvPr/>
        </p:nvSpPr>
        <p:spPr>
          <a:xfrm xmlns:a="http://schemas.openxmlformats.org/drawingml/2006/main">
            <a:off x="685800" y="1857375"/>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Implementation</a:t>
            </a:r>
          </a:p>
        </p:txBody>
      </p:sp>
      <p:sp>
        <p:nvSpPr>
          <p:cNvPr id="6" name="acceptance">
            <a:extLst xmlns:a="http://schemas.openxmlformats.org/drawingml/2006/main">
              <a:ext uri="{FF2B5EF4-FFF2-40B4-BE49-F238E27FC236}">
                <a16:creationId xmlns:a16="http://schemas.microsoft.com/office/drawing/2014/main" id="{AE8111B8-7829-4378-9612-DBA34CCD88A1}"/>
              </a:ext>
            </a:extLst>
          </p:cNvPr>
          <p:cNvSpPr>
            <a:spLocks xmlns:a="http://schemas.openxmlformats.org/drawingml/2006/main" noGrp="1"/>
          </p:cNvSpPr>
          <p:nvPr/>
        </p:nvSpPr>
        <p:spPr>
          <a:xfrm xmlns:a="http://schemas.openxmlformats.org/drawingml/2006/main">
            <a:off x="7477125" y="1857375"/>
            <a:ext cx="4029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Acceptance</a:t>
            </a:r>
          </a:p>
        </p:txBody>
      </p:sp>
      <p:sp>
        <p:nvSpPr>
          <p:cNvPr id="7" name="task-0">
            <a:extLst xmlns:a="http://schemas.openxmlformats.org/drawingml/2006/main">
              <a:ext uri="{FF2B5EF4-FFF2-40B4-BE49-F238E27FC236}">
                <a16:creationId xmlns:a16="http://schemas.microsoft.com/office/drawing/2014/main" id="{3C77A990-4F25-4793-8C97-C6C6EC60FEDC}"/>
              </a:ext>
            </a:extLst>
          </p:cNvPr>
          <p:cNvSpPr>
            <a:spLocks xmlns:a="http://schemas.openxmlformats.org/drawingml/2006/main" noGrp="1"/>
          </p:cNvSpPr>
          <p:nvPr/>
        </p:nvSpPr>
        <p:spPr>
          <a:xfrm xmlns:a="http://schemas.openxmlformats.org/drawingml/2006/main">
            <a:off x="685800" y="2476500"/>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1. Create a lab project with pinned compatible packages.</a:t>
            </a:r>
          </a:p>
        </p:txBody>
      </p:sp>
      <p:sp>
        <p:nvSpPr>
          <p:cNvPr id="8" name="task-1">
            <a:extLst xmlns:a="http://schemas.openxmlformats.org/drawingml/2006/main">
              <a:ext uri="{FF2B5EF4-FFF2-40B4-BE49-F238E27FC236}">
                <a16:creationId xmlns:a16="http://schemas.microsoft.com/office/drawing/2014/main" id="{41630360-C340-4A3C-B9EB-4401F04096AF}"/>
              </a:ext>
            </a:extLst>
          </p:cNvPr>
          <p:cNvSpPr>
            <a:spLocks xmlns:a="http://schemas.openxmlformats.org/drawingml/2006/main" noGrp="1"/>
          </p:cNvSpPr>
          <p:nvPr/>
        </p:nvSpPr>
        <p:spPr>
          <a:xfrm xmlns:a="http://schemas.openxmlformats.org/drawingml/2006/main">
            <a:off x="685800" y="3495675"/>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2. Construct an AIAgent using the configured provider.</a:t>
            </a:r>
          </a:p>
        </p:txBody>
      </p:sp>
      <p:sp>
        <p:nvSpPr>
          <p:cNvPr id="9" name="task-2">
            <a:extLst xmlns:a="http://schemas.openxmlformats.org/drawingml/2006/main">
              <a:ext uri="{FF2B5EF4-FFF2-40B4-BE49-F238E27FC236}">
                <a16:creationId xmlns:a16="http://schemas.microsoft.com/office/drawing/2014/main" id="{F8BAA1DD-4026-4EB2-8FFF-AD88FBB52D39}"/>
              </a:ext>
            </a:extLst>
          </p:cNvPr>
          <p:cNvSpPr>
            <a:spLocks xmlns:a="http://schemas.openxmlformats.org/drawingml/2006/main" noGrp="1"/>
          </p:cNvSpPr>
          <p:nvPr/>
        </p:nvSpPr>
        <p:spPr>
          <a:xfrm xmlns:a="http://schemas.openxmlformats.org/drawingml/2006/main">
            <a:off x="685800" y="4514850"/>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3. Run two turns with one session and stream a response.</a:t>
            </a:r>
          </a:p>
        </p:txBody>
      </p:sp>
      <p:sp>
        <p:nvSpPr>
          <p:cNvPr id="10" name="criterion-0">
            <a:extLst xmlns:a="http://schemas.openxmlformats.org/drawingml/2006/main">
              <a:ext uri="{FF2B5EF4-FFF2-40B4-BE49-F238E27FC236}">
                <a16:creationId xmlns:a16="http://schemas.microsoft.com/office/drawing/2014/main" id="{FE26005A-EB91-49F2-88DC-7005773203B4}"/>
              </a:ext>
            </a:extLst>
          </p:cNvPr>
          <p:cNvSpPr>
            <a:spLocks xmlns:a="http://schemas.openxmlformats.org/drawingml/2006/main" noGrp="1"/>
          </p:cNvSpPr>
          <p:nvPr/>
        </p:nvSpPr>
        <p:spPr>
          <a:xfrm xmlns:a="http://schemas.openxmlformats.org/drawingml/2006/main">
            <a:off x="7477125" y="2476500"/>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The project actually references Microsoft.Agents.AI.</a:t>
            </a:r>
          </a:p>
        </p:txBody>
      </p:sp>
      <p:sp>
        <p:nvSpPr>
          <p:cNvPr id="11" name="criterion-1">
            <a:extLst xmlns:a="http://schemas.openxmlformats.org/drawingml/2006/main">
              <a:ext uri="{FF2B5EF4-FFF2-40B4-BE49-F238E27FC236}">
                <a16:creationId xmlns:a16="http://schemas.microsoft.com/office/drawing/2014/main" id="{15C9DA27-D64E-4AE0-8B31-99F5E191F255}"/>
              </a:ext>
            </a:extLst>
          </p:cNvPr>
          <p:cNvSpPr>
            <a:spLocks xmlns:a="http://schemas.openxmlformats.org/drawingml/2006/main" noGrp="1"/>
          </p:cNvSpPr>
          <p:nvPr/>
        </p:nvSpPr>
        <p:spPr>
          <a:xfrm xmlns:a="http://schemas.openxmlformats.org/drawingml/2006/main">
            <a:off x="7477125" y="3495675"/>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A cancellation token reaches the run.</a:t>
            </a:r>
          </a:p>
        </p:txBody>
      </p:sp>
      <p:sp>
        <p:nvSpPr>
          <p:cNvPr id="12" name="criterion-2">
            <a:extLst xmlns:a="http://schemas.openxmlformats.org/drawingml/2006/main">
              <a:ext uri="{FF2B5EF4-FFF2-40B4-BE49-F238E27FC236}">
                <a16:creationId xmlns:a16="http://schemas.microsoft.com/office/drawing/2014/main" id="{DD53F193-9348-4E4B-86EA-FBF399EC6FAE}"/>
              </a:ext>
            </a:extLst>
          </p:cNvPr>
          <p:cNvSpPr>
            <a:spLocks xmlns:a="http://schemas.openxmlformats.org/drawingml/2006/main" noGrp="1"/>
          </p:cNvSpPr>
          <p:nvPr/>
        </p:nvSpPr>
        <p:spPr>
          <a:xfrm xmlns:a="http://schemas.openxmlformats.org/drawingml/2006/main">
            <a:off x="7477125" y="4514850"/>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A failed provider call yields a controlled result.</a:t>
            </a:r>
          </a:p>
        </p:txBody>
      </p:sp>
      <p:sp>
        <p:nvSpPr>
          <p:cNvPr id="13" name="lab-time">
            <a:extLst xmlns:a="http://schemas.openxmlformats.org/drawingml/2006/main">
              <a:ext uri="{FF2B5EF4-FFF2-40B4-BE49-F238E27FC236}">
                <a16:creationId xmlns:a16="http://schemas.microsoft.com/office/drawing/2014/main" id="{53469BEC-9C27-4B30-8587-6A822544475E}"/>
              </a:ext>
            </a:extLst>
          </p:cNvPr>
          <p:cNvSpPr>
            <a:spLocks xmlns:a="http://schemas.openxmlformats.org/drawingml/2006/main" noGrp="1"/>
          </p:cNvSpPr>
          <p:nvPr/>
        </p:nvSpPr>
        <p:spPr>
          <a:xfrm xmlns:a="http://schemas.openxmlformats.org/drawingml/2006/main">
            <a:off x="685800" y="588645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17384"/>
                </a:solidFill>
                <a:latin typeface="Segoe UI"/>
                <a:ea typeface="Segoe UI"/>
                <a:cs typeface="Segoe UI"/>
              </a:defRPr>
            </a:defPPr>
            <a:lvl1pPr algn="l">
              <a:defRPr sz="1500" b="0">
                <a:solidFill>
                  <a:srgbClr val="617384"/>
                </a:solidFill>
                <a:latin typeface="Segoe UI"/>
                <a:ea typeface="Segoe UI"/>
                <a:cs typeface="Segoe UI"/>
              </a:defRPr>
            </a:lvl1pPr>
            <a:lvl2pPr algn="l">
              <a:defRPr sz="1500" b="0">
                <a:solidFill>
                  <a:srgbClr val="617384"/>
                </a:solidFill>
                <a:latin typeface="Segoe UI"/>
                <a:ea typeface="Segoe UI"/>
                <a:cs typeface="Segoe UI"/>
              </a:defRPr>
            </a:lvl2pPr>
            <a:lvl3pPr algn="l">
              <a:defRPr sz="1500" b="0">
                <a:solidFill>
                  <a:srgbClr val="617384"/>
                </a:solidFill>
                <a:latin typeface="Segoe UI"/>
                <a:ea typeface="Segoe UI"/>
                <a:cs typeface="Segoe UI"/>
              </a:defRPr>
            </a:lvl3pPr>
            <a:lvl4pPr algn="l">
              <a:defRPr sz="1500" b="0">
                <a:solidFill>
                  <a:srgbClr val="617384"/>
                </a:solidFill>
                <a:latin typeface="Segoe UI"/>
                <a:ea typeface="Segoe UI"/>
                <a:cs typeface="Segoe UI"/>
              </a:defRPr>
            </a:lvl4pPr>
            <a:lvl5pPr algn="l">
              <a:defRPr sz="1500" b="0">
                <a:solidFill>
                  <a:srgbClr val="617384"/>
                </a:solidFill>
                <a:latin typeface="Segoe UI"/>
                <a:ea typeface="Segoe UI"/>
                <a:cs typeface="Segoe UI"/>
              </a:defRPr>
            </a:lvl5pPr>
            <a:lvl6pPr algn="l">
              <a:defRPr sz="1500" b="0">
                <a:solidFill>
                  <a:srgbClr val="617384"/>
                </a:solidFill>
                <a:latin typeface="Segoe UI"/>
                <a:ea typeface="Segoe UI"/>
                <a:cs typeface="Segoe UI"/>
              </a:defRPr>
            </a:lvl6pPr>
            <a:lvl7pPr algn="l">
              <a:defRPr sz="1500" b="0">
                <a:solidFill>
                  <a:srgbClr val="617384"/>
                </a:solidFill>
                <a:latin typeface="Segoe UI"/>
                <a:ea typeface="Segoe UI"/>
                <a:cs typeface="Segoe UI"/>
              </a:defRPr>
            </a:lvl7pPr>
            <a:lvl8pPr algn="l">
              <a:defRPr sz="1500" b="0">
                <a:solidFill>
                  <a:srgbClr val="617384"/>
                </a:solidFill>
                <a:latin typeface="Segoe UI"/>
                <a:ea typeface="Segoe UI"/>
                <a:cs typeface="Segoe UI"/>
              </a:defRPr>
            </a:lvl8pPr>
            <a:lvl9pPr algn="l">
              <a:defRPr sz="1500" b="0">
                <a:solidFill>
                  <a:srgbClr val="617384"/>
                </a:solidFill>
                <a:latin typeface="Segoe UI"/>
                <a:ea typeface="Segoe UI"/>
                <a:cs typeface="Segoe UI"/>
              </a:defRPr>
            </a:lvl9pPr>
          </a:lstStyle>
          <a:p xmlns:a="http://schemas.openxmlformats.org/drawingml/2006/main">
            <a:pPr algn="l">
              <a:defRPr sz="1500" b="0">
                <a:solidFill>
                  <a:srgbClr val="617384"/>
                </a:solidFill>
                <a:latin typeface="Segoe UI"/>
                <a:ea typeface="Segoe UI"/>
                <a:cs typeface="Segoe UI"/>
              </a:defRPr>
            </a:pPr>
            <a:r>
              <a:rPr sz="1500" b="0">
                <a:solidFill>
                  <a:srgbClr val="617384"/>
                </a:solidFill>
                <a:latin typeface="Segoe UI"/>
                <a:ea typeface="Segoe UI"/>
                <a:cs typeface="Segoe UI"/>
              </a:rPr>
              <a:t>Suggested lab work: 70 minutes. Review the evidence before continuing.</a:t>
            </a:r>
          </a:p>
        </p:txBody>
      </p:sp>
    </p:spTree>
    <p:extLst>
      <p:ext uri="{BB962C8B-B14F-4D97-AF65-F5344CB8AC3E}">
        <p14:creationId xmlns:p14="http://schemas.microsoft.com/office/powerpoint/2010/main" val="401883928"/>
      </p:ext>
    </p:extLst>
  </p:cSld>
  <p:extLst>
    <p:ext uri="{6950BFC3-D8DA-4A85-94F7-54DA5524770B}">
      <p188:commentRel xmlns:r="http://schemas.openxmlformats.org/officeDocument/2006/relationships" xmlns:p188="http://schemas.microsoft.com/office/powerpoint/2018/8/main" r:id="R73ab825b1e434d53"/>
    </p:ext>
  </p:extLst>
</p:sld>
</file>

<file path=ppt/slides/slide22.xml><?xml version="1.0" encoding="utf-8"?>
<p:sld xmlns:p="http://schemas.openxmlformats.org/presentationml/2006/main">
  <p:cSld>
    <p:bg>
      <p:bgPr>
        <a:solidFill xmlns:a="http://schemas.openxmlformats.org/drawingml/2006/main">
          <a:srgbClr val="06182B"/>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C2DECCF-0D4B-415F-84DF-2E6358AE64D6}"/>
              </a:ext>
            </a:extLst>
          </p:cNvPr>
          <p:cNvPicPr>
            <a:picLocks xmlns:a="http://schemas.openxmlformats.org/drawingml/2006/main" noChangeAspect="1"/>
          </p:cNvPicPr>
          <p:nvPr/>
        </p:nvPicPr>
        <p:blipFill>
          <a:blip xmlns:r="http://schemas.openxmlformats.org/officeDocument/2006/relationships" xmlns:a="http://schemas.openxmlformats.org/drawingml/2006/main" r:embed="Rc9d2f15a7a4d468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ntext">
            <a:extLst xmlns:a="http://schemas.openxmlformats.org/drawingml/2006/main">
              <a:ext uri="{FF2B5EF4-FFF2-40B4-BE49-F238E27FC236}">
                <a16:creationId xmlns:a16="http://schemas.microsoft.com/office/drawing/2014/main" id="{19041A8B-85AC-4D25-93C2-5C9BCF6663CF}"/>
              </a:ext>
            </a:extLst>
          </p:cNvPr>
          <p:cNvSpPr>
            <a:spLocks xmlns:a="http://schemas.openxmlformats.org/drawingml/2006/main" noGrp="1"/>
          </p:cNvSpPr>
          <p:nvPr/>
        </p:nvSpPr>
        <p:spPr>
          <a:xfrm xmlns:a="http://schemas.openxmlformats.org/drawingml/2006/main">
            <a:off x="647700" y="95250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73DEDC"/>
                </a:solidFill>
                <a:latin typeface="Segoe UI"/>
                <a:ea typeface="Segoe UI"/>
                <a:cs typeface="Segoe UI"/>
              </a:defRPr>
            </a:defPPr>
            <a:lvl1pPr algn="l">
              <a:defRPr sz="1500" b="1">
                <a:solidFill>
                  <a:srgbClr val="73DEDC"/>
                </a:solidFill>
                <a:latin typeface="Segoe UI"/>
                <a:ea typeface="Segoe UI"/>
                <a:cs typeface="Segoe UI"/>
              </a:defRPr>
            </a:lvl1pPr>
            <a:lvl2pPr algn="l">
              <a:defRPr sz="1500" b="1">
                <a:solidFill>
                  <a:srgbClr val="73DEDC"/>
                </a:solidFill>
                <a:latin typeface="Segoe UI"/>
                <a:ea typeface="Segoe UI"/>
                <a:cs typeface="Segoe UI"/>
              </a:defRPr>
            </a:lvl2pPr>
            <a:lvl3pPr algn="l">
              <a:defRPr sz="1500" b="1">
                <a:solidFill>
                  <a:srgbClr val="73DEDC"/>
                </a:solidFill>
                <a:latin typeface="Segoe UI"/>
                <a:ea typeface="Segoe UI"/>
                <a:cs typeface="Segoe UI"/>
              </a:defRPr>
            </a:lvl3pPr>
            <a:lvl4pPr algn="l">
              <a:defRPr sz="1500" b="1">
                <a:solidFill>
                  <a:srgbClr val="73DEDC"/>
                </a:solidFill>
                <a:latin typeface="Segoe UI"/>
                <a:ea typeface="Segoe UI"/>
                <a:cs typeface="Segoe UI"/>
              </a:defRPr>
            </a:lvl4pPr>
            <a:lvl5pPr algn="l">
              <a:defRPr sz="1500" b="1">
                <a:solidFill>
                  <a:srgbClr val="73DEDC"/>
                </a:solidFill>
                <a:latin typeface="Segoe UI"/>
                <a:ea typeface="Segoe UI"/>
                <a:cs typeface="Segoe UI"/>
              </a:defRPr>
            </a:lvl5pPr>
            <a:lvl6pPr algn="l">
              <a:defRPr sz="1500" b="1">
                <a:solidFill>
                  <a:srgbClr val="73DEDC"/>
                </a:solidFill>
                <a:latin typeface="Segoe UI"/>
                <a:ea typeface="Segoe UI"/>
                <a:cs typeface="Segoe UI"/>
              </a:defRPr>
            </a:lvl6pPr>
            <a:lvl7pPr algn="l">
              <a:defRPr sz="1500" b="1">
                <a:solidFill>
                  <a:srgbClr val="73DEDC"/>
                </a:solidFill>
                <a:latin typeface="Segoe UI"/>
                <a:ea typeface="Segoe UI"/>
                <a:cs typeface="Segoe UI"/>
              </a:defRPr>
            </a:lvl7pPr>
            <a:lvl8pPr algn="l">
              <a:defRPr sz="1500" b="1">
                <a:solidFill>
                  <a:srgbClr val="73DEDC"/>
                </a:solidFill>
                <a:latin typeface="Segoe UI"/>
                <a:ea typeface="Segoe UI"/>
                <a:cs typeface="Segoe UI"/>
              </a:defRPr>
            </a:lvl8pPr>
            <a:lvl9pPr algn="l">
              <a:defRPr sz="1500" b="1">
                <a:solidFill>
                  <a:srgbClr val="73DEDC"/>
                </a:solidFill>
                <a:latin typeface="Segoe UI"/>
                <a:ea typeface="Segoe UI"/>
                <a:cs typeface="Segoe UI"/>
              </a:defRPr>
            </a:lvl9pPr>
          </a:lstStyle>
          <a:p xmlns:a="http://schemas.openxmlformats.org/drawingml/2006/main">
            <a:pPr algn="l">
              <a:defRPr sz="1500" b="1">
                <a:solidFill>
                  <a:srgbClr val="73DEDC"/>
                </a:solidFill>
                <a:latin typeface="Segoe UI"/>
                <a:ea typeface="Segoe UI"/>
                <a:cs typeface="Segoe UI"/>
              </a:defRPr>
            </a:pPr>
            <a:r>
              <a:rPr sz="1500" b="1">
                <a:solidFill>
                  <a:srgbClr val="73DEDC"/>
                </a:solidFill>
                <a:latin typeface="Segoe UI"/>
                <a:ea typeface="Segoe UI"/>
                <a:cs typeface="Segoe UI"/>
              </a:rPr>
              <a:t>MODULE 03</a:t>
            </a:r>
          </a:p>
        </p:txBody>
      </p:sp>
      <p:sp>
        <p:nvSpPr>
          <p:cNvPr id="3" name="title">
            <a:extLst xmlns:a="http://schemas.openxmlformats.org/drawingml/2006/main">
              <a:ext uri="{FF2B5EF4-FFF2-40B4-BE49-F238E27FC236}">
                <a16:creationId xmlns:a16="http://schemas.microsoft.com/office/drawing/2014/main" id="{5005EAF3-C90A-4722-9BA6-407E91E9FFE4}"/>
              </a:ext>
            </a:extLst>
          </p:cNvPr>
          <p:cNvSpPr>
            <a:spLocks xmlns:a="http://schemas.openxmlformats.org/drawingml/2006/main" noGrp="1"/>
          </p:cNvSpPr>
          <p:nvPr/>
        </p:nvSpPr>
        <p:spPr>
          <a:xfrm xmlns:a="http://schemas.openxmlformats.org/drawingml/2006/main">
            <a:off x="647700" y="1809750"/>
            <a:ext cx="6858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Segoe UI"/>
                <a:ea typeface="Segoe UI"/>
                <a:cs typeface="Segoe UI"/>
              </a:defRPr>
            </a:defPPr>
            <a:lvl1pPr algn="l">
              <a:defRPr sz="3900" b="1">
                <a:solidFill>
                  <a:srgbClr val="FFFFFF"/>
                </a:solidFill>
                <a:latin typeface="Segoe UI"/>
                <a:ea typeface="Segoe UI"/>
                <a:cs typeface="Segoe UI"/>
              </a:defRPr>
            </a:lvl1pPr>
            <a:lvl2pPr algn="l">
              <a:defRPr sz="3900" b="1">
                <a:solidFill>
                  <a:srgbClr val="FFFFFF"/>
                </a:solidFill>
                <a:latin typeface="Segoe UI"/>
                <a:ea typeface="Segoe UI"/>
                <a:cs typeface="Segoe UI"/>
              </a:defRPr>
            </a:lvl2pPr>
            <a:lvl3pPr algn="l">
              <a:defRPr sz="3900" b="1">
                <a:solidFill>
                  <a:srgbClr val="FFFFFF"/>
                </a:solidFill>
                <a:latin typeface="Segoe UI"/>
                <a:ea typeface="Segoe UI"/>
                <a:cs typeface="Segoe UI"/>
              </a:defRPr>
            </a:lvl3pPr>
            <a:lvl4pPr algn="l">
              <a:defRPr sz="3900" b="1">
                <a:solidFill>
                  <a:srgbClr val="FFFFFF"/>
                </a:solidFill>
                <a:latin typeface="Segoe UI"/>
                <a:ea typeface="Segoe UI"/>
                <a:cs typeface="Segoe UI"/>
              </a:defRPr>
            </a:lvl4pPr>
            <a:lvl5pPr algn="l">
              <a:defRPr sz="3900" b="1">
                <a:solidFill>
                  <a:srgbClr val="FFFFFF"/>
                </a:solidFill>
                <a:latin typeface="Segoe UI"/>
                <a:ea typeface="Segoe UI"/>
                <a:cs typeface="Segoe UI"/>
              </a:defRPr>
            </a:lvl5pPr>
            <a:lvl6pPr algn="l">
              <a:defRPr sz="3900" b="1">
                <a:solidFill>
                  <a:srgbClr val="FFFFFF"/>
                </a:solidFill>
                <a:latin typeface="Segoe UI"/>
                <a:ea typeface="Segoe UI"/>
                <a:cs typeface="Segoe UI"/>
              </a:defRPr>
            </a:lvl6pPr>
            <a:lvl7pPr algn="l">
              <a:defRPr sz="3900" b="1">
                <a:solidFill>
                  <a:srgbClr val="FFFFFF"/>
                </a:solidFill>
                <a:latin typeface="Segoe UI"/>
                <a:ea typeface="Segoe UI"/>
                <a:cs typeface="Segoe UI"/>
              </a:defRPr>
            </a:lvl7pPr>
            <a:lvl8pPr algn="l">
              <a:defRPr sz="3900" b="1">
                <a:solidFill>
                  <a:srgbClr val="FFFFFF"/>
                </a:solidFill>
                <a:latin typeface="Segoe UI"/>
                <a:ea typeface="Segoe UI"/>
                <a:cs typeface="Segoe UI"/>
              </a:defRPr>
            </a:lvl8pPr>
            <a:lvl9pPr algn="l">
              <a:defRPr sz="3900" b="1">
                <a:solidFill>
                  <a:srgbClr val="FFFFFF"/>
                </a:solidFill>
                <a:latin typeface="Segoe UI"/>
                <a:ea typeface="Segoe UI"/>
                <a:cs typeface="Segoe UI"/>
              </a:defRPr>
            </a:lvl9pPr>
          </a:lstStyle>
          <a:p xmlns:a="http://schemas.openxmlformats.org/drawingml/2006/main">
            <a:pPr algn="l">
              <a:defRPr sz="3900" b="1">
                <a:solidFill>
                  <a:srgbClr val="FFFFFF"/>
                </a:solidFill>
                <a:latin typeface="Segoe UI"/>
                <a:ea typeface="Segoe UI"/>
                <a:cs typeface="Segoe UI"/>
              </a:defRPr>
            </a:pPr>
            <a:r>
              <a:rPr sz="3900" b="1">
                <a:solidFill>
                  <a:srgbClr val="FFFFFF"/>
                </a:solidFill>
                <a:latin typeface="Segoe UI"/>
                <a:ea typeface="Segoe UI"/>
                <a:cs typeface="Segoe UI"/>
              </a:rPr>
              <a:t>Business tools</a:t>
            </a:r>
          </a:p>
        </p:txBody>
      </p:sp>
      <p:sp>
        <p:nvSpPr>
          <p:cNvPr id="4" name="subtitle">
            <a:extLst xmlns:a="http://schemas.openxmlformats.org/drawingml/2006/main">
              <a:ext uri="{FF2B5EF4-FFF2-40B4-BE49-F238E27FC236}">
                <a16:creationId xmlns:a16="http://schemas.microsoft.com/office/drawing/2014/main" id="{9B696E70-BDDB-4F57-9A39-87007933E9CB}"/>
              </a:ext>
            </a:extLst>
          </p:cNvPr>
          <p:cNvSpPr>
            <a:spLocks xmlns:a="http://schemas.openxmlformats.org/drawingml/2006/main" noGrp="1"/>
          </p:cNvSpPr>
          <p:nvPr/>
        </p:nvSpPr>
        <p:spPr>
          <a:xfrm xmlns:a="http://schemas.openxmlformats.org/drawingml/2006/main">
            <a:off x="647700" y="4000500"/>
            <a:ext cx="619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D9E6F0"/>
                </a:solidFill>
                <a:latin typeface="Segoe UI"/>
                <a:ea typeface="Segoe UI"/>
                <a:cs typeface="Segoe UI"/>
              </a:defRPr>
            </a:defPPr>
            <a:lvl1pPr algn="l">
              <a:defRPr sz="2025" b="0">
                <a:solidFill>
                  <a:srgbClr val="D9E6F0"/>
                </a:solidFill>
                <a:latin typeface="Segoe UI"/>
                <a:ea typeface="Segoe UI"/>
                <a:cs typeface="Segoe UI"/>
              </a:defRPr>
            </a:lvl1pPr>
            <a:lvl2pPr algn="l">
              <a:defRPr sz="2025" b="0">
                <a:solidFill>
                  <a:srgbClr val="D9E6F0"/>
                </a:solidFill>
                <a:latin typeface="Segoe UI"/>
                <a:ea typeface="Segoe UI"/>
                <a:cs typeface="Segoe UI"/>
              </a:defRPr>
            </a:lvl2pPr>
            <a:lvl3pPr algn="l">
              <a:defRPr sz="2025" b="0">
                <a:solidFill>
                  <a:srgbClr val="D9E6F0"/>
                </a:solidFill>
                <a:latin typeface="Segoe UI"/>
                <a:ea typeface="Segoe UI"/>
                <a:cs typeface="Segoe UI"/>
              </a:defRPr>
            </a:lvl3pPr>
            <a:lvl4pPr algn="l">
              <a:defRPr sz="2025" b="0">
                <a:solidFill>
                  <a:srgbClr val="D9E6F0"/>
                </a:solidFill>
                <a:latin typeface="Segoe UI"/>
                <a:ea typeface="Segoe UI"/>
                <a:cs typeface="Segoe UI"/>
              </a:defRPr>
            </a:lvl4pPr>
            <a:lvl5pPr algn="l">
              <a:defRPr sz="2025" b="0">
                <a:solidFill>
                  <a:srgbClr val="D9E6F0"/>
                </a:solidFill>
                <a:latin typeface="Segoe UI"/>
                <a:ea typeface="Segoe UI"/>
                <a:cs typeface="Segoe UI"/>
              </a:defRPr>
            </a:lvl5pPr>
            <a:lvl6pPr algn="l">
              <a:defRPr sz="2025" b="0">
                <a:solidFill>
                  <a:srgbClr val="D9E6F0"/>
                </a:solidFill>
                <a:latin typeface="Segoe UI"/>
                <a:ea typeface="Segoe UI"/>
                <a:cs typeface="Segoe UI"/>
              </a:defRPr>
            </a:lvl6pPr>
            <a:lvl7pPr algn="l">
              <a:defRPr sz="2025" b="0">
                <a:solidFill>
                  <a:srgbClr val="D9E6F0"/>
                </a:solidFill>
                <a:latin typeface="Segoe UI"/>
                <a:ea typeface="Segoe UI"/>
                <a:cs typeface="Segoe UI"/>
              </a:defRPr>
            </a:lvl7pPr>
            <a:lvl8pPr algn="l">
              <a:defRPr sz="2025" b="0">
                <a:solidFill>
                  <a:srgbClr val="D9E6F0"/>
                </a:solidFill>
                <a:latin typeface="Segoe UI"/>
                <a:ea typeface="Segoe UI"/>
                <a:cs typeface="Segoe UI"/>
              </a:defRPr>
            </a:lvl8pPr>
            <a:lvl9pPr algn="l">
              <a:defRPr sz="2025" b="0">
                <a:solidFill>
                  <a:srgbClr val="D9E6F0"/>
                </a:solidFill>
                <a:latin typeface="Segoe UI"/>
                <a:ea typeface="Segoe UI"/>
                <a:cs typeface="Segoe UI"/>
              </a:defRPr>
            </a:lvl9pPr>
          </a:lstStyle>
          <a:p xmlns:a="http://schemas.openxmlformats.org/drawingml/2006/main">
            <a:pPr algn="l">
              <a:defRPr sz="2025" b="0">
                <a:solidFill>
                  <a:srgbClr val="D9E6F0"/>
                </a:solidFill>
                <a:latin typeface="Segoe UI"/>
                <a:ea typeface="Segoe UI"/>
                <a:cs typeface="Segoe UI"/>
              </a:defRPr>
            </a:pPr>
            <a:r>
              <a:rPr sz="2025" b="0">
                <a:solidFill>
                  <a:srgbClr val="D9E6F0"/>
                </a:solidFill>
                <a:latin typeface="Segoe UI"/>
                <a:ea typeface="Segoe UI"/>
                <a:cs typeface="Segoe UI"/>
              </a:rPr>
              <a:t>Controlled function calling through existing application use cases</a:t>
            </a:r>
          </a:p>
        </p:txBody>
      </p:sp>
      <p:sp>
        <p:nvSpPr>
          <p:cNvPr id="5" name="footer">
            <a:extLst xmlns:a="http://schemas.openxmlformats.org/drawingml/2006/main">
              <a:ext uri="{FF2B5EF4-FFF2-40B4-BE49-F238E27FC236}">
                <a16:creationId xmlns:a16="http://schemas.microsoft.com/office/drawing/2014/main" id="{3517B984-4E78-4D08-9CE4-18ADC93622D9}"/>
              </a:ext>
            </a:extLst>
          </p:cNvPr>
          <p:cNvSpPr>
            <a:spLocks xmlns:a="http://schemas.openxmlformats.org/drawingml/2006/main" noGrp="1"/>
          </p:cNvSpPr>
          <p:nvPr/>
        </p:nvSpPr>
        <p:spPr>
          <a:xfrm xmlns:a="http://schemas.openxmlformats.org/drawingml/2006/main">
            <a:off x="647700" y="6153150"/>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BC0D2"/>
                </a:solidFill>
                <a:latin typeface="Segoe UI"/>
                <a:ea typeface="Segoe UI"/>
                <a:cs typeface="Segoe UI"/>
              </a:defRPr>
            </a:defPPr>
            <a:lvl1pPr algn="l">
              <a:defRPr sz="1275" b="0">
                <a:solidFill>
                  <a:srgbClr val="ABC0D2"/>
                </a:solidFill>
                <a:latin typeface="Segoe UI"/>
                <a:ea typeface="Segoe UI"/>
                <a:cs typeface="Segoe UI"/>
              </a:defRPr>
            </a:lvl1pPr>
            <a:lvl2pPr algn="l">
              <a:defRPr sz="1275" b="0">
                <a:solidFill>
                  <a:srgbClr val="ABC0D2"/>
                </a:solidFill>
                <a:latin typeface="Segoe UI"/>
                <a:ea typeface="Segoe UI"/>
                <a:cs typeface="Segoe UI"/>
              </a:defRPr>
            </a:lvl2pPr>
            <a:lvl3pPr algn="l">
              <a:defRPr sz="1275" b="0">
                <a:solidFill>
                  <a:srgbClr val="ABC0D2"/>
                </a:solidFill>
                <a:latin typeface="Segoe UI"/>
                <a:ea typeface="Segoe UI"/>
                <a:cs typeface="Segoe UI"/>
              </a:defRPr>
            </a:lvl3pPr>
            <a:lvl4pPr algn="l">
              <a:defRPr sz="1275" b="0">
                <a:solidFill>
                  <a:srgbClr val="ABC0D2"/>
                </a:solidFill>
                <a:latin typeface="Segoe UI"/>
                <a:ea typeface="Segoe UI"/>
                <a:cs typeface="Segoe UI"/>
              </a:defRPr>
            </a:lvl4pPr>
            <a:lvl5pPr algn="l">
              <a:defRPr sz="1275" b="0">
                <a:solidFill>
                  <a:srgbClr val="ABC0D2"/>
                </a:solidFill>
                <a:latin typeface="Segoe UI"/>
                <a:ea typeface="Segoe UI"/>
                <a:cs typeface="Segoe UI"/>
              </a:defRPr>
            </a:lvl5pPr>
            <a:lvl6pPr algn="l">
              <a:defRPr sz="1275" b="0">
                <a:solidFill>
                  <a:srgbClr val="ABC0D2"/>
                </a:solidFill>
                <a:latin typeface="Segoe UI"/>
                <a:ea typeface="Segoe UI"/>
                <a:cs typeface="Segoe UI"/>
              </a:defRPr>
            </a:lvl6pPr>
            <a:lvl7pPr algn="l">
              <a:defRPr sz="1275" b="0">
                <a:solidFill>
                  <a:srgbClr val="ABC0D2"/>
                </a:solidFill>
                <a:latin typeface="Segoe UI"/>
                <a:ea typeface="Segoe UI"/>
                <a:cs typeface="Segoe UI"/>
              </a:defRPr>
            </a:lvl7pPr>
            <a:lvl8pPr algn="l">
              <a:defRPr sz="1275" b="0">
                <a:solidFill>
                  <a:srgbClr val="ABC0D2"/>
                </a:solidFill>
                <a:latin typeface="Segoe UI"/>
                <a:ea typeface="Segoe UI"/>
                <a:cs typeface="Segoe UI"/>
              </a:defRPr>
            </a:lvl8pPr>
            <a:lvl9pPr algn="l">
              <a:defRPr sz="1275" b="0">
                <a:solidFill>
                  <a:srgbClr val="ABC0D2"/>
                </a:solidFill>
                <a:latin typeface="Segoe UI"/>
                <a:ea typeface="Segoe UI"/>
                <a:cs typeface="Segoe UI"/>
              </a:defRPr>
            </a:lvl9pPr>
          </a:lstStyle>
          <a:p xmlns:a="http://schemas.openxmlformats.org/drawingml/2006/main">
            <a:pPr algn="l">
              <a:defRPr sz="1275" b="0">
                <a:solidFill>
                  <a:srgbClr val="ABC0D2"/>
                </a:solidFill>
                <a:latin typeface="Segoe UI"/>
                <a:ea typeface="Segoe UI"/>
                <a:cs typeface="Segoe UI"/>
              </a:defRPr>
            </a:pPr>
            <a:r>
              <a:rPr sz="1275" b="0">
                <a:solidFill>
                  <a:srgbClr val="ABC0D2"/>
                </a:solidFill>
                <a:latin typeface="Segoe UI"/>
                <a:ea typeface="Segoe UI"/>
                <a:cs typeface="Segoe UI"/>
              </a:rPr>
              <a:t>3 contact hours including the module lab</a:t>
            </a:r>
          </a:p>
        </p:txBody>
      </p:sp>
      <p:sp>
        <p:nvSpPr>
          <p:cNvPr id="6" name="page">
            <a:extLst xmlns:a="http://schemas.openxmlformats.org/drawingml/2006/main">
              <a:ext uri="{FF2B5EF4-FFF2-40B4-BE49-F238E27FC236}">
                <a16:creationId xmlns:a16="http://schemas.microsoft.com/office/drawing/2014/main" id="{F5094F68-ABCD-4788-B485-91644EE380D5}"/>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ABC0D2"/>
                </a:solidFill>
                <a:latin typeface="Segoe UI"/>
                <a:ea typeface="Segoe UI"/>
                <a:cs typeface="Segoe UI"/>
              </a:defRPr>
            </a:defPPr>
            <a:lvl1pPr algn="r">
              <a:defRPr sz="1050" b="0">
                <a:solidFill>
                  <a:srgbClr val="ABC0D2"/>
                </a:solidFill>
                <a:latin typeface="Segoe UI"/>
                <a:ea typeface="Segoe UI"/>
                <a:cs typeface="Segoe UI"/>
              </a:defRPr>
            </a:lvl1pPr>
            <a:lvl2pPr algn="r">
              <a:defRPr sz="1050" b="0">
                <a:solidFill>
                  <a:srgbClr val="ABC0D2"/>
                </a:solidFill>
                <a:latin typeface="Segoe UI"/>
                <a:ea typeface="Segoe UI"/>
                <a:cs typeface="Segoe UI"/>
              </a:defRPr>
            </a:lvl2pPr>
            <a:lvl3pPr algn="r">
              <a:defRPr sz="1050" b="0">
                <a:solidFill>
                  <a:srgbClr val="ABC0D2"/>
                </a:solidFill>
                <a:latin typeface="Segoe UI"/>
                <a:ea typeface="Segoe UI"/>
                <a:cs typeface="Segoe UI"/>
              </a:defRPr>
            </a:lvl3pPr>
            <a:lvl4pPr algn="r">
              <a:defRPr sz="1050" b="0">
                <a:solidFill>
                  <a:srgbClr val="ABC0D2"/>
                </a:solidFill>
                <a:latin typeface="Segoe UI"/>
                <a:ea typeface="Segoe UI"/>
                <a:cs typeface="Segoe UI"/>
              </a:defRPr>
            </a:lvl4pPr>
            <a:lvl5pPr algn="r">
              <a:defRPr sz="1050" b="0">
                <a:solidFill>
                  <a:srgbClr val="ABC0D2"/>
                </a:solidFill>
                <a:latin typeface="Segoe UI"/>
                <a:ea typeface="Segoe UI"/>
                <a:cs typeface="Segoe UI"/>
              </a:defRPr>
            </a:lvl5pPr>
            <a:lvl6pPr algn="r">
              <a:defRPr sz="1050" b="0">
                <a:solidFill>
                  <a:srgbClr val="ABC0D2"/>
                </a:solidFill>
                <a:latin typeface="Segoe UI"/>
                <a:ea typeface="Segoe UI"/>
                <a:cs typeface="Segoe UI"/>
              </a:defRPr>
            </a:lvl6pPr>
            <a:lvl7pPr algn="r">
              <a:defRPr sz="1050" b="0">
                <a:solidFill>
                  <a:srgbClr val="ABC0D2"/>
                </a:solidFill>
                <a:latin typeface="Segoe UI"/>
                <a:ea typeface="Segoe UI"/>
                <a:cs typeface="Segoe UI"/>
              </a:defRPr>
            </a:lvl7pPr>
            <a:lvl8pPr algn="r">
              <a:defRPr sz="1050" b="0">
                <a:solidFill>
                  <a:srgbClr val="ABC0D2"/>
                </a:solidFill>
                <a:latin typeface="Segoe UI"/>
                <a:ea typeface="Segoe UI"/>
                <a:cs typeface="Segoe UI"/>
              </a:defRPr>
            </a:lvl8pPr>
            <a:lvl9pPr algn="r">
              <a:defRPr sz="1050" b="0">
                <a:solidFill>
                  <a:srgbClr val="ABC0D2"/>
                </a:solidFill>
                <a:latin typeface="Segoe UI"/>
                <a:ea typeface="Segoe UI"/>
                <a:cs typeface="Segoe UI"/>
              </a:defRPr>
            </a:lvl9pPr>
          </a:lstStyle>
          <a:p xmlns:a="http://schemas.openxmlformats.org/drawingml/2006/main">
            <a:pPr algn="r">
              <a:defRPr sz="1050" b="0">
                <a:solidFill>
                  <a:srgbClr val="ABC0D2"/>
                </a:solidFill>
                <a:latin typeface="Segoe UI"/>
                <a:ea typeface="Segoe UI"/>
                <a:cs typeface="Segoe UI"/>
              </a:defRPr>
            </a:pPr>
            <a:r>
              <a:rPr sz="1050" b="0">
                <a:solidFill>
                  <a:srgbClr val="ABC0D2"/>
                </a:solidFill>
                <a:latin typeface="Segoe UI"/>
                <a:ea typeface="Segoe UI"/>
                <a:cs typeface="Segoe UI"/>
              </a:rPr>
              <a:t>22</a:t>
            </a:r>
          </a:p>
        </p:txBody>
      </p:sp>
    </p:spTree>
    <p:extLst>
      <p:ext uri="{BB962C8B-B14F-4D97-AF65-F5344CB8AC3E}">
        <p14:creationId xmlns:p14="http://schemas.microsoft.com/office/powerpoint/2010/main" val="2116318255"/>
      </p:ext>
    </p:extLst>
  </p:cSld>
  <p:extLst>
    <p:ext uri="{6950BFC3-D8DA-4A85-94F7-54DA5524770B}">
      <p188:commentRel xmlns:r="http://schemas.openxmlformats.org/officeDocument/2006/relationships" xmlns:p188="http://schemas.microsoft.com/office/powerpoint/2018/8/main" r:id="Rfad8d673747b4fc8"/>
    </p:ext>
  </p:extLst>
</p:sld>
</file>

<file path=ppt/slides/slide2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8D7F60A9-B95E-453D-84B9-6066D30AC268}"/>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Framework concept</a:t>
            </a:r>
          </a:p>
        </p:txBody>
      </p:sp>
      <p:sp>
        <p:nvSpPr>
          <p:cNvPr id="2" name="title">
            <a:extLst xmlns:a="http://schemas.openxmlformats.org/drawingml/2006/main">
              <a:ext uri="{FF2B5EF4-FFF2-40B4-BE49-F238E27FC236}">
                <a16:creationId xmlns:a16="http://schemas.microsoft.com/office/drawing/2014/main" id="{B9DB46ED-5E1D-43AF-806A-C7F3D684E4DF}"/>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The function-calling execution cycle</a:t>
            </a:r>
          </a:p>
        </p:txBody>
      </p:sp>
      <p:sp>
        <p:nvSpPr>
          <p:cNvPr id="3" name="footer">
            <a:extLst xmlns:a="http://schemas.openxmlformats.org/drawingml/2006/main">
              <a:ext uri="{FF2B5EF4-FFF2-40B4-BE49-F238E27FC236}">
                <a16:creationId xmlns:a16="http://schemas.microsoft.com/office/drawing/2014/main" id="{ACF6E943-4A12-4E5D-83CC-A1F202C6538D}"/>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03  Business tools</a:t>
            </a:r>
          </a:p>
        </p:txBody>
      </p:sp>
      <p:sp>
        <p:nvSpPr>
          <p:cNvPr id="4" name="page">
            <a:extLst xmlns:a="http://schemas.openxmlformats.org/drawingml/2006/main">
              <a:ext uri="{FF2B5EF4-FFF2-40B4-BE49-F238E27FC236}">
                <a16:creationId xmlns:a16="http://schemas.microsoft.com/office/drawing/2014/main" id="{500C60BB-E571-46DA-9724-2BDE3E53AB06}"/>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23</a:t>
            </a:r>
          </a:p>
        </p:txBody>
      </p:sp>
      <p:sp>
        <p:nvSpPr>
          <p:cNvPr id="5" name="label-0">
            <a:extLst xmlns:a="http://schemas.openxmlformats.org/drawingml/2006/main">
              <a:ext uri="{FF2B5EF4-FFF2-40B4-BE49-F238E27FC236}">
                <a16:creationId xmlns:a16="http://schemas.microsoft.com/office/drawing/2014/main" id="{5CE2499E-48A5-4149-9880-AFF69B2AF699}"/>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Describe</a:t>
            </a:r>
          </a:p>
        </p:txBody>
      </p:sp>
      <p:sp>
        <p:nvSpPr>
          <p:cNvPr id="6" name="point-0">
            <a:extLst xmlns:a="http://schemas.openxmlformats.org/drawingml/2006/main">
              <a:ext uri="{FF2B5EF4-FFF2-40B4-BE49-F238E27FC236}">
                <a16:creationId xmlns:a16="http://schemas.microsoft.com/office/drawing/2014/main" id="{891F75D2-A993-4D73-B724-7E18BC7AEFA5}"/>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Advertise the function name, schema, and intended behavior.</a:t>
            </a:r>
          </a:p>
        </p:txBody>
      </p:sp>
      <p:sp>
        <p:nvSpPr>
          <p:cNvPr id="7" name="label-1">
            <a:extLst xmlns:a="http://schemas.openxmlformats.org/drawingml/2006/main">
              <a:ext uri="{FF2B5EF4-FFF2-40B4-BE49-F238E27FC236}">
                <a16:creationId xmlns:a16="http://schemas.microsoft.com/office/drawing/2014/main" id="{525EAB71-D465-402A-8D95-A5BCA75E58E0}"/>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Request</a:t>
            </a:r>
          </a:p>
        </p:txBody>
      </p:sp>
      <p:sp>
        <p:nvSpPr>
          <p:cNvPr id="8" name="point-1">
            <a:extLst xmlns:a="http://schemas.openxmlformats.org/drawingml/2006/main">
              <a:ext uri="{FF2B5EF4-FFF2-40B4-BE49-F238E27FC236}">
                <a16:creationId xmlns:a16="http://schemas.microsoft.com/office/drawing/2014/main" id="{D570FB98-F94D-413C-AD28-CFF472190C0B}"/>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The model proposes a function and arguments.</a:t>
            </a:r>
          </a:p>
        </p:txBody>
      </p:sp>
      <p:sp>
        <p:nvSpPr>
          <p:cNvPr id="9" name="label-2">
            <a:extLst xmlns:a="http://schemas.openxmlformats.org/drawingml/2006/main">
              <a:ext uri="{FF2B5EF4-FFF2-40B4-BE49-F238E27FC236}">
                <a16:creationId xmlns:a16="http://schemas.microsoft.com/office/drawing/2014/main" id="{F6453C2A-DD95-4DA8-8EA4-F1A6F9124E5F}"/>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Execute</a:t>
            </a:r>
          </a:p>
        </p:txBody>
      </p:sp>
      <p:sp>
        <p:nvSpPr>
          <p:cNvPr id="10" name="point-2">
            <a:extLst xmlns:a="http://schemas.openxmlformats.org/drawingml/2006/main">
              <a:ext uri="{FF2B5EF4-FFF2-40B4-BE49-F238E27FC236}">
                <a16:creationId xmlns:a16="http://schemas.microsoft.com/office/drawing/2014/main" id="{FF9C9EEC-E368-4F6A-9C4D-3818FD11BE15}"/>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The application validates policy and invokes the implementation.</a:t>
            </a:r>
          </a:p>
        </p:txBody>
      </p:sp>
      <p:sp>
        <p:nvSpPr>
          <p:cNvPr id="11" name="label-3">
            <a:extLst xmlns:a="http://schemas.openxmlformats.org/drawingml/2006/main">
              <a:ext uri="{FF2B5EF4-FFF2-40B4-BE49-F238E27FC236}">
                <a16:creationId xmlns:a16="http://schemas.microsoft.com/office/drawing/2014/main" id="{30B3E211-C203-4FC0-9522-E7845664F8FB}"/>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Explain</a:t>
            </a:r>
          </a:p>
        </p:txBody>
      </p:sp>
      <p:sp>
        <p:nvSpPr>
          <p:cNvPr id="12" name="point-3">
            <a:extLst xmlns:a="http://schemas.openxmlformats.org/drawingml/2006/main">
              <a:ext uri="{FF2B5EF4-FFF2-40B4-BE49-F238E27FC236}">
                <a16:creationId xmlns:a16="http://schemas.microsoft.com/office/drawing/2014/main" id="{E3ADD84F-85F8-4C51-9327-3494F943F3B7}"/>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The model uses the tool result to produce an answer.</a:t>
            </a:r>
          </a:p>
        </p:txBody>
      </p:sp>
    </p:spTree>
    <p:extLst>
      <p:ext uri="{BB962C8B-B14F-4D97-AF65-F5344CB8AC3E}">
        <p14:creationId xmlns:p14="http://schemas.microsoft.com/office/powerpoint/2010/main" val="635205783"/>
      </p:ext>
    </p:extLst>
  </p:cSld>
  <p:extLst>
    <p:ext uri="{6950BFC3-D8DA-4A85-94F7-54DA5524770B}">
      <p188:commentRel xmlns:r="http://schemas.openxmlformats.org/officeDocument/2006/relationships" xmlns:p188="http://schemas.microsoft.com/office/powerpoint/2018/8/main" r:id="R2f57c0975f9248c1"/>
    </p:ext>
  </p:extLst>
</p:sld>
</file>

<file path=ppt/slides/slide2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context">
            <a:extLst xmlns:a="http://schemas.openxmlformats.org/drawingml/2006/main">
              <a:ext uri="{FF2B5EF4-FFF2-40B4-BE49-F238E27FC236}">
                <a16:creationId xmlns:a16="http://schemas.microsoft.com/office/drawing/2014/main" id="{6D85940F-1711-49E8-8B6C-672AF117ACE1}"/>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Migration code pattern</a:t>
            </a:r>
          </a:p>
        </p:txBody>
      </p:sp>
      <p:sp>
        <p:nvSpPr>
          <p:cNvPr id="2" name="title">
            <a:extLst xmlns:a="http://schemas.openxmlformats.org/drawingml/2006/main">
              <a:ext uri="{FF2B5EF4-FFF2-40B4-BE49-F238E27FC236}">
                <a16:creationId xmlns:a16="http://schemas.microsoft.com/office/drawing/2014/main" id="{5ED62D51-B1B8-48D1-9216-C87FAD21C9B1}"/>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An existing query as a tool</a:t>
            </a:r>
          </a:p>
        </p:txBody>
      </p:sp>
      <p:sp>
        <p:nvSpPr>
          <p:cNvPr id="3" name="footer">
            <a:extLst xmlns:a="http://schemas.openxmlformats.org/drawingml/2006/main">
              <a:ext uri="{FF2B5EF4-FFF2-40B4-BE49-F238E27FC236}">
                <a16:creationId xmlns:a16="http://schemas.microsoft.com/office/drawing/2014/main" id="{3224A631-41C4-464A-B5CF-34AD2782E99F}"/>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03  Business tools</a:t>
            </a:r>
          </a:p>
        </p:txBody>
      </p:sp>
      <p:sp>
        <p:nvSpPr>
          <p:cNvPr id="4" name="page">
            <a:extLst xmlns:a="http://schemas.openxmlformats.org/drawingml/2006/main">
              <a:ext uri="{FF2B5EF4-FFF2-40B4-BE49-F238E27FC236}">
                <a16:creationId xmlns:a16="http://schemas.microsoft.com/office/drawing/2014/main" id="{FCF457D0-D933-461F-9ECA-0F2E09FFBE8D}"/>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24</a:t>
            </a:r>
          </a:p>
        </p:txBody>
      </p:sp>
      <p:sp>
        <p:nvSpPr>
          <p:cNvPr id="5" name="code">
            <a:extLst xmlns:a="http://schemas.openxmlformats.org/drawingml/2006/main">
              <a:ext uri="{FF2B5EF4-FFF2-40B4-BE49-F238E27FC236}">
                <a16:creationId xmlns:a16="http://schemas.microsoft.com/office/drawing/2014/main" id="{609E9B31-AFBF-4CC5-89B3-ADD347591775}"/>
              </a:ext>
            </a:extLst>
          </p:cNvPr>
          <p:cNvSpPr>
            <a:spLocks xmlns:a="http://schemas.openxmlformats.org/drawingml/2006/main" noGrp="1"/>
          </p:cNvSpPr>
          <p:nvPr/>
        </p:nvSpPr>
        <p:spPr>
          <a:xfrm xmlns:a="http://schemas.openxmlformats.org/drawingml/2006/main">
            <a:off x="685800" y="1857375"/>
            <a:ext cx="752475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12C43"/>
                </a:solidFill>
                <a:latin typeface="Consolas"/>
                <a:ea typeface="Consolas"/>
                <a:cs typeface="Consolas"/>
              </a:defRPr>
            </a:defPPr>
            <a:lvl1pPr algn="l">
              <a:defRPr sz="1725" b="0">
                <a:solidFill>
                  <a:srgbClr val="112C43"/>
                </a:solidFill>
                <a:latin typeface="Consolas"/>
                <a:ea typeface="Consolas"/>
                <a:cs typeface="Consolas"/>
              </a:defRPr>
            </a:lvl1pPr>
            <a:lvl2pPr algn="l">
              <a:defRPr sz="1725" b="0">
                <a:solidFill>
                  <a:srgbClr val="112C43"/>
                </a:solidFill>
                <a:latin typeface="Consolas"/>
                <a:ea typeface="Consolas"/>
                <a:cs typeface="Consolas"/>
              </a:defRPr>
            </a:lvl2pPr>
            <a:lvl3pPr algn="l">
              <a:defRPr sz="1725" b="0">
                <a:solidFill>
                  <a:srgbClr val="112C43"/>
                </a:solidFill>
                <a:latin typeface="Consolas"/>
                <a:ea typeface="Consolas"/>
                <a:cs typeface="Consolas"/>
              </a:defRPr>
            </a:lvl3pPr>
            <a:lvl4pPr algn="l">
              <a:defRPr sz="1725" b="0">
                <a:solidFill>
                  <a:srgbClr val="112C43"/>
                </a:solidFill>
                <a:latin typeface="Consolas"/>
                <a:ea typeface="Consolas"/>
                <a:cs typeface="Consolas"/>
              </a:defRPr>
            </a:lvl4pPr>
            <a:lvl5pPr algn="l">
              <a:defRPr sz="1725" b="0">
                <a:solidFill>
                  <a:srgbClr val="112C43"/>
                </a:solidFill>
                <a:latin typeface="Consolas"/>
                <a:ea typeface="Consolas"/>
                <a:cs typeface="Consolas"/>
              </a:defRPr>
            </a:lvl5pPr>
            <a:lvl6pPr algn="l">
              <a:defRPr sz="1725" b="0">
                <a:solidFill>
                  <a:srgbClr val="112C43"/>
                </a:solidFill>
                <a:latin typeface="Consolas"/>
                <a:ea typeface="Consolas"/>
                <a:cs typeface="Consolas"/>
              </a:defRPr>
            </a:lvl6pPr>
            <a:lvl7pPr algn="l">
              <a:defRPr sz="1725" b="0">
                <a:solidFill>
                  <a:srgbClr val="112C43"/>
                </a:solidFill>
                <a:latin typeface="Consolas"/>
                <a:ea typeface="Consolas"/>
                <a:cs typeface="Consolas"/>
              </a:defRPr>
            </a:lvl7pPr>
            <a:lvl8pPr algn="l">
              <a:defRPr sz="1725" b="0">
                <a:solidFill>
                  <a:srgbClr val="112C43"/>
                </a:solidFill>
                <a:latin typeface="Consolas"/>
                <a:ea typeface="Consolas"/>
                <a:cs typeface="Consolas"/>
              </a:defRPr>
            </a:lvl8pPr>
            <a:lvl9pPr algn="l">
              <a:defRPr sz="1725" b="0">
                <a:solidFill>
                  <a:srgbClr val="112C43"/>
                </a:solidFill>
                <a:latin typeface="Consolas"/>
                <a:ea typeface="Consolas"/>
                <a:cs typeface="Consolas"/>
              </a:defRPr>
            </a:lvl9pPr>
          </a:lstStyle>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using System.ComponentModel;</a:t>
            </a:r>
          </a:p>
          <a:p xmlns:a="http://schemas.openxmlformats.org/drawingml/2006/main">
            <a:r>
              <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[Description("Read current billing totals from InvoiceAI.")]</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public Task&lt;string&gt; ReadBillingAsync(CancellationToken ct)</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=&gt; invoiceTools.GetInvoiceSummary(ct);</a:t>
            </a:r>
          </a:p>
          <a:p xmlns:a="http://schemas.openxmlformats.org/drawingml/2006/main">
            <a:r>
              <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Existing inner path:</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GetInvoiceSummaryQuery -&gt; handler -&gt; read repository</a:t>
            </a:r>
          </a:p>
        </p:txBody>
      </p:sp>
      <p:sp>
        <p:nvSpPr>
          <p:cNvPr id="6" name="explanation-0">
            <a:extLst xmlns:a="http://schemas.openxmlformats.org/drawingml/2006/main">
              <a:ext uri="{FF2B5EF4-FFF2-40B4-BE49-F238E27FC236}">
                <a16:creationId xmlns:a16="http://schemas.microsoft.com/office/drawing/2014/main" id="{C9253069-6CB3-42FC-BAC2-532880122EDF}"/>
              </a:ext>
            </a:extLst>
          </p:cNvPr>
          <p:cNvSpPr>
            <a:spLocks xmlns:a="http://schemas.openxmlformats.org/drawingml/2006/main" noGrp="1"/>
          </p:cNvSpPr>
          <p:nvPr/>
        </p:nvSpPr>
        <p:spPr>
          <a:xfrm xmlns:a="http://schemas.openxmlformats.org/drawingml/2006/main">
            <a:off x="8715375" y="20002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83"/>
                </a:solidFill>
                <a:latin typeface="Segoe UI"/>
                <a:ea typeface="Segoe UI"/>
                <a:cs typeface="Segoe UI"/>
              </a:defRPr>
            </a:defPPr>
            <a:lvl1pPr algn="l">
              <a:defRPr sz="1800" b="0">
                <a:solidFill>
                  <a:srgbClr val="007F83"/>
                </a:solidFill>
                <a:latin typeface="Segoe UI"/>
                <a:ea typeface="Segoe UI"/>
                <a:cs typeface="Segoe UI"/>
              </a:defRPr>
            </a:lvl1pPr>
            <a:lvl2pPr algn="l">
              <a:defRPr sz="1800" b="0">
                <a:solidFill>
                  <a:srgbClr val="007F83"/>
                </a:solidFill>
                <a:latin typeface="Segoe UI"/>
                <a:ea typeface="Segoe UI"/>
                <a:cs typeface="Segoe UI"/>
              </a:defRPr>
            </a:lvl2pPr>
            <a:lvl3pPr algn="l">
              <a:defRPr sz="1800" b="0">
                <a:solidFill>
                  <a:srgbClr val="007F83"/>
                </a:solidFill>
                <a:latin typeface="Segoe UI"/>
                <a:ea typeface="Segoe UI"/>
                <a:cs typeface="Segoe UI"/>
              </a:defRPr>
            </a:lvl3pPr>
            <a:lvl4pPr algn="l">
              <a:defRPr sz="1800" b="0">
                <a:solidFill>
                  <a:srgbClr val="007F83"/>
                </a:solidFill>
                <a:latin typeface="Segoe UI"/>
                <a:ea typeface="Segoe UI"/>
                <a:cs typeface="Segoe UI"/>
              </a:defRPr>
            </a:lvl4pPr>
            <a:lvl5pPr algn="l">
              <a:defRPr sz="1800" b="0">
                <a:solidFill>
                  <a:srgbClr val="007F83"/>
                </a:solidFill>
                <a:latin typeface="Segoe UI"/>
                <a:ea typeface="Segoe UI"/>
                <a:cs typeface="Segoe UI"/>
              </a:defRPr>
            </a:lvl5pPr>
            <a:lvl6pPr algn="l">
              <a:defRPr sz="1800" b="0">
                <a:solidFill>
                  <a:srgbClr val="007F83"/>
                </a:solidFill>
                <a:latin typeface="Segoe UI"/>
                <a:ea typeface="Segoe UI"/>
                <a:cs typeface="Segoe UI"/>
              </a:defRPr>
            </a:lvl6pPr>
            <a:lvl7pPr algn="l">
              <a:defRPr sz="1800" b="0">
                <a:solidFill>
                  <a:srgbClr val="007F83"/>
                </a:solidFill>
                <a:latin typeface="Segoe UI"/>
                <a:ea typeface="Segoe UI"/>
                <a:cs typeface="Segoe UI"/>
              </a:defRPr>
            </a:lvl7pPr>
            <a:lvl8pPr algn="l">
              <a:defRPr sz="1800" b="0">
                <a:solidFill>
                  <a:srgbClr val="007F83"/>
                </a:solidFill>
                <a:latin typeface="Segoe UI"/>
                <a:ea typeface="Segoe UI"/>
                <a:cs typeface="Segoe UI"/>
              </a:defRPr>
            </a:lvl8pPr>
            <a:lvl9pPr algn="l">
              <a:defRPr sz="1800" b="0">
                <a:solidFill>
                  <a:srgbClr val="007F83"/>
                </a:solidFill>
                <a:latin typeface="Segoe UI"/>
                <a:ea typeface="Segoe UI"/>
                <a:cs typeface="Segoe UI"/>
              </a:defRPr>
            </a:lvl9pPr>
          </a:lstStyle>
          <a:p xmlns:a="http://schemas.openxmlformats.org/drawingml/2006/main">
            <a:pPr algn="l">
              <a:defRPr sz="1800" b="0">
                <a:solidFill>
                  <a:srgbClr val="007F83"/>
                </a:solidFill>
                <a:latin typeface="Segoe UI"/>
                <a:ea typeface="Segoe UI"/>
                <a:cs typeface="Segoe UI"/>
              </a:defRPr>
            </a:pPr>
            <a:r>
              <a:rPr sz="1800" b="0">
                <a:solidFill>
                  <a:srgbClr val="007F83"/>
                </a:solidFill>
                <a:latin typeface="Segoe UI"/>
                <a:ea typeface="Segoe UI"/>
                <a:cs typeface="Segoe UI"/>
              </a:rPr>
              <a:t>Reuse the application query.</a:t>
            </a:r>
          </a:p>
        </p:txBody>
      </p:sp>
      <p:sp>
        <p:nvSpPr>
          <p:cNvPr id="7" name="explanation-1">
            <a:extLst xmlns:a="http://schemas.openxmlformats.org/drawingml/2006/main">
              <a:ext uri="{FF2B5EF4-FFF2-40B4-BE49-F238E27FC236}">
                <a16:creationId xmlns:a16="http://schemas.microsoft.com/office/drawing/2014/main" id="{24692E78-0C2F-4223-A502-64832E639A45}"/>
              </a:ext>
            </a:extLst>
          </p:cNvPr>
          <p:cNvSpPr>
            <a:spLocks xmlns:a="http://schemas.openxmlformats.org/drawingml/2006/main" noGrp="1"/>
          </p:cNvSpPr>
          <p:nvPr/>
        </p:nvSpPr>
        <p:spPr>
          <a:xfrm xmlns:a="http://schemas.openxmlformats.org/drawingml/2006/main">
            <a:off x="8715375" y="320040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Document freshness and units.</a:t>
            </a:r>
          </a:p>
        </p:txBody>
      </p:sp>
      <p:sp>
        <p:nvSpPr>
          <p:cNvPr id="8" name="explanation-2">
            <a:extLst xmlns:a="http://schemas.openxmlformats.org/drawingml/2006/main">
              <a:ext uri="{FF2B5EF4-FFF2-40B4-BE49-F238E27FC236}">
                <a16:creationId xmlns:a16="http://schemas.microsoft.com/office/drawing/2014/main" id="{CE4E59F1-7E92-40ED-A8BA-2B96621565C9}"/>
              </a:ext>
            </a:extLst>
          </p:cNvPr>
          <p:cNvSpPr>
            <a:spLocks xmlns:a="http://schemas.openxmlformats.org/drawingml/2006/main" noGrp="1"/>
          </p:cNvSpPr>
          <p:nvPr/>
        </p:nvSpPr>
        <p:spPr>
          <a:xfrm xmlns:a="http://schemas.openxmlformats.org/drawingml/2006/main">
            <a:off x="8715375" y="44005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Keep database access in its existing layer.</a:t>
            </a:r>
          </a:p>
        </p:txBody>
      </p:sp>
    </p:spTree>
    <p:extLst>
      <p:ext uri="{BB962C8B-B14F-4D97-AF65-F5344CB8AC3E}">
        <p14:creationId xmlns:p14="http://schemas.microsoft.com/office/powerpoint/2010/main" val="2034942788"/>
      </p:ext>
    </p:extLst>
  </p:cSld>
  <p:extLst>
    <p:ext uri="{6950BFC3-D8DA-4A85-94F7-54DA5524770B}">
      <p188:commentRel xmlns:r="http://schemas.openxmlformats.org/officeDocument/2006/relationships" xmlns:p188="http://schemas.microsoft.com/office/powerpoint/2018/8/main" r:id="Rd25cb1a6412e4735"/>
    </p:ext>
  </p:extLst>
</p:sld>
</file>

<file path=ppt/slides/slide2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context">
            <a:extLst xmlns:a="http://schemas.openxmlformats.org/drawingml/2006/main">
              <a:ext uri="{FF2B5EF4-FFF2-40B4-BE49-F238E27FC236}">
                <a16:creationId xmlns:a16="http://schemas.microsoft.com/office/drawing/2014/main" id="{F765725A-1C94-408C-AAD2-D75D6A9DC1BB}"/>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Capstone target</a:t>
            </a:r>
          </a:p>
        </p:txBody>
      </p:sp>
      <p:sp>
        <p:nvSpPr>
          <p:cNvPr id="2" name="title">
            <a:extLst xmlns:a="http://schemas.openxmlformats.org/drawingml/2006/main">
              <a:ext uri="{FF2B5EF4-FFF2-40B4-BE49-F238E27FC236}">
                <a16:creationId xmlns:a16="http://schemas.microsoft.com/office/drawing/2014/main" id="{9002177F-1A3E-4CDB-B936-2375CD803D7F}"/>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A narrow analytics capability</a:t>
            </a:r>
          </a:p>
        </p:txBody>
      </p:sp>
      <p:sp>
        <p:nvSpPr>
          <p:cNvPr id="3" name="footer">
            <a:extLst xmlns:a="http://schemas.openxmlformats.org/drawingml/2006/main">
              <a:ext uri="{FF2B5EF4-FFF2-40B4-BE49-F238E27FC236}">
                <a16:creationId xmlns:a16="http://schemas.microsoft.com/office/drawing/2014/main" id="{CC00C76C-E889-4A75-A57E-F65CF41CB3DF}"/>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03  Business tools</a:t>
            </a:r>
          </a:p>
        </p:txBody>
      </p:sp>
      <p:sp>
        <p:nvSpPr>
          <p:cNvPr id="4" name="page">
            <a:extLst xmlns:a="http://schemas.openxmlformats.org/drawingml/2006/main">
              <a:ext uri="{FF2B5EF4-FFF2-40B4-BE49-F238E27FC236}">
                <a16:creationId xmlns:a16="http://schemas.microsoft.com/office/drawing/2014/main" id="{A02AD65F-7995-472F-9C94-68CE15666AA6}"/>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25</a:t>
            </a:r>
          </a:p>
        </p:txBody>
      </p:sp>
      <p:sp>
        <p:nvSpPr>
          <p:cNvPr id="5" name="code">
            <a:extLst xmlns:a="http://schemas.openxmlformats.org/drawingml/2006/main">
              <a:ext uri="{FF2B5EF4-FFF2-40B4-BE49-F238E27FC236}">
                <a16:creationId xmlns:a16="http://schemas.microsoft.com/office/drawing/2014/main" id="{73306EEF-7E2B-428B-B7C5-D469912A50C5}"/>
              </a:ext>
            </a:extLst>
          </p:cNvPr>
          <p:cNvSpPr>
            <a:spLocks xmlns:a="http://schemas.openxmlformats.org/drawingml/2006/main" noGrp="1"/>
          </p:cNvSpPr>
          <p:nvPr/>
        </p:nvSpPr>
        <p:spPr>
          <a:xfrm xmlns:a="http://schemas.openxmlformats.org/drawingml/2006/main">
            <a:off x="685800" y="1857375"/>
            <a:ext cx="752475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12C43"/>
                </a:solidFill>
                <a:latin typeface="Consolas"/>
                <a:ea typeface="Consolas"/>
                <a:cs typeface="Consolas"/>
              </a:defRPr>
            </a:defPPr>
            <a:lvl1pPr algn="l">
              <a:defRPr sz="1725" b="0">
                <a:solidFill>
                  <a:srgbClr val="112C43"/>
                </a:solidFill>
                <a:latin typeface="Consolas"/>
                <a:ea typeface="Consolas"/>
                <a:cs typeface="Consolas"/>
              </a:defRPr>
            </a:lvl1pPr>
            <a:lvl2pPr algn="l">
              <a:defRPr sz="1725" b="0">
                <a:solidFill>
                  <a:srgbClr val="112C43"/>
                </a:solidFill>
                <a:latin typeface="Consolas"/>
                <a:ea typeface="Consolas"/>
                <a:cs typeface="Consolas"/>
              </a:defRPr>
            </a:lvl2pPr>
            <a:lvl3pPr algn="l">
              <a:defRPr sz="1725" b="0">
                <a:solidFill>
                  <a:srgbClr val="112C43"/>
                </a:solidFill>
                <a:latin typeface="Consolas"/>
                <a:ea typeface="Consolas"/>
                <a:cs typeface="Consolas"/>
              </a:defRPr>
            </a:lvl3pPr>
            <a:lvl4pPr algn="l">
              <a:defRPr sz="1725" b="0">
                <a:solidFill>
                  <a:srgbClr val="112C43"/>
                </a:solidFill>
                <a:latin typeface="Consolas"/>
                <a:ea typeface="Consolas"/>
                <a:cs typeface="Consolas"/>
              </a:defRPr>
            </a:lvl4pPr>
            <a:lvl5pPr algn="l">
              <a:defRPr sz="1725" b="0">
                <a:solidFill>
                  <a:srgbClr val="112C43"/>
                </a:solidFill>
                <a:latin typeface="Consolas"/>
                <a:ea typeface="Consolas"/>
                <a:cs typeface="Consolas"/>
              </a:defRPr>
            </a:lvl5pPr>
            <a:lvl6pPr algn="l">
              <a:defRPr sz="1725" b="0">
                <a:solidFill>
                  <a:srgbClr val="112C43"/>
                </a:solidFill>
                <a:latin typeface="Consolas"/>
                <a:ea typeface="Consolas"/>
                <a:cs typeface="Consolas"/>
              </a:defRPr>
            </a:lvl6pPr>
            <a:lvl7pPr algn="l">
              <a:defRPr sz="1725" b="0">
                <a:solidFill>
                  <a:srgbClr val="112C43"/>
                </a:solidFill>
                <a:latin typeface="Consolas"/>
                <a:ea typeface="Consolas"/>
                <a:cs typeface="Consolas"/>
              </a:defRPr>
            </a:lvl7pPr>
            <a:lvl8pPr algn="l">
              <a:defRPr sz="1725" b="0">
                <a:solidFill>
                  <a:srgbClr val="112C43"/>
                </a:solidFill>
                <a:latin typeface="Consolas"/>
                <a:ea typeface="Consolas"/>
                <a:cs typeface="Consolas"/>
              </a:defRPr>
            </a:lvl8pPr>
            <a:lvl9pPr algn="l">
              <a:defRPr sz="1725" b="0">
                <a:solidFill>
                  <a:srgbClr val="112C43"/>
                </a:solidFill>
                <a:latin typeface="Consolas"/>
                <a:ea typeface="Consolas"/>
                <a:cs typeface="Consolas"/>
              </a:defRPr>
            </a:lvl9pPr>
          </a:lstStyle>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var summaryTool = AIFunctionFactory.Create(</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invoiceTools.GetInvoiceSummary);</a:t>
            </a:r>
          </a:p>
          <a:p xmlns:a="http://schemas.openxmlformats.org/drawingml/2006/main">
            <a:r>
              <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AIAgent analytics = azureClient.GetChatClient(deployment)</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.AsAIAgent(</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name: "BillingAnalytics",</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instructions: analyticsInstructions,</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tools: [summaryTool]);</a:t>
            </a:r>
          </a:p>
        </p:txBody>
      </p:sp>
      <p:sp>
        <p:nvSpPr>
          <p:cNvPr id="6" name="explanation-0">
            <a:extLst xmlns:a="http://schemas.openxmlformats.org/drawingml/2006/main">
              <a:ext uri="{FF2B5EF4-FFF2-40B4-BE49-F238E27FC236}">
                <a16:creationId xmlns:a16="http://schemas.microsoft.com/office/drawing/2014/main" id="{8E7B838F-386D-4182-817A-8621D6D8C194}"/>
              </a:ext>
            </a:extLst>
          </p:cNvPr>
          <p:cNvSpPr>
            <a:spLocks xmlns:a="http://schemas.openxmlformats.org/drawingml/2006/main" noGrp="1"/>
          </p:cNvSpPr>
          <p:nvPr/>
        </p:nvSpPr>
        <p:spPr>
          <a:xfrm xmlns:a="http://schemas.openxmlformats.org/drawingml/2006/main">
            <a:off x="8715375" y="20002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83"/>
                </a:solidFill>
                <a:latin typeface="Segoe UI"/>
                <a:ea typeface="Segoe UI"/>
                <a:cs typeface="Segoe UI"/>
              </a:defRPr>
            </a:defPPr>
            <a:lvl1pPr algn="l">
              <a:defRPr sz="1800" b="0">
                <a:solidFill>
                  <a:srgbClr val="007F83"/>
                </a:solidFill>
                <a:latin typeface="Segoe UI"/>
                <a:ea typeface="Segoe UI"/>
                <a:cs typeface="Segoe UI"/>
              </a:defRPr>
            </a:lvl1pPr>
            <a:lvl2pPr algn="l">
              <a:defRPr sz="1800" b="0">
                <a:solidFill>
                  <a:srgbClr val="007F83"/>
                </a:solidFill>
                <a:latin typeface="Segoe UI"/>
                <a:ea typeface="Segoe UI"/>
                <a:cs typeface="Segoe UI"/>
              </a:defRPr>
            </a:lvl2pPr>
            <a:lvl3pPr algn="l">
              <a:defRPr sz="1800" b="0">
                <a:solidFill>
                  <a:srgbClr val="007F83"/>
                </a:solidFill>
                <a:latin typeface="Segoe UI"/>
                <a:ea typeface="Segoe UI"/>
                <a:cs typeface="Segoe UI"/>
              </a:defRPr>
            </a:lvl3pPr>
            <a:lvl4pPr algn="l">
              <a:defRPr sz="1800" b="0">
                <a:solidFill>
                  <a:srgbClr val="007F83"/>
                </a:solidFill>
                <a:latin typeface="Segoe UI"/>
                <a:ea typeface="Segoe UI"/>
                <a:cs typeface="Segoe UI"/>
              </a:defRPr>
            </a:lvl4pPr>
            <a:lvl5pPr algn="l">
              <a:defRPr sz="1800" b="0">
                <a:solidFill>
                  <a:srgbClr val="007F83"/>
                </a:solidFill>
                <a:latin typeface="Segoe UI"/>
                <a:ea typeface="Segoe UI"/>
                <a:cs typeface="Segoe UI"/>
              </a:defRPr>
            </a:lvl5pPr>
            <a:lvl6pPr algn="l">
              <a:defRPr sz="1800" b="0">
                <a:solidFill>
                  <a:srgbClr val="007F83"/>
                </a:solidFill>
                <a:latin typeface="Segoe UI"/>
                <a:ea typeface="Segoe UI"/>
                <a:cs typeface="Segoe UI"/>
              </a:defRPr>
            </a:lvl6pPr>
            <a:lvl7pPr algn="l">
              <a:defRPr sz="1800" b="0">
                <a:solidFill>
                  <a:srgbClr val="007F83"/>
                </a:solidFill>
                <a:latin typeface="Segoe UI"/>
                <a:ea typeface="Segoe UI"/>
                <a:cs typeface="Segoe UI"/>
              </a:defRPr>
            </a:lvl7pPr>
            <a:lvl8pPr algn="l">
              <a:defRPr sz="1800" b="0">
                <a:solidFill>
                  <a:srgbClr val="007F83"/>
                </a:solidFill>
                <a:latin typeface="Segoe UI"/>
                <a:ea typeface="Segoe UI"/>
                <a:cs typeface="Segoe UI"/>
              </a:defRPr>
            </a:lvl8pPr>
            <a:lvl9pPr algn="l">
              <a:defRPr sz="1800" b="0">
                <a:solidFill>
                  <a:srgbClr val="007F83"/>
                </a:solidFill>
                <a:latin typeface="Segoe UI"/>
                <a:ea typeface="Segoe UI"/>
                <a:cs typeface="Segoe UI"/>
              </a:defRPr>
            </a:lvl9pPr>
          </a:lstStyle>
          <a:p xmlns:a="http://schemas.openxmlformats.org/drawingml/2006/main">
            <a:pPr algn="l">
              <a:defRPr sz="1800" b="0">
                <a:solidFill>
                  <a:srgbClr val="007F83"/>
                </a:solidFill>
                <a:latin typeface="Segoe UI"/>
                <a:ea typeface="Segoe UI"/>
                <a:cs typeface="Segoe UI"/>
              </a:defRPr>
            </a:pPr>
            <a:r>
              <a:rPr sz="1800" b="0">
                <a:solidFill>
                  <a:srgbClr val="007F83"/>
                </a:solidFill>
                <a:latin typeface="Segoe UI"/>
                <a:ea typeface="Segoe UI"/>
                <a:cs typeface="Segoe UI"/>
              </a:rPr>
              <a:t>Expose only the functions required.</a:t>
            </a:r>
          </a:p>
        </p:txBody>
      </p:sp>
      <p:sp>
        <p:nvSpPr>
          <p:cNvPr id="7" name="explanation-1">
            <a:extLst xmlns:a="http://schemas.openxmlformats.org/drawingml/2006/main">
              <a:ext uri="{FF2B5EF4-FFF2-40B4-BE49-F238E27FC236}">
                <a16:creationId xmlns:a16="http://schemas.microsoft.com/office/drawing/2014/main" id="{592F6EB2-2B3B-4EDE-821B-1099476DFE06}"/>
              </a:ext>
            </a:extLst>
          </p:cNvPr>
          <p:cNvSpPr>
            <a:spLocks xmlns:a="http://schemas.openxmlformats.org/drawingml/2006/main" noGrp="1"/>
          </p:cNvSpPr>
          <p:nvPr/>
        </p:nvSpPr>
        <p:spPr>
          <a:xfrm xmlns:a="http://schemas.openxmlformats.org/drawingml/2006/main">
            <a:off x="8715375" y="320040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A persona does not enforce permissions.</a:t>
            </a:r>
          </a:p>
        </p:txBody>
      </p:sp>
      <p:sp>
        <p:nvSpPr>
          <p:cNvPr id="8" name="explanation-2">
            <a:extLst xmlns:a="http://schemas.openxmlformats.org/drawingml/2006/main">
              <a:ext uri="{FF2B5EF4-FFF2-40B4-BE49-F238E27FC236}">
                <a16:creationId xmlns:a16="http://schemas.microsoft.com/office/drawing/2014/main" id="{FB2FBC69-66DA-4FE7-8C92-73F1AA2CB5AB}"/>
              </a:ext>
            </a:extLst>
          </p:cNvPr>
          <p:cNvSpPr>
            <a:spLocks xmlns:a="http://schemas.openxmlformats.org/drawingml/2006/main" noGrp="1"/>
          </p:cNvSpPr>
          <p:nvPr/>
        </p:nvSpPr>
        <p:spPr>
          <a:xfrm xmlns:a="http://schemas.openxmlformats.org/drawingml/2006/main">
            <a:off x="8715375" y="44005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Add write tools in a separate lab.</a:t>
            </a:r>
          </a:p>
        </p:txBody>
      </p:sp>
    </p:spTree>
    <p:extLst>
      <p:ext uri="{BB962C8B-B14F-4D97-AF65-F5344CB8AC3E}">
        <p14:creationId xmlns:p14="http://schemas.microsoft.com/office/powerpoint/2010/main" val="267622054"/>
      </p:ext>
    </p:extLst>
  </p:cSld>
  <p:extLst>
    <p:ext uri="{6950BFC3-D8DA-4A85-94F7-54DA5524770B}">
      <p188:commentRel xmlns:r="http://schemas.openxmlformats.org/officeDocument/2006/relationships" xmlns:p188="http://schemas.microsoft.com/office/powerpoint/2018/8/main" r:id="R54f340e59e684e70"/>
    </p:ext>
  </p:extLst>
</p:sld>
</file>

<file path=ppt/slides/slide2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context">
            <a:extLst xmlns:a="http://schemas.openxmlformats.org/drawingml/2006/main">
              <a:ext uri="{FF2B5EF4-FFF2-40B4-BE49-F238E27FC236}">
                <a16:creationId xmlns:a16="http://schemas.microsoft.com/office/drawing/2014/main" id="{7867C452-F4DB-4519-8544-E3612EBAA25B}"/>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Framework code pattern</a:t>
            </a:r>
          </a:p>
        </p:txBody>
      </p:sp>
      <p:sp>
        <p:nvSpPr>
          <p:cNvPr id="2" name="title">
            <a:extLst xmlns:a="http://schemas.openxmlformats.org/drawingml/2006/main">
              <a:ext uri="{FF2B5EF4-FFF2-40B4-BE49-F238E27FC236}">
                <a16:creationId xmlns:a16="http://schemas.microsoft.com/office/drawing/2014/main" id="{73D553F2-3F5E-429C-8014-17D2E8596F10}"/>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Structured output at the answer boundary</a:t>
            </a:r>
          </a:p>
        </p:txBody>
      </p:sp>
      <p:sp>
        <p:nvSpPr>
          <p:cNvPr id="3" name="footer">
            <a:extLst xmlns:a="http://schemas.openxmlformats.org/drawingml/2006/main">
              <a:ext uri="{FF2B5EF4-FFF2-40B4-BE49-F238E27FC236}">
                <a16:creationId xmlns:a16="http://schemas.microsoft.com/office/drawing/2014/main" id="{26B4A408-0BA3-4AFD-932E-FE330435C471}"/>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03  Business tools</a:t>
            </a:r>
          </a:p>
        </p:txBody>
      </p:sp>
      <p:sp>
        <p:nvSpPr>
          <p:cNvPr id="4" name="page">
            <a:extLst xmlns:a="http://schemas.openxmlformats.org/drawingml/2006/main">
              <a:ext uri="{FF2B5EF4-FFF2-40B4-BE49-F238E27FC236}">
                <a16:creationId xmlns:a16="http://schemas.microsoft.com/office/drawing/2014/main" id="{C9593666-E7B4-4DAA-B16C-63B77ECC6B88}"/>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26</a:t>
            </a:r>
          </a:p>
        </p:txBody>
      </p:sp>
      <p:sp>
        <p:nvSpPr>
          <p:cNvPr id="5" name="code">
            <a:extLst xmlns:a="http://schemas.openxmlformats.org/drawingml/2006/main">
              <a:ext uri="{FF2B5EF4-FFF2-40B4-BE49-F238E27FC236}">
                <a16:creationId xmlns:a16="http://schemas.microsoft.com/office/drawing/2014/main" id="{405ADC87-DF52-4AC7-9726-A7159190AB60}"/>
              </a:ext>
            </a:extLst>
          </p:cNvPr>
          <p:cNvSpPr>
            <a:spLocks xmlns:a="http://schemas.openxmlformats.org/drawingml/2006/main" noGrp="1"/>
          </p:cNvSpPr>
          <p:nvPr/>
        </p:nvSpPr>
        <p:spPr>
          <a:xfrm xmlns:a="http://schemas.openxmlformats.org/drawingml/2006/main">
            <a:off x="685800" y="1857375"/>
            <a:ext cx="752475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12C43"/>
                </a:solidFill>
                <a:latin typeface="Consolas"/>
                <a:ea typeface="Consolas"/>
                <a:cs typeface="Consolas"/>
              </a:defRPr>
            </a:defPPr>
            <a:lvl1pPr algn="l">
              <a:defRPr sz="1725" b="0">
                <a:solidFill>
                  <a:srgbClr val="112C43"/>
                </a:solidFill>
                <a:latin typeface="Consolas"/>
                <a:ea typeface="Consolas"/>
                <a:cs typeface="Consolas"/>
              </a:defRPr>
            </a:lvl1pPr>
            <a:lvl2pPr algn="l">
              <a:defRPr sz="1725" b="0">
                <a:solidFill>
                  <a:srgbClr val="112C43"/>
                </a:solidFill>
                <a:latin typeface="Consolas"/>
                <a:ea typeface="Consolas"/>
                <a:cs typeface="Consolas"/>
              </a:defRPr>
            </a:lvl2pPr>
            <a:lvl3pPr algn="l">
              <a:defRPr sz="1725" b="0">
                <a:solidFill>
                  <a:srgbClr val="112C43"/>
                </a:solidFill>
                <a:latin typeface="Consolas"/>
                <a:ea typeface="Consolas"/>
                <a:cs typeface="Consolas"/>
              </a:defRPr>
            </a:lvl3pPr>
            <a:lvl4pPr algn="l">
              <a:defRPr sz="1725" b="0">
                <a:solidFill>
                  <a:srgbClr val="112C43"/>
                </a:solidFill>
                <a:latin typeface="Consolas"/>
                <a:ea typeface="Consolas"/>
                <a:cs typeface="Consolas"/>
              </a:defRPr>
            </a:lvl4pPr>
            <a:lvl5pPr algn="l">
              <a:defRPr sz="1725" b="0">
                <a:solidFill>
                  <a:srgbClr val="112C43"/>
                </a:solidFill>
                <a:latin typeface="Consolas"/>
                <a:ea typeface="Consolas"/>
                <a:cs typeface="Consolas"/>
              </a:defRPr>
            </a:lvl5pPr>
            <a:lvl6pPr algn="l">
              <a:defRPr sz="1725" b="0">
                <a:solidFill>
                  <a:srgbClr val="112C43"/>
                </a:solidFill>
                <a:latin typeface="Consolas"/>
                <a:ea typeface="Consolas"/>
                <a:cs typeface="Consolas"/>
              </a:defRPr>
            </a:lvl6pPr>
            <a:lvl7pPr algn="l">
              <a:defRPr sz="1725" b="0">
                <a:solidFill>
                  <a:srgbClr val="112C43"/>
                </a:solidFill>
                <a:latin typeface="Consolas"/>
                <a:ea typeface="Consolas"/>
                <a:cs typeface="Consolas"/>
              </a:defRPr>
            </a:lvl7pPr>
            <a:lvl8pPr algn="l">
              <a:defRPr sz="1725" b="0">
                <a:solidFill>
                  <a:srgbClr val="112C43"/>
                </a:solidFill>
                <a:latin typeface="Consolas"/>
                <a:ea typeface="Consolas"/>
                <a:cs typeface="Consolas"/>
              </a:defRPr>
            </a:lvl8pPr>
            <a:lvl9pPr algn="l">
              <a:defRPr sz="1725" b="0">
                <a:solidFill>
                  <a:srgbClr val="112C43"/>
                </a:solidFill>
                <a:latin typeface="Consolas"/>
                <a:ea typeface="Consolas"/>
                <a:cs typeface="Consolas"/>
              </a:defRPr>
            </a:lvl9pPr>
          </a:lstStyle>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public sealed class BillingAnswer</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public string Summary { get; set; } = "";</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public string[] EvidenceIds { get; set; } = [];</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public bool NeedsClarification { get; set; }</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a:t>
            </a:r>
          </a:p>
          <a:p xmlns:a="http://schemas.openxmlformats.org/drawingml/2006/main">
            <a:r>
              <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var result = await analytics.RunAsync&lt;BillingAnswer&gt;(</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prompt, session, cancellationToken: ct);</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BillingAnswer answer = result.Result;</a:t>
            </a:r>
          </a:p>
        </p:txBody>
      </p:sp>
      <p:sp>
        <p:nvSpPr>
          <p:cNvPr id="6" name="explanation-0">
            <a:extLst xmlns:a="http://schemas.openxmlformats.org/drawingml/2006/main">
              <a:ext uri="{FF2B5EF4-FFF2-40B4-BE49-F238E27FC236}">
                <a16:creationId xmlns:a16="http://schemas.microsoft.com/office/drawing/2014/main" id="{1DA5A96A-72F9-4559-B22A-7B537CCEBA27}"/>
              </a:ext>
            </a:extLst>
          </p:cNvPr>
          <p:cNvSpPr>
            <a:spLocks xmlns:a="http://schemas.openxmlformats.org/drawingml/2006/main" noGrp="1"/>
          </p:cNvSpPr>
          <p:nvPr/>
        </p:nvSpPr>
        <p:spPr>
          <a:xfrm xmlns:a="http://schemas.openxmlformats.org/drawingml/2006/main">
            <a:off x="8715375" y="20002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83"/>
                </a:solidFill>
                <a:latin typeface="Segoe UI"/>
                <a:ea typeface="Segoe UI"/>
                <a:cs typeface="Segoe UI"/>
              </a:defRPr>
            </a:defPPr>
            <a:lvl1pPr algn="l">
              <a:defRPr sz="1800" b="0">
                <a:solidFill>
                  <a:srgbClr val="007F83"/>
                </a:solidFill>
                <a:latin typeface="Segoe UI"/>
                <a:ea typeface="Segoe UI"/>
                <a:cs typeface="Segoe UI"/>
              </a:defRPr>
            </a:lvl1pPr>
            <a:lvl2pPr algn="l">
              <a:defRPr sz="1800" b="0">
                <a:solidFill>
                  <a:srgbClr val="007F83"/>
                </a:solidFill>
                <a:latin typeface="Segoe UI"/>
                <a:ea typeface="Segoe UI"/>
                <a:cs typeface="Segoe UI"/>
              </a:defRPr>
            </a:lvl2pPr>
            <a:lvl3pPr algn="l">
              <a:defRPr sz="1800" b="0">
                <a:solidFill>
                  <a:srgbClr val="007F83"/>
                </a:solidFill>
                <a:latin typeface="Segoe UI"/>
                <a:ea typeface="Segoe UI"/>
                <a:cs typeface="Segoe UI"/>
              </a:defRPr>
            </a:lvl3pPr>
            <a:lvl4pPr algn="l">
              <a:defRPr sz="1800" b="0">
                <a:solidFill>
                  <a:srgbClr val="007F83"/>
                </a:solidFill>
                <a:latin typeface="Segoe UI"/>
                <a:ea typeface="Segoe UI"/>
                <a:cs typeface="Segoe UI"/>
              </a:defRPr>
            </a:lvl4pPr>
            <a:lvl5pPr algn="l">
              <a:defRPr sz="1800" b="0">
                <a:solidFill>
                  <a:srgbClr val="007F83"/>
                </a:solidFill>
                <a:latin typeface="Segoe UI"/>
                <a:ea typeface="Segoe UI"/>
                <a:cs typeface="Segoe UI"/>
              </a:defRPr>
            </a:lvl5pPr>
            <a:lvl6pPr algn="l">
              <a:defRPr sz="1800" b="0">
                <a:solidFill>
                  <a:srgbClr val="007F83"/>
                </a:solidFill>
                <a:latin typeface="Segoe UI"/>
                <a:ea typeface="Segoe UI"/>
                <a:cs typeface="Segoe UI"/>
              </a:defRPr>
            </a:lvl6pPr>
            <a:lvl7pPr algn="l">
              <a:defRPr sz="1800" b="0">
                <a:solidFill>
                  <a:srgbClr val="007F83"/>
                </a:solidFill>
                <a:latin typeface="Segoe UI"/>
                <a:ea typeface="Segoe UI"/>
                <a:cs typeface="Segoe UI"/>
              </a:defRPr>
            </a:lvl7pPr>
            <a:lvl8pPr algn="l">
              <a:defRPr sz="1800" b="0">
                <a:solidFill>
                  <a:srgbClr val="007F83"/>
                </a:solidFill>
                <a:latin typeface="Segoe UI"/>
                <a:ea typeface="Segoe UI"/>
                <a:cs typeface="Segoe UI"/>
              </a:defRPr>
            </a:lvl8pPr>
            <a:lvl9pPr algn="l">
              <a:defRPr sz="1800" b="0">
                <a:solidFill>
                  <a:srgbClr val="007F83"/>
                </a:solidFill>
                <a:latin typeface="Segoe UI"/>
                <a:ea typeface="Segoe UI"/>
                <a:cs typeface="Segoe UI"/>
              </a:defRPr>
            </a:lvl9pPr>
          </a:lstStyle>
          <a:p xmlns:a="http://schemas.openxmlformats.org/drawingml/2006/main">
            <a:pPr algn="l">
              <a:defRPr sz="1800" b="0">
                <a:solidFill>
                  <a:srgbClr val="007F83"/>
                </a:solidFill>
                <a:latin typeface="Segoe UI"/>
                <a:ea typeface="Segoe UI"/>
                <a:cs typeface="Segoe UI"/>
              </a:defRPr>
            </a:pPr>
            <a:r>
              <a:rPr sz="1800" b="0">
                <a:solidFill>
                  <a:srgbClr val="007F83"/>
                </a:solidFill>
                <a:latin typeface="Segoe UI"/>
                <a:ea typeface="Segoe UI"/>
                <a:cs typeface="Segoe UI"/>
              </a:rPr>
              <a:t>Use schemas for predictable application shape.</a:t>
            </a:r>
          </a:p>
        </p:txBody>
      </p:sp>
      <p:sp>
        <p:nvSpPr>
          <p:cNvPr id="7" name="explanation-1">
            <a:extLst xmlns:a="http://schemas.openxmlformats.org/drawingml/2006/main">
              <a:ext uri="{FF2B5EF4-FFF2-40B4-BE49-F238E27FC236}">
                <a16:creationId xmlns:a16="http://schemas.microsoft.com/office/drawing/2014/main" id="{DC0FF67C-C517-4FC7-A646-68D1D7E9BAF9}"/>
              </a:ext>
            </a:extLst>
          </p:cNvPr>
          <p:cNvSpPr>
            <a:spLocks xmlns:a="http://schemas.openxmlformats.org/drawingml/2006/main" noGrp="1"/>
          </p:cNvSpPr>
          <p:nvPr/>
        </p:nvSpPr>
        <p:spPr>
          <a:xfrm xmlns:a="http://schemas.openxmlformats.org/drawingml/2006/main">
            <a:off x="8715375" y="320040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Validate business meaning separately.</a:t>
            </a:r>
          </a:p>
        </p:txBody>
      </p:sp>
      <p:sp>
        <p:nvSpPr>
          <p:cNvPr id="8" name="explanation-2">
            <a:extLst xmlns:a="http://schemas.openxmlformats.org/drawingml/2006/main">
              <a:ext uri="{FF2B5EF4-FFF2-40B4-BE49-F238E27FC236}">
                <a16:creationId xmlns:a16="http://schemas.microsoft.com/office/drawing/2014/main" id="{F430E9BB-56AA-4287-AC2E-66859D66F608}"/>
              </a:ext>
            </a:extLst>
          </p:cNvPr>
          <p:cNvSpPr>
            <a:spLocks xmlns:a="http://schemas.openxmlformats.org/drawingml/2006/main" noGrp="1"/>
          </p:cNvSpPr>
          <p:nvPr/>
        </p:nvSpPr>
        <p:spPr>
          <a:xfrm xmlns:a="http://schemas.openxmlformats.org/drawingml/2006/main">
            <a:off x="8715375" y="44005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Retain provenance from actual tool results.</a:t>
            </a:r>
          </a:p>
        </p:txBody>
      </p:sp>
    </p:spTree>
    <p:extLst>
      <p:ext uri="{BB962C8B-B14F-4D97-AF65-F5344CB8AC3E}">
        <p14:creationId xmlns:p14="http://schemas.microsoft.com/office/powerpoint/2010/main" val="1161392742"/>
      </p:ext>
    </p:extLst>
  </p:cSld>
  <p:extLst>
    <p:ext uri="{6950BFC3-D8DA-4A85-94F7-54DA5524770B}">
      <p188:commentRel xmlns:r="http://schemas.openxmlformats.org/officeDocument/2006/relationships" xmlns:p188="http://schemas.microsoft.com/office/powerpoint/2018/8/main" r:id="R96296b3cdf2c4aae"/>
    </p:ext>
  </p:extLst>
</p:sld>
</file>

<file path=ppt/slides/slide2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context">
            <a:extLst xmlns:a="http://schemas.openxmlformats.org/drawingml/2006/main">
              <a:ext uri="{FF2B5EF4-FFF2-40B4-BE49-F238E27FC236}">
                <a16:creationId xmlns:a16="http://schemas.microsoft.com/office/drawing/2014/main" id="{8492889A-4558-40F1-A44F-62BEE1A3ABDD}"/>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Existing gap and target</a:t>
            </a:r>
          </a:p>
        </p:txBody>
      </p:sp>
      <p:sp>
        <p:nvSpPr>
          <p:cNvPr id="2" name="title">
            <a:extLst xmlns:a="http://schemas.openxmlformats.org/drawingml/2006/main">
              <a:ext uri="{FF2B5EF4-FFF2-40B4-BE49-F238E27FC236}">
                <a16:creationId xmlns:a16="http://schemas.microsoft.com/office/drawing/2014/main" id="{6E4D32B4-408A-46FC-90E9-B7127B2EAF95}"/>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Validation across entry points</a:t>
            </a:r>
          </a:p>
        </p:txBody>
      </p:sp>
      <p:sp>
        <p:nvSpPr>
          <p:cNvPr id="3" name="footer">
            <a:extLst xmlns:a="http://schemas.openxmlformats.org/drawingml/2006/main">
              <a:ext uri="{FF2B5EF4-FFF2-40B4-BE49-F238E27FC236}">
                <a16:creationId xmlns:a16="http://schemas.microsoft.com/office/drawing/2014/main" id="{C93BF067-231F-4C0B-A532-7B81E80D0ECE}"/>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03  Business tools</a:t>
            </a:r>
          </a:p>
        </p:txBody>
      </p:sp>
      <p:sp>
        <p:nvSpPr>
          <p:cNvPr id="4" name="page">
            <a:extLst xmlns:a="http://schemas.openxmlformats.org/drawingml/2006/main">
              <a:ext uri="{FF2B5EF4-FFF2-40B4-BE49-F238E27FC236}">
                <a16:creationId xmlns:a16="http://schemas.microsoft.com/office/drawing/2014/main" id="{F3F32E3D-2BEF-483A-828B-022546EA7E8B}"/>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27</a:t>
            </a:r>
          </a:p>
        </p:txBody>
      </p:sp>
      <p:graphicFrame>
        <p:nvGraphicFramePr>
          <p:cNvPr id="5" name="">
            <a:extLst xmlns:a="http://schemas.openxmlformats.org/drawingml/2006/main">
              <a:ext uri="{FF2B5EF4-FFF2-40B4-BE49-F238E27FC236}">
                <a16:creationId xmlns:a16="http://schemas.microsoft.com/office/drawing/2014/main" id="{024B8651-00A5-4C3C-B806-53A26B5A294B}"/>
              </a:ext>
            </a:extLst>
          </p:cNvPr>
          <p:cNvGraphicFramePr/>
          <p:nvPr/>
        </p:nvGraphicFramePr>
        <p:xfrm>
          <a:off xmlns:a="http://schemas.openxmlformats.org/drawingml/2006/main" x="685800" y="1809750"/>
          <a:ext xmlns:a="http://schemas.openxmlformats.org/drawingml/2006/main" cx="10820400" cy="2914650"/>
        </p:xfrm>
        <a:graphic xmlns:a="http://schemas.openxmlformats.org/drawingml/2006/main">
          <a:graphicData uri="http://schemas.openxmlformats.org/drawingml/2006/table">
            <a:tbl>
              <a:tblPr/>
              <a:tblGrid>
                <a:gridCol w="2705100"/>
                <a:gridCol w="4003548"/>
                <a:gridCol w="4111752"/>
              </a:tblGrid>
              <a:tr h="552450">
                <a:tc>
                  <a:txBody>
                    <a:bodyPr/>
                    <a:lstStyle/>
                    <a:p>
                      <a:r>
                        <a:rPr sz="1725" b="1">
                          <a:solidFill>
                            <a:srgbClr val="FFFFFF"/>
                          </a:solidFill>
                          <a:latin typeface="Segoe UI"/>
                          <a:ea typeface="Segoe UI"/>
                          <a:cs typeface="Segoe UI"/>
                        </a:rPr>
                        <a:t>Boundary</a:t>
                      </a:r>
                    </a:p>
                  </a:txBody>
                  <a:tcPr marL="133350" marR="133350" marT="114300" marB="95250" anchor="t">
                    <a:lnL w="5715">
                      <a:solidFill>
                        <a:srgbClr val="DCE5EA"/>
                      </a:solidFill>
                      <a:prstDash val="solid"/>
                    </a:lnL>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Current behavior</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Course change</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r>
              <a:tr h="590550">
                <a:tc>
                  <a:txBody>
                    <a:bodyPr/>
                    <a:lstStyle/>
                    <a:p>
                      <a:r>
                        <a:rPr sz="1725" b="0">
                          <a:solidFill>
                            <a:srgbClr val="34495B"/>
                          </a:solidFill>
                          <a:latin typeface="Segoe UI"/>
                          <a:ea typeface="Segoe UI"/>
                          <a:cs typeface="Segoe UI"/>
                        </a:rPr>
                        <a:t>Invoice REST endpoint</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Explicit FluentValidation call</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Retain clear HTTP validation</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590550">
                <a:tc>
                  <a:txBody>
                    <a:bodyPr/>
                    <a:lstStyle/>
                    <a:p>
                      <a:r>
                        <a:rPr sz="1725" b="0">
                          <a:solidFill>
                            <a:srgbClr val="34495B"/>
                          </a:solidFill>
                          <a:latin typeface="Segoe UI"/>
                          <a:ea typeface="Segoe UI"/>
                          <a:cs typeface="Segoe UI"/>
                        </a:rPr>
                        <a:t>Dispatcher</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Resolves and invokes a handler</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Add a shared validation mechanism</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r h="590550">
                <a:tc>
                  <a:txBody>
                    <a:bodyPr/>
                    <a:lstStyle/>
                    <a:p>
                      <a:r>
                        <a:rPr sz="1725" b="0">
                          <a:solidFill>
                            <a:srgbClr val="34495B"/>
                          </a:solidFill>
                          <a:latin typeface="Segoe UI"/>
                          <a:ea typeface="Segoe UI"/>
                          <a:cs typeface="Segoe UI"/>
                        </a:rPr>
                        <a:t>AI tool</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Parses arguments, then dispatches</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Validate before the protected action</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590550">
                <a:tc>
                  <a:txBody>
                    <a:bodyPr/>
                    <a:lstStyle/>
                    <a:p>
                      <a:r>
                        <a:rPr sz="1725" b="0">
                          <a:solidFill>
                            <a:srgbClr val="34495B"/>
                          </a:solidFill>
                          <a:latin typeface="Segoe UI"/>
                          <a:ea typeface="Segoe UI"/>
                          <a:cs typeface="Segoe UI"/>
                        </a:rPr>
                        <a:t>Domain entity</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Enforces core invoice invariants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Keep rules independent of the model</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bl>
          </a:graphicData>
        </a:graphic>
      </p:graphicFrame>
    </p:spTree>
    <p:extLst>
      <p:ext uri="{BB962C8B-B14F-4D97-AF65-F5344CB8AC3E}">
        <p14:creationId xmlns:p14="http://schemas.microsoft.com/office/powerpoint/2010/main" val="1887059316"/>
      </p:ext>
    </p:extLst>
  </p:cSld>
  <p:extLst>
    <p:ext uri="{6950BFC3-D8DA-4A85-94F7-54DA5524770B}">
      <p188:commentRel xmlns:r="http://schemas.openxmlformats.org/officeDocument/2006/relationships" xmlns:p188="http://schemas.microsoft.com/office/powerpoint/2018/8/main" r:id="R2b3e08c86ba34a38"/>
    </p:ext>
  </p:extLst>
</p:sld>
</file>

<file path=ppt/slides/slide2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context">
            <a:extLst xmlns:a="http://schemas.openxmlformats.org/drawingml/2006/main">
              <a:ext uri="{FF2B5EF4-FFF2-40B4-BE49-F238E27FC236}">
                <a16:creationId xmlns:a16="http://schemas.microsoft.com/office/drawing/2014/main" id="{3DCF10AB-AA17-4CAC-8080-F67447D6D97D}"/>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Existing domain behavior</a:t>
            </a:r>
          </a:p>
        </p:txBody>
      </p:sp>
      <p:sp>
        <p:nvSpPr>
          <p:cNvPr id="2" name="title">
            <a:extLst xmlns:a="http://schemas.openxmlformats.org/drawingml/2006/main">
              <a:ext uri="{FF2B5EF4-FFF2-40B4-BE49-F238E27FC236}">
                <a16:creationId xmlns:a16="http://schemas.microsoft.com/office/drawing/2014/main" id="{18F22688-9238-4EA5-8B74-554C8E009B46}"/>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Invoice invariants remain authoritative</a:t>
            </a:r>
          </a:p>
        </p:txBody>
      </p:sp>
      <p:sp>
        <p:nvSpPr>
          <p:cNvPr id="3" name="footer">
            <a:extLst xmlns:a="http://schemas.openxmlformats.org/drawingml/2006/main">
              <a:ext uri="{FF2B5EF4-FFF2-40B4-BE49-F238E27FC236}">
                <a16:creationId xmlns:a16="http://schemas.microsoft.com/office/drawing/2014/main" id="{400640C6-D9E8-46AF-8480-F906B9121936}"/>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03  Business tools</a:t>
            </a:r>
          </a:p>
        </p:txBody>
      </p:sp>
      <p:sp>
        <p:nvSpPr>
          <p:cNvPr id="4" name="page">
            <a:extLst xmlns:a="http://schemas.openxmlformats.org/drawingml/2006/main">
              <a:ext uri="{FF2B5EF4-FFF2-40B4-BE49-F238E27FC236}">
                <a16:creationId xmlns:a16="http://schemas.microsoft.com/office/drawing/2014/main" id="{9D51B138-C84B-4BD7-B80A-10E459E363D9}"/>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28</a:t>
            </a:r>
          </a:p>
        </p:txBody>
      </p:sp>
      <p:graphicFrame>
        <p:nvGraphicFramePr>
          <p:cNvPr id="5" name="">
            <a:extLst xmlns:a="http://schemas.openxmlformats.org/drawingml/2006/main">
              <a:ext uri="{FF2B5EF4-FFF2-40B4-BE49-F238E27FC236}">
                <a16:creationId xmlns:a16="http://schemas.microsoft.com/office/drawing/2014/main" id="{0833E19B-1213-4417-9752-20FBD5A31B6F}"/>
              </a:ext>
            </a:extLst>
          </p:cNvPr>
          <p:cNvGraphicFramePr/>
          <p:nvPr/>
        </p:nvGraphicFramePr>
        <p:xfrm>
          <a:off xmlns:a="http://schemas.openxmlformats.org/drawingml/2006/main" x="685800" y="1809750"/>
          <a:ext xmlns:a="http://schemas.openxmlformats.org/drawingml/2006/main" cx="10820400" cy="2914650"/>
        </p:xfrm>
        <a:graphic xmlns:a="http://schemas.openxmlformats.org/drawingml/2006/main">
          <a:graphicData uri="http://schemas.openxmlformats.org/drawingml/2006/table">
            <a:tbl>
              <a:tblPr/>
              <a:tblGrid>
                <a:gridCol w="2380488"/>
                <a:gridCol w="4219956"/>
                <a:gridCol w="4219956"/>
              </a:tblGrid>
              <a:tr h="552450">
                <a:tc>
                  <a:txBody>
                    <a:bodyPr/>
                    <a:lstStyle/>
                    <a:p>
                      <a:r>
                        <a:rPr sz="1725" b="1">
                          <a:solidFill>
                            <a:srgbClr val="FFFFFF"/>
                          </a:solidFill>
                          <a:latin typeface="Segoe UI"/>
                          <a:ea typeface="Segoe UI"/>
                          <a:cs typeface="Segoe UI"/>
                        </a:rPr>
                        <a:t>Current state</a:t>
                      </a:r>
                    </a:p>
                  </a:txBody>
                  <a:tcPr marL="133350" marR="133350" marT="114300" marB="95250" anchor="t">
                    <a:lnL w="5715">
                      <a:solidFill>
                        <a:srgbClr val="DCE5EA"/>
                      </a:solidFill>
                      <a:prstDash val="solid"/>
                    </a:lnL>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Allowed new states</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Meaning for tools</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r>
              <a:tr h="590550">
                <a:tc>
                  <a:txBody>
                    <a:bodyPr/>
                    <a:lstStyle/>
                    <a:p>
                      <a:r>
                        <a:rPr sz="1725" b="0">
                          <a:solidFill>
                            <a:srgbClr val="34495B"/>
                          </a:solidFill>
                          <a:latin typeface="Segoe UI"/>
                          <a:ea typeface="Segoe UI"/>
                          <a:cs typeface="Segoe UI"/>
                        </a:rPr>
                        <a:t>Draft</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Sent or Cancelled</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Direct Paid is rejected</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590550">
                <a:tc>
                  <a:txBody>
                    <a:bodyPr/>
                    <a:lstStyle/>
                    <a:p>
                      <a:r>
                        <a:rPr sz="1725" b="0">
                          <a:solidFill>
                            <a:srgbClr val="34495B"/>
                          </a:solidFill>
                          <a:latin typeface="Segoe UI"/>
                          <a:ea typeface="Segoe UI"/>
                          <a:cs typeface="Segoe UI"/>
                        </a:rPr>
                        <a:t>Sent</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Paid, Overdue, or Cancelled</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Only valid transitions save</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r h="590550">
                <a:tc>
                  <a:txBody>
                    <a:bodyPr/>
                    <a:lstStyle/>
                    <a:p>
                      <a:r>
                        <a:rPr sz="1725" b="0">
                          <a:solidFill>
                            <a:srgbClr val="34495B"/>
                          </a:solidFill>
                          <a:latin typeface="Segoe UI"/>
                          <a:ea typeface="Segoe UI"/>
                          <a:cs typeface="Segoe UI"/>
                        </a:rPr>
                        <a:t>Overdue</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Paid or Cancelled</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A payment can settle exposure</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590550">
                <a:tc>
                  <a:txBody>
                    <a:bodyPr/>
                    <a:lstStyle/>
                    <a:p>
                      <a:r>
                        <a:rPr sz="1725" b="0">
                          <a:solidFill>
                            <a:srgbClr val="34495B"/>
                          </a:solidFill>
                          <a:latin typeface="Segoe UI"/>
                          <a:ea typeface="Segoe UI"/>
                          <a:cs typeface="Segoe UI"/>
                        </a:rPr>
                        <a:t>Paid / Cancelled</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No different status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No prompt overrides the state machine</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bl>
          </a:graphicData>
        </a:graphic>
      </p:graphicFrame>
    </p:spTree>
    <p:extLst>
      <p:ext uri="{BB962C8B-B14F-4D97-AF65-F5344CB8AC3E}">
        <p14:creationId xmlns:p14="http://schemas.microsoft.com/office/powerpoint/2010/main" val="1123817966"/>
      </p:ext>
    </p:extLst>
  </p:cSld>
  <p:extLst>
    <p:ext uri="{6950BFC3-D8DA-4A85-94F7-54DA5524770B}">
      <p188:commentRel xmlns:r="http://schemas.openxmlformats.org/officeDocument/2006/relationships" xmlns:p188="http://schemas.microsoft.com/office/powerpoint/2018/8/main" r:id="R36bd04371c6645eb"/>
    </p:ext>
  </p:extLst>
</p:sld>
</file>

<file path=ppt/slides/slide2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4EBEB21A-0C7E-4BAF-8D91-E8149BDE54B5}"/>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Capstone target</a:t>
            </a:r>
          </a:p>
        </p:txBody>
      </p:sp>
      <p:sp>
        <p:nvSpPr>
          <p:cNvPr id="2" name="title">
            <a:extLst xmlns:a="http://schemas.openxmlformats.org/drawingml/2006/main">
              <a:ext uri="{FF2B5EF4-FFF2-40B4-BE49-F238E27FC236}">
                <a16:creationId xmlns:a16="http://schemas.microsoft.com/office/drawing/2014/main" id="{73013482-6C8D-4190-B4BF-1E30D9FFA8C9}"/>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Tool outcomes and error contracts</a:t>
            </a:r>
          </a:p>
        </p:txBody>
      </p:sp>
      <p:sp>
        <p:nvSpPr>
          <p:cNvPr id="3" name="footer">
            <a:extLst xmlns:a="http://schemas.openxmlformats.org/drawingml/2006/main">
              <a:ext uri="{FF2B5EF4-FFF2-40B4-BE49-F238E27FC236}">
                <a16:creationId xmlns:a16="http://schemas.microsoft.com/office/drawing/2014/main" id="{DBF48A41-771C-4EBE-AF26-4E977300D2D7}"/>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03  Business tools</a:t>
            </a:r>
          </a:p>
        </p:txBody>
      </p:sp>
      <p:sp>
        <p:nvSpPr>
          <p:cNvPr id="4" name="page">
            <a:extLst xmlns:a="http://schemas.openxmlformats.org/drawingml/2006/main">
              <a:ext uri="{FF2B5EF4-FFF2-40B4-BE49-F238E27FC236}">
                <a16:creationId xmlns:a16="http://schemas.microsoft.com/office/drawing/2014/main" id="{B20D8FBB-318B-4AAD-959E-B50E5CC28204}"/>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29</a:t>
            </a:r>
          </a:p>
        </p:txBody>
      </p:sp>
      <p:sp>
        <p:nvSpPr>
          <p:cNvPr id="5" name="label-0">
            <a:extLst xmlns:a="http://schemas.openxmlformats.org/drawingml/2006/main">
              <a:ext uri="{FF2B5EF4-FFF2-40B4-BE49-F238E27FC236}">
                <a16:creationId xmlns:a16="http://schemas.microsoft.com/office/drawing/2014/main" id="{E6A50029-E52E-43A3-9582-36146E7140C7}"/>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Success</a:t>
            </a:r>
          </a:p>
        </p:txBody>
      </p:sp>
      <p:sp>
        <p:nvSpPr>
          <p:cNvPr id="6" name="point-0">
            <a:extLst xmlns:a="http://schemas.openxmlformats.org/drawingml/2006/main">
              <a:ext uri="{FF2B5EF4-FFF2-40B4-BE49-F238E27FC236}">
                <a16:creationId xmlns:a16="http://schemas.microsoft.com/office/drawing/2014/main" id="{5FB5EE8F-F2CE-49BE-A17B-8FA05F366A3C}"/>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Return the operation ID, affected record, and verified result.</a:t>
            </a:r>
          </a:p>
        </p:txBody>
      </p:sp>
      <p:sp>
        <p:nvSpPr>
          <p:cNvPr id="7" name="label-1">
            <a:extLst xmlns:a="http://schemas.openxmlformats.org/drawingml/2006/main">
              <a:ext uri="{FF2B5EF4-FFF2-40B4-BE49-F238E27FC236}">
                <a16:creationId xmlns:a16="http://schemas.microsoft.com/office/drawing/2014/main" id="{3C16F544-D648-4146-BD30-4FBF211F1E36}"/>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Business rejection</a:t>
            </a:r>
          </a:p>
        </p:txBody>
      </p:sp>
      <p:sp>
        <p:nvSpPr>
          <p:cNvPr id="8" name="point-1">
            <a:extLst xmlns:a="http://schemas.openxmlformats.org/drawingml/2006/main">
              <a:ext uri="{FF2B5EF4-FFF2-40B4-BE49-F238E27FC236}">
                <a16:creationId xmlns:a16="http://schemas.microsoft.com/office/drawing/2014/main" id="{6CBA805D-2466-40E6-A80D-2392CA65625B}"/>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Return a stable error code and an actionable explanation.</a:t>
            </a:r>
          </a:p>
        </p:txBody>
      </p:sp>
      <p:sp>
        <p:nvSpPr>
          <p:cNvPr id="9" name="label-2">
            <a:extLst xmlns:a="http://schemas.openxmlformats.org/drawingml/2006/main">
              <a:ext uri="{FF2B5EF4-FFF2-40B4-BE49-F238E27FC236}">
                <a16:creationId xmlns:a16="http://schemas.microsoft.com/office/drawing/2014/main" id="{7A366D65-9728-4AAF-BB05-8D3D1F118373}"/>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Infrastructure failure</a:t>
            </a:r>
          </a:p>
        </p:txBody>
      </p:sp>
      <p:sp>
        <p:nvSpPr>
          <p:cNvPr id="10" name="point-2">
            <a:extLst xmlns:a="http://schemas.openxmlformats.org/drawingml/2006/main">
              <a:ext uri="{FF2B5EF4-FFF2-40B4-BE49-F238E27FC236}">
                <a16:creationId xmlns:a16="http://schemas.microsoft.com/office/drawing/2014/main" id="{414302A2-C154-4C6C-A844-391D746C00BE}"/>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Keep secrets and raw exception details out of the model output.</a:t>
            </a:r>
          </a:p>
        </p:txBody>
      </p:sp>
      <p:sp>
        <p:nvSpPr>
          <p:cNvPr id="11" name="label-3">
            <a:extLst xmlns:a="http://schemas.openxmlformats.org/drawingml/2006/main">
              <a:ext uri="{FF2B5EF4-FFF2-40B4-BE49-F238E27FC236}">
                <a16:creationId xmlns:a16="http://schemas.microsoft.com/office/drawing/2014/main" id="{754D153F-5170-4E63-8D23-36EBF3B631AA}"/>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Ambiguity</a:t>
            </a:r>
          </a:p>
        </p:txBody>
      </p:sp>
      <p:sp>
        <p:nvSpPr>
          <p:cNvPr id="12" name="point-3">
            <a:extLst xmlns:a="http://schemas.openxmlformats.org/drawingml/2006/main">
              <a:ext uri="{FF2B5EF4-FFF2-40B4-BE49-F238E27FC236}">
                <a16:creationId xmlns:a16="http://schemas.microsoft.com/office/drawing/2014/main" id="{9364EDC0-9541-48C3-9E0E-1A4FCC55B361}"/>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Request clarification before selecting a customer or invoice.</a:t>
            </a:r>
          </a:p>
        </p:txBody>
      </p:sp>
    </p:spTree>
    <p:extLst>
      <p:ext uri="{BB962C8B-B14F-4D97-AF65-F5344CB8AC3E}">
        <p14:creationId xmlns:p14="http://schemas.microsoft.com/office/powerpoint/2010/main" val="1063902235"/>
      </p:ext>
    </p:extLst>
  </p:cSld>
  <p:extLst>
    <p:ext uri="{6950BFC3-D8DA-4A85-94F7-54DA5524770B}">
      <p188:commentRel xmlns:r="http://schemas.openxmlformats.org/officeDocument/2006/relationships" xmlns:p188="http://schemas.microsoft.com/office/powerpoint/2018/8/main" r:id="R00748e0263894f5a"/>
    </p:ext>
  </p:extLst>
</p:sld>
</file>

<file path=ppt/slides/slide30.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8FB34D71-DD23-4B02-B9CE-34F7DDB692F1}"/>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Tool design</a:t>
            </a:r>
          </a:p>
        </p:txBody>
      </p:sp>
      <p:sp>
        <p:nvSpPr>
          <p:cNvPr id="2" name="title">
            <a:extLst xmlns:a="http://schemas.openxmlformats.org/drawingml/2006/main">
              <a:ext uri="{FF2B5EF4-FFF2-40B4-BE49-F238E27FC236}">
                <a16:creationId xmlns:a16="http://schemas.microsoft.com/office/drawing/2014/main" id="{755FD3A8-FCF5-40EF-BA86-830BFD313B3C}"/>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Execution limits and tool granularity</a:t>
            </a:r>
          </a:p>
        </p:txBody>
      </p:sp>
      <p:sp>
        <p:nvSpPr>
          <p:cNvPr id="3" name="footer">
            <a:extLst xmlns:a="http://schemas.openxmlformats.org/drawingml/2006/main">
              <a:ext uri="{FF2B5EF4-FFF2-40B4-BE49-F238E27FC236}">
                <a16:creationId xmlns:a16="http://schemas.microsoft.com/office/drawing/2014/main" id="{08D02FE1-9741-43FD-9D30-172B54DC6FF9}"/>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03  Business tools</a:t>
            </a:r>
          </a:p>
        </p:txBody>
      </p:sp>
      <p:sp>
        <p:nvSpPr>
          <p:cNvPr id="4" name="page">
            <a:extLst xmlns:a="http://schemas.openxmlformats.org/drawingml/2006/main">
              <a:ext uri="{FF2B5EF4-FFF2-40B4-BE49-F238E27FC236}">
                <a16:creationId xmlns:a16="http://schemas.microsoft.com/office/drawing/2014/main" id="{0353A549-67C1-4655-8CB1-915AC4809289}"/>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30</a:t>
            </a:r>
          </a:p>
        </p:txBody>
      </p:sp>
      <p:sp>
        <p:nvSpPr>
          <p:cNvPr id="5" name="label-0">
            <a:extLst xmlns:a="http://schemas.openxmlformats.org/drawingml/2006/main">
              <a:ext uri="{FF2B5EF4-FFF2-40B4-BE49-F238E27FC236}">
                <a16:creationId xmlns:a16="http://schemas.microsoft.com/office/drawing/2014/main" id="{D448D565-C353-4A64-A8F4-BD68090457D4}"/>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Bounded reads</a:t>
            </a:r>
          </a:p>
        </p:txBody>
      </p:sp>
      <p:sp>
        <p:nvSpPr>
          <p:cNvPr id="6" name="point-0">
            <a:extLst xmlns:a="http://schemas.openxmlformats.org/drawingml/2006/main">
              <a:ext uri="{FF2B5EF4-FFF2-40B4-BE49-F238E27FC236}">
                <a16:creationId xmlns:a16="http://schemas.microsoft.com/office/drawing/2014/main" id="{7BEF2061-FC96-46F5-A716-3450C0714490}"/>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Pagination, date filters, row caps, and cancellation.</a:t>
            </a:r>
          </a:p>
        </p:txBody>
      </p:sp>
      <p:sp>
        <p:nvSpPr>
          <p:cNvPr id="7" name="label-1">
            <a:extLst xmlns:a="http://schemas.openxmlformats.org/drawingml/2006/main">
              <a:ext uri="{FF2B5EF4-FFF2-40B4-BE49-F238E27FC236}">
                <a16:creationId xmlns:a16="http://schemas.microsoft.com/office/drawing/2014/main" id="{C3094C8E-F08F-41F0-B364-81A5154F8C43}"/>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Bounded autonomy</a:t>
            </a:r>
          </a:p>
        </p:txBody>
      </p:sp>
      <p:sp>
        <p:nvSpPr>
          <p:cNvPr id="8" name="point-1">
            <a:extLst xmlns:a="http://schemas.openxmlformats.org/drawingml/2006/main">
              <a:ext uri="{FF2B5EF4-FFF2-40B4-BE49-F238E27FC236}">
                <a16:creationId xmlns:a16="http://schemas.microsoft.com/office/drawing/2014/main" id="{11701F5C-5B98-41E1-8608-DE307137A1AD}"/>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Maximum steps, token budget, and a request deadline.</a:t>
            </a:r>
          </a:p>
        </p:txBody>
      </p:sp>
      <p:sp>
        <p:nvSpPr>
          <p:cNvPr id="9" name="label-2">
            <a:extLst xmlns:a="http://schemas.openxmlformats.org/drawingml/2006/main">
              <a:ext uri="{FF2B5EF4-FFF2-40B4-BE49-F238E27FC236}">
                <a16:creationId xmlns:a16="http://schemas.microsoft.com/office/drawing/2014/main" id="{5947E042-F4DB-4ACE-9C77-C35F52A38470}"/>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Mutations</a:t>
            </a:r>
          </a:p>
        </p:txBody>
      </p:sp>
      <p:sp>
        <p:nvSpPr>
          <p:cNvPr id="10" name="point-2">
            <a:extLst xmlns:a="http://schemas.openxmlformats.org/drawingml/2006/main">
              <a:ext uri="{FF2B5EF4-FFF2-40B4-BE49-F238E27FC236}">
                <a16:creationId xmlns:a16="http://schemas.microsoft.com/office/drawing/2014/main" id="{F61A2BEC-D598-4C88-BB37-7FD11A6A3DB3}"/>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Explicit intent, authorization, approval, and idempotency.</a:t>
            </a:r>
          </a:p>
        </p:txBody>
      </p:sp>
      <p:sp>
        <p:nvSpPr>
          <p:cNvPr id="11" name="label-3">
            <a:extLst xmlns:a="http://schemas.openxmlformats.org/drawingml/2006/main">
              <a:ext uri="{FF2B5EF4-FFF2-40B4-BE49-F238E27FC236}">
                <a16:creationId xmlns:a16="http://schemas.microsoft.com/office/drawing/2014/main" id="{B3D51EAF-5F23-485D-808B-7267966F26A0}"/>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Concurrency</a:t>
            </a:r>
          </a:p>
        </p:txBody>
      </p:sp>
      <p:sp>
        <p:nvSpPr>
          <p:cNvPr id="12" name="point-3">
            <a:extLst xmlns:a="http://schemas.openxmlformats.org/drawingml/2006/main">
              <a:ext uri="{FF2B5EF4-FFF2-40B4-BE49-F238E27FC236}">
                <a16:creationId xmlns:a16="http://schemas.microsoft.com/office/drawing/2014/main" id="{51C57B38-E515-4FB2-9A9D-A7D8A85587AE}"/>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Parallelize independent reads with safe service lifetimes.</a:t>
            </a:r>
          </a:p>
        </p:txBody>
      </p:sp>
    </p:spTree>
    <p:extLst>
      <p:ext uri="{BB962C8B-B14F-4D97-AF65-F5344CB8AC3E}">
        <p14:creationId xmlns:p14="http://schemas.microsoft.com/office/powerpoint/2010/main" val="1566105920"/>
      </p:ext>
    </p:extLst>
  </p:cSld>
  <p:extLst>
    <p:ext uri="{6950BFC3-D8DA-4A85-94F7-54DA5524770B}">
      <p188:commentRel xmlns:r="http://schemas.openxmlformats.org/officeDocument/2006/relationships" xmlns:p188="http://schemas.microsoft.com/office/powerpoint/2018/8/main" r:id="R469200da549142d6"/>
    </p:ext>
  </p:extLst>
</p:sld>
</file>

<file path=ppt/slides/slide3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4" name="context">
            <a:extLst xmlns:a="http://schemas.openxmlformats.org/drawingml/2006/main">
              <a:ext uri="{FF2B5EF4-FFF2-40B4-BE49-F238E27FC236}">
                <a16:creationId xmlns:a16="http://schemas.microsoft.com/office/drawing/2014/main" id="{2B6FFB89-A40A-4CE8-BCCB-C7001FAADC65}"/>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Lab target</a:t>
            </a:r>
          </a:p>
        </p:txBody>
      </p:sp>
      <p:sp>
        <p:nvSpPr>
          <p:cNvPr id="2" name="title">
            <a:extLst xmlns:a="http://schemas.openxmlformats.org/drawingml/2006/main">
              <a:ext uri="{FF2B5EF4-FFF2-40B4-BE49-F238E27FC236}">
                <a16:creationId xmlns:a16="http://schemas.microsoft.com/office/drawing/2014/main" id="{4CD1FDFC-243A-4628-9B96-8299612FBD1B}"/>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Lab 03: ground a billing answer</a:t>
            </a:r>
          </a:p>
        </p:txBody>
      </p:sp>
      <p:sp>
        <p:nvSpPr>
          <p:cNvPr id="3" name="footer">
            <a:extLst xmlns:a="http://schemas.openxmlformats.org/drawingml/2006/main">
              <a:ext uri="{FF2B5EF4-FFF2-40B4-BE49-F238E27FC236}">
                <a16:creationId xmlns:a16="http://schemas.microsoft.com/office/drawing/2014/main" id="{6E58A243-EDE4-4703-AC45-A282F12FE692}"/>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03  Business tools</a:t>
            </a:r>
          </a:p>
        </p:txBody>
      </p:sp>
      <p:sp>
        <p:nvSpPr>
          <p:cNvPr id="4" name="page">
            <a:extLst xmlns:a="http://schemas.openxmlformats.org/drawingml/2006/main">
              <a:ext uri="{FF2B5EF4-FFF2-40B4-BE49-F238E27FC236}">
                <a16:creationId xmlns:a16="http://schemas.microsoft.com/office/drawing/2014/main" id="{55CBEC8E-178D-40A7-BF66-4B8DF9777058}"/>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31</a:t>
            </a:r>
          </a:p>
        </p:txBody>
      </p:sp>
      <p:sp>
        <p:nvSpPr>
          <p:cNvPr id="5" name="implementation">
            <a:extLst xmlns:a="http://schemas.openxmlformats.org/drawingml/2006/main">
              <a:ext uri="{FF2B5EF4-FFF2-40B4-BE49-F238E27FC236}">
                <a16:creationId xmlns:a16="http://schemas.microsoft.com/office/drawing/2014/main" id="{5C8FD461-7F92-4986-BDEE-4EB24FBECB6F}"/>
              </a:ext>
            </a:extLst>
          </p:cNvPr>
          <p:cNvSpPr>
            <a:spLocks xmlns:a="http://schemas.openxmlformats.org/drawingml/2006/main" noGrp="1"/>
          </p:cNvSpPr>
          <p:nvPr/>
        </p:nvSpPr>
        <p:spPr>
          <a:xfrm xmlns:a="http://schemas.openxmlformats.org/drawingml/2006/main">
            <a:off x="685800" y="1857375"/>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Implementation</a:t>
            </a:r>
          </a:p>
        </p:txBody>
      </p:sp>
      <p:sp>
        <p:nvSpPr>
          <p:cNvPr id="6" name="acceptance">
            <a:extLst xmlns:a="http://schemas.openxmlformats.org/drawingml/2006/main">
              <a:ext uri="{FF2B5EF4-FFF2-40B4-BE49-F238E27FC236}">
                <a16:creationId xmlns:a16="http://schemas.microsoft.com/office/drawing/2014/main" id="{3B998D3A-5089-45FD-A304-D2FDAD58D423}"/>
              </a:ext>
            </a:extLst>
          </p:cNvPr>
          <p:cNvSpPr>
            <a:spLocks xmlns:a="http://schemas.openxmlformats.org/drawingml/2006/main" noGrp="1"/>
          </p:cNvSpPr>
          <p:nvPr/>
        </p:nvSpPr>
        <p:spPr>
          <a:xfrm xmlns:a="http://schemas.openxmlformats.org/drawingml/2006/main">
            <a:off x="7477125" y="1857375"/>
            <a:ext cx="4029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Acceptance</a:t>
            </a:r>
          </a:p>
        </p:txBody>
      </p:sp>
      <p:sp>
        <p:nvSpPr>
          <p:cNvPr id="7" name="task-0">
            <a:extLst xmlns:a="http://schemas.openxmlformats.org/drawingml/2006/main">
              <a:ext uri="{FF2B5EF4-FFF2-40B4-BE49-F238E27FC236}">
                <a16:creationId xmlns:a16="http://schemas.microsoft.com/office/drawing/2014/main" id="{A097F9F9-4B3D-4E62-B861-7481FB0F39F2}"/>
              </a:ext>
            </a:extLst>
          </p:cNvPr>
          <p:cNvSpPr>
            <a:spLocks xmlns:a="http://schemas.openxmlformats.org/drawingml/2006/main" noGrp="1"/>
          </p:cNvSpPr>
          <p:nvPr/>
        </p:nvSpPr>
        <p:spPr>
          <a:xfrm xmlns:a="http://schemas.openxmlformats.org/drawingml/2006/main">
            <a:off x="685800" y="2476500"/>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1. Expose GetInvoiceSummary through a narrow framework agent.</a:t>
            </a:r>
          </a:p>
        </p:txBody>
      </p:sp>
      <p:sp>
        <p:nvSpPr>
          <p:cNvPr id="8" name="task-1">
            <a:extLst xmlns:a="http://schemas.openxmlformats.org/drawingml/2006/main">
              <a:ext uri="{FF2B5EF4-FFF2-40B4-BE49-F238E27FC236}">
                <a16:creationId xmlns:a16="http://schemas.microsoft.com/office/drawing/2014/main" id="{70F92056-8EBB-4873-9FE0-F84D7A261719}"/>
              </a:ext>
            </a:extLst>
          </p:cNvPr>
          <p:cNvSpPr>
            <a:spLocks xmlns:a="http://schemas.openxmlformats.org/drawingml/2006/main" noGrp="1"/>
          </p:cNvSpPr>
          <p:nvPr/>
        </p:nvSpPr>
        <p:spPr>
          <a:xfrm xmlns:a="http://schemas.openxmlformats.org/drawingml/2006/main">
            <a:off x="685800" y="3495675"/>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2. Add shared input validation and a typed tool-outcome design.</a:t>
            </a:r>
          </a:p>
        </p:txBody>
      </p:sp>
      <p:sp>
        <p:nvSpPr>
          <p:cNvPr id="9" name="task-2">
            <a:extLst xmlns:a="http://schemas.openxmlformats.org/drawingml/2006/main">
              <a:ext uri="{FF2B5EF4-FFF2-40B4-BE49-F238E27FC236}">
                <a16:creationId xmlns:a16="http://schemas.microsoft.com/office/drawing/2014/main" id="{4281F1F1-B5BD-4C23-B9A4-BF8FF16B61E6}"/>
              </a:ext>
            </a:extLst>
          </p:cNvPr>
          <p:cNvSpPr>
            <a:spLocks xmlns:a="http://schemas.openxmlformats.org/drawingml/2006/main" noGrp="1"/>
          </p:cNvSpPr>
          <p:nvPr/>
        </p:nvSpPr>
        <p:spPr>
          <a:xfrm xmlns:a="http://schemas.openxmlformats.org/drawingml/2006/main">
            <a:off x="685800" y="4514850"/>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3. Return a structured answer with verified evidence identifiers.</a:t>
            </a:r>
          </a:p>
        </p:txBody>
      </p:sp>
      <p:sp>
        <p:nvSpPr>
          <p:cNvPr id="10" name="criterion-0">
            <a:extLst xmlns:a="http://schemas.openxmlformats.org/drawingml/2006/main">
              <a:ext uri="{FF2B5EF4-FFF2-40B4-BE49-F238E27FC236}">
                <a16:creationId xmlns:a16="http://schemas.microsoft.com/office/drawing/2014/main" id="{FCCBFE53-EC28-437B-8423-76B81B2DD7FF}"/>
              </a:ext>
            </a:extLst>
          </p:cNvPr>
          <p:cNvSpPr>
            <a:spLocks xmlns:a="http://schemas.openxmlformats.org/drawingml/2006/main" noGrp="1"/>
          </p:cNvSpPr>
          <p:nvPr/>
        </p:nvSpPr>
        <p:spPr>
          <a:xfrm xmlns:a="http://schemas.openxmlformats.org/drawingml/2006/main">
            <a:off x="7477125" y="2476500"/>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Failed reads cannot masquerade as a zero balance.</a:t>
            </a:r>
          </a:p>
        </p:txBody>
      </p:sp>
      <p:sp>
        <p:nvSpPr>
          <p:cNvPr id="11" name="criterion-1">
            <a:extLst xmlns:a="http://schemas.openxmlformats.org/drawingml/2006/main">
              <a:ext uri="{FF2B5EF4-FFF2-40B4-BE49-F238E27FC236}">
                <a16:creationId xmlns:a16="http://schemas.microsoft.com/office/drawing/2014/main" id="{A8945143-3665-4779-A3B2-B35B1A5F49B9}"/>
              </a:ext>
            </a:extLst>
          </p:cNvPr>
          <p:cNvSpPr>
            <a:spLocks xmlns:a="http://schemas.openxmlformats.org/drawingml/2006/main" noGrp="1"/>
          </p:cNvSpPr>
          <p:nvPr/>
        </p:nvSpPr>
        <p:spPr>
          <a:xfrm xmlns:a="http://schemas.openxmlformats.org/drawingml/2006/main">
            <a:off x="7477125" y="3495675"/>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An illegal transition remains rejected.</a:t>
            </a:r>
          </a:p>
        </p:txBody>
      </p:sp>
      <p:sp>
        <p:nvSpPr>
          <p:cNvPr id="12" name="criterion-2">
            <a:extLst xmlns:a="http://schemas.openxmlformats.org/drawingml/2006/main">
              <a:ext uri="{FF2B5EF4-FFF2-40B4-BE49-F238E27FC236}">
                <a16:creationId xmlns:a16="http://schemas.microsoft.com/office/drawing/2014/main" id="{BF8A4AFD-A7F4-42F1-B997-7EFBF0D324E1}"/>
              </a:ext>
            </a:extLst>
          </p:cNvPr>
          <p:cNvSpPr>
            <a:spLocks xmlns:a="http://schemas.openxmlformats.org/drawingml/2006/main" noGrp="1"/>
          </p:cNvSpPr>
          <p:nvPr/>
        </p:nvSpPr>
        <p:spPr>
          <a:xfrm xmlns:a="http://schemas.openxmlformats.org/drawingml/2006/main">
            <a:off x="7477125" y="4514850"/>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Analytics has no unnecessary mutation tools.</a:t>
            </a:r>
          </a:p>
        </p:txBody>
      </p:sp>
      <p:sp>
        <p:nvSpPr>
          <p:cNvPr id="13" name="lab-time">
            <a:extLst xmlns:a="http://schemas.openxmlformats.org/drawingml/2006/main">
              <a:ext uri="{FF2B5EF4-FFF2-40B4-BE49-F238E27FC236}">
                <a16:creationId xmlns:a16="http://schemas.microsoft.com/office/drawing/2014/main" id="{47641201-0203-47CD-946E-232B11A137D9}"/>
              </a:ext>
            </a:extLst>
          </p:cNvPr>
          <p:cNvSpPr>
            <a:spLocks xmlns:a="http://schemas.openxmlformats.org/drawingml/2006/main" noGrp="1"/>
          </p:cNvSpPr>
          <p:nvPr/>
        </p:nvSpPr>
        <p:spPr>
          <a:xfrm xmlns:a="http://schemas.openxmlformats.org/drawingml/2006/main">
            <a:off x="685800" y="588645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17384"/>
                </a:solidFill>
                <a:latin typeface="Segoe UI"/>
                <a:ea typeface="Segoe UI"/>
                <a:cs typeface="Segoe UI"/>
              </a:defRPr>
            </a:defPPr>
            <a:lvl1pPr algn="l">
              <a:defRPr sz="1500" b="0">
                <a:solidFill>
                  <a:srgbClr val="617384"/>
                </a:solidFill>
                <a:latin typeface="Segoe UI"/>
                <a:ea typeface="Segoe UI"/>
                <a:cs typeface="Segoe UI"/>
              </a:defRPr>
            </a:lvl1pPr>
            <a:lvl2pPr algn="l">
              <a:defRPr sz="1500" b="0">
                <a:solidFill>
                  <a:srgbClr val="617384"/>
                </a:solidFill>
                <a:latin typeface="Segoe UI"/>
                <a:ea typeface="Segoe UI"/>
                <a:cs typeface="Segoe UI"/>
              </a:defRPr>
            </a:lvl2pPr>
            <a:lvl3pPr algn="l">
              <a:defRPr sz="1500" b="0">
                <a:solidFill>
                  <a:srgbClr val="617384"/>
                </a:solidFill>
                <a:latin typeface="Segoe UI"/>
                <a:ea typeface="Segoe UI"/>
                <a:cs typeface="Segoe UI"/>
              </a:defRPr>
            </a:lvl3pPr>
            <a:lvl4pPr algn="l">
              <a:defRPr sz="1500" b="0">
                <a:solidFill>
                  <a:srgbClr val="617384"/>
                </a:solidFill>
                <a:latin typeface="Segoe UI"/>
                <a:ea typeface="Segoe UI"/>
                <a:cs typeface="Segoe UI"/>
              </a:defRPr>
            </a:lvl4pPr>
            <a:lvl5pPr algn="l">
              <a:defRPr sz="1500" b="0">
                <a:solidFill>
                  <a:srgbClr val="617384"/>
                </a:solidFill>
                <a:latin typeface="Segoe UI"/>
                <a:ea typeface="Segoe UI"/>
                <a:cs typeface="Segoe UI"/>
              </a:defRPr>
            </a:lvl5pPr>
            <a:lvl6pPr algn="l">
              <a:defRPr sz="1500" b="0">
                <a:solidFill>
                  <a:srgbClr val="617384"/>
                </a:solidFill>
                <a:latin typeface="Segoe UI"/>
                <a:ea typeface="Segoe UI"/>
                <a:cs typeface="Segoe UI"/>
              </a:defRPr>
            </a:lvl6pPr>
            <a:lvl7pPr algn="l">
              <a:defRPr sz="1500" b="0">
                <a:solidFill>
                  <a:srgbClr val="617384"/>
                </a:solidFill>
                <a:latin typeface="Segoe UI"/>
                <a:ea typeface="Segoe UI"/>
                <a:cs typeface="Segoe UI"/>
              </a:defRPr>
            </a:lvl7pPr>
            <a:lvl8pPr algn="l">
              <a:defRPr sz="1500" b="0">
                <a:solidFill>
                  <a:srgbClr val="617384"/>
                </a:solidFill>
                <a:latin typeface="Segoe UI"/>
                <a:ea typeface="Segoe UI"/>
                <a:cs typeface="Segoe UI"/>
              </a:defRPr>
            </a:lvl8pPr>
            <a:lvl9pPr algn="l">
              <a:defRPr sz="1500" b="0">
                <a:solidFill>
                  <a:srgbClr val="617384"/>
                </a:solidFill>
                <a:latin typeface="Segoe UI"/>
                <a:ea typeface="Segoe UI"/>
                <a:cs typeface="Segoe UI"/>
              </a:defRPr>
            </a:lvl9pPr>
          </a:lstStyle>
          <a:p xmlns:a="http://schemas.openxmlformats.org/drawingml/2006/main">
            <a:pPr algn="l">
              <a:defRPr sz="1500" b="0">
                <a:solidFill>
                  <a:srgbClr val="617384"/>
                </a:solidFill>
                <a:latin typeface="Segoe UI"/>
                <a:ea typeface="Segoe UI"/>
                <a:cs typeface="Segoe UI"/>
              </a:defRPr>
            </a:pPr>
            <a:r>
              <a:rPr sz="1500" b="0">
                <a:solidFill>
                  <a:srgbClr val="617384"/>
                </a:solidFill>
                <a:latin typeface="Segoe UI"/>
                <a:ea typeface="Segoe UI"/>
                <a:cs typeface="Segoe UI"/>
              </a:rPr>
              <a:t>Suggested lab work: 70 minutes. Review the evidence before continuing.</a:t>
            </a:r>
          </a:p>
        </p:txBody>
      </p:sp>
    </p:spTree>
    <p:extLst>
      <p:ext uri="{BB962C8B-B14F-4D97-AF65-F5344CB8AC3E}">
        <p14:creationId xmlns:p14="http://schemas.microsoft.com/office/powerpoint/2010/main" val="1063263930"/>
      </p:ext>
    </p:extLst>
  </p:cSld>
  <p:extLst>
    <p:ext uri="{6950BFC3-D8DA-4A85-94F7-54DA5524770B}">
      <p188:commentRel xmlns:r="http://schemas.openxmlformats.org/officeDocument/2006/relationships" xmlns:p188="http://schemas.microsoft.com/office/powerpoint/2018/8/main" r:id="Raf0fc50199de4f1f"/>
    </p:ext>
  </p:extLst>
</p:sld>
</file>

<file path=ppt/slides/slide32.xml><?xml version="1.0" encoding="utf-8"?>
<p:sld xmlns:p="http://schemas.openxmlformats.org/presentationml/2006/main">
  <p:cSld>
    <p:bg>
      <p:bgPr>
        <a:solidFill xmlns:a="http://schemas.openxmlformats.org/drawingml/2006/main">
          <a:srgbClr val="06182B"/>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64278F7-E882-4785-9E6B-E38F8AD5DE6B}"/>
              </a:ext>
            </a:extLst>
          </p:cNvPr>
          <p:cNvPicPr>
            <a:picLocks xmlns:a="http://schemas.openxmlformats.org/drawingml/2006/main" noChangeAspect="1"/>
          </p:cNvPicPr>
          <p:nvPr/>
        </p:nvPicPr>
        <p:blipFill>
          <a:blip xmlns:r="http://schemas.openxmlformats.org/officeDocument/2006/relationships" xmlns:a="http://schemas.openxmlformats.org/drawingml/2006/main" r:embed="Rc9503d78bbde413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ntext">
            <a:extLst xmlns:a="http://schemas.openxmlformats.org/drawingml/2006/main">
              <a:ext uri="{FF2B5EF4-FFF2-40B4-BE49-F238E27FC236}">
                <a16:creationId xmlns:a16="http://schemas.microsoft.com/office/drawing/2014/main" id="{98D6134E-5728-44CF-B2AE-68025148F7EF}"/>
              </a:ext>
            </a:extLst>
          </p:cNvPr>
          <p:cNvSpPr>
            <a:spLocks xmlns:a="http://schemas.openxmlformats.org/drawingml/2006/main" noGrp="1"/>
          </p:cNvSpPr>
          <p:nvPr/>
        </p:nvSpPr>
        <p:spPr>
          <a:xfrm xmlns:a="http://schemas.openxmlformats.org/drawingml/2006/main">
            <a:off x="647700" y="95250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73DEDC"/>
                </a:solidFill>
                <a:latin typeface="Segoe UI"/>
                <a:ea typeface="Segoe UI"/>
                <a:cs typeface="Segoe UI"/>
              </a:defRPr>
            </a:defPPr>
            <a:lvl1pPr algn="l">
              <a:defRPr sz="1500" b="1">
                <a:solidFill>
                  <a:srgbClr val="73DEDC"/>
                </a:solidFill>
                <a:latin typeface="Segoe UI"/>
                <a:ea typeface="Segoe UI"/>
                <a:cs typeface="Segoe UI"/>
              </a:defRPr>
            </a:lvl1pPr>
            <a:lvl2pPr algn="l">
              <a:defRPr sz="1500" b="1">
                <a:solidFill>
                  <a:srgbClr val="73DEDC"/>
                </a:solidFill>
                <a:latin typeface="Segoe UI"/>
                <a:ea typeface="Segoe UI"/>
                <a:cs typeface="Segoe UI"/>
              </a:defRPr>
            </a:lvl2pPr>
            <a:lvl3pPr algn="l">
              <a:defRPr sz="1500" b="1">
                <a:solidFill>
                  <a:srgbClr val="73DEDC"/>
                </a:solidFill>
                <a:latin typeface="Segoe UI"/>
                <a:ea typeface="Segoe UI"/>
                <a:cs typeface="Segoe UI"/>
              </a:defRPr>
            </a:lvl3pPr>
            <a:lvl4pPr algn="l">
              <a:defRPr sz="1500" b="1">
                <a:solidFill>
                  <a:srgbClr val="73DEDC"/>
                </a:solidFill>
                <a:latin typeface="Segoe UI"/>
                <a:ea typeface="Segoe UI"/>
                <a:cs typeface="Segoe UI"/>
              </a:defRPr>
            </a:lvl4pPr>
            <a:lvl5pPr algn="l">
              <a:defRPr sz="1500" b="1">
                <a:solidFill>
                  <a:srgbClr val="73DEDC"/>
                </a:solidFill>
                <a:latin typeface="Segoe UI"/>
                <a:ea typeface="Segoe UI"/>
                <a:cs typeface="Segoe UI"/>
              </a:defRPr>
            </a:lvl5pPr>
            <a:lvl6pPr algn="l">
              <a:defRPr sz="1500" b="1">
                <a:solidFill>
                  <a:srgbClr val="73DEDC"/>
                </a:solidFill>
                <a:latin typeface="Segoe UI"/>
                <a:ea typeface="Segoe UI"/>
                <a:cs typeface="Segoe UI"/>
              </a:defRPr>
            </a:lvl6pPr>
            <a:lvl7pPr algn="l">
              <a:defRPr sz="1500" b="1">
                <a:solidFill>
                  <a:srgbClr val="73DEDC"/>
                </a:solidFill>
                <a:latin typeface="Segoe UI"/>
                <a:ea typeface="Segoe UI"/>
                <a:cs typeface="Segoe UI"/>
              </a:defRPr>
            </a:lvl7pPr>
            <a:lvl8pPr algn="l">
              <a:defRPr sz="1500" b="1">
                <a:solidFill>
                  <a:srgbClr val="73DEDC"/>
                </a:solidFill>
                <a:latin typeface="Segoe UI"/>
                <a:ea typeface="Segoe UI"/>
                <a:cs typeface="Segoe UI"/>
              </a:defRPr>
            </a:lvl8pPr>
            <a:lvl9pPr algn="l">
              <a:defRPr sz="1500" b="1">
                <a:solidFill>
                  <a:srgbClr val="73DEDC"/>
                </a:solidFill>
                <a:latin typeface="Segoe UI"/>
                <a:ea typeface="Segoe UI"/>
                <a:cs typeface="Segoe UI"/>
              </a:defRPr>
            </a:lvl9pPr>
          </a:lstStyle>
          <a:p xmlns:a="http://schemas.openxmlformats.org/drawingml/2006/main">
            <a:pPr algn="l">
              <a:defRPr sz="1500" b="1">
                <a:solidFill>
                  <a:srgbClr val="73DEDC"/>
                </a:solidFill>
                <a:latin typeface="Segoe UI"/>
                <a:ea typeface="Segoe UI"/>
                <a:cs typeface="Segoe UI"/>
              </a:defRPr>
            </a:pPr>
            <a:r>
              <a:rPr sz="1500" b="1">
                <a:solidFill>
                  <a:srgbClr val="73DEDC"/>
                </a:solidFill>
                <a:latin typeface="Segoe UI"/>
                <a:ea typeface="Segoe UI"/>
                <a:cs typeface="Segoe UI"/>
              </a:rPr>
              <a:t>MODULE 04</a:t>
            </a:r>
          </a:p>
        </p:txBody>
      </p:sp>
      <p:sp>
        <p:nvSpPr>
          <p:cNvPr id="3" name="title">
            <a:extLst xmlns:a="http://schemas.openxmlformats.org/drawingml/2006/main">
              <a:ext uri="{FF2B5EF4-FFF2-40B4-BE49-F238E27FC236}">
                <a16:creationId xmlns:a16="http://schemas.microsoft.com/office/drawing/2014/main" id="{689DEBC6-62A9-4EF7-B9FB-7B85DCAFCE50}"/>
              </a:ext>
            </a:extLst>
          </p:cNvPr>
          <p:cNvSpPr>
            <a:spLocks xmlns:a="http://schemas.openxmlformats.org/drawingml/2006/main" noGrp="1"/>
          </p:cNvSpPr>
          <p:nvPr/>
        </p:nvSpPr>
        <p:spPr>
          <a:xfrm xmlns:a="http://schemas.openxmlformats.org/drawingml/2006/main">
            <a:off x="647700" y="1809750"/>
            <a:ext cx="6858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Segoe UI"/>
                <a:ea typeface="Segoe UI"/>
                <a:cs typeface="Segoe UI"/>
              </a:defRPr>
            </a:defPPr>
            <a:lvl1pPr algn="l">
              <a:defRPr sz="3900" b="1">
                <a:solidFill>
                  <a:srgbClr val="FFFFFF"/>
                </a:solidFill>
                <a:latin typeface="Segoe UI"/>
                <a:ea typeface="Segoe UI"/>
                <a:cs typeface="Segoe UI"/>
              </a:defRPr>
            </a:lvl1pPr>
            <a:lvl2pPr algn="l">
              <a:defRPr sz="3900" b="1">
                <a:solidFill>
                  <a:srgbClr val="FFFFFF"/>
                </a:solidFill>
                <a:latin typeface="Segoe UI"/>
                <a:ea typeface="Segoe UI"/>
                <a:cs typeface="Segoe UI"/>
              </a:defRPr>
            </a:lvl2pPr>
            <a:lvl3pPr algn="l">
              <a:defRPr sz="3900" b="1">
                <a:solidFill>
                  <a:srgbClr val="FFFFFF"/>
                </a:solidFill>
                <a:latin typeface="Segoe UI"/>
                <a:ea typeface="Segoe UI"/>
                <a:cs typeface="Segoe UI"/>
              </a:defRPr>
            </a:lvl3pPr>
            <a:lvl4pPr algn="l">
              <a:defRPr sz="3900" b="1">
                <a:solidFill>
                  <a:srgbClr val="FFFFFF"/>
                </a:solidFill>
                <a:latin typeface="Segoe UI"/>
                <a:ea typeface="Segoe UI"/>
                <a:cs typeface="Segoe UI"/>
              </a:defRPr>
            </a:lvl4pPr>
            <a:lvl5pPr algn="l">
              <a:defRPr sz="3900" b="1">
                <a:solidFill>
                  <a:srgbClr val="FFFFFF"/>
                </a:solidFill>
                <a:latin typeface="Segoe UI"/>
                <a:ea typeface="Segoe UI"/>
                <a:cs typeface="Segoe UI"/>
              </a:defRPr>
            </a:lvl5pPr>
            <a:lvl6pPr algn="l">
              <a:defRPr sz="3900" b="1">
                <a:solidFill>
                  <a:srgbClr val="FFFFFF"/>
                </a:solidFill>
                <a:latin typeface="Segoe UI"/>
                <a:ea typeface="Segoe UI"/>
                <a:cs typeface="Segoe UI"/>
              </a:defRPr>
            </a:lvl6pPr>
            <a:lvl7pPr algn="l">
              <a:defRPr sz="3900" b="1">
                <a:solidFill>
                  <a:srgbClr val="FFFFFF"/>
                </a:solidFill>
                <a:latin typeface="Segoe UI"/>
                <a:ea typeface="Segoe UI"/>
                <a:cs typeface="Segoe UI"/>
              </a:defRPr>
            </a:lvl7pPr>
            <a:lvl8pPr algn="l">
              <a:defRPr sz="3900" b="1">
                <a:solidFill>
                  <a:srgbClr val="FFFFFF"/>
                </a:solidFill>
                <a:latin typeface="Segoe UI"/>
                <a:ea typeface="Segoe UI"/>
                <a:cs typeface="Segoe UI"/>
              </a:defRPr>
            </a:lvl8pPr>
            <a:lvl9pPr algn="l">
              <a:defRPr sz="3900" b="1">
                <a:solidFill>
                  <a:srgbClr val="FFFFFF"/>
                </a:solidFill>
                <a:latin typeface="Segoe UI"/>
                <a:ea typeface="Segoe UI"/>
                <a:cs typeface="Segoe UI"/>
              </a:defRPr>
            </a:lvl9pPr>
          </a:lstStyle>
          <a:p xmlns:a="http://schemas.openxmlformats.org/drawingml/2006/main">
            <a:pPr algn="l">
              <a:defRPr sz="3900" b="1">
                <a:solidFill>
                  <a:srgbClr val="FFFFFF"/>
                </a:solidFill>
                <a:latin typeface="Segoe UI"/>
                <a:ea typeface="Segoe UI"/>
                <a:cs typeface="Segoe UI"/>
              </a:defRPr>
            </a:pPr>
            <a:r>
              <a:rPr sz="3900" b="1">
                <a:solidFill>
                  <a:srgbClr val="FFFFFF"/>
                </a:solidFill>
                <a:latin typeface="Segoe UI"/>
                <a:ea typeface="Segoe UI"/>
                <a:cs typeface="Segoe UI"/>
              </a:rPr>
              <a:t>Prompts and conversation state</a:t>
            </a:r>
          </a:p>
        </p:txBody>
      </p:sp>
      <p:sp>
        <p:nvSpPr>
          <p:cNvPr id="4" name="subtitle">
            <a:extLst xmlns:a="http://schemas.openxmlformats.org/drawingml/2006/main">
              <a:ext uri="{FF2B5EF4-FFF2-40B4-BE49-F238E27FC236}">
                <a16:creationId xmlns:a16="http://schemas.microsoft.com/office/drawing/2014/main" id="{C7381D52-FB20-4E57-88C6-770E0BC2D17C}"/>
              </a:ext>
            </a:extLst>
          </p:cNvPr>
          <p:cNvSpPr>
            <a:spLocks xmlns:a="http://schemas.openxmlformats.org/drawingml/2006/main" noGrp="1"/>
          </p:cNvSpPr>
          <p:nvPr/>
        </p:nvSpPr>
        <p:spPr>
          <a:xfrm xmlns:a="http://schemas.openxmlformats.org/drawingml/2006/main">
            <a:off x="647700" y="4000500"/>
            <a:ext cx="619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D9E6F0"/>
                </a:solidFill>
                <a:latin typeface="Segoe UI"/>
                <a:ea typeface="Segoe UI"/>
                <a:cs typeface="Segoe UI"/>
              </a:defRPr>
            </a:defPPr>
            <a:lvl1pPr algn="l">
              <a:defRPr sz="2025" b="0">
                <a:solidFill>
                  <a:srgbClr val="D9E6F0"/>
                </a:solidFill>
                <a:latin typeface="Segoe UI"/>
                <a:ea typeface="Segoe UI"/>
                <a:cs typeface="Segoe UI"/>
              </a:defRPr>
            </a:lvl1pPr>
            <a:lvl2pPr algn="l">
              <a:defRPr sz="2025" b="0">
                <a:solidFill>
                  <a:srgbClr val="D9E6F0"/>
                </a:solidFill>
                <a:latin typeface="Segoe UI"/>
                <a:ea typeface="Segoe UI"/>
                <a:cs typeface="Segoe UI"/>
              </a:defRPr>
            </a:lvl2pPr>
            <a:lvl3pPr algn="l">
              <a:defRPr sz="2025" b="0">
                <a:solidFill>
                  <a:srgbClr val="D9E6F0"/>
                </a:solidFill>
                <a:latin typeface="Segoe UI"/>
                <a:ea typeface="Segoe UI"/>
                <a:cs typeface="Segoe UI"/>
              </a:defRPr>
            </a:lvl3pPr>
            <a:lvl4pPr algn="l">
              <a:defRPr sz="2025" b="0">
                <a:solidFill>
                  <a:srgbClr val="D9E6F0"/>
                </a:solidFill>
                <a:latin typeface="Segoe UI"/>
                <a:ea typeface="Segoe UI"/>
                <a:cs typeface="Segoe UI"/>
              </a:defRPr>
            </a:lvl4pPr>
            <a:lvl5pPr algn="l">
              <a:defRPr sz="2025" b="0">
                <a:solidFill>
                  <a:srgbClr val="D9E6F0"/>
                </a:solidFill>
                <a:latin typeface="Segoe UI"/>
                <a:ea typeface="Segoe UI"/>
                <a:cs typeface="Segoe UI"/>
              </a:defRPr>
            </a:lvl5pPr>
            <a:lvl6pPr algn="l">
              <a:defRPr sz="2025" b="0">
                <a:solidFill>
                  <a:srgbClr val="D9E6F0"/>
                </a:solidFill>
                <a:latin typeface="Segoe UI"/>
                <a:ea typeface="Segoe UI"/>
                <a:cs typeface="Segoe UI"/>
              </a:defRPr>
            </a:lvl6pPr>
            <a:lvl7pPr algn="l">
              <a:defRPr sz="2025" b="0">
                <a:solidFill>
                  <a:srgbClr val="D9E6F0"/>
                </a:solidFill>
                <a:latin typeface="Segoe UI"/>
                <a:ea typeface="Segoe UI"/>
                <a:cs typeface="Segoe UI"/>
              </a:defRPr>
            </a:lvl7pPr>
            <a:lvl8pPr algn="l">
              <a:defRPr sz="2025" b="0">
                <a:solidFill>
                  <a:srgbClr val="D9E6F0"/>
                </a:solidFill>
                <a:latin typeface="Segoe UI"/>
                <a:ea typeface="Segoe UI"/>
                <a:cs typeface="Segoe UI"/>
              </a:defRPr>
            </a:lvl8pPr>
            <a:lvl9pPr algn="l">
              <a:defRPr sz="2025" b="0">
                <a:solidFill>
                  <a:srgbClr val="D9E6F0"/>
                </a:solidFill>
                <a:latin typeface="Segoe UI"/>
                <a:ea typeface="Segoe UI"/>
                <a:cs typeface="Segoe UI"/>
              </a:defRPr>
            </a:lvl9pPr>
          </a:lstStyle>
          <a:p xmlns:a="http://schemas.openxmlformats.org/drawingml/2006/main">
            <a:pPr algn="l">
              <a:defRPr sz="2025" b="0">
                <a:solidFill>
                  <a:srgbClr val="D9E6F0"/>
                </a:solidFill>
                <a:latin typeface="Segoe UI"/>
                <a:ea typeface="Segoe UI"/>
                <a:cs typeface="Segoe UI"/>
              </a:defRPr>
            </a:pPr>
            <a:r>
              <a:rPr sz="2025" b="0">
                <a:solidFill>
                  <a:srgbClr val="D9E6F0"/>
                </a:solidFill>
                <a:latin typeface="Segoe UI"/>
                <a:ea typeface="Segoe UI"/>
                <a:cs typeface="Segoe UI"/>
              </a:rPr>
              <a:t>Instructions and memory that respect application trust boundaries</a:t>
            </a:r>
          </a:p>
        </p:txBody>
      </p:sp>
      <p:sp>
        <p:nvSpPr>
          <p:cNvPr id="5" name="footer">
            <a:extLst xmlns:a="http://schemas.openxmlformats.org/drawingml/2006/main">
              <a:ext uri="{FF2B5EF4-FFF2-40B4-BE49-F238E27FC236}">
                <a16:creationId xmlns:a16="http://schemas.microsoft.com/office/drawing/2014/main" id="{916BE9F5-64BA-4EAB-A907-BF52CB3EB972}"/>
              </a:ext>
            </a:extLst>
          </p:cNvPr>
          <p:cNvSpPr>
            <a:spLocks xmlns:a="http://schemas.openxmlformats.org/drawingml/2006/main" noGrp="1"/>
          </p:cNvSpPr>
          <p:nvPr/>
        </p:nvSpPr>
        <p:spPr>
          <a:xfrm xmlns:a="http://schemas.openxmlformats.org/drawingml/2006/main">
            <a:off x="647700" y="6153150"/>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BC0D2"/>
                </a:solidFill>
                <a:latin typeface="Segoe UI"/>
                <a:ea typeface="Segoe UI"/>
                <a:cs typeface="Segoe UI"/>
              </a:defRPr>
            </a:defPPr>
            <a:lvl1pPr algn="l">
              <a:defRPr sz="1275" b="0">
                <a:solidFill>
                  <a:srgbClr val="ABC0D2"/>
                </a:solidFill>
                <a:latin typeface="Segoe UI"/>
                <a:ea typeface="Segoe UI"/>
                <a:cs typeface="Segoe UI"/>
              </a:defRPr>
            </a:lvl1pPr>
            <a:lvl2pPr algn="l">
              <a:defRPr sz="1275" b="0">
                <a:solidFill>
                  <a:srgbClr val="ABC0D2"/>
                </a:solidFill>
                <a:latin typeface="Segoe UI"/>
                <a:ea typeface="Segoe UI"/>
                <a:cs typeface="Segoe UI"/>
              </a:defRPr>
            </a:lvl2pPr>
            <a:lvl3pPr algn="l">
              <a:defRPr sz="1275" b="0">
                <a:solidFill>
                  <a:srgbClr val="ABC0D2"/>
                </a:solidFill>
                <a:latin typeface="Segoe UI"/>
                <a:ea typeface="Segoe UI"/>
                <a:cs typeface="Segoe UI"/>
              </a:defRPr>
            </a:lvl3pPr>
            <a:lvl4pPr algn="l">
              <a:defRPr sz="1275" b="0">
                <a:solidFill>
                  <a:srgbClr val="ABC0D2"/>
                </a:solidFill>
                <a:latin typeface="Segoe UI"/>
                <a:ea typeface="Segoe UI"/>
                <a:cs typeface="Segoe UI"/>
              </a:defRPr>
            </a:lvl4pPr>
            <a:lvl5pPr algn="l">
              <a:defRPr sz="1275" b="0">
                <a:solidFill>
                  <a:srgbClr val="ABC0D2"/>
                </a:solidFill>
                <a:latin typeface="Segoe UI"/>
                <a:ea typeface="Segoe UI"/>
                <a:cs typeface="Segoe UI"/>
              </a:defRPr>
            </a:lvl5pPr>
            <a:lvl6pPr algn="l">
              <a:defRPr sz="1275" b="0">
                <a:solidFill>
                  <a:srgbClr val="ABC0D2"/>
                </a:solidFill>
                <a:latin typeface="Segoe UI"/>
                <a:ea typeface="Segoe UI"/>
                <a:cs typeface="Segoe UI"/>
              </a:defRPr>
            </a:lvl6pPr>
            <a:lvl7pPr algn="l">
              <a:defRPr sz="1275" b="0">
                <a:solidFill>
                  <a:srgbClr val="ABC0D2"/>
                </a:solidFill>
                <a:latin typeface="Segoe UI"/>
                <a:ea typeface="Segoe UI"/>
                <a:cs typeface="Segoe UI"/>
              </a:defRPr>
            </a:lvl7pPr>
            <a:lvl8pPr algn="l">
              <a:defRPr sz="1275" b="0">
                <a:solidFill>
                  <a:srgbClr val="ABC0D2"/>
                </a:solidFill>
                <a:latin typeface="Segoe UI"/>
                <a:ea typeface="Segoe UI"/>
                <a:cs typeface="Segoe UI"/>
              </a:defRPr>
            </a:lvl8pPr>
            <a:lvl9pPr algn="l">
              <a:defRPr sz="1275" b="0">
                <a:solidFill>
                  <a:srgbClr val="ABC0D2"/>
                </a:solidFill>
                <a:latin typeface="Segoe UI"/>
                <a:ea typeface="Segoe UI"/>
                <a:cs typeface="Segoe UI"/>
              </a:defRPr>
            </a:lvl9pPr>
          </a:lstStyle>
          <a:p xmlns:a="http://schemas.openxmlformats.org/drawingml/2006/main">
            <a:pPr algn="l">
              <a:defRPr sz="1275" b="0">
                <a:solidFill>
                  <a:srgbClr val="ABC0D2"/>
                </a:solidFill>
                <a:latin typeface="Segoe UI"/>
                <a:ea typeface="Segoe UI"/>
                <a:cs typeface="Segoe UI"/>
              </a:defRPr>
            </a:pPr>
            <a:r>
              <a:rPr sz="1275" b="0">
                <a:solidFill>
                  <a:srgbClr val="ABC0D2"/>
                </a:solidFill>
                <a:latin typeface="Segoe UI"/>
                <a:ea typeface="Segoe UI"/>
                <a:cs typeface="Segoe UI"/>
              </a:rPr>
              <a:t>3 contact hours including the module lab</a:t>
            </a:r>
          </a:p>
        </p:txBody>
      </p:sp>
      <p:sp>
        <p:nvSpPr>
          <p:cNvPr id="6" name="page">
            <a:extLst xmlns:a="http://schemas.openxmlformats.org/drawingml/2006/main">
              <a:ext uri="{FF2B5EF4-FFF2-40B4-BE49-F238E27FC236}">
                <a16:creationId xmlns:a16="http://schemas.microsoft.com/office/drawing/2014/main" id="{43F588D7-BBDB-4B18-AB46-FAFF10175D46}"/>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ABC0D2"/>
                </a:solidFill>
                <a:latin typeface="Segoe UI"/>
                <a:ea typeface="Segoe UI"/>
                <a:cs typeface="Segoe UI"/>
              </a:defRPr>
            </a:defPPr>
            <a:lvl1pPr algn="r">
              <a:defRPr sz="1050" b="0">
                <a:solidFill>
                  <a:srgbClr val="ABC0D2"/>
                </a:solidFill>
                <a:latin typeface="Segoe UI"/>
                <a:ea typeface="Segoe UI"/>
                <a:cs typeface="Segoe UI"/>
              </a:defRPr>
            </a:lvl1pPr>
            <a:lvl2pPr algn="r">
              <a:defRPr sz="1050" b="0">
                <a:solidFill>
                  <a:srgbClr val="ABC0D2"/>
                </a:solidFill>
                <a:latin typeface="Segoe UI"/>
                <a:ea typeface="Segoe UI"/>
                <a:cs typeface="Segoe UI"/>
              </a:defRPr>
            </a:lvl2pPr>
            <a:lvl3pPr algn="r">
              <a:defRPr sz="1050" b="0">
                <a:solidFill>
                  <a:srgbClr val="ABC0D2"/>
                </a:solidFill>
                <a:latin typeface="Segoe UI"/>
                <a:ea typeface="Segoe UI"/>
                <a:cs typeface="Segoe UI"/>
              </a:defRPr>
            </a:lvl3pPr>
            <a:lvl4pPr algn="r">
              <a:defRPr sz="1050" b="0">
                <a:solidFill>
                  <a:srgbClr val="ABC0D2"/>
                </a:solidFill>
                <a:latin typeface="Segoe UI"/>
                <a:ea typeface="Segoe UI"/>
                <a:cs typeface="Segoe UI"/>
              </a:defRPr>
            </a:lvl4pPr>
            <a:lvl5pPr algn="r">
              <a:defRPr sz="1050" b="0">
                <a:solidFill>
                  <a:srgbClr val="ABC0D2"/>
                </a:solidFill>
                <a:latin typeface="Segoe UI"/>
                <a:ea typeface="Segoe UI"/>
                <a:cs typeface="Segoe UI"/>
              </a:defRPr>
            </a:lvl5pPr>
            <a:lvl6pPr algn="r">
              <a:defRPr sz="1050" b="0">
                <a:solidFill>
                  <a:srgbClr val="ABC0D2"/>
                </a:solidFill>
                <a:latin typeface="Segoe UI"/>
                <a:ea typeface="Segoe UI"/>
                <a:cs typeface="Segoe UI"/>
              </a:defRPr>
            </a:lvl6pPr>
            <a:lvl7pPr algn="r">
              <a:defRPr sz="1050" b="0">
                <a:solidFill>
                  <a:srgbClr val="ABC0D2"/>
                </a:solidFill>
                <a:latin typeface="Segoe UI"/>
                <a:ea typeface="Segoe UI"/>
                <a:cs typeface="Segoe UI"/>
              </a:defRPr>
            </a:lvl7pPr>
            <a:lvl8pPr algn="r">
              <a:defRPr sz="1050" b="0">
                <a:solidFill>
                  <a:srgbClr val="ABC0D2"/>
                </a:solidFill>
                <a:latin typeface="Segoe UI"/>
                <a:ea typeface="Segoe UI"/>
                <a:cs typeface="Segoe UI"/>
              </a:defRPr>
            </a:lvl8pPr>
            <a:lvl9pPr algn="r">
              <a:defRPr sz="1050" b="0">
                <a:solidFill>
                  <a:srgbClr val="ABC0D2"/>
                </a:solidFill>
                <a:latin typeface="Segoe UI"/>
                <a:ea typeface="Segoe UI"/>
                <a:cs typeface="Segoe UI"/>
              </a:defRPr>
            </a:lvl9pPr>
          </a:lstStyle>
          <a:p xmlns:a="http://schemas.openxmlformats.org/drawingml/2006/main">
            <a:pPr algn="r">
              <a:defRPr sz="1050" b="0">
                <a:solidFill>
                  <a:srgbClr val="ABC0D2"/>
                </a:solidFill>
                <a:latin typeface="Segoe UI"/>
                <a:ea typeface="Segoe UI"/>
                <a:cs typeface="Segoe UI"/>
              </a:defRPr>
            </a:pPr>
            <a:r>
              <a:rPr sz="1050" b="0">
                <a:solidFill>
                  <a:srgbClr val="ABC0D2"/>
                </a:solidFill>
                <a:latin typeface="Segoe UI"/>
                <a:ea typeface="Segoe UI"/>
                <a:cs typeface="Segoe UI"/>
              </a:rPr>
              <a:t>32</a:t>
            </a:r>
          </a:p>
        </p:txBody>
      </p:sp>
    </p:spTree>
    <p:extLst>
      <p:ext uri="{BB962C8B-B14F-4D97-AF65-F5344CB8AC3E}">
        <p14:creationId xmlns:p14="http://schemas.microsoft.com/office/powerpoint/2010/main" val="581484416"/>
      </p:ext>
    </p:extLst>
  </p:cSld>
  <p:extLst>
    <p:ext uri="{6950BFC3-D8DA-4A85-94F7-54DA5524770B}">
      <p188:commentRel xmlns:r="http://schemas.openxmlformats.org/officeDocument/2006/relationships" xmlns:p188="http://schemas.microsoft.com/office/powerpoint/2018/8/main" r:id="Rf2bbf3db9f5f4458"/>
    </p:ext>
  </p:extLst>
</p:sld>
</file>

<file path=ppt/slides/slide3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270DACAB-AC6F-4EA4-8A4A-9616A0F1FCF0}"/>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Prompt design</a:t>
            </a:r>
          </a:p>
        </p:txBody>
      </p:sp>
      <p:sp>
        <p:nvSpPr>
          <p:cNvPr id="2" name="title">
            <a:extLst xmlns:a="http://schemas.openxmlformats.org/drawingml/2006/main">
              <a:ext uri="{FF2B5EF4-FFF2-40B4-BE49-F238E27FC236}">
                <a16:creationId xmlns:a16="http://schemas.microsoft.com/office/drawing/2014/main" id="{FD7EF64F-6FE0-4E9C-B63F-D2248817971D}"/>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The instruction contract</a:t>
            </a:r>
          </a:p>
        </p:txBody>
      </p:sp>
      <p:sp>
        <p:nvSpPr>
          <p:cNvPr id="3" name="footer">
            <a:extLst xmlns:a="http://schemas.openxmlformats.org/drawingml/2006/main">
              <a:ext uri="{FF2B5EF4-FFF2-40B4-BE49-F238E27FC236}">
                <a16:creationId xmlns:a16="http://schemas.microsoft.com/office/drawing/2014/main" id="{CE849CEC-B983-4B44-8868-A8436D62439F}"/>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04  Prompts and conversation state</a:t>
            </a:r>
          </a:p>
        </p:txBody>
      </p:sp>
      <p:sp>
        <p:nvSpPr>
          <p:cNvPr id="4" name="page">
            <a:extLst xmlns:a="http://schemas.openxmlformats.org/drawingml/2006/main">
              <a:ext uri="{FF2B5EF4-FFF2-40B4-BE49-F238E27FC236}">
                <a16:creationId xmlns:a16="http://schemas.microsoft.com/office/drawing/2014/main" id="{5E6021AF-F169-45F4-9A7C-C411CB6C5D11}"/>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33</a:t>
            </a:r>
          </a:p>
        </p:txBody>
      </p:sp>
      <p:sp>
        <p:nvSpPr>
          <p:cNvPr id="5" name="label-0">
            <a:extLst xmlns:a="http://schemas.openxmlformats.org/drawingml/2006/main">
              <a:ext uri="{FF2B5EF4-FFF2-40B4-BE49-F238E27FC236}">
                <a16:creationId xmlns:a16="http://schemas.microsoft.com/office/drawing/2014/main" id="{252AF95E-CCDE-43BA-AD76-5B0E359CD8A1}"/>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Task</a:t>
            </a:r>
          </a:p>
        </p:txBody>
      </p:sp>
      <p:sp>
        <p:nvSpPr>
          <p:cNvPr id="6" name="point-0">
            <a:extLst xmlns:a="http://schemas.openxmlformats.org/drawingml/2006/main">
              <a:ext uri="{FF2B5EF4-FFF2-40B4-BE49-F238E27FC236}">
                <a16:creationId xmlns:a16="http://schemas.microsoft.com/office/drawing/2014/main" id="{330C483A-DE25-4CB6-BBCE-33A8B88F4D59}"/>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Explain billing data using authoritative tools.</a:t>
            </a:r>
          </a:p>
        </p:txBody>
      </p:sp>
      <p:sp>
        <p:nvSpPr>
          <p:cNvPr id="7" name="label-1">
            <a:extLst xmlns:a="http://schemas.openxmlformats.org/drawingml/2006/main">
              <a:ext uri="{FF2B5EF4-FFF2-40B4-BE49-F238E27FC236}">
                <a16:creationId xmlns:a16="http://schemas.microsoft.com/office/drawing/2014/main" id="{FDA9E48E-B2DF-4965-96CB-64A5B1F399A4}"/>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Evidence</a:t>
            </a:r>
          </a:p>
        </p:txBody>
      </p:sp>
      <p:sp>
        <p:nvSpPr>
          <p:cNvPr id="8" name="point-1">
            <a:extLst xmlns:a="http://schemas.openxmlformats.org/drawingml/2006/main">
              <a:ext uri="{FF2B5EF4-FFF2-40B4-BE49-F238E27FC236}">
                <a16:creationId xmlns:a16="http://schemas.microsoft.com/office/drawing/2014/main" id="{89FDC0CE-2CEC-401F-A4C2-4450206E2551}"/>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Use the returned values and identify their scope.</a:t>
            </a:r>
          </a:p>
        </p:txBody>
      </p:sp>
      <p:sp>
        <p:nvSpPr>
          <p:cNvPr id="9" name="label-2">
            <a:extLst xmlns:a="http://schemas.openxmlformats.org/drawingml/2006/main">
              <a:ext uri="{FF2B5EF4-FFF2-40B4-BE49-F238E27FC236}">
                <a16:creationId xmlns:a16="http://schemas.microsoft.com/office/drawing/2014/main" id="{7BD1FD57-FFDE-45B8-BCDA-95B3F80785BC}"/>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Uncertainty</a:t>
            </a:r>
          </a:p>
        </p:txBody>
      </p:sp>
      <p:sp>
        <p:nvSpPr>
          <p:cNvPr id="10" name="point-2">
            <a:extLst xmlns:a="http://schemas.openxmlformats.org/drawingml/2006/main">
              <a:ext uri="{FF2B5EF4-FFF2-40B4-BE49-F238E27FC236}">
                <a16:creationId xmlns:a16="http://schemas.microsoft.com/office/drawing/2014/main" id="{F4DE465D-0A24-437D-BE24-8FE35318CB73}"/>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Ask for missing identifiers or state that data is unavailable.</a:t>
            </a:r>
          </a:p>
        </p:txBody>
      </p:sp>
      <p:sp>
        <p:nvSpPr>
          <p:cNvPr id="11" name="label-3">
            <a:extLst xmlns:a="http://schemas.openxmlformats.org/drawingml/2006/main">
              <a:ext uri="{FF2B5EF4-FFF2-40B4-BE49-F238E27FC236}">
                <a16:creationId xmlns:a16="http://schemas.microsoft.com/office/drawing/2014/main" id="{E0599A3B-6650-4F97-A8F4-0FBA59F88337}"/>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Action</a:t>
            </a:r>
          </a:p>
        </p:txBody>
      </p:sp>
      <p:sp>
        <p:nvSpPr>
          <p:cNvPr id="12" name="point-3">
            <a:extLst xmlns:a="http://schemas.openxmlformats.org/drawingml/2006/main">
              <a:ext uri="{FF2B5EF4-FFF2-40B4-BE49-F238E27FC236}">
                <a16:creationId xmlns:a16="http://schemas.microsoft.com/office/drawing/2014/main" id="{19DD16D7-2DE9-406D-8948-AD872E1E39D2}"/>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Report a write only after a verified application outcome.</a:t>
            </a:r>
          </a:p>
        </p:txBody>
      </p:sp>
    </p:spTree>
    <p:extLst>
      <p:ext uri="{BB962C8B-B14F-4D97-AF65-F5344CB8AC3E}">
        <p14:creationId xmlns:p14="http://schemas.microsoft.com/office/powerpoint/2010/main" val="583888509"/>
      </p:ext>
    </p:extLst>
  </p:cSld>
  <p:extLst>
    <p:ext uri="{6950BFC3-D8DA-4A85-94F7-54DA5524770B}">
      <p188:commentRel xmlns:r="http://schemas.openxmlformats.org/officeDocument/2006/relationships" xmlns:p188="http://schemas.microsoft.com/office/powerpoint/2018/8/main" r:id="Rab6f2805f25146bf"/>
    </p:ext>
  </p:extLst>
</p:sld>
</file>

<file path=ppt/slides/slide3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context">
            <a:extLst xmlns:a="http://schemas.openxmlformats.org/drawingml/2006/main">
              <a:ext uri="{FF2B5EF4-FFF2-40B4-BE49-F238E27FC236}">
                <a16:creationId xmlns:a16="http://schemas.microsoft.com/office/drawing/2014/main" id="{6E6B9F3E-0F09-4DE6-9872-2E935AAC6E8A}"/>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Course prompt example</a:t>
            </a:r>
          </a:p>
        </p:txBody>
      </p:sp>
      <p:sp>
        <p:nvSpPr>
          <p:cNvPr id="2" name="title">
            <a:extLst xmlns:a="http://schemas.openxmlformats.org/drawingml/2006/main">
              <a:ext uri="{FF2B5EF4-FFF2-40B4-BE49-F238E27FC236}">
                <a16:creationId xmlns:a16="http://schemas.microsoft.com/office/drawing/2014/main" id="{72E4AC8D-E2C3-4C98-B634-E9E4C19108A1}"/>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A versioned billing instruction</a:t>
            </a:r>
          </a:p>
        </p:txBody>
      </p:sp>
      <p:sp>
        <p:nvSpPr>
          <p:cNvPr id="3" name="footer">
            <a:extLst xmlns:a="http://schemas.openxmlformats.org/drawingml/2006/main">
              <a:ext uri="{FF2B5EF4-FFF2-40B4-BE49-F238E27FC236}">
                <a16:creationId xmlns:a16="http://schemas.microsoft.com/office/drawing/2014/main" id="{321E39DA-8089-42BE-A417-8A4E5B4CB9BE}"/>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04  Prompts and conversation state</a:t>
            </a:r>
          </a:p>
        </p:txBody>
      </p:sp>
      <p:sp>
        <p:nvSpPr>
          <p:cNvPr id="4" name="page">
            <a:extLst xmlns:a="http://schemas.openxmlformats.org/drawingml/2006/main">
              <a:ext uri="{FF2B5EF4-FFF2-40B4-BE49-F238E27FC236}">
                <a16:creationId xmlns:a16="http://schemas.microsoft.com/office/drawing/2014/main" id="{B17F7495-9097-4E97-A20B-502167612638}"/>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34</a:t>
            </a:r>
          </a:p>
        </p:txBody>
      </p:sp>
      <p:sp>
        <p:nvSpPr>
          <p:cNvPr id="5" name="code">
            <a:extLst xmlns:a="http://schemas.openxmlformats.org/drawingml/2006/main">
              <a:ext uri="{FF2B5EF4-FFF2-40B4-BE49-F238E27FC236}">
                <a16:creationId xmlns:a16="http://schemas.microsoft.com/office/drawing/2014/main" id="{52C122C8-6335-47CA-BC14-06564D119621}"/>
              </a:ext>
            </a:extLst>
          </p:cNvPr>
          <p:cNvSpPr>
            <a:spLocks xmlns:a="http://schemas.openxmlformats.org/drawingml/2006/main" noGrp="1"/>
          </p:cNvSpPr>
          <p:nvPr/>
        </p:nvSpPr>
        <p:spPr>
          <a:xfrm xmlns:a="http://schemas.openxmlformats.org/drawingml/2006/main">
            <a:off x="685800" y="1857375"/>
            <a:ext cx="752475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12C43"/>
                </a:solidFill>
                <a:latin typeface="Consolas"/>
                <a:ea typeface="Consolas"/>
                <a:cs typeface="Consolas"/>
              </a:defRPr>
            </a:defPPr>
            <a:lvl1pPr algn="l">
              <a:defRPr sz="1725" b="0">
                <a:solidFill>
                  <a:srgbClr val="112C43"/>
                </a:solidFill>
                <a:latin typeface="Consolas"/>
                <a:ea typeface="Consolas"/>
                <a:cs typeface="Consolas"/>
              </a:defRPr>
            </a:lvl1pPr>
            <a:lvl2pPr algn="l">
              <a:defRPr sz="1725" b="0">
                <a:solidFill>
                  <a:srgbClr val="112C43"/>
                </a:solidFill>
                <a:latin typeface="Consolas"/>
                <a:ea typeface="Consolas"/>
                <a:cs typeface="Consolas"/>
              </a:defRPr>
            </a:lvl2pPr>
            <a:lvl3pPr algn="l">
              <a:defRPr sz="1725" b="0">
                <a:solidFill>
                  <a:srgbClr val="112C43"/>
                </a:solidFill>
                <a:latin typeface="Consolas"/>
                <a:ea typeface="Consolas"/>
                <a:cs typeface="Consolas"/>
              </a:defRPr>
            </a:lvl3pPr>
            <a:lvl4pPr algn="l">
              <a:defRPr sz="1725" b="0">
                <a:solidFill>
                  <a:srgbClr val="112C43"/>
                </a:solidFill>
                <a:latin typeface="Consolas"/>
                <a:ea typeface="Consolas"/>
                <a:cs typeface="Consolas"/>
              </a:defRPr>
            </a:lvl4pPr>
            <a:lvl5pPr algn="l">
              <a:defRPr sz="1725" b="0">
                <a:solidFill>
                  <a:srgbClr val="112C43"/>
                </a:solidFill>
                <a:latin typeface="Consolas"/>
                <a:ea typeface="Consolas"/>
                <a:cs typeface="Consolas"/>
              </a:defRPr>
            </a:lvl5pPr>
            <a:lvl6pPr algn="l">
              <a:defRPr sz="1725" b="0">
                <a:solidFill>
                  <a:srgbClr val="112C43"/>
                </a:solidFill>
                <a:latin typeface="Consolas"/>
                <a:ea typeface="Consolas"/>
                <a:cs typeface="Consolas"/>
              </a:defRPr>
            </a:lvl6pPr>
            <a:lvl7pPr algn="l">
              <a:defRPr sz="1725" b="0">
                <a:solidFill>
                  <a:srgbClr val="112C43"/>
                </a:solidFill>
                <a:latin typeface="Consolas"/>
                <a:ea typeface="Consolas"/>
                <a:cs typeface="Consolas"/>
              </a:defRPr>
            </a:lvl7pPr>
            <a:lvl8pPr algn="l">
              <a:defRPr sz="1725" b="0">
                <a:solidFill>
                  <a:srgbClr val="112C43"/>
                </a:solidFill>
                <a:latin typeface="Consolas"/>
                <a:ea typeface="Consolas"/>
                <a:cs typeface="Consolas"/>
              </a:defRPr>
            </a:lvl8pPr>
            <a:lvl9pPr algn="l">
              <a:defRPr sz="1725" b="0">
                <a:solidFill>
                  <a:srgbClr val="112C43"/>
                </a:solidFill>
                <a:latin typeface="Consolas"/>
                <a:ea typeface="Consolas"/>
                <a:cs typeface="Consolas"/>
              </a:defRPr>
            </a:lvl9pPr>
          </a:lstStyle>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You explain InvoiceAI billing data.</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Use current tool results for balances and status.</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State whether figures include Draft or Cancelled invoices.</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Use Nigerian Naira and the tool's exact reporting scope.</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If a required identifier is ambiguous, ask a question.</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If an operation fails, report its error outcome.</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Never infer a successful write from the user's request.</a:t>
            </a:r>
          </a:p>
        </p:txBody>
      </p:sp>
      <p:sp>
        <p:nvSpPr>
          <p:cNvPr id="6" name="explanation-0">
            <a:extLst xmlns:a="http://schemas.openxmlformats.org/drawingml/2006/main">
              <a:ext uri="{FF2B5EF4-FFF2-40B4-BE49-F238E27FC236}">
                <a16:creationId xmlns:a16="http://schemas.microsoft.com/office/drawing/2014/main" id="{15F95C0D-1690-4DF7-A5A3-71178FC7EB81}"/>
              </a:ext>
            </a:extLst>
          </p:cNvPr>
          <p:cNvSpPr>
            <a:spLocks xmlns:a="http://schemas.openxmlformats.org/drawingml/2006/main" noGrp="1"/>
          </p:cNvSpPr>
          <p:nvPr/>
        </p:nvSpPr>
        <p:spPr>
          <a:xfrm xmlns:a="http://schemas.openxmlformats.org/drawingml/2006/main">
            <a:off x="8715375" y="20002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83"/>
                </a:solidFill>
                <a:latin typeface="Segoe UI"/>
                <a:ea typeface="Segoe UI"/>
                <a:cs typeface="Segoe UI"/>
              </a:defRPr>
            </a:defPPr>
            <a:lvl1pPr algn="l">
              <a:defRPr sz="1800" b="0">
                <a:solidFill>
                  <a:srgbClr val="007F83"/>
                </a:solidFill>
                <a:latin typeface="Segoe UI"/>
                <a:ea typeface="Segoe UI"/>
                <a:cs typeface="Segoe UI"/>
              </a:defRPr>
            </a:lvl1pPr>
            <a:lvl2pPr algn="l">
              <a:defRPr sz="1800" b="0">
                <a:solidFill>
                  <a:srgbClr val="007F83"/>
                </a:solidFill>
                <a:latin typeface="Segoe UI"/>
                <a:ea typeface="Segoe UI"/>
                <a:cs typeface="Segoe UI"/>
              </a:defRPr>
            </a:lvl2pPr>
            <a:lvl3pPr algn="l">
              <a:defRPr sz="1800" b="0">
                <a:solidFill>
                  <a:srgbClr val="007F83"/>
                </a:solidFill>
                <a:latin typeface="Segoe UI"/>
                <a:ea typeface="Segoe UI"/>
                <a:cs typeface="Segoe UI"/>
              </a:defRPr>
            </a:lvl3pPr>
            <a:lvl4pPr algn="l">
              <a:defRPr sz="1800" b="0">
                <a:solidFill>
                  <a:srgbClr val="007F83"/>
                </a:solidFill>
                <a:latin typeface="Segoe UI"/>
                <a:ea typeface="Segoe UI"/>
                <a:cs typeface="Segoe UI"/>
              </a:defRPr>
            </a:lvl4pPr>
            <a:lvl5pPr algn="l">
              <a:defRPr sz="1800" b="0">
                <a:solidFill>
                  <a:srgbClr val="007F83"/>
                </a:solidFill>
                <a:latin typeface="Segoe UI"/>
                <a:ea typeface="Segoe UI"/>
                <a:cs typeface="Segoe UI"/>
              </a:defRPr>
            </a:lvl5pPr>
            <a:lvl6pPr algn="l">
              <a:defRPr sz="1800" b="0">
                <a:solidFill>
                  <a:srgbClr val="007F83"/>
                </a:solidFill>
                <a:latin typeface="Segoe UI"/>
                <a:ea typeface="Segoe UI"/>
                <a:cs typeface="Segoe UI"/>
              </a:defRPr>
            </a:lvl6pPr>
            <a:lvl7pPr algn="l">
              <a:defRPr sz="1800" b="0">
                <a:solidFill>
                  <a:srgbClr val="007F83"/>
                </a:solidFill>
                <a:latin typeface="Segoe UI"/>
                <a:ea typeface="Segoe UI"/>
                <a:cs typeface="Segoe UI"/>
              </a:defRPr>
            </a:lvl7pPr>
            <a:lvl8pPr algn="l">
              <a:defRPr sz="1800" b="0">
                <a:solidFill>
                  <a:srgbClr val="007F83"/>
                </a:solidFill>
                <a:latin typeface="Segoe UI"/>
                <a:ea typeface="Segoe UI"/>
                <a:cs typeface="Segoe UI"/>
              </a:defRPr>
            </a:lvl8pPr>
            <a:lvl9pPr algn="l">
              <a:defRPr sz="1800" b="0">
                <a:solidFill>
                  <a:srgbClr val="007F83"/>
                </a:solidFill>
                <a:latin typeface="Segoe UI"/>
                <a:ea typeface="Segoe UI"/>
                <a:cs typeface="Segoe UI"/>
              </a:defRPr>
            </a:lvl9pPr>
          </a:lstStyle>
          <a:p xmlns:a="http://schemas.openxmlformats.org/drawingml/2006/main">
            <a:pPr algn="l">
              <a:defRPr sz="1800" b="0">
                <a:solidFill>
                  <a:srgbClr val="007F83"/>
                </a:solidFill>
                <a:latin typeface="Segoe UI"/>
                <a:ea typeface="Segoe UI"/>
                <a:cs typeface="Segoe UI"/>
              </a:defRPr>
            </a:pPr>
            <a:r>
              <a:rPr sz="1800" b="0">
                <a:solidFill>
                  <a:srgbClr val="007F83"/>
                </a:solidFill>
                <a:latin typeface="Segoe UI"/>
                <a:ea typeface="Segoe UI"/>
                <a:cs typeface="Segoe UI"/>
              </a:rPr>
              <a:t>Store as a reviewed application asset.</a:t>
            </a:r>
          </a:p>
        </p:txBody>
      </p:sp>
      <p:sp>
        <p:nvSpPr>
          <p:cNvPr id="7" name="explanation-1">
            <a:extLst xmlns:a="http://schemas.openxmlformats.org/drawingml/2006/main">
              <a:ext uri="{FF2B5EF4-FFF2-40B4-BE49-F238E27FC236}">
                <a16:creationId xmlns:a16="http://schemas.microsoft.com/office/drawing/2014/main" id="{64F14464-B8BA-4B3A-BE7B-300B38275A8E}"/>
              </a:ext>
            </a:extLst>
          </p:cNvPr>
          <p:cNvSpPr>
            <a:spLocks xmlns:a="http://schemas.openxmlformats.org/drawingml/2006/main" noGrp="1"/>
          </p:cNvSpPr>
          <p:nvPr/>
        </p:nvSpPr>
        <p:spPr>
          <a:xfrm xmlns:a="http://schemas.openxmlformats.org/drawingml/2006/main">
            <a:off x="8715375" y="320040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Test examples with conflicting inputs.</a:t>
            </a:r>
          </a:p>
        </p:txBody>
      </p:sp>
      <p:sp>
        <p:nvSpPr>
          <p:cNvPr id="8" name="explanation-2">
            <a:extLst xmlns:a="http://schemas.openxmlformats.org/drawingml/2006/main">
              <a:ext uri="{FF2B5EF4-FFF2-40B4-BE49-F238E27FC236}">
                <a16:creationId xmlns:a16="http://schemas.microsoft.com/office/drawing/2014/main" id="{5F6FB49A-E3C9-4BB3-9307-6136589C262F}"/>
              </a:ext>
            </a:extLst>
          </p:cNvPr>
          <p:cNvSpPr>
            <a:spLocks xmlns:a="http://schemas.openxmlformats.org/drawingml/2006/main" noGrp="1"/>
          </p:cNvSpPr>
          <p:nvPr/>
        </p:nvSpPr>
        <p:spPr>
          <a:xfrm xmlns:a="http://schemas.openxmlformats.org/drawingml/2006/main">
            <a:off x="8715375" y="44005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Keep business enforcement in code.</a:t>
            </a:r>
          </a:p>
        </p:txBody>
      </p:sp>
    </p:spTree>
    <p:extLst>
      <p:ext uri="{BB962C8B-B14F-4D97-AF65-F5344CB8AC3E}">
        <p14:creationId xmlns:p14="http://schemas.microsoft.com/office/powerpoint/2010/main" val="1263508885"/>
      </p:ext>
    </p:extLst>
  </p:cSld>
  <p:extLst>
    <p:ext uri="{6950BFC3-D8DA-4A85-94F7-54DA5524770B}">
      <p188:commentRel xmlns:r="http://schemas.openxmlformats.org/officeDocument/2006/relationships" xmlns:p188="http://schemas.microsoft.com/office/powerpoint/2018/8/main" r:id="Raced7a90aecf492c"/>
    </p:ext>
  </p:extLst>
</p:sld>
</file>

<file path=ppt/slides/slide3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B85BB7B9-7753-4A8A-84F0-870750F38722}"/>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Existing gap and target</a:t>
            </a:r>
          </a:p>
        </p:txBody>
      </p:sp>
      <p:sp>
        <p:nvSpPr>
          <p:cNvPr id="2" name="title">
            <a:extLst xmlns:a="http://schemas.openxmlformats.org/drawingml/2006/main">
              <a:ext uri="{FF2B5EF4-FFF2-40B4-BE49-F238E27FC236}">
                <a16:creationId xmlns:a16="http://schemas.microsoft.com/office/drawing/2014/main" id="{F881CB34-DB6B-4553-AB6E-449B3B9ADA4F}"/>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Trusted context and page state</a:t>
            </a:r>
          </a:p>
        </p:txBody>
      </p:sp>
      <p:sp>
        <p:nvSpPr>
          <p:cNvPr id="3" name="footer">
            <a:extLst xmlns:a="http://schemas.openxmlformats.org/drawingml/2006/main">
              <a:ext uri="{FF2B5EF4-FFF2-40B4-BE49-F238E27FC236}">
                <a16:creationId xmlns:a16="http://schemas.microsoft.com/office/drawing/2014/main" id="{99892B95-AD90-435D-A171-E76D7A5B25C4}"/>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04  Prompts and conversation state</a:t>
            </a:r>
          </a:p>
        </p:txBody>
      </p:sp>
      <p:sp>
        <p:nvSpPr>
          <p:cNvPr id="4" name="page">
            <a:extLst xmlns:a="http://schemas.openxmlformats.org/drawingml/2006/main">
              <a:ext uri="{FF2B5EF4-FFF2-40B4-BE49-F238E27FC236}">
                <a16:creationId xmlns:a16="http://schemas.microsoft.com/office/drawing/2014/main" id="{01BAE01C-0B41-482E-8710-664D5FC86C78}"/>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35</a:t>
            </a:r>
          </a:p>
        </p:txBody>
      </p:sp>
      <p:sp>
        <p:nvSpPr>
          <p:cNvPr id="5" name="label-0">
            <a:extLst xmlns:a="http://schemas.openxmlformats.org/drawingml/2006/main">
              <a:ext uri="{FF2B5EF4-FFF2-40B4-BE49-F238E27FC236}">
                <a16:creationId xmlns:a16="http://schemas.microsoft.com/office/drawing/2014/main" id="{EB8DFA09-1C11-40D9-AD41-2EEFDA563881}"/>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Client input</a:t>
            </a:r>
          </a:p>
        </p:txBody>
      </p:sp>
      <p:sp>
        <p:nvSpPr>
          <p:cNvPr id="6" name="point-0">
            <a:extLst xmlns:a="http://schemas.openxmlformats.org/drawingml/2006/main">
              <a:ext uri="{FF2B5EF4-FFF2-40B4-BE49-F238E27FC236}">
                <a16:creationId xmlns:a16="http://schemas.microsoft.com/office/drawing/2014/main" id="{2ECAB0FF-537C-4682-A6F3-B36EA671238E}"/>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Treat invoiceId, customerId, and page as claims.</a:t>
            </a:r>
          </a:p>
        </p:txBody>
      </p:sp>
      <p:sp>
        <p:nvSpPr>
          <p:cNvPr id="7" name="label-1">
            <a:extLst xmlns:a="http://schemas.openxmlformats.org/drawingml/2006/main">
              <a:ext uri="{FF2B5EF4-FFF2-40B4-BE49-F238E27FC236}">
                <a16:creationId xmlns:a16="http://schemas.microsoft.com/office/drawing/2014/main" id="{F0663BCD-F13F-4CF9-BD10-6D2DA5CFD652}"/>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Server resolution</a:t>
            </a:r>
          </a:p>
        </p:txBody>
      </p:sp>
      <p:sp>
        <p:nvSpPr>
          <p:cNvPr id="8" name="point-1">
            <a:extLst xmlns:a="http://schemas.openxmlformats.org/drawingml/2006/main">
              <a:ext uri="{FF2B5EF4-FFF2-40B4-BE49-F238E27FC236}">
                <a16:creationId xmlns:a16="http://schemas.microsoft.com/office/drawing/2014/main" id="{E1DB1451-5C84-4A03-B114-1745A14BCDB8}"/>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Load records under the authenticated user's scope.</a:t>
            </a:r>
          </a:p>
        </p:txBody>
      </p:sp>
      <p:sp>
        <p:nvSpPr>
          <p:cNvPr id="9" name="label-2">
            <a:extLst xmlns:a="http://schemas.openxmlformats.org/drawingml/2006/main">
              <a:ext uri="{FF2B5EF4-FFF2-40B4-BE49-F238E27FC236}">
                <a16:creationId xmlns:a16="http://schemas.microsoft.com/office/drawing/2014/main" id="{C4907738-376A-4098-8B12-1279CD2A258A}"/>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Context provider</a:t>
            </a:r>
          </a:p>
        </p:txBody>
      </p:sp>
      <p:sp>
        <p:nvSpPr>
          <p:cNvPr id="10" name="point-2">
            <a:extLst xmlns:a="http://schemas.openxmlformats.org/drawingml/2006/main">
              <a:ext uri="{FF2B5EF4-FFF2-40B4-BE49-F238E27FC236}">
                <a16:creationId xmlns:a16="http://schemas.microsoft.com/office/drawing/2014/main" id="{C26AC937-F848-4F40-A1E3-F857C7DF965E}"/>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Inject the smallest relevant, authorized facts.</a:t>
            </a:r>
          </a:p>
        </p:txBody>
      </p:sp>
      <p:sp>
        <p:nvSpPr>
          <p:cNvPr id="11" name="label-3">
            <a:extLst xmlns:a="http://schemas.openxmlformats.org/drawingml/2006/main">
              <a:ext uri="{FF2B5EF4-FFF2-40B4-BE49-F238E27FC236}">
                <a16:creationId xmlns:a16="http://schemas.microsoft.com/office/drawing/2014/main" id="{31023D2F-7C09-4E25-8701-5D8976AEC19D}"/>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Tool execution</a:t>
            </a:r>
          </a:p>
        </p:txBody>
      </p:sp>
      <p:sp>
        <p:nvSpPr>
          <p:cNvPr id="12" name="point-3">
            <a:extLst xmlns:a="http://schemas.openxmlformats.org/drawingml/2006/main">
              <a:ext uri="{FF2B5EF4-FFF2-40B4-BE49-F238E27FC236}">
                <a16:creationId xmlns:a16="http://schemas.microsoft.com/office/drawing/2014/main" id="{194A117A-AC1A-4834-8DC4-537423F879FF}"/>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Recheck permissions when an action actually runs.</a:t>
            </a:r>
          </a:p>
        </p:txBody>
      </p:sp>
    </p:spTree>
    <p:extLst>
      <p:ext uri="{BB962C8B-B14F-4D97-AF65-F5344CB8AC3E}">
        <p14:creationId xmlns:p14="http://schemas.microsoft.com/office/powerpoint/2010/main" val="768898952"/>
      </p:ext>
    </p:extLst>
  </p:cSld>
  <p:extLst>
    <p:ext uri="{6950BFC3-D8DA-4A85-94F7-54DA5524770B}">
      <p188:commentRel xmlns:r="http://schemas.openxmlformats.org/officeDocument/2006/relationships" xmlns:p188="http://schemas.microsoft.com/office/powerpoint/2018/8/main" r:id="R81bda6a5dd954357"/>
    </p:ext>
  </p:extLst>
</p:sld>
</file>

<file path=ppt/slides/slide3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context">
            <a:extLst xmlns:a="http://schemas.openxmlformats.org/drawingml/2006/main">
              <a:ext uri="{FF2B5EF4-FFF2-40B4-BE49-F238E27FC236}">
                <a16:creationId xmlns:a16="http://schemas.microsoft.com/office/drawing/2014/main" id="{5BDD2AAE-249E-40FD-985C-462961A5F853}"/>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State design</a:t>
            </a:r>
          </a:p>
        </p:txBody>
      </p:sp>
      <p:sp>
        <p:nvSpPr>
          <p:cNvPr id="2" name="title">
            <a:extLst xmlns:a="http://schemas.openxmlformats.org/drawingml/2006/main">
              <a:ext uri="{FF2B5EF4-FFF2-40B4-BE49-F238E27FC236}">
                <a16:creationId xmlns:a16="http://schemas.microsoft.com/office/drawing/2014/main" id="{61C2230C-4554-42DC-9AF8-A728065FE7AA}"/>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Three kinds of state</a:t>
            </a:r>
          </a:p>
        </p:txBody>
      </p:sp>
      <p:sp>
        <p:nvSpPr>
          <p:cNvPr id="3" name="footer">
            <a:extLst xmlns:a="http://schemas.openxmlformats.org/drawingml/2006/main">
              <a:ext uri="{FF2B5EF4-FFF2-40B4-BE49-F238E27FC236}">
                <a16:creationId xmlns:a16="http://schemas.microsoft.com/office/drawing/2014/main" id="{B17FD337-BA0A-4D5B-AD2F-F30FFB54B83A}"/>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04  Prompts and conversation state</a:t>
            </a:r>
          </a:p>
        </p:txBody>
      </p:sp>
      <p:sp>
        <p:nvSpPr>
          <p:cNvPr id="4" name="page">
            <a:extLst xmlns:a="http://schemas.openxmlformats.org/drawingml/2006/main">
              <a:ext uri="{FF2B5EF4-FFF2-40B4-BE49-F238E27FC236}">
                <a16:creationId xmlns:a16="http://schemas.microsoft.com/office/drawing/2014/main" id="{8A06AE5D-9DF1-4F5F-BC88-765AA8B22CC0}"/>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36</a:t>
            </a:r>
          </a:p>
        </p:txBody>
      </p:sp>
      <p:graphicFrame>
        <p:nvGraphicFramePr>
          <p:cNvPr id="5" name="">
            <a:extLst xmlns:a="http://schemas.openxmlformats.org/drawingml/2006/main">
              <a:ext uri="{FF2B5EF4-FFF2-40B4-BE49-F238E27FC236}">
                <a16:creationId xmlns:a16="http://schemas.microsoft.com/office/drawing/2014/main" id="{3FBA1CCE-CE9D-4DA3-AAC2-473ED68F1054}"/>
              </a:ext>
            </a:extLst>
          </p:cNvPr>
          <p:cNvGraphicFramePr/>
          <p:nvPr/>
        </p:nvGraphicFramePr>
        <p:xfrm>
          <a:off xmlns:a="http://schemas.openxmlformats.org/drawingml/2006/main" x="685800" y="1809750"/>
          <a:ext xmlns:a="http://schemas.openxmlformats.org/drawingml/2006/main" cx="10820400" cy="2914650"/>
        </p:xfrm>
        <a:graphic xmlns:a="http://schemas.openxmlformats.org/drawingml/2006/main">
          <a:graphicData uri="http://schemas.openxmlformats.org/drawingml/2006/table">
            <a:tbl>
              <a:tblPr/>
              <a:tblGrid>
                <a:gridCol w="2813304"/>
                <a:gridCol w="4003548"/>
                <a:gridCol w="4003548"/>
              </a:tblGrid>
              <a:tr h="552450">
                <a:tc>
                  <a:txBody>
                    <a:bodyPr/>
                    <a:lstStyle/>
                    <a:p>
                      <a:r>
                        <a:rPr sz="1725" b="1">
                          <a:solidFill>
                            <a:srgbClr val="FFFFFF"/>
                          </a:solidFill>
                          <a:latin typeface="Segoe UI"/>
                          <a:ea typeface="Segoe UI"/>
                          <a:cs typeface="Segoe UI"/>
                        </a:rPr>
                        <a:t>State</a:t>
                      </a:r>
                    </a:p>
                  </a:txBody>
                  <a:tcPr marL="133350" marR="133350" marT="114300" marB="95250" anchor="t">
                    <a:lnL w="5715">
                      <a:solidFill>
                        <a:srgbClr val="DCE5EA"/>
                      </a:solidFill>
                      <a:prstDash val="solid"/>
                    </a:lnL>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Purpose</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InvoiceAI example</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r>
              <a:tr h="590550">
                <a:tc>
                  <a:txBody>
                    <a:bodyPr/>
                    <a:lstStyle/>
                    <a:p>
                      <a:r>
                        <a:rPr sz="1725" b="0">
                          <a:solidFill>
                            <a:srgbClr val="34495B"/>
                          </a:solidFill>
                          <a:latin typeface="Segoe UI"/>
                          <a:ea typeface="Segoe UI"/>
                          <a:cs typeface="Segoe UI"/>
                        </a:rPr>
                        <a:t>Conversation history</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Recent messages in an AgentSession</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The user is discussing Apex</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590550">
                <a:tc>
                  <a:txBody>
                    <a:bodyPr/>
                    <a:lstStyle/>
                    <a:p>
                      <a:r>
                        <a:rPr sz="1725" b="0">
                          <a:solidFill>
                            <a:srgbClr val="34495B"/>
                          </a:solidFill>
                          <a:latin typeface="Segoe UI"/>
                          <a:ea typeface="Segoe UI"/>
                          <a:cs typeface="Segoe UI"/>
                        </a:rPr>
                        <a:t>Application state</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Authoritative business facts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Apex's actual invoice balances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r h="590550">
                <a:tc>
                  <a:txBody>
                    <a:bodyPr/>
                    <a:lstStyle/>
                    <a:p>
                      <a:r>
                        <a:rPr sz="1725" b="0">
                          <a:solidFill>
                            <a:srgbClr val="34495B"/>
                          </a:solidFill>
                          <a:latin typeface="Segoe UI"/>
                          <a:ea typeface="Segoe UI"/>
                          <a:cs typeface="Segoe UI"/>
                        </a:rPr>
                        <a:t>Long-term memory</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Selected persistent user preferences</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Preferred report format or language</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590550">
                <a:tc>
                  <a:txBody>
                    <a:bodyPr/>
                    <a:lstStyle/>
                    <a:p>
                      <a:r>
                        <a:rPr sz="1725" b="0">
                          <a:solidFill>
                            <a:srgbClr val="34495B"/>
                          </a:solidFill>
                          <a:latin typeface="Segoe UI"/>
                          <a:ea typeface="Segoe UI"/>
                          <a:cs typeface="Segoe UI"/>
                        </a:rPr>
                        <a:t>Workflow state</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Progress and pending decisions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An approval awaits a named reviewer</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bl>
          </a:graphicData>
        </a:graphic>
      </p:graphicFrame>
    </p:spTree>
    <p:extLst>
      <p:ext uri="{BB962C8B-B14F-4D97-AF65-F5344CB8AC3E}">
        <p14:creationId xmlns:p14="http://schemas.microsoft.com/office/powerpoint/2010/main" val="1310399824"/>
      </p:ext>
    </p:extLst>
  </p:cSld>
  <p:extLst>
    <p:ext uri="{6950BFC3-D8DA-4A85-94F7-54DA5524770B}">
      <p188:commentRel xmlns:r="http://schemas.openxmlformats.org/officeDocument/2006/relationships" xmlns:p188="http://schemas.microsoft.com/office/powerpoint/2018/8/main" r:id="Rbdc98e9d931e4dee"/>
    </p:ext>
  </p:extLst>
</p:sld>
</file>

<file path=ppt/slides/slide3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875AD21A-B352-4D90-B985-64A65EE70002}"/>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Capstone target</a:t>
            </a:r>
          </a:p>
        </p:txBody>
      </p:sp>
      <p:sp>
        <p:nvSpPr>
          <p:cNvPr id="2" name="title">
            <a:extLst xmlns:a="http://schemas.openxmlformats.org/drawingml/2006/main">
              <a:ext uri="{FF2B5EF4-FFF2-40B4-BE49-F238E27FC236}">
                <a16:creationId xmlns:a16="http://schemas.microsoft.com/office/drawing/2014/main" id="{81FD0E73-59A3-465B-852C-B3E16109CFBC}"/>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Session persistence and isolation</a:t>
            </a:r>
          </a:p>
        </p:txBody>
      </p:sp>
      <p:sp>
        <p:nvSpPr>
          <p:cNvPr id="3" name="footer">
            <a:extLst xmlns:a="http://schemas.openxmlformats.org/drawingml/2006/main">
              <a:ext uri="{FF2B5EF4-FFF2-40B4-BE49-F238E27FC236}">
                <a16:creationId xmlns:a16="http://schemas.microsoft.com/office/drawing/2014/main" id="{47354434-F692-4696-A1DA-E7BECED0CCC4}"/>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04  Prompts and conversation state</a:t>
            </a:r>
          </a:p>
        </p:txBody>
      </p:sp>
      <p:sp>
        <p:nvSpPr>
          <p:cNvPr id="4" name="page">
            <a:extLst xmlns:a="http://schemas.openxmlformats.org/drawingml/2006/main">
              <a:ext uri="{FF2B5EF4-FFF2-40B4-BE49-F238E27FC236}">
                <a16:creationId xmlns:a16="http://schemas.microsoft.com/office/drawing/2014/main" id="{76590DEB-9B96-4F7E-8A1C-3E8CA8C89C25}"/>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37</a:t>
            </a:r>
          </a:p>
        </p:txBody>
      </p:sp>
      <p:sp>
        <p:nvSpPr>
          <p:cNvPr id="5" name="label-0">
            <a:extLst xmlns:a="http://schemas.openxmlformats.org/drawingml/2006/main">
              <a:ext uri="{FF2B5EF4-FFF2-40B4-BE49-F238E27FC236}">
                <a16:creationId xmlns:a16="http://schemas.microsoft.com/office/drawing/2014/main" id="{CFE6E96B-A13B-41C8-957D-F63AF2000825}"/>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Key</a:t>
            </a:r>
          </a:p>
        </p:txBody>
      </p:sp>
      <p:sp>
        <p:nvSpPr>
          <p:cNvPr id="6" name="point-0">
            <a:extLst xmlns:a="http://schemas.openxmlformats.org/drawingml/2006/main">
              <a:ext uri="{FF2B5EF4-FFF2-40B4-BE49-F238E27FC236}">
                <a16:creationId xmlns:a16="http://schemas.microsoft.com/office/drawing/2014/main" id="{4E3D01BC-3FD5-4805-997F-8ECE48C380E1}"/>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Bind continuation IDs to tenant and user ownership.</a:t>
            </a:r>
          </a:p>
        </p:txBody>
      </p:sp>
      <p:sp>
        <p:nvSpPr>
          <p:cNvPr id="7" name="label-1">
            <a:extLst xmlns:a="http://schemas.openxmlformats.org/drawingml/2006/main">
              <a:ext uri="{FF2B5EF4-FFF2-40B4-BE49-F238E27FC236}">
                <a16:creationId xmlns:a16="http://schemas.microsoft.com/office/drawing/2014/main" id="{04BC6F7A-19C8-4B27-8E8A-5E9C148E60C6}"/>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Storage</a:t>
            </a:r>
          </a:p>
        </p:txBody>
      </p:sp>
      <p:sp>
        <p:nvSpPr>
          <p:cNvPr id="8" name="point-1">
            <a:extLst xmlns:a="http://schemas.openxmlformats.org/drawingml/2006/main">
              <a:ext uri="{FF2B5EF4-FFF2-40B4-BE49-F238E27FC236}">
                <a16:creationId xmlns:a16="http://schemas.microsoft.com/office/drawing/2014/main" id="{5C2EC514-BD1D-42C0-A6BD-3EDB627F54AE}"/>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Persist session/provider identifiers with explicit retention.</a:t>
            </a:r>
          </a:p>
        </p:txBody>
      </p:sp>
      <p:sp>
        <p:nvSpPr>
          <p:cNvPr id="9" name="label-2">
            <a:extLst xmlns:a="http://schemas.openxmlformats.org/drawingml/2006/main">
              <a:ext uri="{FF2B5EF4-FFF2-40B4-BE49-F238E27FC236}">
                <a16:creationId xmlns:a16="http://schemas.microsoft.com/office/drawing/2014/main" id="{8030D084-25C9-4351-9160-4A009037A7F5}"/>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Concurrency</a:t>
            </a:r>
          </a:p>
        </p:txBody>
      </p:sp>
      <p:sp>
        <p:nvSpPr>
          <p:cNvPr id="10" name="point-2">
            <a:extLst xmlns:a="http://schemas.openxmlformats.org/drawingml/2006/main">
              <a:ext uri="{FF2B5EF4-FFF2-40B4-BE49-F238E27FC236}">
                <a16:creationId xmlns:a16="http://schemas.microsoft.com/office/drawing/2014/main" id="{FE7493B5-C0EF-4706-A056-F0B4091B8B33}"/>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Serialize or version simultaneous turns for one conversation.</a:t>
            </a:r>
          </a:p>
        </p:txBody>
      </p:sp>
      <p:sp>
        <p:nvSpPr>
          <p:cNvPr id="11" name="label-3">
            <a:extLst xmlns:a="http://schemas.openxmlformats.org/drawingml/2006/main">
              <a:ext uri="{FF2B5EF4-FFF2-40B4-BE49-F238E27FC236}">
                <a16:creationId xmlns:a16="http://schemas.microsoft.com/office/drawing/2014/main" id="{C7E733C3-AE95-41C5-A63C-C42308E3004F}"/>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Recovery</a:t>
            </a:r>
          </a:p>
        </p:txBody>
      </p:sp>
      <p:sp>
        <p:nvSpPr>
          <p:cNvPr id="12" name="point-3">
            <a:extLst xmlns:a="http://schemas.openxmlformats.org/drawingml/2006/main">
              <a:ext uri="{FF2B5EF4-FFF2-40B4-BE49-F238E27FC236}">
                <a16:creationId xmlns:a16="http://schemas.microsoft.com/office/drawing/2014/main" id="{23F822AD-3DE0-461D-84F6-6C437CE9157B}"/>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Define restart, expiry, deletion, and migration behavior.</a:t>
            </a:r>
          </a:p>
        </p:txBody>
      </p:sp>
    </p:spTree>
    <p:extLst>
      <p:ext uri="{BB962C8B-B14F-4D97-AF65-F5344CB8AC3E}">
        <p14:creationId xmlns:p14="http://schemas.microsoft.com/office/powerpoint/2010/main" val="1308256091"/>
      </p:ext>
    </p:extLst>
  </p:cSld>
  <p:extLst>
    <p:ext uri="{6950BFC3-D8DA-4A85-94F7-54DA5524770B}">
      <p188:commentRel xmlns:r="http://schemas.openxmlformats.org/officeDocument/2006/relationships" xmlns:p188="http://schemas.microsoft.com/office/powerpoint/2018/8/main" r:id="Rb44f748cef51428a"/>
    </p:ext>
  </p:extLst>
</p:sld>
</file>

<file path=ppt/slides/slide3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AEA14283-6411-4305-9DBD-800AA2DA7061}"/>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Application policy</a:t>
            </a:r>
          </a:p>
        </p:txBody>
      </p:sp>
      <p:sp>
        <p:nvSpPr>
          <p:cNvPr id="2" name="title">
            <a:extLst xmlns:a="http://schemas.openxmlformats.org/drawingml/2006/main">
              <a:ext uri="{FF2B5EF4-FFF2-40B4-BE49-F238E27FC236}">
                <a16:creationId xmlns:a16="http://schemas.microsoft.com/office/drawing/2014/main" id="{E4C4490E-8D83-4FEA-ADA5-C2037377F161}"/>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Context budget and memory reduction</a:t>
            </a:r>
          </a:p>
        </p:txBody>
      </p:sp>
      <p:sp>
        <p:nvSpPr>
          <p:cNvPr id="3" name="footer">
            <a:extLst xmlns:a="http://schemas.openxmlformats.org/drawingml/2006/main">
              <a:ext uri="{FF2B5EF4-FFF2-40B4-BE49-F238E27FC236}">
                <a16:creationId xmlns:a16="http://schemas.microsoft.com/office/drawing/2014/main" id="{A0E2D9B6-FA74-4103-BA64-CFF56E444CAD}"/>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04  Prompts and conversation state</a:t>
            </a:r>
          </a:p>
        </p:txBody>
      </p:sp>
      <p:sp>
        <p:nvSpPr>
          <p:cNvPr id="4" name="page">
            <a:extLst xmlns:a="http://schemas.openxmlformats.org/drawingml/2006/main">
              <a:ext uri="{FF2B5EF4-FFF2-40B4-BE49-F238E27FC236}">
                <a16:creationId xmlns:a16="http://schemas.microsoft.com/office/drawing/2014/main" id="{81D67F21-1485-401B-8482-DB21D86A149C}"/>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38</a:t>
            </a:r>
          </a:p>
        </p:txBody>
      </p:sp>
      <p:sp>
        <p:nvSpPr>
          <p:cNvPr id="5" name="label-0">
            <a:extLst xmlns:a="http://schemas.openxmlformats.org/drawingml/2006/main">
              <a:ext uri="{FF2B5EF4-FFF2-40B4-BE49-F238E27FC236}">
                <a16:creationId xmlns:a16="http://schemas.microsoft.com/office/drawing/2014/main" id="{735788E7-21F4-49DB-AF12-C127DB5FE624}"/>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Allocate</a:t>
            </a:r>
          </a:p>
        </p:txBody>
      </p:sp>
      <p:sp>
        <p:nvSpPr>
          <p:cNvPr id="6" name="point-0">
            <a:extLst xmlns:a="http://schemas.openxmlformats.org/drawingml/2006/main">
              <a:ext uri="{FF2B5EF4-FFF2-40B4-BE49-F238E27FC236}">
                <a16:creationId xmlns:a16="http://schemas.microsoft.com/office/drawing/2014/main" id="{8D07B185-A8EB-40FC-B4A2-AD356BF0868A}"/>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Reserve space for instructions, tool schemas, evidence, and output.</a:t>
            </a:r>
          </a:p>
        </p:txBody>
      </p:sp>
      <p:sp>
        <p:nvSpPr>
          <p:cNvPr id="7" name="label-1">
            <a:extLst xmlns:a="http://schemas.openxmlformats.org/drawingml/2006/main">
              <a:ext uri="{FF2B5EF4-FFF2-40B4-BE49-F238E27FC236}">
                <a16:creationId xmlns:a16="http://schemas.microsoft.com/office/drawing/2014/main" id="{5B4419F6-8F2F-4DD3-B6BD-8CA7EF5250A7}"/>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Reduce</a:t>
            </a:r>
          </a:p>
        </p:txBody>
      </p:sp>
      <p:sp>
        <p:nvSpPr>
          <p:cNvPr id="8" name="point-1">
            <a:extLst xmlns:a="http://schemas.openxmlformats.org/drawingml/2006/main">
              <a:ext uri="{FF2B5EF4-FFF2-40B4-BE49-F238E27FC236}">
                <a16:creationId xmlns:a16="http://schemas.microsoft.com/office/drawing/2014/main" id="{1E19D022-45F2-44EE-83CE-92477E533655}"/>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Trim or summarize older turns under an explicit policy.</a:t>
            </a:r>
          </a:p>
        </p:txBody>
      </p:sp>
      <p:sp>
        <p:nvSpPr>
          <p:cNvPr id="9" name="label-2">
            <a:extLst xmlns:a="http://schemas.openxmlformats.org/drawingml/2006/main">
              <a:ext uri="{FF2B5EF4-FFF2-40B4-BE49-F238E27FC236}">
                <a16:creationId xmlns:a16="http://schemas.microsoft.com/office/drawing/2014/main" id="{C8C99A7E-40BF-4006-AB7A-90D9F2592606}"/>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Preserve</a:t>
            </a:r>
          </a:p>
        </p:txBody>
      </p:sp>
      <p:sp>
        <p:nvSpPr>
          <p:cNvPr id="10" name="point-2">
            <a:extLst xmlns:a="http://schemas.openxmlformats.org/drawingml/2006/main">
              <a:ext uri="{FF2B5EF4-FFF2-40B4-BE49-F238E27FC236}">
                <a16:creationId xmlns:a16="http://schemas.microsoft.com/office/drawing/2014/main" id="{4049B6A9-8995-4599-BF34-15D9F649291B}"/>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Keep identifiers, unresolved approvals, and authoritative evidence.</a:t>
            </a:r>
          </a:p>
        </p:txBody>
      </p:sp>
      <p:sp>
        <p:nvSpPr>
          <p:cNvPr id="11" name="label-3">
            <a:extLst xmlns:a="http://schemas.openxmlformats.org/drawingml/2006/main">
              <a:ext uri="{FF2B5EF4-FFF2-40B4-BE49-F238E27FC236}">
                <a16:creationId xmlns:a16="http://schemas.microsoft.com/office/drawing/2014/main" id="{45041501-E6D4-4304-8EEA-887834982F46}"/>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Measure</a:t>
            </a:r>
          </a:p>
        </p:txBody>
      </p:sp>
      <p:sp>
        <p:nvSpPr>
          <p:cNvPr id="12" name="point-3">
            <a:extLst xmlns:a="http://schemas.openxmlformats.org/drawingml/2006/main">
              <a:ext uri="{FF2B5EF4-FFF2-40B4-BE49-F238E27FC236}">
                <a16:creationId xmlns:a16="http://schemas.microsoft.com/office/drawing/2014/main" id="{C43D999D-5E56-4E07-AFAA-A88A0F4D0E67}"/>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Record input growth and answer quality after reduction.</a:t>
            </a:r>
          </a:p>
        </p:txBody>
      </p:sp>
    </p:spTree>
    <p:extLst>
      <p:ext uri="{BB962C8B-B14F-4D97-AF65-F5344CB8AC3E}">
        <p14:creationId xmlns:p14="http://schemas.microsoft.com/office/powerpoint/2010/main" val="1747342550"/>
      </p:ext>
    </p:extLst>
  </p:cSld>
  <p:extLst>
    <p:ext uri="{6950BFC3-D8DA-4A85-94F7-54DA5524770B}">
      <p188:commentRel xmlns:r="http://schemas.openxmlformats.org/officeDocument/2006/relationships" xmlns:p188="http://schemas.microsoft.com/office/powerpoint/2018/8/main" r:id="R7b059d64d1c345a4"/>
    </p:ext>
  </p:extLst>
</p:sld>
</file>

<file path=ppt/slides/slide3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4" name="context">
            <a:extLst xmlns:a="http://schemas.openxmlformats.org/drawingml/2006/main">
              <a:ext uri="{FF2B5EF4-FFF2-40B4-BE49-F238E27FC236}">
                <a16:creationId xmlns:a16="http://schemas.microsoft.com/office/drawing/2014/main" id="{35036D12-6482-431A-B362-218BFC0CC806}"/>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Lab target</a:t>
            </a:r>
          </a:p>
        </p:txBody>
      </p:sp>
      <p:sp>
        <p:nvSpPr>
          <p:cNvPr id="2" name="title">
            <a:extLst xmlns:a="http://schemas.openxmlformats.org/drawingml/2006/main">
              <a:ext uri="{FF2B5EF4-FFF2-40B4-BE49-F238E27FC236}">
                <a16:creationId xmlns:a16="http://schemas.microsoft.com/office/drawing/2014/main" id="{B6BC0738-5E8C-49D3-B201-ADB8D052E2D7}"/>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Lab 04: session and context isolation</a:t>
            </a:r>
          </a:p>
        </p:txBody>
      </p:sp>
      <p:sp>
        <p:nvSpPr>
          <p:cNvPr id="3" name="footer">
            <a:extLst xmlns:a="http://schemas.openxmlformats.org/drawingml/2006/main">
              <a:ext uri="{FF2B5EF4-FFF2-40B4-BE49-F238E27FC236}">
                <a16:creationId xmlns:a16="http://schemas.microsoft.com/office/drawing/2014/main" id="{9C2BC3DA-2AB6-4052-A74C-9FF9B3301231}"/>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04  Prompts and conversation state</a:t>
            </a:r>
          </a:p>
        </p:txBody>
      </p:sp>
      <p:sp>
        <p:nvSpPr>
          <p:cNvPr id="4" name="page">
            <a:extLst xmlns:a="http://schemas.openxmlformats.org/drawingml/2006/main">
              <a:ext uri="{FF2B5EF4-FFF2-40B4-BE49-F238E27FC236}">
                <a16:creationId xmlns:a16="http://schemas.microsoft.com/office/drawing/2014/main" id="{BAFA7C86-0962-4DA8-A013-2D75AC00F7AA}"/>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39</a:t>
            </a:r>
          </a:p>
        </p:txBody>
      </p:sp>
      <p:sp>
        <p:nvSpPr>
          <p:cNvPr id="5" name="implementation">
            <a:extLst xmlns:a="http://schemas.openxmlformats.org/drawingml/2006/main">
              <a:ext uri="{FF2B5EF4-FFF2-40B4-BE49-F238E27FC236}">
                <a16:creationId xmlns:a16="http://schemas.microsoft.com/office/drawing/2014/main" id="{29EA89F9-841D-4D92-9A04-66720D267237}"/>
              </a:ext>
            </a:extLst>
          </p:cNvPr>
          <p:cNvSpPr>
            <a:spLocks xmlns:a="http://schemas.openxmlformats.org/drawingml/2006/main" noGrp="1"/>
          </p:cNvSpPr>
          <p:nvPr/>
        </p:nvSpPr>
        <p:spPr>
          <a:xfrm xmlns:a="http://schemas.openxmlformats.org/drawingml/2006/main">
            <a:off x="685800" y="1857375"/>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Implementation</a:t>
            </a:r>
          </a:p>
        </p:txBody>
      </p:sp>
      <p:sp>
        <p:nvSpPr>
          <p:cNvPr id="6" name="acceptance">
            <a:extLst xmlns:a="http://schemas.openxmlformats.org/drawingml/2006/main">
              <a:ext uri="{FF2B5EF4-FFF2-40B4-BE49-F238E27FC236}">
                <a16:creationId xmlns:a16="http://schemas.microsoft.com/office/drawing/2014/main" id="{2A166246-CCE9-4560-94F8-4F298AF68AE3}"/>
              </a:ext>
            </a:extLst>
          </p:cNvPr>
          <p:cNvSpPr>
            <a:spLocks xmlns:a="http://schemas.openxmlformats.org/drawingml/2006/main" noGrp="1"/>
          </p:cNvSpPr>
          <p:nvPr/>
        </p:nvSpPr>
        <p:spPr>
          <a:xfrm xmlns:a="http://schemas.openxmlformats.org/drawingml/2006/main">
            <a:off x="7477125" y="1857375"/>
            <a:ext cx="4029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Acceptance</a:t>
            </a:r>
          </a:p>
        </p:txBody>
      </p:sp>
      <p:sp>
        <p:nvSpPr>
          <p:cNvPr id="7" name="task-0">
            <a:extLst xmlns:a="http://schemas.openxmlformats.org/drawingml/2006/main">
              <a:ext uri="{FF2B5EF4-FFF2-40B4-BE49-F238E27FC236}">
                <a16:creationId xmlns:a16="http://schemas.microsoft.com/office/drawing/2014/main" id="{70E9777E-CEF0-4765-B4BF-8F7283EE81A4}"/>
              </a:ext>
            </a:extLst>
          </p:cNvPr>
          <p:cNvSpPr>
            <a:spLocks xmlns:a="http://schemas.openxmlformats.org/drawingml/2006/main" noGrp="1"/>
          </p:cNvSpPr>
          <p:nvPr/>
        </p:nvSpPr>
        <p:spPr>
          <a:xfrm xmlns:a="http://schemas.openxmlformats.org/drawingml/2006/main">
            <a:off x="685800" y="2476500"/>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1. Persist and restore a framework session.</a:t>
            </a:r>
          </a:p>
        </p:txBody>
      </p:sp>
      <p:sp>
        <p:nvSpPr>
          <p:cNvPr id="8" name="task-1">
            <a:extLst xmlns:a="http://schemas.openxmlformats.org/drawingml/2006/main">
              <a:ext uri="{FF2B5EF4-FFF2-40B4-BE49-F238E27FC236}">
                <a16:creationId xmlns:a16="http://schemas.microsoft.com/office/drawing/2014/main" id="{3F059261-3A7E-4D48-B582-6FAF1A1C3CF7}"/>
              </a:ext>
            </a:extLst>
          </p:cNvPr>
          <p:cNvSpPr>
            <a:spLocks xmlns:a="http://schemas.openxmlformats.org/drawingml/2006/main" noGrp="1"/>
          </p:cNvSpPr>
          <p:nvPr/>
        </p:nvSpPr>
        <p:spPr>
          <a:xfrm xmlns:a="http://schemas.openxmlformats.org/drawingml/2006/main">
            <a:off x="685800" y="3495675"/>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2. Resolve a page invoice ID on the server.</a:t>
            </a:r>
          </a:p>
        </p:txBody>
      </p:sp>
      <p:sp>
        <p:nvSpPr>
          <p:cNvPr id="9" name="task-2">
            <a:extLst xmlns:a="http://schemas.openxmlformats.org/drawingml/2006/main">
              <a:ext uri="{FF2B5EF4-FFF2-40B4-BE49-F238E27FC236}">
                <a16:creationId xmlns:a16="http://schemas.microsoft.com/office/drawing/2014/main" id="{106CB887-2AD4-43C4-AFE6-00B656033B73}"/>
              </a:ext>
            </a:extLst>
          </p:cNvPr>
          <p:cNvSpPr>
            <a:spLocks xmlns:a="http://schemas.openxmlformats.org/drawingml/2006/main" noGrp="1"/>
          </p:cNvSpPr>
          <p:nvPr/>
        </p:nvSpPr>
        <p:spPr>
          <a:xfrm xmlns:a="http://schemas.openxmlformats.org/drawingml/2006/main">
            <a:off x="685800" y="4514850"/>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3. Test expiry, concurrent turns, and another user's continuation ID.</a:t>
            </a:r>
          </a:p>
        </p:txBody>
      </p:sp>
      <p:sp>
        <p:nvSpPr>
          <p:cNvPr id="10" name="criterion-0">
            <a:extLst xmlns:a="http://schemas.openxmlformats.org/drawingml/2006/main">
              <a:ext uri="{FF2B5EF4-FFF2-40B4-BE49-F238E27FC236}">
                <a16:creationId xmlns:a16="http://schemas.microsoft.com/office/drawing/2014/main" id="{E3EEBCF8-34A0-4095-8B70-41D8DD8DE5B0}"/>
              </a:ext>
            </a:extLst>
          </p:cNvPr>
          <p:cNvSpPr>
            <a:spLocks xmlns:a="http://schemas.openxmlformats.org/drawingml/2006/main" noGrp="1"/>
          </p:cNvSpPr>
          <p:nvPr/>
        </p:nvSpPr>
        <p:spPr>
          <a:xfrm xmlns:a="http://schemas.openxmlformats.org/drawingml/2006/main">
            <a:off x="7477125" y="2476500"/>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Authorized facts reach the agent.</a:t>
            </a:r>
          </a:p>
        </p:txBody>
      </p:sp>
      <p:sp>
        <p:nvSpPr>
          <p:cNvPr id="11" name="criterion-1">
            <a:extLst xmlns:a="http://schemas.openxmlformats.org/drawingml/2006/main">
              <a:ext uri="{FF2B5EF4-FFF2-40B4-BE49-F238E27FC236}">
                <a16:creationId xmlns:a16="http://schemas.microsoft.com/office/drawing/2014/main" id="{A6408626-675A-4F84-A2EA-1E4470CF5EC3}"/>
              </a:ext>
            </a:extLst>
          </p:cNvPr>
          <p:cNvSpPr>
            <a:spLocks xmlns:a="http://schemas.openxmlformats.org/drawingml/2006/main" noGrp="1"/>
          </p:cNvSpPr>
          <p:nvPr/>
        </p:nvSpPr>
        <p:spPr>
          <a:xfrm xmlns:a="http://schemas.openxmlformats.org/drawingml/2006/main">
            <a:off x="7477125" y="3495675"/>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Ownership checks reject a foreign session.</a:t>
            </a:r>
          </a:p>
        </p:txBody>
      </p:sp>
      <p:sp>
        <p:nvSpPr>
          <p:cNvPr id="12" name="criterion-2">
            <a:extLst xmlns:a="http://schemas.openxmlformats.org/drawingml/2006/main">
              <a:ext uri="{FF2B5EF4-FFF2-40B4-BE49-F238E27FC236}">
                <a16:creationId xmlns:a16="http://schemas.microsoft.com/office/drawing/2014/main" id="{4A518A21-6165-41A3-AC4F-518AB1F6CBEC}"/>
              </a:ext>
            </a:extLst>
          </p:cNvPr>
          <p:cNvSpPr>
            <a:spLocks xmlns:a="http://schemas.openxmlformats.org/drawingml/2006/main" noGrp="1"/>
          </p:cNvSpPr>
          <p:nvPr/>
        </p:nvSpPr>
        <p:spPr>
          <a:xfrm xmlns:a="http://schemas.openxmlformats.org/drawingml/2006/main">
            <a:off x="7477125" y="4514850"/>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A restart preserves the intended conversation state.</a:t>
            </a:r>
          </a:p>
        </p:txBody>
      </p:sp>
      <p:sp>
        <p:nvSpPr>
          <p:cNvPr id="13" name="lab-time">
            <a:extLst xmlns:a="http://schemas.openxmlformats.org/drawingml/2006/main">
              <a:ext uri="{FF2B5EF4-FFF2-40B4-BE49-F238E27FC236}">
                <a16:creationId xmlns:a16="http://schemas.microsoft.com/office/drawing/2014/main" id="{53D07054-1EA0-494F-A0FD-FBF931733A0A}"/>
              </a:ext>
            </a:extLst>
          </p:cNvPr>
          <p:cNvSpPr>
            <a:spLocks xmlns:a="http://schemas.openxmlformats.org/drawingml/2006/main" noGrp="1"/>
          </p:cNvSpPr>
          <p:nvPr/>
        </p:nvSpPr>
        <p:spPr>
          <a:xfrm xmlns:a="http://schemas.openxmlformats.org/drawingml/2006/main">
            <a:off x="685800" y="588645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17384"/>
                </a:solidFill>
                <a:latin typeface="Segoe UI"/>
                <a:ea typeface="Segoe UI"/>
                <a:cs typeface="Segoe UI"/>
              </a:defRPr>
            </a:defPPr>
            <a:lvl1pPr algn="l">
              <a:defRPr sz="1500" b="0">
                <a:solidFill>
                  <a:srgbClr val="617384"/>
                </a:solidFill>
                <a:latin typeface="Segoe UI"/>
                <a:ea typeface="Segoe UI"/>
                <a:cs typeface="Segoe UI"/>
              </a:defRPr>
            </a:lvl1pPr>
            <a:lvl2pPr algn="l">
              <a:defRPr sz="1500" b="0">
                <a:solidFill>
                  <a:srgbClr val="617384"/>
                </a:solidFill>
                <a:latin typeface="Segoe UI"/>
                <a:ea typeface="Segoe UI"/>
                <a:cs typeface="Segoe UI"/>
              </a:defRPr>
            </a:lvl2pPr>
            <a:lvl3pPr algn="l">
              <a:defRPr sz="1500" b="0">
                <a:solidFill>
                  <a:srgbClr val="617384"/>
                </a:solidFill>
                <a:latin typeface="Segoe UI"/>
                <a:ea typeface="Segoe UI"/>
                <a:cs typeface="Segoe UI"/>
              </a:defRPr>
            </a:lvl3pPr>
            <a:lvl4pPr algn="l">
              <a:defRPr sz="1500" b="0">
                <a:solidFill>
                  <a:srgbClr val="617384"/>
                </a:solidFill>
                <a:latin typeface="Segoe UI"/>
                <a:ea typeface="Segoe UI"/>
                <a:cs typeface="Segoe UI"/>
              </a:defRPr>
            </a:lvl4pPr>
            <a:lvl5pPr algn="l">
              <a:defRPr sz="1500" b="0">
                <a:solidFill>
                  <a:srgbClr val="617384"/>
                </a:solidFill>
                <a:latin typeface="Segoe UI"/>
                <a:ea typeface="Segoe UI"/>
                <a:cs typeface="Segoe UI"/>
              </a:defRPr>
            </a:lvl5pPr>
            <a:lvl6pPr algn="l">
              <a:defRPr sz="1500" b="0">
                <a:solidFill>
                  <a:srgbClr val="617384"/>
                </a:solidFill>
                <a:latin typeface="Segoe UI"/>
                <a:ea typeface="Segoe UI"/>
                <a:cs typeface="Segoe UI"/>
              </a:defRPr>
            </a:lvl6pPr>
            <a:lvl7pPr algn="l">
              <a:defRPr sz="1500" b="0">
                <a:solidFill>
                  <a:srgbClr val="617384"/>
                </a:solidFill>
                <a:latin typeface="Segoe UI"/>
                <a:ea typeface="Segoe UI"/>
                <a:cs typeface="Segoe UI"/>
              </a:defRPr>
            </a:lvl7pPr>
            <a:lvl8pPr algn="l">
              <a:defRPr sz="1500" b="0">
                <a:solidFill>
                  <a:srgbClr val="617384"/>
                </a:solidFill>
                <a:latin typeface="Segoe UI"/>
                <a:ea typeface="Segoe UI"/>
                <a:cs typeface="Segoe UI"/>
              </a:defRPr>
            </a:lvl8pPr>
            <a:lvl9pPr algn="l">
              <a:defRPr sz="1500" b="0">
                <a:solidFill>
                  <a:srgbClr val="617384"/>
                </a:solidFill>
                <a:latin typeface="Segoe UI"/>
                <a:ea typeface="Segoe UI"/>
                <a:cs typeface="Segoe UI"/>
              </a:defRPr>
            </a:lvl9pPr>
          </a:lstStyle>
          <a:p xmlns:a="http://schemas.openxmlformats.org/drawingml/2006/main">
            <a:pPr algn="l">
              <a:defRPr sz="1500" b="0">
                <a:solidFill>
                  <a:srgbClr val="617384"/>
                </a:solidFill>
                <a:latin typeface="Segoe UI"/>
                <a:ea typeface="Segoe UI"/>
                <a:cs typeface="Segoe UI"/>
              </a:defRPr>
            </a:pPr>
            <a:r>
              <a:rPr sz="1500" b="0">
                <a:solidFill>
                  <a:srgbClr val="617384"/>
                </a:solidFill>
                <a:latin typeface="Segoe UI"/>
                <a:ea typeface="Segoe UI"/>
                <a:cs typeface="Segoe UI"/>
              </a:rPr>
              <a:t>Suggested lab work: 70 minutes. Review the evidence before continuing.</a:t>
            </a:r>
          </a:p>
        </p:txBody>
      </p:sp>
    </p:spTree>
    <p:extLst>
      <p:ext uri="{BB962C8B-B14F-4D97-AF65-F5344CB8AC3E}">
        <p14:creationId xmlns:p14="http://schemas.microsoft.com/office/powerpoint/2010/main" val="211699538"/>
      </p:ext>
    </p:extLst>
  </p:cSld>
  <p:extLst>
    <p:ext uri="{6950BFC3-D8DA-4A85-94F7-54DA5524770B}">
      <p188:commentRel xmlns:r="http://schemas.openxmlformats.org/officeDocument/2006/relationships" xmlns:p188="http://schemas.microsoft.com/office/powerpoint/2018/8/main" r:id="Rdc715981749947f5"/>
    </p:ext>
  </p:extLst>
</p:sld>
</file>

<file path=ppt/slides/slide40.xml><?xml version="1.0" encoding="utf-8"?>
<p:sld xmlns:p="http://schemas.openxmlformats.org/presentationml/2006/main">
  <p:cSld>
    <p:bg>
      <p:bgPr>
        <a:solidFill xmlns:a="http://schemas.openxmlformats.org/drawingml/2006/main">
          <a:srgbClr val="06182B"/>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80AAB87-9D4B-486A-8B7E-449E6066DF1F}"/>
              </a:ext>
            </a:extLst>
          </p:cNvPr>
          <p:cNvPicPr>
            <a:picLocks xmlns:a="http://schemas.openxmlformats.org/drawingml/2006/main" noChangeAspect="1"/>
          </p:cNvPicPr>
          <p:nvPr/>
        </p:nvPicPr>
        <p:blipFill>
          <a:blip xmlns:r="http://schemas.openxmlformats.org/officeDocument/2006/relationships" xmlns:a="http://schemas.openxmlformats.org/drawingml/2006/main" r:embed="R01c126ae0fad474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ntext">
            <a:extLst xmlns:a="http://schemas.openxmlformats.org/drawingml/2006/main">
              <a:ext uri="{FF2B5EF4-FFF2-40B4-BE49-F238E27FC236}">
                <a16:creationId xmlns:a16="http://schemas.microsoft.com/office/drawing/2014/main" id="{947A3689-6002-4834-9570-22C680D98A17}"/>
              </a:ext>
            </a:extLst>
          </p:cNvPr>
          <p:cNvSpPr>
            <a:spLocks xmlns:a="http://schemas.openxmlformats.org/drawingml/2006/main" noGrp="1"/>
          </p:cNvSpPr>
          <p:nvPr/>
        </p:nvSpPr>
        <p:spPr>
          <a:xfrm xmlns:a="http://schemas.openxmlformats.org/drawingml/2006/main">
            <a:off x="647700" y="95250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73DEDC"/>
                </a:solidFill>
                <a:latin typeface="Segoe UI"/>
                <a:ea typeface="Segoe UI"/>
                <a:cs typeface="Segoe UI"/>
              </a:defRPr>
            </a:defPPr>
            <a:lvl1pPr algn="l">
              <a:defRPr sz="1500" b="1">
                <a:solidFill>
                  <a:srgbClr val="73DEDC"/>
                </a:solidFill>
                <a:latin typeface="Segoe UI"/>
                <a:ea typeface="Segoe UI"/>
                <a:cs typeface="Segoe UI"/>
              </a:defRPr>
            </a:lvl1pPr>
            <a:lvl2pPr algn="l">
              <a:defRPr sz="1500" b="1">
                <a:solidFill>
                  <a:srgbClr val="73DEDC"/>
                </a:solidFill>
                <a:latin typeface="Segoe UI"/>
                <a:ea typeface="Segoe UI"/>
                <a:cs typeface="Segoe UI"/>
              </a:defRPr>
            </a:lvl2pPr>
            <a:lvl3pPr algn="l">
              <a:defRPr sz="1500" b="1">
                <a:solidFill>
                  <a:srgbClr val="73DEDC"/>
                </a:solidFill>
                <a:latin typeface="Segoe UI"/>
                <a:ea typeface="Segoe UI"/>
                <a:cs typeface="Segoe UI"/>
              </a:defRPr>
            </a:lvl3pPr>
            <a:lvl4pPr algn="l">
              <a:defRPr sz="1500" b="1">
                <a:solidFill>
                  <a:srgbClr val="73DEDC"/>
                </a:solidFill>
                <a:latin typeface="Segoe UI"/>
                <a:ea typeface="Segoe UI"/>
                <a:cs typeface="Segoe UI"/>
              </a:defRPr>
            </a:lvl4pPr>
            <a:lvl5pPr algn="l">
              <a:defRPr sz="1500" b="1">
                <a:solidFill>
                  <a:srgbClr val="73DEDC"/>
                </a:solidFill>
                <a:latin typeface="Segoe UI"/>
                <a:ea typeface="Segoe UI"/>
                <a:cs typeface="Segoe UI"/>
              </a:defRPr>
            </a:lvl5pPr>
            <a:lvl6pPr algn="l">
              <a:defRPr sz="1500" b="1">
                <a:solidFill>
                  <a:srgbClr val="73DEDC"/>
                </a:solidFill>
                <a:latin typeface="Segoe UI"/>
                <a:ea typeface="Segoe UI"/>
                <a:cs typeface="Segoe UI"/>
              </a:defRPr>
            </a:lvl6pPr>
            <a:lvl7pPr algn="l">
              <a:defRPr sz="1500" b="1">
                <a:solidFill>
                  <a:srgbClr val="73DEDC"/>
                </a:solidFill>
                <a:latin typeface="Segoe UI"/>
                <a:ea typeface="Segoe UI"/>
                <a:cs typeface="Segoe UI"/>
              </a:defRPr>
            </a:lvl7pPr>
            <a:lvl8pPr algn="l">
              <a:defRPr sz="1500" b="1">
                <a:solidFill>
                  <a:srgbClr val="73DEDC"/>
                </a:solidFill>
                <a:latin typeface="Segoe UI"/>
                <a:ea typeface="Segoe UI"/>
                <a:cs typeface="Segoe UI"/>
              </a:defRPr>
            </a:lvl8pPr>
            <a:lvl9pPr algn="l">
              <a:defRPr sz="1500" b="1">
                <a:solidFill>
                  <a:srgbClr val="73DEDC"/>
                </a:solidFill>
                <a:latin typeface="Segoe UI"/>
                <a:ea typeface="Segoe UI"/>
                <a:cs typeface="Segoe UI"/>
              </a:defRPr>
            </a:lvl9pPr>
          </a:lstStyle>
          <a:p xmlns:a="http://schemas.openxmlformats.org/drawingml/2006/main">
            <a:pPr algn="l">
              <a:defRPr sz="1500" b="1">
                <a:solidFill>
                  <a:srgbClr val="73DEDC"/>
                </a:solidFill>
                <a:latin typeface="Segoe UI"/>
                <a:ea typeface="Segoe UI"/>
                <a:cs typeface="Segoe UI"/>
              </a:defRPr>
            </a:pPr>
            <a:r>
              <a:rPr sz="1500" b="1">
                <a:solidFill>
                  <a:srgbClr val="73DEDC"/>
                </a:solidFill>
                <a:latin typeface="Segoe UI"/>
                <a:ea typeface="Segoe UI"/>
                <a:cs typeface="Segoe UI"/>
              </a:rPr>
              <a:t>MODULE 05</a:t>
            </a:r>
          </a:p>
        </p:txBody>
      </p:sp>
      <p:sp>
        <p:nvSpPr>
          <p:cNvPr id="3" name="title">
            <a:extLst xmlns:a="http://schemas.openxmlformats.org/drawingml/2006/main">
              <a:ext uri="{FF2B5EF4-FFF2-40B4-BE49-F238E27FC236}">
                <a16:creationId xmlns:a16="http://schemas.microsoft.com/office/drawing/2014/main" id="{D9150FD5-D0AE-44E6-B6CE-9404B01209FE}"/>
              </a:ext>
            </a:extLst>
          </p:cNvPr>
          <p:cNvSpPr>
            <a:spLocks xmlns:a="http://schemas.openxmlformats.org/drawingml/2006/main" noGrp="1"/>
          </p:cNvSpPr>
          <p:nvPr/>
        </p:nvSpPr>
        <p:spPr>
          <a:xfrm xmlns:a="http://schemas.openxmlformats.org/drawingml/2006/main">
            <a:off x="647700" y="1809750"/>
            <a:ext cx="6858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Segoe UI"/>
                <a:ea typeface="Segoe UI"/>
                <a:cs typeface="Segoe UI"/>
              </a:defRPr>
            </a:defPPr>
            <a:lvl1pPr algn="l">
              <a:defRPr sz="3900" b="1">
                <a:solidFill>
                  <a:srgbClr val="FFFFFF"/>
                </a:solidFill>
                <a:latin typeface="Segoe UI"/>
                <a:ea typeface="Segoe UI"/>
                <a:cs typeface="Segoe UI"/>
              </a:defRPr>
            </a:lvl1pPr>
            <a:lvl2pPr algn="l">
              <a:defRPr sz="3900" b="1">
                <a:solidFill>
                  <a:srgbClr val="FFFFFF"/>
                </a:solidFill>
                <a:latin typeface="Segoe UI"/>
                <a:ea typeface="Segoe UI"/>
                <a:cs typeface="Segoe UI"/>
              </a:defRPr>
            </a:lvl2pPr>
            <a:lvl3pPr algn="l">
              <a:defRPr sz="3900" b="1">
                <a:solidFill>
                  <a:srgbClr val="FFFFFF"/>
                </a:solidFill>
                <a:latin typeface="Segoe UI"/>
                <a:ea typeface="Segoe UI"/>
                <a:cs typeface="Segoe UI"/>
              </a:defRPr>
            </a:lvl3pPr>
            <a:lvl4pPr algn="l">
              <a:defRPr sz="3900" b="1">
                <a:solidFill>
                  <a:srgbClr val="FFFFFF"/>
                </a:solidFill>
                <a:latin typeface="Segoe UI"/>
                <a:ea typeface="Segoe UI"/>
                <a:cs typeface="Segoe UI"/>
              </a:defRPr>
            </a:lvl4pPr>
            <a:lvl5pPr algn="l">
              <a:defRPr sz="3900" b="1">
                <a:solidFill>
                  <a:srgbClr val="FFFFFF"/>
                </a:solidFill>
                <a:latin typeface="Segoe UI"/>
                <a:ea typeface="Segoe UI"/>
                <a:cs typeface="Segoe UI"/>
              </a:defRPr>
            </a:lvl5pPr>
            <a:lvl6pPr algn="l">
              <a:defRPr sz="3900" b="1">
                <a:solidFill>
                  <a:srgbClr val="FFFFFF"/>
                </a:solidFill>
                <a:latin typeface="Segoe UI"/>
                <a:ea typeface="Segoe UI"/>
                <a:cs typeface="Segoe UI"/>
              </a:defRPr>
            </a:lvl6pPr>
            <a:lvl7pPr algn="l">
              <a:defRPr sz="3900" b="1">
                <a:solidFill>
                  <a:srgbClr val="FFFFFF"/>
                </a:solidFill>
                <a:latin typeface="Segoe UI"/>
                <a:ea typeface="Segoe UI"/>
                <a:cs typeface="Segoe UI"/>
              </a:defRPr>
            </a:lvl7pPr>
            <a:lvl8pPr algn="l">
              <a:defRPr sz="3900" b="1">
                <a:solidFill>
                  <a:srgbClr val="FFFFFF"/>
                </a:solidFill>
                <a:latin typeface="Segoe UI"/>
                <a:ea typeface="Segoe UI"/>
                <a:cs typeface="Segoe UI"/>
              </a:defRPr>
            </a:lvl8pPr>
            <a:lvl9pPr algn="l">
              <a:defRPr sz="3900" b="1">
                <a:solidFill>
                  <a:srgbClr val="FFFFFF"/>
                </a:solidFill>
                <a:latin typeface="Segoe UI"/>
                <a:ea typeface="Segoe UI"/>
                <a:cs typeface="Segoe UI"/>
              </a:defRPr>
            </a:lvl9pPr>
          </a:lstStyle>
          <a:p xmlns:a="http://schemas.openxmlformats.org/drawingml/2006/main">
            <a:pPr algn="l">
              <a:defRPr sz="3900" b="1">
                <a:solidFill>
                  <a:srgbClr val="FFFFFF"/>
                </a:solidFill>
                <a:latin typeface="Segoe UI"/>
                <a:ea typeface="Segoe UI"/>
                <a:cs typeface="Segoe UI"/>
              </a:defRPr>
            </a:pPr>
            <a:r>
              <a:rPr sz="3900" b="1">
                <a:solidFill>
                  <a:srgbClr val="FFFFFF"/>
                </a:solidFill>
                <a:latin typeface="Segoe UI"/>
                <a:ea typeface="Segoe UI"/>
                <a:cs typeface="Segoe UI"/>
              </a:rPr>
              <a:t>Retrieval and grounding</a:t>
            </a:r>
          </a:p>
        </p:txBody>
      </p:sp>
      <p:sp>
        <p:nvSpPr>
          <p:cNvPr id="4" name="subtitle">
            <a:extLst xmlns:a="http://schemas.openxmlformats.org/drawingml/2006/main">
              <a:ext uri="{FF2B5EF4-FFF2-40B4-BE49-F238E27FC236}">
                <a16:creationId xmlns:a16="http://schemas.microsoft.com/office/drawing/2014/main" id="{5596F4E4-8963-4665-B0BF-92238EAADC20}"/>
              </a:ext>
            </a:extLst>
          </p:cNvPr>
          <p:cNvSpPr>
            <a:spLocks xmlns:a="http://schemas.openxmlformats.org/drawingml/2006/main" noGrp="1"/>
          </p:cNvSpPr>
          <p:nvPr/>
        </p:nvSpPr>
        <p:spPr>
          <a:xfrm xmlns:a="http://schemas.openxmlformats.org/drawingml/2006/main">
            <a:off x="647700" y="4000500"/>
            <a:ext cx="619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D9E6F0"/>
                </a:solidFill>
                <a:latin typeface="Segoe UI"/>
                <a:ea typeface="Segoe UI"/>
                <a:cs typeface="Segoe UI"/>
              </a:defRPr>
            </a:defPPr>
            <a:lvl1pPr algn="l">
              <a:defRPr sz="2025" b="0">
                <a:solidFill>
                  <a:srgbClr val="D9E6F0"/>
                </a:solidFill>
                <a:latin typeface="Segoe UI"/>
                <a:ea typeface="Segoe UI"/>
                <a:cs typeface="Segoe UI"/>
              </a:defRPr>
            </a:lvl1pPr>
            <a:lvl2pPr algn="l">
              <a:defRPr sz="2025" b="0">
                <a:solidFill>
                  <a:srgbClr val="D9E6F0"/>
                </a:solidFill>
                <a:latin typeface="Segoe UI"/>
                <a:ea typeface="Segoe UI"/>
                <a:cs typeface="Segoe UI"/>
              </a:defRPr>
            </a:lvl2pPr>
            <a:lvl3pPr algn="l">
              <a:defRPr sz="2025" b="0">
                <a:solidFill>
                  <a:srgbClr val="D9E6F0"/>
                </a:solidFill>
                <a:latin typeface="Segoe UI"/>
                <a:ea typeface="Segoe UI"/>
                <a:cs typeface="Segoe UI"/>
              </a:defRPr>
            </a:lvl3pPr>
            <a:lvl4pPr algn="l">
              <a:defRPr sz="2025" b="0">
                <a:solidFill>
                  <a:srgbClr val="D9E6F0"/>
                </a:solidFill>
                <a:latin typeface="Segoe UI"/>
                <a:ea typeface="Segoe UI"/>
                <a:cs typeface="Segoe UI"/>
              </a:defRPr>
            </a:lvl4pPr>
            <a:lvl5pPr algn="l">
              <a:defRPr sz="2025" b="0">
                <a:solidFill>
                  <a:srgbClr val="D9E6F0"/>
                </a:solidFill>
                <a:latin typeface="Segoe UI"/>
                <a:ea typeface="Segoe UI"/>
                <a:cs typeface="Segoe UI"/>
              </a:defRPr>
            </a:lvl5pPr>
            <a:lvl6pPr algn="l">
              <a:defRPr sz="2025" b="0">
                <a:solidFill>
                  <a:srgbClr val="D9E6F0"/>
                </a:solidFill>
                <a:latin typeface="Segoe UI"/>
                <a:ea typeface="Segoe UI"/>
                <a:cs typeface="Segoe UI"/>
              </a:defRPr>
            </a:lvl6pPr>
            <a:lvl7pPr algn="l">
              <a:defRPr sz="2025" b="0">
                <a:solidFill>
                  <a:srgbClr val="D9E6F0"/>
                </a:solidFill>
                <a:latin typeface="Segoe UI"/>
                <a:ea typeface="Segoe UI"/>
                <a:cs typeface="Segoe UI"/>
              </a:defRPr>
            </a:lvl7pPr>
            <a:lvl8pPr algn="l">
              <a:defRPr sz="2025" b="0">
                <a:solidFill>
                  <a:srgbClr val="D9E6F0"/>
                </a:solidFill>
                <a:latin typeface="Segoe UI"/>
                <a:ea typeface="Segoe UI"/>
                <a:cs typeface="Segoe UI"/>
              </a:defRPr>
            </a:lvl8pPr>
            <a:lvl9pPr algn="l">
              <a:defRPr sz="2025" b="0">
                <a:solidFill>
                  <a:srgbClr val="D9E6F0"/>
                </a:solidFill>
                <a:latin typeface="Segoe UI"/>
                <a:ea typeface="Segoe UI"/>
                <a:cs typeface="Segoe UI"/>
              </a:defRPr>
            </a:lvl9pPr>
          </a:lstStyle>
          <a:p xmlns:a="http://schemas.openxmlformats.org/drawingml/2006/main">
            <a:pPr algn="l">
              <a:defRPr sz="2025" b="0">
                <a:solidFill>
                  <a:srgbClr val="D9E6F0"/>
                </a:solidFill>
                <a:latin typeface="Segoe UI"/>
                <a:ea typeface="Segoe UI"/>
                <a:cs typeface="Segoe UI"/>
              </a:defRPr>
            </a:pPr>
            <a:r>
              <a:rPr sz="2025" b="0">
                <a:solidFill>
                  <a:srgbClr val="D9E6F0"/>
                </a:solidFill>
                <a:latin typeface="Segoe UI"/>
                <a:ea typeface="Segoe UI"/>
                <a:cs typeface="Segoe UI"/>
              </a:rPr>
              <a:t>Documentation and financial evidence with traceable sources</a:t>
            </a:r>
          </a:p>
        </p:txBody>
      </p:sp>
      <p:sp>
        <p:nvSpPr>
          <p:cNvPr id="5" name="footer">
            <a:extLst xmlns:a="http://schemas.openxmlformats.org/drawingml/2006/main">
              <a:ext uri="{FF2B5EF4-FFF2-40B4-BE49-F238E27FC236}">
                <a16:creationId xmlns:a16="http://schemas.microsoft.com/office/drawing/2014/main" id="{88CEA377-0FAE-4CFD-BAAA-6F5F07B8D6D5}"/>
              </a:ext>
            </a:extLst>
          </p:cNvPr>
          <p:cNvSpPr>
            <a:spLocks xmlns:a="http://schemas.openxmlformats.org/drawingml/2006/main" noGrp="1"/>
          </p:cNvSpPr>
          <p:nvPr/>
        </p:nvSpPr>
        <p:spPr>
          <a:xfrm xmlns:a="http://schemas.openxmlformats.org/drawingml/2006/main">
            <a:off x="647700" y="6153150"/>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BC0D2"/>
                </a:solidFill>
                <a:latin typeface="Segoe UI"/>
                <a:ea typeface="Segoe UI"/>
                <a:cs typeface="Segoe UI"/>
              </a:defRPr>
            </a:defPPr>
            <a:lvl1pPr algn="l">
              <a:defRPr sz="1275" b="0">
                <a:solidFill>
                  <a:srgbClr val="ABC0D2"/>
                </a:solidFill>
                <a:latin typeface="Segoe UI"/>
                <a:ea typeface="Segoe UI"/>
                <a:cs typeface="Segoe UI"/>
              </a:defRPr>
            </a:lvl1pPr>
            <a:lvl2pPr algn="l">
              <a:defRPr sz="1275" b="0">
                <a:solidFill>
                  <a:srgbClr val="ABC0D2"/>
                </a:solidFill>
                <a:latin typeface="Segoe UI"/>
                <a:ea typeface="Segoe UI"/>
                <a:cs typeface="Segoe UI"/>
              </a:defRPr>
            </a:lvl2pPr>
            <a:lvl3pPr algn="l">
              <a:defRPr sz="1275" b="0">
                <a:solidFill>
                  <a:srgbClr val="ABC0D2"/>
                </a:solidFill>
                <a:latin typeface="Segoe UI"/>
                <a:ea typeface="Segoe UI"/>
                <a:cs typeface="Segoe UI"/>
              </a:defRPr>
            </a:lvl3pPr>
            <a:lvl4pPr algn="l">
              <a:defRPr sz="1275" b="0">
                <a:solidFill>
                  <a:srgbClr val="ABC0D2"/>
                </a:solidFill>
                <a:latin typeface="Segoe UI"/>
                <a:ea typeface="Segoe UI"/>
                <a:cs typeface="Segoe UI"/>
              </a:defRPr>
            </a:lvl4pPr>
            <a:lvl5pPr algn="l">
              <a:defRPr sz="1275" b="0">
                <a:solidFill>
                  <a:srgbClr val="ABC0D2"/>
                </a:solidFill>
                <a:latin typeface="Segoe UI"/>
                <a:ea typeface="Segoe UI"/>
                <a:cs typeface="Segoe UI"/>
              </a:defRPr>
            </a:lvl5pPr>
            <a:lvl6pPr algn="l">
              <a:defRPr sz="1275" b="0">
                <a:solidFill>
                  <a:srgbClr val="ABC0D2"/>
                </a:solidFill>
                <a:latin typeface="Segoe UI"/>
                <a:ea typeface="Segoe UI"/>
                <a:cs typeface="Segoe UI"/>
              </a:defRPr>
            </a:lvl6pPr>
            <a:lvl7pPr algn="l">
              <a:defRPr sz="1275" b="0">
                <a:solidFill>
                  <a:srgbClr val="ABC0D2"/>
                </a:solidFill>
                <a:latin typeface="Segoe UI"/>
                <a:ea typeface="Segoe UI"/>
                <a:cs typeface="Segoe UI"/>
              </a:defRPr>
            </a:lvl7pPr>
            <a:lvl8pPr algn="l">
              <a:defRPr sz="1275" b="0">
                <a:solidFill>
                  <a:srgbClr val="ABC0D2"/>
                </a:solidFill>
                <a:latin typeface="Segoe UI"/>
                <a:ea typeface="Segoe UI"/>
                <a:cs typeface="Segoe UI"/>
              </a:defRPr>
            </a:lvl8pPr>
            <a:lvl9pPr algn="l">
              <a:defRPr sz="1275" b="0">
                <a:solidFill>
                  <a:srgbClr val="ABC0D2"/>
                </a:solidFill>
                <a:latin typeface="Segoe UI"/>
                <a:ea typeface="Segoe UI"/>
                <a:cs typeface="Segoe UI"/>
              </a:defRPr>
            </a:lvl9pPr>
          </a:lstStyle>
          <a:p xmlns:a="http://schemas.openxmlformats.org/drawingml/2006/main">
            <a:pPr algn="l">
              <a:defRPr sz="1275" b="0">
                <a:solidFill>
                  <a:srgbClr val="ABC0D2"/>
                </a:solidFill>
                <a:latin typeface="Segoe UI"/>
                <a:ea typeface="Segoe UI"/>
                <a:cs typeface="Segoe UI"/>
              </a:defRPr>
            </a:pPr>
            <a:r>
              <a:rPr sz="1275" b="0">
                <a:solidFill>
                  <a:srgbClr val="ABC0D2"/>
                </a:solidFill>
                <a:latin typeface="Segoe UI"/>
                <a:ea typeface="Segoe UI"/>
                <a:cs typeface="Segoe UI"/>
              </a:rPr>
              <a:t>3 contact hours including the module lab</a:t>
            </a:r>
          </a:p>
        </p:txBody>
      </p:sp>
      <p:sp>
        <p:nvSpPr>
          <p:cNvPr id="6" name="page">
            <a:extLst xmlns:a="http://schemas.openxmlformats.org/drawingml/2006/main">
              <a:ext uri="{FF2B5EF4-FFF2-40B4-BE49-F238E27FC236}">
                <a16:creationId xmlns:a16="http://schemas.microsoft.com/office/drawing/2014/main" id="{8CF59123-EFC9-4CEA-A400-9AE6558A3650}"/>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ABC0D2"/>
                </a:solidFill>
                <a:latin typeface="Segoe UI"/>
                <a:ea typeface="Segoe UI"/>
                <a:cs typeface="Segoe UI"/>
              </a:defRPr>
            </a:defPPr>
            <a:lvl1pPr algn="r">
              <a:defRPr sz="1050" b="0">
                <a:solidFill>
                  <a:srgbClr val="ABC0D2"/>
                </a:solidFill>
                <a:latin typeface="Segoe UI"/>
                <a:ea typeface="Segoe UI"/>
                <a:cs typeface="Segoe UI"/>
              </a:defRPr>
            </a:lvl1pPr>
            <a:lvl2pPr algn="r">
              <a:defRPr sz="1050" b="0">
                <a:solidFill>
                  <a:srgbClr val="ABC0D2"/>
                </a:solidFill>
                <a:latin typeface="Segoe UI"/>
                <a:ea typeface="Segoe UI"/>
                <a:cs typeface="Segoe UI"/>
              </a:defRPr>
            </a:lvl2pPr>
            <a:lvl3pPr algn="r">
              <a:defRPr sz="1050" b="0">
                <a:solidFill>
                  <a:srgbClr val="ABC0D2"/>
                </a:solidFill>
                <a:latin typeface="Segoe UI"/>
                <a:ea typeface="Segoe UI"/>
                <a:cs typeface="Segoe UI"/>
              </a:defRPr>
            </a:lvl3pPr>
            <a:lvl4pPr algn="r">
              <a:defRPr sz="1050" b="0">
                <a:solidFill>
                  <a:srgbClr val="ABC0D2"/>
                </a:solidFill>
                <a:latin typeface="Segoe UI"/>
                <a:ea typeface="Segoe UI"/>
                <a:cs typeface="Segoe UI"/>
              </a:defRPr>
            </a:lvl4pPr>
            <a:lvl5pPr algn="r">
              <a:defRPr sz="1050" b="0">
                <a:solidFill>
                  <a:srgbClr val="ABC0D2"/>
                </a:solidFill>
                <a:latin typeface="Segoe UI"/>
                <a:ea typeface="Segoe UI"/>
                <a:cs typeface="Segoe UI"/>
              </a:defRPr>
            </a:lvl5pPr>
            <a:lvl6pPr algn="r">
              <a:defRPr sz="1050" b="0">
                <a:solidFill>
                  <a:srgbClr val="ABC0D2"/>
                </a:solidFill>
                <a:latin typeface="Segoe UI"/>
                <a:ea typeface="Segoe UI"/>
                <a:cs typeface="Segoe UI"/>
              </a:defRPr>
            </a:lvl6pPr>
            <a:lvl7pPr algn="r">
              <a:defRPr sz="1050" b="0">
                <a:solidFill>
                  <a:srgbClr val="ABC0D2"/>
                </a:solidFill>
                <a:latin typeface="Segoe UI"/>
                <a:ea typeface="Segoe UI"/>
                <a:cs typeface="Segoe UI"/>
              </a:defRPr>
            </a:lvl7pPr>
            <a:lvl8pPr algn="r">
              <a:defRPr sz="1050" b="0">
                <a:solidFill>
                  <a:srgbClr val="ABC0D2"/>
                </a:solidFill>
                <a:latin typeface="Segoe UI"/>
                <a:ea typeface="Segoe UI"/>
                <a:cs typeface="Segoe UI"/>
              </a:defRPr>
            </a:lvl8pPr>
            <a:lvl9pPr algn="r">
              <a:defRPr sz="1050" b="0">
                <a:solidFill>
                  <a:srgbClr val="ABC0D2"/>
                </a:solidFill>
                <a:latin typeface="Segoe UI"/>
                <a:ea typeface="Segoe UI"/>
                <a:cs typeface="Segoe UI"/>
              </a:defRPr>
            </a:lvl9pPr>
          </a:lstStyle>
          <a:p xmlns:a="http://schemas.openxmlformats.org/drawingml/2006/main">
            <a:pPr algn="r">
              <a:defRPr sz="1050" b="0">
                <a:solidFill>
                  <a:srgbClr val="ABC0D2"/>
                </a:solidFill>
                <a:latin typeface="Segoe UI"/>
                <a:ea typeface="Segoe UI"/>
                <a:cs typeface="Segoe UI"/>
              </a:defRPr>
            </a:pPr>
            <a:r>
              <a:rPr sz="1050" b="0">
                <a:solidFill>
                  <a:srgbClr val="ABC0D2"/>
                </a:solidFill>
                <a:latin typeface="Segoe UI"/>
                <a:ea typeface="Segoe UI"/>
                <a:cs typeface="Segoe UI"/>
              </a:rPr>
              <a:t>40</a:t>
            </a:r>
          </a:p>
        </p:txBody>
      </p:sp>
    </p:spTree>
    <p:extLst>
      <p:ext uri="{BB962C8B-B14F-4D97-AF65-F5344CB8AC3E}">
        <p14:creationId xmlns:p14="http://schemas.microsoft.com/office/powerpoint/2010/main" val="823973546"/>
      </p:ext>
    </p:extLst>
  </p:cSld>
  <p:extLst>
    <p:ext uri="{6950BFC3-D8DA-4A85-94F7-54DA5524770B}">
      <p188:commentRel xmlns:r="http://schemas.openxmlformats.org/officeDocument/2006/relationships" xmlns:p188="http://schemas.microsoft.com/office/powerpoint/2018/8/main" r:id="Rf43aa86d0b3e46f2"/>
    </p:ext>
  </p:extLst>
</p:sld>
</file>

<file path=ppt/slides/slide4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context">
            <a:extLst xmlns:a="http://schemas.openxmlformats.org/drawingml/2006/main">
              <a:ext uri="{FF2B5EF4-FFF2-40B4-BE49-F238E27FC236}">
                <a16:creationId xmlns:a16="http://schemas.microsoft.com/office/drawing/2014/main" id="{7D589132-F3F8-4EF3-B412-EF9F4548AC68}"/>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Retrieval design</a:t>
            </a:r>
          </a:p>
        </p:txBody>
      </p:sp>
      <p:sp>
        <p:nvSpPr>
          <p:cNvPr id="2" name="title">
            <a:extLst xmlns:a="http://schemas.openxmlformats.org/drawingml/2006/main">
              <a:ext uri="{FF2B5EF4-FFF2-40B4-BE49-F238E27FC236}">
                <a16:creationId xmlns:a16="http://schemas.microsoft.com/office/drawing/2014/main" id="{8B2F6FB2-27DE-4D87-9E90-D7A7801DC793}"/>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Retrieval choices</a:t>
            </a:r>
          </a:p>
        </p:txBody>
      </p:sp>
      <p:sp>
        <p:nvSpPr>
          <p:cNvPr id="3" name="footer">
            <a:extLst xmlns:a="http://schemas.openxmlformats.org/drawingml/2006/main">
              <a:ext uri="{FF2B5EF4-FFF2-40B4-BE49-F238E27FC236}">
                <a16:creationId xmlns:a16="http://schemas.microsoft.com/office/drawing/2014/main" id="{A3D5B3C0-6D89-478F-8CBC-A95FA98A34AB}"/>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05  Retrieval and grounding</a:t>
            </a:r>
          </a:p>
        </p:txBody>
      </p:sp>
      <p:sp>
        <p:nvSpPr>
          <p:cNvPr id="4" name="page">
            <a:extLst xmlns:a="http://schemas.openxmlformats.org/drawingml/2006/main">
              <a:ext uri="{FF2B5EF4-FFF2-40B4-BE49-F238E27FC236}">
                <a16:creationId xmlns:a16="http://schemas.microsoft.com/office/drawing/2014/main" id="{1BD67D8D-763C-4AFA-8D0D-B522CAF3F075}"/>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41</a:t>
            </a:r>
          </a:p>
        </p:txBody>
      </p:sp>
      <p:graphicFrame>
        <p:nvGraphicFramePr>
          <p:cNvPr id="5" name="">
            <a:extLst xmlns:a="http://schemas.openxmlformats.org/drawingml/2006/main">
              <a:ext uri="{FF2B5EF4-FFF2-40B4-BE49-F238E27FC236}">
                <a16:creationId xmlns:a16="http://schemas.microsoft.com/office/drawing/2014/main" id="{83B92E3D-55D4-4ECE-89F7-C71BEAD2E898}"/>
              </a:ext>
            </a:extLst>
          </p:cNvPr>
          <p:cNvGraphicFramePr/>
          <p:nvPr/>
        </p:nvGraphicFramePr>
        <p:xfrm>
          <a:off xmlns:a="http://schemas.openxmlformats.org/drawingml/2006/main" x="685800" y="1809750"/>
          <a:ext xmlns:a="http://schemas.openxmlformats.org/drawingml/2006/main" cx="10820400" cy="3259836"/>
        </p:xfrm>
        <a:graphic xmlns:a="http://schemas.openxmlformats.org/drawingml/2006/main">
          <a:graphicData uri="http://schemas.openxmlformats.org/drawingml/2006/table">
            <a:tbl>
              <a:tblPr/>
              <a:tblGrid>
                <a:gridCol w="3246120"/>
                <a:gridCol w="3895344"/>
                <a:gridCol w="3678936"/>
              </a:tblGrid>
              <a:tr h="552450">
                <a:tc>
                  <a:txBody>
                    <a:bodyPr/>
                    <a:lstStyle/>
                    <a:p>
                      <a:r>
                        <a:rPr sz="1725" b="1">
                          <a:solidFill>
                            <a:srgbClr val="FFFFFF"/>
                          </a:solidFill>
                          <a:latin typeface="Segoe UI"/>
                          <a:ea typeface="Segoe UI"/>
                          <a:cs typeface="Segoe UI"/>
                        </a:rPr>
                        <a:t>Question</a:t>
                      </a:r>
                    </a:p>
                  </a:txBody>
                  <a:tcPr marL="133350" marR="133350" marT="114300" marB="95250" anchor="t">
                    <a:lnL w="5715">
                      <a:solidFill>
                        <a:srgbClr val="DCE5EA"/>
                      </a:solidFill>
                      <a:prstDash val="solid"/>
                    </a:lnL>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Authoritative source</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Integration choice</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r>
              <a:tr h="590550">
                <a:tc>
                  <a:txBody>
                    <a:bodyPr/>
                    <a:lstStyle/>
                    <a:p>
                      <a:r>
                        <a:rPr sz="1725" b="0">
                          <a:solidFill>
                            <a:srgbClr val="34495B"/>
                          </a:solidFill>
                          <a:latin typeface="Segoe UI"/>
                          <a:ea typeface="Segoe UI"/>
                          <a:cs typeface="Segoe UI"/>
                        </a:rPr>
                        <a:t>What does Draft mean?</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Reviewed Markdown documentation</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File or search retrieval</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590550">
                <a:tc>
                  <a:txBody>
                    <a:bodyPr/>
                    <a:lstStyle/>
                    <a:p>
                      <a:r>
                        <a:rPr sz="1725" b="0">
                          <a:solidFill>
                            <a:srgbClr val="34495B"/>
                          </a:solidFill>
                          <a:latin typeface="Segoe UI"/>
                          <a:ea typeface="Segoe UI"/>
                          <a:cs typeface="Segoe UI"/>
                        </a:rPr>
                        <a:t>How much is outstanding?</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Current business database</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Typed application query</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r h="763143">
                <a:tc>
                  <a:txBody>
                    <a:bodyPr/>
                    <a:lstStyle/>
                    <a:p>
                      <a:r>
                        <a:rPr sz="1725" b="0">
                          <a:solidFill>
                            <a:srgbClr val="34495B"/>
                          </a:solidFill>
                          <a:latin typeface="Segoe UI"/>
                          <a:ea typeface="Segoe UI"/>
                          <a:cs typeface="Segoe UI"/>
                        </a:rPr>
                        <a:t>Which rule changed?</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Versioned knowledge content</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Search with document/version metadata</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763143">
                <a:tc>
                  <a:txBody>
                    <a:bodyPr/>
                    <a:lstStyle/>
                    <a:p>
                      <a:r>
                        <a:rPr sz="1725" b="0">
                          <a:solidFill>
                            <a:srgbClr val="34495B"/>
                          </a:solidFill>
                          <a:latin typeface="Segoe UI"/>
                          <a:ea typeface="Segoe UI"/>
                          <a:cs typeface="Segoe UI"/>
                        </a:rPr>
                        <a:t>Why did this command fail?</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Domain error plus current record</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Tool outcome with relevant evidence</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bl>
          </a:graphicData>
        </a:graphic>
      </p:graphicFrame>
    </p:spTree>
    <p:extLst>
      <p:ext uri="{BB962C8B-B14F-4D97-AF65-F5344CB8AC3E}">
        <p14:creationId xmlns:p14="http://schemas.microsoft.com/office/powerpoint/2010/main" val="2061994381"/>
      </p:ext>
    </p:extLst>
  </p:cSld>
  <p:extLst>
    <p:ext uri="{6950BFC3-D8DA-4A85-94F7-54DA5524770B}">
      <p188:commentRel xmlns:r="http://schemas.openxmlformats.org/officeDocument/2006/relationships" xmlns:p188="http://schemas.microsoft.com/office/powerpoint/2018/8/main" r:id="Rc2d4e23f64ad4756"/>
    </p:ext>
  </p:extLst>
</p:sld>
</file>

<file path=ppt/slides/slide4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A01B000D-E837-4A35-A3FA-1E0118F8688E}"/>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Existing implementation</a:t>
            </a:r>
          </a:p>
        </p:txBody>
      </p:sp>
      <p:sp>
        <p:nvSpPr>
          <p:cNvPr id="2" name="title">
            <a:extLst xmlns:a="http://schemas.openxmlformats.org/drawingml/2006/main">
              <a:ext uri="{FF2B5EF4-FFF2-40B4-BE49-F238E27FC236}">
                <a16:creationId xmlns:a16="http://schemas.microsoft.com/office/drawing/2014/main" id="{829A345F-E5FA-476D-92C5-A4AF715B7224}"/>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The current documentation tool</a:t>
            </a:r>
          </a:p>
        </p:txBody>
      </p:sp>
      <p:sp>
        <p:nvSpPr>
          <p:cNvPr id="3" name="footer">
            <a:extLst xmlns:a="http://schemas.openxmlformats.org/drawingml/2006/main">
              <a:ext uri="{FF2B5EF4-FFF2-40B4-BE49-F238E27FC236}">
                <a16:creationId xmlns:a16="http://schemas.microsoft.com/office/drawing/2014/main" id="{D272F984-4FBC-4BD8-96C3-F9915D4F0574}"/>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05  Retrieval and grounding</a:t>
            </a:r>
          </a:p>
        </p:txBody>
      </p:sp>
      <p:sp>
        <p:nvSpPr>
          <p:cNvPr id="4" name="page">
            <a:extLst xmlns:a="http://schemas.openxmlformats.org/drawingml/2006/main">
              <a:ext uri="{FF2B5EF4-FFF2-40B4-BE49-F238E27FC236}">
                <a16:creationId xmlns:a16="http://schemas.microsoft.com/office/drawing/2014/main" id="{DF070080-F23B-4192-971A-B9713EA14672}"/>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42</a:t>
            </a:r>
          </a:p>
        </p:txBody>
      </p:sp>
      <p:sp>
        <p:nvSpPr>
          <p:cNvPr id="5" name="label-0">
            <a:extLst xmlns:a="http://schemas.openxmlformats.org/drawingml/2006/main">
              <a:ext uri="{FF2B5EF4-FFF2-40B4-BE49-F238E27FC236}">
                <a16:creationId xmlns:a16="http://schemas.microsoft.com/office/drawing/2014/main" id="{3C1F8726-7C6B-4BEC-B859-0FD45C29CC9E}"/>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Lookup</a:t>
            </a:r>
          </a:p>
        </p:txBody>
      </p:sp>
      <p:sp>
        <p:nvSpPr>
          <p:cNvPr id="6" name="point-0">
            <a:extLst xmlns:a="http://schemas.openxmlformats.org/drawingml/2006/main">
              <a:ext uri="{FF2B5EF4-FFF2-40B4-BE49-F238E27FC236}">
                <a16:creationId xmlns:a16="http://schemas.microsoft.com/office/drawing/2014/main" id="{A35DC3F0-CDA9-4489-9625-B9C11E693C7C}"/>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ReadDocumentationPage resolves a page slug to a Markdown file.</a:t>
            </a:r>
          </a:p>
        </p:txBody>
      </p:sp>
      <p:sp>
        <p:nvSpPr>
          <p:cNvPr id="7" name="label-1">
            <a:extLst xmlns:a="http://schemas.openxmlformats.org/drawingml/2006/main">
              <a:ext uri="{FF2B5EF4-FFF2-40B4-BE49-F238E27FC236}">
                <a16:creationId xmlns:a16="http://schemas.microsoft.com/office/drawing/2014/main" id="{9FD925D6-F182-459E-9DBE-9D3F3CC6DE02}"/>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Content</a:t>
            </a:r>
          </a:p>
        </p:txBody>
      </p:sp>
      <p:sp>
        <p:nvSpPr>
          <p:cNvPr id="8" name="point-1">
            <a:extLst xmlns:a="http://schemas.openxmlformats.org/drawingml/2006/main">
              <a:ext uri="{FF2B5EF4-FFF2-40B4-BE49-F238E27FC236}">
                <a16:creationId xmlns:a16="http://schemas.microsoft.com/office/drawing/2014/main" id="{0D6D0EF4-6053-4F9E-A7A5-92021C511995}"/>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It returns the full file and a static page index when missing.</a:t>
            </a:r>
          </a:p>
        </p:txBody>
      </p:sp>
      <p:sp>
        <p:nvSpPr>
          <p:cNvPr id="9" name="label-2">
            <a:extLst xmlns:a="http://schemas.openxmlformats.org/drawingml/2006/main">
              <a:ext uri="{FF2B5EF4-FFF2-40B4-BE49-F238E27FC236}">
                <a16:creationId xmlns:a16="http://schemas.microsoft.com/office/drawing/2014/main" id="{4194A9BD-DB71-4AFA-B3CB-B2477D9A3BD8}"/>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Limit</a:t>
            </a:r>
          </a:p>
        </p:txBody>
      </p:sp>
      <p:sp>
        <p:nvSpPr>
          <p:cNvPr id="10" name="point-2">
            <a:extLst xmlns:a="http://schemas.openxmlformats.org/drawingml/2006/main">
              <a:ext uri="{FF2B5EF4-FFF2-40B4-BE49-F238E27FC236}">
                <a16:creationId xmlns:a16="http://schemas.microsoft.com/office/drawing/2014/main" id="{9917669D-E838-4DE1-9667-81C731BA6EB3}"/>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There is no vector index, chunk ranking, or citation validation.</a:t>
            </a:r>
          </a:p>
        </p:txBody>
      </p:sp>
      <p:sp>
        <p:nvSpPr>
          <p:cNvPr id="11" name="label-3">
            <a:extLst xmlns:a="http://schemas.openxmlformats.org/drawingml/2006/main">
              <a:ext uri="{FF2B5EF4-FFF2-40B4-BE49-F238E27FC236}">
                <a16:creationId xmlns:a16="http://schemas.microsoft.com/office/drawing/2014/main" id="{4B010400-AFA8-4139-91ED-53FF31EC83F6}"/>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Teaching target</a:t>
            </a:r>
          </a:p>
        </p:txBody>
      </p:sp>
      <p:sp>
        <p:nvSpPr>
          <p:cNvPr id="12" name="point-3">
            <a:extLst xmlns:a="http://schemas.openxmlformats.org/drawingml/2006/main">
              <a:ext uri="{FF2B5EF4-FFF2-40B4-BE49-F238E27FC236}">
                <a16:creationId xmlns:a16="http://schemas.microsoft.com/office/drawing/2014/main" id="{01A5312F-CA7C-46B0-8ACC-7DA44FBF80C6}"/>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Add controlled retrieval and verify claims against sources.</a:t>
            </a:r>
          </a:p>
        </p:txBody>
      </p:sp>
    </p:spTree>
    <p:extLst>
      <p:ext uri="{BB962C8B-B14F-4D97-AF65-F5344CB8AC3E}">
        <p14:creationId xmlns:p14="http://schemas.microsoft.com/office/powerpoint/2010/main" val="84011933"/>
      </p:ext>
    </p:extLst>
  </p:cSld>
  <p:extLst>
    <p:ext uri="{6950BFC3-D8DA-4A85-94F7-54DA5524770B}">
      <p188:commentRel xmlns:r="http://schemas.openxmlformats.org/officeDocument/2006/relationships" xmlns:p188="http://schemas.microsoft.com/office/powerpoint/2018/8/main" r:id="R1137c52c759e4369"/>
    </p:ext>
  </p:extLst>
</p:sld>
</file>

<file path=ppt/slides/slide4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0488EA35-4DB2-4851-9158-496D0DE28276}"/>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Capstone target</a:t>
            </a:r>
          </a:p>
        </p:txBody>
      </p:sp>
      <p:sp>
        <p:nvSpPr>
          <p:cNvPr id="2" name="title">
            <a:extLst xmlns:a="http://schemas.openxmlformats.org/drawingml/2006/main">
              <a:ext uri="{FF2B5EF4-FFF2-40B4-BE49-F238E27FC236}">
                <a16:creationId xmlns:a16="http://schemas.microsoft.com/office/drawing/2014/main" id="{72E2BF1F-CF3F-4109-B816-8F1BC0FBE52B}"/>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The ingestion pipeline</a:t>
            </a:r>
          </a:p>
        </p:txBody>
      </p:sp>
      <p:sp>
        <p:nvSpPr>
          <p:cNvPr id="3" name="footer">
            <a:extLst xmlns:a="http://schemas.openxmlformats.org/drawingml/2006/main">
              <a:ext uri="{FF2B5EF4-FFF2-40B4-BE49-F238E27FC236}">
                <a16:creationId xmlns:a16="http://schemas.microsoft.com/office/drawing/2014/main" id="{022ED3E1-561C-442E-9921-819C3398F3A2}"/>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05  Retrieval and grounding</a:t>
            </a:r>
          </a:p>
        </p:txBody>
      </p:sp>
      <p:sp>
        <p:nvSpPr>
          <p:cNvPr id="4" name="page">
            <a:extLst xmlns:a="http://schemas.openxmlformats.org/drawingml/2006/main">
              <a:ext uri="{FF2B5EF4-FFF2-40B4-BE49-F238E27FC236}">
                <a16:creationId xmlns:a16="http://schemas.microsoft.com/office/drawing/2014/main" id="{241DA993-F45B-40FE-BDAB-5D37E08B96A7}"/>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43</a:t>
            </a:r>
          </a:p>
        </p:txBody>
      </p:sp>
      <p:sp>
        <p:nvSpPr>
          <p:cNvPr id="5" name="label-0">
            <a:extLst xmlns:a="http://schemas.openxmlformats.org/drawingml/2006/main">
              <a:ext uri="{FF2B5EF4-FFF2-40B4-BE49-F238E27FC236}">
                <a16:creationId xmlns:a16="http://schemas.microsoft.com/office/drawing/2014/main" id="{31B1E51F-94B3-441D-95F3-907CB31E37EB}"/>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Review</a:t>
            </a:r>
          </a:p>
        </p:txBody>
      </p:sp>
      <p:sp>
        <p:nvSpPr>
          <p:cNvPr id="6" name="point-0">
            <a:extLst xmlns:a="http://schemas.openxmlformats.org/drawingml/2006/main">
              <a:ext uri="{FF2B5EF4-FFF2-40B4-BE49-F238E27FC236}">
                <a16:creationId xmlns:a16="http://schemas.microsoft.com/office/drawing/2014/main" id="{77161D5B-601B-435D-815C-99894795541A}"/>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Identify authoritative documents and remove stale claims.</a:t>
            </a:r>
          </a:p>
        </p:txBody>
      </p:sp>
      <p:sp>
        <p:nvSpPr>
          <p:cNvPr id="7" name="label-1">
            <a:extLst xmlns:a="http://schemas.openxmlformats.org/drawingml/2006/main">
              <a:ext uri="{FF2B5EF4-FFF2-40B4-BE49-F238E27FC236}">
                <a16:creationId xmlns:a16="http://schemas.microsoft.com/office/drawing/2014/main" id="{6307D855-8BDD-4C6B-934F-56E0A0D278D4}"/>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Segment</a:t>
            </a:r>
          </a:p>
        </p:txBody>
      </p:sp>
      <p:sp>
        <p:nvSpPr>
          <p:cNvPr id="8" name="point-1">
            <a:extLst xmlns:a="http://schemas.openxmlformats.org/drawingml/2006/main">
              <a:ext uri="{FF2B5EF4-FFF2-40B4-BE49-F238E27FC236}">
                <a16:creationId xmlns:a16="http://schemas.microsoft.com/office/drawing/2014/main" id="{B8BEF0E3-CA91-418F-BDBB-0DC36EC3D673}"/>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Chunk by meaningful sections with stable source identifiers.</a:t>
            </a:r>
          </a:p>
        </p:txBody>
      </p:sp>
      <p:sp>
        <p:nvSpPr>
          <p:cNvPr id="9" name="label-2">
            <a:extLst xmlns:a="http://schemas.openxmlformats.org/drawingml/2006/main">
              <a:ext uri="{FF2B5EF4-FFF2-40B4-BE49-F238E27FC236}">
                <a16:creationId xmlns:a16="http://schemas.microsoft.com/office/drawing/2014/main" id="{182788DD-33C2-48FA-BA1A-AED1EF2A81CA}"/>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Enrich</a:t>
            </a:r>
          </a:p>
        </p:txBody>
      </p:sp>
      <p:sp>
        <p:nvSpPr>
          <p:cNvPr id="10" name="point-2">
            <a:extLst xmlns:a="http://schemas.openxmlformats.org/drawingml/2006/main">
              <a:ext uri="{FF2B5EF4-FFF2-40B4-BE49-F238E27FC236}">
                <a16:creationId xmlns:a16="http://schemas.microsoft.com/office/drawing/2014/main" id="{D7821D73-E37F-4295-A40D-49D3811D4826}"/>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Store title, version, tenant scope, and effective date.</a:t>
            </a:r>
          </a:p>
        </p:txBody>
      </p:sp>
      <p:sp>
        <p:nvSpPr>
          <p:cNvPr id="11" name="label-3">
            <a:extLst xmlns:a="http://schemas.openxmlformats.org/drawingml/2006/main">
              <a:ext uri="{FF2B5EF4-FFF2-40B4-BE49-F238E27FC236}">
                <a16:creationId xmlns:a16="http://schemas.microsoft.com/office/drawing/2014/main" id="{C71373BB-C8B0-4345-B671-9C9181798BD9}"/>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Index</a:t>
            </a:r>
          </a:p>
        </p:txBody>
      </p:sp>
      <p:sp>
        <p:nvSpPr>
          <p:cNvPr id="12" name="point-3">
            <a:extLst xmlns:a="http://schemas.openxmlformats.org/drawingml/2006/main">
              <a:ext uri="{FF2B5EF4-FFF2-40B4-BE49-F238E27FC236}">
                <a16:creationId xmlns:a16="http://schemas.microsoft.com/office/drawing/2014/main" id="{092B8E01-92AF-4E42-B1BB-1B1945D19B89}"/>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Choose keyword, vector, or hybrid search for the corpus.</a:t>
            </a:r>
          </a:p>
        </p:txBody>
      </p:sp>
    </p:spTree>
    <p:extLst>
      <p:ext uri="{BB962C8B-B14F-4D97-AF65-F5344CB8AC3E}">
        <p14:creationId xmlns:p14="http://schemas.microsoft.com/office/powerpoint/2010/main" val="1814007591"/>
      </p:ext>
    </p:extLst>
  </p:cSld>
  <p:extLst>
    <p:ext uri="{6950BFC3-D8DA-4A85-94F7-54DA5524770B}">
      <p188:commentRel xmlns:r="http://schemas.openxmlformats.org/officeDocument/2006/relationships" xmlns:p188="http://schemas.microsoft.com/office/powerpoint/2018/8/main" r:id="R75e1d33e1e394d23"/>
    </p:ext>
  </p:extLst>
</p:sld>
</file>

<file path=ppt/slides/slide4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37C6AB5B-4CB6-443A-ADB8-7D6914513A3D}"/>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Retrieval policy</a:t>
            </a:r>
          </a:p>
        </p:txBody>
      </p:sp>
      <p:sp>
        <p:nvSpPr>
          <p:cNvPr id="2" name="title">
            <a:extLst xmlns:a="http://schemas.openxmlformats.org/drawingml/2006/main">
              <a:ext uri="{FF2B5EF4-FFF2-40B4-BE49-F238E27FC236}">
                <a16:creationId xmlns:a16="http://schemas.microsoft.com/office/drawing/2014/main" id="{54C989C0-CAE2-447D-8E15-048AE9672119}"/>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Retrieval policy and answer scope</a:t>
            </a:r>
          </a:p>
        </p:txBody>
      </p:sp>
      <p:sp>
        <p:nvSpPr>
          <p:cNvPr id="3" name="footer">
            <a:extLst xmlns:a="http://schemas.openxmlformats.org/drawingml/2006/main">
              <a:ext uri="{FF2B5EF4-FFF2-40B4-BE49-F238E27FC236}">
                <a16:creationId xmlns:a16="http://schemas.microsoft.com/office/drawing/2014/main" id="{9BB8C6DA-F49E-41FD-8757-BA2993431AFE}"/>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05  Retrieval and grounding</a:t>
            </a:r>
          </a:p>
        </p:txBody>
      </p:sp>
      <p:sp>
        <p:nvSpPr>
          <p:cNvPr id="4" name="page">
            <a:extLst xmlns:a="http://schemas.openxmlformats.org/drawingml/2006/main">
              <a:ext uri="{FF2B5EF4-FFF2-40B4-BE49-F238E27FC236}">
                <a16:creationId xmlns:a16="http://schemas.microsoft.com/office/drawing/2014/main" id="{AE760E86-421F-47F7-9D89-C0752F3D9591}"/>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44</a:t>
            </a:r>
          </a:p>
        </p:txBody>
      </p:sp>
      <p:sp>
        <p:nvSpPr>
          <p:cNvPr id="5" name="label-0">
            <a:extLst xmlns:a="http://schemas.openxmlformats.org/drawingml/2006/main">
              <a:ext uri="{FF2B5EF4-FFF2-40B4-BE49-F238E27FC236}">
                <a16:creationId xmlns:a16="http://schemas.microsoft.com/office/drawing/2014/main" id="{D4582F07-E579-4EBB-B54D-F7CAD357DB1D}"/>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Filter</a:t>
            </a:r>
          </a:p>
        </p:txBody>
      </p:sp>
      <p:sp>
        <p:nvSpPr>
          <p:cNvPr id="6" name="point-0">
            <a:extLst xmlns:a="http://schemas.openxmlformats.org/drawingml/2006/main">
              <a:ext uri="{FF2B5EF4-FFF2-40B4-BE49-F238E27FC236}">
                <a16:creationId xmlns:a16="http://schemas.microsoft.com/office/drawing/2014/main" id="{6D13DB30-F7F1-4CB3-A07D-C6876CEF757F}"/>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Apply tenant and access rules before evidence enters the model.</a:t>
            </a:r>
          </a:p>
        </p:txBody>
      </p:sp>
      <p:sp>
        <p:nvSpPr>
          <p:cNvPr id="7" name="label-1">
            <a:extLst xmlns:a="http://schemas.openxmlformats.org/drawingml/2006/main">
              <a:ext uri="{FF2B5EF4-FFF2-40B4-BE49-F238E27FC236}">
                <a16:creationId xmlns:a16="http://schemas.microsoft.com/office/drawing/2014/main" id="{9D0D48C4-7085-40B8-AD02-6A52C4B9B73B}"/>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Rank</a:t>
            </a:r>
          </a:p>
        </p:txBody>
      </p:sp>
      <p:sp>
        <p:nvSpPr>
          <p:cNvPr id="8" name="point-1">
            <a:extLst xmlns:a="http://schemas.openxmlformats.org/drawingml/2006/main">
              <a:ext uri="{FF2B5EF4-FFF2-40B4-BE49-F238E27FC236}">
                <a16:creationId xmlns:a16="http://schemas.microsoft.com/office/drawing/2014/main" id="{816D2609-8439-46BF-A5D9-8A2364338179}"/>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Retrieve a small useful set and inspect irrelevant matches.</a:t>
            </a:r>
          </a:p>
        </p:txBody>
      </p:sp>
      <p:sp>
        <p:nvSpPr>
          <p:cNvPr id="9" name="label-2">
            <a:extLst xmlns:a="http://schemas.openxmlformats.org/drawingml/2006/main">
              <a:ext uri="{FF2B5EF4-FFF2-40B4-BE49-F238E27FC236}">
                <a16:creationId xmlns:a16="http://schemas.microsoft.com/office/drawing/2014/main" id="{E4168C32-7849-4967-8E68-619A9E2CF5F6}"/>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Cite</a:t>
            </a:r>
          </a:p>
        </p:txBody>
      </p:sp>
      <p:sp>
        <p:nvSpPr>
          <p:cNvPr id="10" name="point-2">
            <a:extLst xmlns:a="http://schemas.openxmlformats.org/drawingml/2006/main">
              <a:ext uri="{FF2B5EF4-FFF2-40B4-BE49-F238E27FC236}">
                <a16:creationId xmlns:a16="http://schemas.microsoft.com/office/drawing/2014/main" id="{1FF916EF-7ED2-477F-8367-1BDBD9F61D95}"/>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Map source identifiers to actual returned passages.</a:t>
            </a:r>
          </a:p>
        </p:txBody>
      </p:sp>
      <p:sp>
        <p:nvSpPr>
          <p:cNvPr id="11" name="label-3">
            <a:extLst xmlns:a="http://schemas.openxmlformats.org/drawingml/2006/main">
              <a:ext uri="{FF2B5EF4-FFF2-40B4-BE49-F238E27FC236}">
                <a16:creationId xmlns:a16="http://schemas.microsoft.com/office/drawing/2014/main" id="{D40E951F-BF03-4267-BB8F-6C20BDF036FB}"/>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Abstain</a:t>
            </a:r>
          </a:p>
        </p:txBody>
      </p:sp>
      <p:sp>
        <p:nvSpPr>
          <p:cNvPr id="12" name="point-3">
            <a:extLst xmlns:a="http://schemas.openxmlformats.org/drawingml/2006/main">
              <a:ext uri="{FF2B5EF4-FFF2-40B4-BE49-F238E27FC236}">
                <a16:creationId xmlns:a16="http://schemas.microsoft.com/office/drawing/2014/main" id="{41420842-B864-41F3-A802-FDE9841B6BCD}"/>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Return uncertainty when the evidence does not support an answer.</a:t>
            </a:r>
          </a:p>
        </p:txBody>
      </p:sp>
    </p:spTree>
    <p:extLst>
      <p:ext uri="{BB962C8B-B14F-4D97-AF65-F5344CB8AC3E}">
        <p14:creationId xmlns:p14="http://schemas.microsoft.com/office/powerpoint/2010/main" val="129206749"/>
      </p:ext>
    </p:extLst>
  </p:cSld>
  <p:extLst>
    <p:ext uri="{6950BFC3-D8DA-4A85-94F7-54DA5524770B}">
      <p188:commentRel xmlns:r="http://schemas.openxmlformats.org/officeDocument/2006/relationships" xmlns:p188="http://schemas.microsoft.com/office/powerpoint/2018/8/main" r:id="R5ed8b26fcb7948cf"/>
    </p:ext>
  </p:extLst>
</p:sld>
</file>

<file path=ppt/slides/slide4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context">
            <a:extLst xmlns:a="http://schemas.openxmlformats.org/drawingml/2006/main">
              <a:ext uri="{FF2B5EF4-FFF2-40B4-BE49-F238E27FC236}">
                <a16:creationId xmlns:a16="http://schemas.microsoft.com/office/drawing/2014/main" id="{1BF4A01B-4803-49B8-93DE-3ABC99604ECE}"/>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Framework code pattern</a:t>
            </a:r>
          </a:p>
        </p:txBody>
      </p:sp>
      <p:sp>
        <p:nvSpPr>
          <p:cNvPr id="2" name="title">
            <a:extLst xmlns:a="http://schemas.openxmlformats.org/drawingml/2006/main">
              <a:ext uri="{FF2B5EF4-FFF2-40B4-BE49-F238E27FC236}">
                <a16:creationId xmlns:a16="http://schemas.microsoft.com/office/drawing/2014/main" id="{6C221082-3ECB-40E4-9C9B-5E567F61F0F8}"/>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A framework retrieval context provider</a:t>
            </a:r>
          </a:p>
        </p:txBody>
      </p:sp>
      <p:sp>
        <p:nvSpPr>
          <p:cNvPr id="3" name="footer">
            <a:extLst xmlns:a="http://schemas.openxmlformats.org/drawingml/2006/main">
              <a:ext uri="{FF2B5EF4-FFF2-40B4-BE49-F238E27FC236}">
                <a16:creationId xmlns:a16="http://schemas.microsoft.com/office/drawing/2014/main" id="{5A9CE3CD-5B4D-4376-8CCA-4570D9A45711}"/>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05  Retrieval and grounding</a:t>
            </a:r>
          </a:p>
        </p:txBody>
      </p:sp>
      <p:sp>
        <p:nvSpPr>
          <p:cNvPr id="4" name="page">
            <a:extLst xmlns:a="http://schemas.openxmlformats.org/drawingml/2006/main">
              <a:ext uri="{FF2B5EF4-FFF2-40B4-BE49-F238E27FC236}">
                <a16:creationId xmlns:a16="http://schemas.microsoft.com/office/drawing/2014/main" id="{1BFFC37B-D65F-4E42-AACF-D40C752471F2}"/>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45</a:t>
            </a:r>
          </a:p>
        </p:txBody>
      </p:sp>
      <p:sp>
        <p:nvSpPr>
          <p:cNvPr id="5" name="code">
            <a:extLst xmlns:a="http://schemas.openxmlformats.org/drawingml/2006/main">
              <a:ext uri="{FF2B5EF4-FFF2-40B4-BE49-F238E27FC236}">
                <a16:creationId xmlns:a16="http://schemas.microsoft.com/office/drawing/2014/main" id="{612C49D5-BA12-486B-8799-17A91106DED8}"/>
              </a:ext>
            </a:extLst>
          </p:cNvPr>
          <p:cNvSpPr>
            <a:spLocks xmlns:a="http://schemas.openxmlformats.org/drawingml/2006/main" noGrp="1"/>
          </p:cNvSpPr>
          <p:nvPr/>
        </p:nvSpPr>
        <p:spPr>
          <a:xfrm xmlns:a="http://schemas.openxmlformats.org/drawingml/2006/main">
            <a:off x="685800" y="1857375"/>
            <a:ext cx="752475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12C43"/>
                </a:solidFill>
                <a:latin typeface="Consolas"/>
                <a:ea typeface="Consolas"/>
                <a:cs typeface="Consolas"/>
              </a:defRPr>
            </a:defPPr>
            <a:lvl1pPr algn="l">
              <a:defRPr sz="1725" b="0">
                <a:solidFill>
                  <a:srgbClr val="112C43"/>
                </a:solidFill>
                <a:latin typeface="Consolas"/>
                <a:ea typeface="Consolas"/>
                <a:cs typeface="Consolas"/>
              </a:defRPr>
            </a:lvl1pPr>
            <a:lvl2pPr algn="l">
              <a:defRPr sz="1725" b="0">
                <a:solidFill>
                  <a:srgbClr val="112C43"/>
                </a:solidFill>
                <a:latin typeface="Consolas"/>
                <a:ea typeface="Consolas"/>
                <a:cs typeface="Consolas"/>
              </a:defRPr>
            </a:lvl2pPr>
            <a:lvl3pPr algn="l">
              <a:defRPr sz="1725" b="0">
                <a:solidFill>
                  <a:srgbClr val="112C43"/>
                </a:solidFill>
                <a:latin typeface="Consolas"/>
                <a:ea typeface="Consolas"/>
                <a:cs typeface="Consolas"/>
              </a:defRPr>
            </a:lvl3pPr>
            <a:lvl4pPr algn="l">
              <a:defRPr sz="1725" b="0">
                <a:solidFill>
                  <a:srgbClr val="112C43"/>
                </a:solidFill>
                <a:latin typeface="Consolas"/>
                <a:ea typeface="Consolas"/>
                <a:cs typeface="Consolas"/>
              </a:defRPr>
            </a:lvl4pPr>
            <a:lvl5pPr algn="l">
              <a:defRPr sz="1725" b="0">
                <a:solidFill>
                  <a:srgbClr val="112C43"/>
                </a:solidFill>
                <a:latin typeface="Consolas"/>
                <a:ea typeface="Consolas"/>
                <a:cs typeface="Consolas"/>
              </a:defRPr>
            </a:lvl5pPr>
            <a:lvl6pPr algn="l">
              <a:defRPr sz="1725" b="0">
                <a:solidFill>
                  <a:srgbClr val="112C43"/>
                </a:solidFill>
                <a:latin typeface="Consolas"/>
                <a:ea typeface="Consolas"/>
                <a:cs typeface="Consolas"/>
              </a:defRPr>
            </a:lvl6pPr>
            <a:lvl7pPr algn="l">
              <a:defRPr sz="1725" b="0">
                <a:solidFill>
                  <a:srgbClr val="112C43"/>
                </a:solidFill>
                <a:latin typeface="Consolas"/>
                <a:ea typeface="Consolas"/>
                <a:cs typeface="Consolas"/>
              </a:defRPr>
            </a:lvl7pPr>
            <a:lvl8pPr algn="l">
              <a:defRPr sz="1725" b="0">
                <a:solidFill>
                  <a:srgbClr val="112C43"/>
                </a:solidFill>
                <a:latin typeface="Consolas"/>
                <a:ea typeface="Consolas"/>
                <a:cs typeface="Consolas"/>
              </a:defRPr>
            </a:lvl8pPr>
            <a:lvl9pPr algn="l">
              <a:defRPr sz="1725" b="0">
                <a:solidFill>
                  <a:srgbClr val="112C43"/>
                </a:solidFill>
                <a:latin typeface="Consolas"/>
                <a:ea typeface="Consolas"/>
                <a:cs typeface="Consolas"/>
              </a:defRPr>
            </a:lvl9pPr>
          </a:lstStyle>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var retrieval = new TextSearchProvider(</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SearchInvoiceDocsAsync,</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new TextSearchProviderOptions</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SearchTime = TextSearchProviderOptions</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.TextSearchBehavior.BeforeAIInvoke</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a:t>
            </a:r>
          </a:p>
          <a:p xmlns:a="http://schemas.openxmlformats.org/drawingml/2006/main">
            <a:r>
              <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Attach retrieval through</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ChatClientAgentOptions.AIContextProviders.</a:t>
            </a:r>
          </a:p>
        </p:txBody>
      </p:sp>
      <p:sp>
        <p:nvSpPr>
          <p:cNvPr id="6" name="explanation-0">
            <a:extLst xmlns:a="http://schemas.openxmlformats.org/drawingml/2006/main">
              <a:ext uri="{FF2B5EF4-FFF2-40B4-BE49-F238E27FC236}">
                <a16:creationId xmlns:a16="http://schemas.microsoft.com/office/drawing/2014/main" id="{B2C33E6D-0156-473C-85FF-2C54363DA7A9}"/>
              </a:ext>
            </a:extLst>
          </p:cNvPr>
          <p:cNvSpPr>
            <a:spLocks xmlns:a="http://schemas.openxmlformats.org/drawingml/2006/main" noGrp="1"/>
          </p:cNvSpPr>
          <p:nvPr/>
        </p:nvSpPr>
        <p:spPr>
          <a:xfrm xmlns:a="http://schemas.openxmlformats.org/drawingml/2006/main">
            <a:off x="8715375" y="20002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83"/>
                </a:solidFill>
                <a:latin typeface="Segoe UI"/>
                <a:ea typeface="Segoe UI"/>
                <a:cs typeface="Segoe UI"/>
              </a:defRPr>
            </a:defPPr>
            <a:lvl1pPr algn="l">
              <a:defRPr sz="1800" b="0">
                <a:solidFill>
                  <a:srgbClr val="007F83"/>
                </a:solidFill>
                <a:latin typeface="Segoe UI"/>
                <a:ea typeface="Segoe UI"/>
                <a:cs typeface="Segoe UI"/>
              </a:defRPr>
            </a:lvl1pPr>
            <a:lvl2pPr algn="l">
              <a:defRPr sz="1800" b="0">
                <a:solidFill>
                  <a:srgbClr val="007F83"/>
                </a:solidFill>
                <a:latin typeface="Segoe UI"/>
                <a:ea typeface="Segoe UI"/>
                <a:cs typeface="Segoe UI"/>
              </a:defRPr>
            </a:lvl2pPr>
            <a:lvl3pPr algn="l">
              <a:defRPr sz="1800" b="0">
                <a:solidFill>
                  <a:srgbClr val="007F83"/>
                </a:solidFill>
                <a:latin typeface="Segoe UI"/>
                <a:ea typeface="Segoe UI"/>
                <a:cs typeface="Segoe UI"/>
              </a:defRPr>
            </a:lvl3pPr>
            <a:lvl4pPr algn="l">
              <a:defRPr sz="1800" b="0">
                <a:solidFill>
                  <a:srgbClr val="007F83"/>
                </a:solidFill>
                <a:latin typeface="Segoe UI"/>
                <a:ea typeface="Segoe UI"/>
                <a:cs typeface="Segoe UI"/>
              </a:defRPr>
            </a:lvl4pPr>
            <a:lvl5pPr algn="l">
              <a:defRPr sz="1800" b="0">
                <a:solidFill>
                  <a:srgbClr val="007F83"/>
                </a:solidFill>
                <a:latin typeface="Segoe UI"/>
                <a:ea typeface="Segoe UI"/>
                <a:cs typeface="Segoe UI"/>
              </a:defRPr>
            </a:lvl5pPr>
            <a:lvl6pPr algn="l">
              <a:defRPr sz="1800" b="0">
                <a:solidFill>
                  <a:srgbClr val="007F83"/>
                </a:solidFill>
                <a:latin typeface="Segoe UI"/>
                <a:ea typeface="Segoe UI"/>
                <a:cs typeface="Segoe UI"/>
              </a:defRPr>
            </a:lvl6pPr>
            <a:lvl7pPr algn="l">
              <a:defRPr sz="1800" b="0">
                <a:solidFill>
                  <a:srgbClr val="007F83"/>
                </a:solidFill>
                <a:latin typeface="Segoe UI"/>
                <a:ea typeface="Segoe UI"/>
                <a:cs typeface="Segoe UI"/>
              </a:defRPr>
            </a:lvl7pPr>
            <a:lvl8pPr algn="l">
              <a:defRPr sz="1800" b="0">
                <a:solidFill>
                  <a:srgbClr val="007F83"/>
                </a:solidFill>
                <a:latin typeface="Segoe UI"/>
                <a:ea typeface="Segoe UI"/>
                <a:cs typeface="Segoe UI"/>
              </a:defRPr>
            </a:lvl8pPr>
            <a:lvl9pPr algn="l">
              <a:defRPr sz="1800" b="0">
                <a:solidFill>
                  <a:srgbClr val="007F83"/>
                </a:solidFill>
                <a:latin typeface="Segoe UI"/>
                <a:ea typeface="Segoe UI"/>
                <a:cs typeface="Segoe UI"/>
              </a:defRPr>
            </a:lvl9pPr>
          </a:lstStyle>
          <a:p xmlns:a="http://schemas.openxmlformats.org/drawingml/2006/main">
            <a:pPr algn="l">
              <a:defRPr sz="1800" b="0">
                <a:solidFill>
                  <a:srgbClr val="007F83"/>
                </a:solidFill>
                <a:latin typeface="Segoe UI"/>
                <a:ea typeface="Segoe UI"/>
                <a:cs typeface="Segoe UI"/>
              </a:defRPr>
            </a:pPr>
            <a:r>
              <a:rPr sz="1800" b="0">
                <a:solidFill>
                  <a:srgbClr val="007F83"/>
                </a:solidFill>
                <a:latin typeface="Segoe UI"/>
                <a:ea typeface="Segoe UI"/>
                <a:cs typeface="Segoe UI"/>
              </a:rPr>
              <a:t>The adapter owns search and access filtering.</a:t>
            </a:r>
          </a:p>
        </p:txBody>
      </p:sp>
      <p:sp>
        <p:nvSpPr>
          <p:cNvPr id="7" name="explanation-1">
            <a:extLst xmlns:a="http://schemas.openxmlformats.org/drawingml/2006/main">
              <a:ext uri="{FF2B5EF4-FFF2-40B4-BE49-F238E27FC236}">
                <a16:creationId xmlns:a16="http://schemas.microsoft.com/office/drawing/2014/main" id="{90CDEF58-409F-4EE2-B8B2-F3F8F4C09FD3}"/>
              </a:ext>
            </a:extLst>
          </p:cNvPr>
          <p:cNvSpPr>
            <a:spLocks xmlns:a="http://schemas.openxmlformats.org/drawingml/2006/main" noGrp="1"/>
          </p:cNvSpPr>
          <p:nvPr/>
        </p:nvSpPr>
        <p:spPr>
          <a:xfrm xmlns:a="http://schemas.openxmlformats.org/drawingml/2006/main">
            <a:off x="8715375" y="320040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Returned passages carry source metadata.</a:t>
            </a:r>
          </a:p>
        </p:txBody>
      </p:sp>
      <p:sp>
        <p:nvSpPr>
          <p:cNvPr id="8" name="explanation-2">
            <a:extLst xmlns:a="http://schemas.openxmlformats.org/drawingml/2006/main">
              <a:ext uri="{FF2B5EF4-FFF2-40B4-BE49-F238E27FC236}">
                <a16:creationId xmlns:a16="http://schemas.microsoft.com/office/drawing/2014/main" id="{65FB297E-3D43-4C9F-8D72-FE69C23D0506}"/>
              </a:ext>
            </a:extLst>
          </p:cNvPr>
          <p:cNvSpPr>
            <a:spLocks xmlns:a="http://schemas.openxmlformats.org/drawingml/2006/main" noGrp="1"/>
          </p:cNvSpPr>
          <p:nvPr/>
        </p:nvSpPr>
        <p:spPr>
          <a:xfrm xmlns:a="http://schemas.openxmlformats.org/drawingml/2006/main">
            <a:off x="8715375" y="44005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On-demand search is another supported mode.</a:t>
            </a:r>
          </a:p>
        </p:txBody>
      </p:sp>
    </p:spTree>
    <p:extLst>
      <p:ext uri="{BB962C8B-B14F-4D97-AF65-F5344CB8AC3E}">
        <p14:creationId xmlns:p14="http://schemas.microsoft.com/office/powerpoint/2010/main" val="1368588915"/>
      </p:ext>
    </p:extLst>
  </p:cSld>
  <p:extLst>
    <p:ext uri="{6950BFC3-D8DA-4A85-94F7-54DA5524770B}">
      <p188:commentRel xmlns:r="http://schemas.openxmlformats.org/officeDocument/2006/relationships" xmlns:p188="http://schemas.microsoft.com/office/powerpoint/2018/8/main" r:id="Rb5d0456510b54a18"/>
    </p:ext>
  </p:extLst>
</p:sld>
</file>

<file path=ppt/slides/slide4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3FF00986-46D4-4A9A-A958-47CB38E331C5}"/>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Evaluation design</a:t>
            </a:r>
          </a:p>
        </p:txBody>
      </p:sp>
      <p:sp>
        <p:nvSpPr>
          <p:cNvPr id="2" name="title">
            <a:extLst xmlns:a="http://schemas.openxmlformats.org/drawingml/2006/main">
              <a:ext uri="{FF2B5EF4-FFF2-40B4-BE49-F238E27FC236}">
                <a16:creationId xmlns:a16="http://schemas.microsoft.com/office/drawing/2014/main" id="{A57AA487-36E9-4262-AC95-547B47129E4D}"/>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Grounding evaluation</a:t>
            </a:r>
          </a:p>
        </p:txBody>
      </p:sp>
      <p:sp>
        <p:nvSpPr>
          <p:cNvPr id="3" name="footer">
            <a:extLst xmlns:a="http://schemas.openxmlformats.org/drawingml/2006/main">
              <a:ext uri="{FF2B5EF4-FFF2-40B4-BE49-F238E27FC236}">
                <a16:creationId xmlns:a16="http://schemas.microsoft.com/office/drawing/2014/main" id="{ED405D09-4CE6-4699-ABA7-CB190C896713}"/>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05  Retrieval and grounding</a:t>
            </a:r>
          </a:p>
        </p:txBody>
      </p:sp>
      <p:sp>
        <p:nvSpPr>
          <p:cNvPr id="4" name="page">
            <a:extLst xmlns:a="http://schemas.openxmlformats.org/drawingml/2006/main">
              <a:ext uri="{FF2B5EF4-FFF2-40B4-BE49-F238E27FC236}">
                <a16:creationId xmlns:a16="http://schemas.microsoft.com/office/drawing/2014/main" id="{E48E246D-D799-4197-9B46-B2E47BC1F62B}"/>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46</a:t>
            </a:r>
          </a:p>
        </p:txBody>
      </p:sp>
      <p:sp>
        <p:nvSpPr>
          <p:cNvPr id="5" name="label-0">
            <a:extLst xmlns:a="http://schemas.openxmlformats.org/drawingml/2006/main">
              <a:ext uri="{FF2B5EF4-FFF2-40B4-BE49-F238E27FC236}">
                <a16:creationId xmlns:a16="http://schemas.microsoft.com/office/drawing/2014/main" id="{54BC0C43-2FB0-4509-A5DE-43588334A7FB}"/>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Retrieval</a:t>
            </a:r>
          </a:p>
        </p:txBody>
      </p:sp>
      <p:sp>
        <p:nvSpPr>
          <p:cNvPr id="6" name="point-0">
            <a:extLst xmlns:a="http://schemas.openxmlformats.org/drawingml/2006/main">
              <a:ext uri="{FF2B5EF4-FFF2-40B4-BE49-F238E27FC236}">
                <a16:creationId xmlns:a16="http://schemas.microsoft.com/office/drawing/2014/main" id="{383EBD0F-0692-4BA5-B3EF-A0899D3069E9}"/>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Did the correct rule or record enter the evidence set?</a:t>
            </a:r>
          </a:p>
        </p:txBody>
      </p:sp>
      <p:sp>
        <p:nvSpPr>
          <p:cNvPr id="7" name="label-1">
            <a:extLst xmlns:a="http://schemas.openxmlformats.org/drawingml/2006/main">
              <a:ext uri="{FF2B5EF4-FFF2-40B4-BE49-F238E27FC236}">
                <a16:creationId xmlns:a16="http://schemas.microsoft.com/office/drawing/2014/main" id="{05335D5C-3E37-4C9E-B621-A4A54E2A706D}"/>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Answer</a:t>
            </a:r>
          </a:p>
        </p:txBody>
      </p:sp>
      <p:sp>
        <p:nvSpPr>
          <p:cNvPr id="8" name="point-1">
            <a:extLst xmlns:a="http://schemas.openxmlformats.org/drawingml/2006/main">
              <a:ext uri="{FF2B5EF4-FFF2-40B4-BE49-F238E27FC236}">
                <a16:creationId xmlns:a16="http://schemas.microsoft.com/office/drawing/2014/main" id="{781E8EB1-FE99-462E-BD37-D0C386325F15}"/>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Does each material claim follow from the evidence?</a:t>
            </a:r>
          </a:p>
        </p:txBody>
      </p:sp>
      <p:sp>
        <p:nvSpPr>
          <p:cNvPr id="9" name="label-2">
            <a:extLst xmlns:a="http://schemas.openxmlformats.org/drawingml/2006/main">
              <a:ext uri="{FF2B5EF4-FFF2-40B4-BE49-F238E27FC236}">
                <a16:creationId xmlns:a16="http://schemas.microsoft.com/office/drawing/2014/main" id="{7B9DD53E-50E8-4466-A203-E1263DF2E51C}"/>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Citation</a:t>
            </a:r>
          </a:p>
        </p:txBody>
      </p:sp>
      <p:sp>
        <p:nvSpPr>
          <p:cNvPr id="10" name="point-2">
            <a:extLst xmlns:a="http://schemas.openxmlformats.org/drawingml/2006/main">
              <a:ext uri="{FF2B5EF4-FFF2-40B4-BE49-F238E27FC236}">
                <a16:creationId xmlns:a16="http://schemas.microsoft.com/office/drawing/2014/main" id="{179E8285-1754-4FC6-A5F8-202B32B1F25B}"/>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Does the referenced source support the exact statement?</a:t>
            </a:r>
          </a:p>
        </p:txBody>
      </p:sp>
      <p:sp>
        <p:nvSpPr>
          <p:cNvPr id="11" name="label-3">
            <a:extLst xmlns:a="http://schemas.openxmlformats.org/drawingml/2006/main">
              <a:ext uri="{FF2B5EF4-FFF2-40B4-BE49-F238E27FC236}">
                <a16:creationId xmlns:a16="http://schemas.microsoft.com/office/drawing/2014/main" id="{DC2B92E2-1893-4348-8F2D-AD23079DB5C0}"/>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Freshness</a:t>
            </a:r>
          </a:p>
        </p:txBody>
      </p:sp>
      <p:sp>
        <p:nvSpPr>
          <p:cNvPr id="12" name="point-3">
            <a:extLst xmlns:a="http://schemas.openxmlformats.org/drawingml/2006/main">
              <a:ext uri="{FF2B5EF4-FFF2-40B4-BE49-F238E27FC236}">
                <a16:creationId xmlns:a16="http://schemas.microsoft.com/office/drawing/2014/main" id="{50935EAC-09BF-4FA3-8062-38E71633D25D}"/>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Does the answer disclose the reporting period and as-of time?</a:t>
            </a:r>
          </a:p>
        </p:txBody>
      </p:sp>
    </p:spTree>
    <p:extLst>
      <p:ext uri="{BB962C8B-B14F-4D97-AF65-F5344CB8AC3E}">
        <p14:creationId xmlns:p14="http://schemas.microsoft.com/office/powerpoint/2010/main" val="1357898508"/>
      </p:ext>
    </p:extLst>
  </p:cSld>
  <p:extLst>
    <p:ext uri="{6950BFC3-D8DA-4A85-94F7-54DA5524770B}">
      <p188:commentRel xmlns:r="http://schemas.openxmlformats.org/officeDocument/2006/relationships" xmlns:p188="http://schemas.microsoft.com/office/powerpoint/2018/8/main" r:id="R56a1ddfa2b5b45d5"/>
    </p:ext>
  </p:extLst>
</p:sld>
</file>

<file path=ppt/slides/slide4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4" name="context">
            <a:extLst xmlns:a="http://schemas.openxmlformats.org/drawingml/2006/main">
              <a:ext uri="{FF2B5EF4-FFF2-40B4-BE49-F238E27FC236}">
                <a16:creationId xmlns:a16="http://schemas.microsoft.com/office/drawing/2014/main" id="{75D67F6A-BF3B-42EC-89C0-97A88993465A}"/>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Lab target</a:t>
            </a:r>
          </a:p>
        </p:txBody>
      </p:sp>
      <p:sp>
        <p:nvSpPr>
          <p:cNvPr id="2" name="title">
            <a:extLst xmlns:a="http://schemas.openxmlformats.org/drawingml/2006/main">
              <a:ext uri="{FF2B5EF4-FFF2-40B4-BE49-F238E27FC236}">
                <a16:creationId xmlns:a16="http://schemas.microsoft.com/office/drawing/2014/main" id="{0BB37041-E5FD-4266-9473-C46D78FAFE87}"/>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Lab 05: cited product guidance</a:t>
            </a:r>
          </a:p>
        </p:txBody>
      </p:sp>
      <p:sp>
        <p:nvSpPr>
          <p:cNvPr id="3" name="footer">
            <a:extLst xmlns:a="http://schemas.openxmlformats.org/drawingml/2006/main">
              <a:ext uri="{FF2B5EF4-FFF2-40B4-BE49-F238E27FC236}">
                <a16:creationId xmlns:a16="http://schemas.microsoft.com/office/drawing/2014/main" id="{B6B427D8-6778-4EE3-A1AE-FE52221DCDC3}"/>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05  Retrieval and grounding</a:t>
            </a:r>
          </a:p>
        </p:txBody>
      </p:sp>
      <p:sp>
        <p:nvSpPr>
          <p:cNvPr id="4" name="page">
            <a:extLst xmlns:a="http://schemas.openxmlformats.org/drawingml/2006/main">
              <a:ext uri="{FF2B5EF4-FFF2-40B4-BE49-F238E27FC236}">
                <a16:creationId xmlns:a16="http://schemas.microsoft.com/office/drawing/2014/main" id="{543B05FD-65D9-4BBF-8DE7-FBEFCFAE143D}"/>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47</a:t>
            </a:r>
          </a:p>
        </p:txBody>
      </p:sp>
      <p:sp>
        <p:nvSpPr>
          <p:cNvPr id="5" name="implementation">
            <a:extLst xmlns:a="http://schemas.openxmlformats.org/drawingml/2006/main">
              <a:ext uri="{FF2B5EF4-FFF2-40B4-BE49-F238E27FC236}">
                <a16:creationId xmlns:a16="http://schemas.microsoft.com/office/drawing/2014/main" id="{3D4B9C92-5D69-4B5A-9937-DDBEF71516B7}"/>
              </a:ext>
            </a:extLst>
          </p:cNvPr>
          <p:cNvSpPr>
            <a:spLocks xmlns:a="http://schemas.openxmlformats.org/drawingml/2006/main" noGrp="1"/>
          </p:cNvSpPr>
          <p:nvPr/>
        </p:nvSpPr>
        <p:spPr>
          <a:xfrm xmlns:a="http://schemas.openxmlformats.org/drawingml/2006/main">
            <a:off x="685800" y="1857375"/>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Implementation</a:t>
            </a:r>
          </a:p>
        </p:txBody>
      </p:sp>
      <p:sp>
        <p:nvSpPr>
          <p:cNvPr id="6" name="acceptance">
            <a:extLst xmlns:a="http://schemas.openxmlformats.org/drawingml/2006/main">
              <a:ext uri="{FF2B5EF4-FFF2-40B4-BE49-F238E27FC236}">
                <a16:creationId xmlns:a16="http://schemas.microsoft.com/office/drawing/2014/main" id="{DD114BA9-2E97-46B2-8D76-2DA18831A81D}"/>
              </a:ext>
            </a:extLst>
          </p:cNvPr>
          <p:cNvSpPr>
            <a:spLocks xmlns:a="http://schemas.openxmlformats.org/drawingml/2006/main" noGrp="1"/>
          </p:cNvSpPr>
          <p:nvPr/>
        </p:nvSpPr>
        <p:spPr>
          <a:xfrm xmlns:a="http://schemas.openxmlformats.org/drawingml/2006/main">
            <a:off x="7477125" y="1857375"/>
            <a:ext cx="4029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Acceptance</a:t>
            </a:r>
          </a:p>
        </p:txBody>
      </p:sp>
      <p:sp>
        <p:nvSpPr>
          <p:cNvPr id="7" name="task-0">
            <a:extLst xmlns:a="http://schemas.openxmlformats.org/drawingml/2006/main">
              <a:ext uri="{FF2B5EF4-FFF2-40B4-BE49-F238E27FC236}">
                <a16:creationId xmlns:a16="http://schemas.microsoft.com/office/drawing/2014/main" id="{73321025-5E2E-42B2-9AE6-DBDE89060D5B}"/>
              </a:ext>
            </a:extLst>
          </p:cNvPr>
          <p:cNvSpPr>
            <a:spLocks xmlns:a="http://schemas.openxmlformats.org/drawingml/2006/main" noGrp="1"/>
          </p:cNvSpPr>
          <p:nvPr/>
        </p:nvSpPr>
        <p:spPr>
          <a:xfrm xmlns:a="http://schemas.openxmlformats.org/drawingml/2006/main">
            <a:off x="685800" y="2476500"/>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1. Review two invoice rule documents against the domain code.</a:t>
            </a:r>
          </a:p>
        </p:txBody>
      </p:sp>
      <p:sp>
        <p:nvSpPr>
          <p:cNvPr id="8" name="task-1">
            <a:extLst xmlns:a="http://schemas.openxmlformats.org/drawingml/2006/main">
              <a:ext uri="{FF2B5EF4-FFF2-40B4-BE49-F238E27FC236}">
                <a16:creationId xmlns:a16="http://schemas.microsoft.com/office/drawing/2014/main" id="{0310854B-AA9F-4E8F-B6CF-B586797D7744}"/>
              </a:ext>
            </a:extLst>
          </p:cNvPr>
          <p:cNvSpPr>
            <a:spLocks xmlns:a="http://schemas.openxmlformats.org/drawingml/2006/main" noGrp="1"/>
          </p:cNvSpPr>
          <p:nvPr/>
        </p:nvSpPr>
        <p:spPr>
          <a:xfrm xmlns:a="http://schemas.openxmlformats.org/drawingml/2006/main">
            <a:off x="685800" y="3495675"/>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2. Implement a search adapter with source identifiers.</a:t>
            </a:r>
          </a:p>
        </p:txBody>
      </p:sp>
      <p:sp>
        <p:nvSpPr>
          <p:cNvPr id="9" name="task-2">
            <a:extLst xmlns:a="http://schemas.openxmlformats.org/drawingml/2006/main">
              <a:ext uri="{FF2B5EF4-FFF2-40B4-BE49-F238E27FC236}">
                <a16:creationId xmlns:a16="http://schemas.microsoft.com/office/drawing/2014/main" id="{C3454ADD-361C-44DB-8466-5C7E05C9FC22}"/>
              </a:ext>
            </a:extLst>
          </p:cNvPr>
          <p:cNvSpPr>
            <a:spLocks xmlns:a="http://schemas.openxmlformats.org/drawingml/2006/main" noGrp="1"/>
          </p:cNvSpPr>
          <p:nvPr/>
        </p:nvSpPr>
        <p:spPr>
          <a:xfrm xmlns:a="http://schemas.openxmlformats.org/drawingml/2006/main">
            <a:off x="685800" y="4514850"/>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3. Return a grounded answer and a no-evidence response.</a:t>
            </a:r>
          </a:p>
        </p:txBody>
      </p:sp>
      <p:sp>
        <p:nvSpPr>
          <p:cNvPr id="10" name="criterion-0">
            <a:extLst xmlns:a="http://schemas.openxmlformats.org/drawingml/2006/main">
              <a:ext uri="{FF2B5EF4-FFF2-40B4-BE49-F238E27FC236}">
                <a16:creationId xmlns:a16="http://schemas.microsoft.com/office/drawing/2014/main" id="{2DE56DFB-DF4B-4599-9E2E-8CBC020C488C}"/>
              </a:ext>
            </a:extLst>
          </p:cNvPr>
          <p:cNvSpPr>
            <a:spLocks xmlns:a="http://schemas.openxmlformats.org/drawingml/2006/main" noGrp="1"/>
          </p:cNvSpPr>
          <p:nvPr/>
        </p:nvSpPr>
        <p:spPr>
          <a:xfrm xmlns:a="http://schemas.openxmlformats.org/drawingml/2006/main">
            <a:off x="7477125" y="2476500"/>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Citations resolve to retrieved passages.</a:t>
            </a:r>
          </a:p>
        </p:txBody>
      </p:sp>
      <p:sp>
        <p:nvSpPr>
          <p:cNvPr id="11" name="criterion-1">
            <a:extLst xmlns:a="http://schemas.openxmlformats.org/drawingml/2006/main">
              <a:ext uri="{FF2B5EF4-FFF2-40B4-BE49-F238E27FC236}">
                <a16:creationId xmlns:a16="http://schemas.microsoft.com/office/drawing/2014/main" id="{CFB51B34-50AF-4817-8534-E83678C70484}"/>
              </a:ext>
            </a:extLst>
          </p:cNvPr>
          <p:cNvSpPr>
            <a:spLocks xmlns:a="http://schemas.openxmlformats.org/drawingml/2006/main" noGrp="1"/>
          </p:cNvSpPr>
          <p:nvPr/>
        </p:nvSpPr>
        <p:spPr>
          <a:xfrm xmlns:a="http://schemas.openxmlformats.org/drawingml/2006/main">
            <a:off x="7477125" y="3495675"/>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Access filtering runs before inference.</a:t>
            </a:r>
          </a:p>
        </p:txBody>
      </p:sp>
      <p:sp>
        <p:nvSpPr>
          <p:cNvPr id="12" name="criterion-2">
            <a:extLst xmlns:a="http://schemas.openxmlformats.org/drawingml/2006/main">
              <a:ext uri="{FF2B5EF4-FFF2-40B4-BE49-F238E27FC236}">
                <a16:creationId xmlns:a16="http://schemas.microsoft.com/office/drawing/2014/main" id="{6B874402-C3C1-4062-854D-ABFE1638463D}"/>
              </a:ext>
            </a:extLst>
          </p:cNvPr>
          <p:cNvSpPr>
            <a:spLocks xmlns:a="http://schemas.openxmlformats.org/drawingml/2006/main" noGrp="1"/>
          </p:cNvSpPr>
          <p:nvPr/>
        </p:nvSpPr>
        <p:spPr>
          <a:xfrm xmlns:a="http://schemas.openxmlformats.org/drawingml/2006/main">
            <a:off x="7477125" y="4514850"/>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A stale or missing rule produces an explicit limitation.</a:t>
            </a:r>
          </a:p>
        </p:txBody>
      </p:sp>
      <p:sp>
        <p:nvSpPr>
          <p:cNvPr id="13" name="lab-time">
            <a:extLst xmlns:a="http://schemas.openxmlformats.org/drawingml/2006/main">
              <a:ext uri="{FF2B5EF4-FFF2-40B4-BE49-F238E27FC236}">
                <a16:creationId xmlns:a16="http://schemas.microsoft.com/office/drawing/2014/main" id="{0F199B09-03EC-44CC-B203-61515325A7B4}"/>
              </a:ext>
            </a:extLst>
          </p:cNvPr>
          <p:cNvSpPr>
            <a:spLocks xmlns:a="http://schemas.openxmlformats.org/drawingml/2006/main" noGrp="1"/>
          </p:cNvSpPr>
          <p:nvPr/>
        </p:nvSpPr>
        <p:spPr>
          <a:xfrm xmlns:a="http://schemas.openxmlformats.org/drawingml/2006/main">
            <a:off x="685800" y="588645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17384"/>
                </a:solidFill>
                <a:latin typeface="Segoe UI"/>
                <a:ea typeface="Segoe UI"/>
                <a:cs typeface="Segoe UI"/>
              </a:defRPr>
            </a:defPPr>
            <a:lvl1pPr algn="l">
              <a:defRPr sz="1500" b="0">
                <a:solidFill>
                  <a:srgbClr val="617384"/>
                </a:solidFill>
                <a:latin typeface="Segoe UI"/>
                <a:ea typeface="Segoe UI"/>
                <a:cs typeface="Segoe UI"/>
              </a:defRPr>
            </a:lvl1pPr>
            <a:lvl2pPr algn="l">
              <a:defRPr sz="1500" b="0">
                <a:solidFill>
                  <a:srgbClr val="617384"/>
                </a:solidFill>
                <a:latin typeface="Segoe UI"/>
                <a:ea typeface="Segoe UI"/>
                <a:cs typeface="Segoe UI"/>
              </a:defRPr>
            </a:lvl2pPr>
            <a:lvl3pPr algn="l">
              <a:defRPr sz="1500" b="0">
                <a:solidFill>
                  <a:srgbClr val="617384"/>
                </a:solidFill>
                <a:latin typeface="Segoe UI"/>
                <a:ea typeface="Segoe UI"/>
                <a:cs typeface="Segoe UI"/>
              </a:defRPr>
            </a:lvl3pPr>
            <a:lvl4pPr algn="l">
              <a:defRPr sz="1500" b="0">
                <a:solidFill>
                  <a:srgbClr val="617384"/>
                </a:solidFill>
                <a:latin typeface="Segoe UI"/>
                <a:ea typeface="Segoe UI"/>
                <a:cs typeface="Segoe UI"/>
              </a:defRPr>
            </a:lvl4pPr>
            <a:lvl5pPr algn="l">
              <a:defRPr sz="1500" b="0">
                <a:solidFill>
                  <a:srgbClr val="617384"/>
                </a:solidFill>
                <a:latin typeface="Segoe UI"/>
                <a:ea typeface="Segoe UI"/>
                <a:cs typeface="Segoe UI"/>
              </a:defRPr>
            </a:lvl5pPr>
            <a:lvl6pPr algn="l">
              <a:defRPr sz="1500" b="0">
                <a:solidFill>
                  <a:srgbClr val="617384"/>
                </a:solidFill>
                <a:latin typeface="Segoe UI"/>
                <a:ea typeface="Segoe UI"/>
                <a:cs typeface="Segoe UI"/>
              </a:defRPr>
            </a:lvl6pPr>
            <a:lvl7pPr algn="l">
              <a:defRPr sz="1500" b="0">
                <a:solidFill>
                  <a:srgbClr val="617384"/>
                </a:solidFill>
                <a:latin typeface="Segoe UI"/>
                <a:ea typeface="Segoe UI"/>
                <a:cs typeface="Segoe UI"/>
              </a:defRPr>
            </a:lvl7pPr>
            <a:lvl8pPr algn="l">
              <a:defRPr sz="1500" b="0">
                <a:solidFill>
                  <a:srgbClr val="617384"/>
                </a:solidFill>
                <a:latin typeface="Segoe UI"/>
                <a:ea typeface="Segoe UI"/>
                <a:cs typeface="Segoe UI"/>
              </a:defRPr>
            </a:lvl8pPr>
            <a:lvl9pPr algn="l">
              <a:defRPr sz="1500" b="0">
                <a:solidFill>
                  <a:srgbClr val="617384"/>
                </a:solidFill>
                <a:latin typeface="Segoe UI"/>
                <a:ea typeface="Segoe UI"/>
                <a:cs typeface="Segoe UI"/>
              </a:defRPr>
            </a:lvl9pPr>
          </a:lstStyle>
          <a:p xmlns:a="http://schemas.openxmlformats.org/drawingml/2006/main">
            <a:pPr algn="l">
              <a:defRPr sz="1500" b="0">
                <a:solidFill>
                  <a:srgbClr val="617384"/>
                </a:solidFill>
                <a:latin typeface="Segoe UI"/>
                <a:ea typeface="Segoe UI"/>
                <a:cs typeface="Segoe UI"/>
              </a:defRPr>
            </a:pPr>
            <a:r>
              <a:rPr sz="1500" b="0">
                <a:solidFill>
                  <a:srgbClr val="617384"/>
                </a:solidFill>
                <a:latin typeface="Segoe UI"/>
                <a:ea typeface="Segoe UI"/>
                <a:cs typeface="Segoe UI"/>
              </a:rPr>
              <a:t>Suggested lab work: 70 minutes. Review the evidence before continuing.</a:t>
            </a:r>
          </a:p>
        </p:txBody>
      </p:sp>
    </p:spTree>
    <p:extLst>
      <p:ext uri="{BB962C8B-B14F-4D97-AF65-F5344CB8AC3E}">
        <p14:creationId xmlns:p14="http://schemas.microsoft.com/office/powerpoint/2010/main" val="1373117344"/>
      </p:ext>
    </p:extLst>
  </p:cSld>
  <p:extLst>
    <p:ext uri="{6950BFC3-D8DA-4A85-94F7-54DA5524770B}">
      <p188:commentRel xmlns:r="http://schemas.openxmlformats.org/officeDocument/2006/relationships" xmlns:p188="http://schemas.microsoft.com/office/powerpoint/2018/8/main" r:id="Rc3524f3f421f4fbf"/>
    </p:ext>
  </p:extLst>
</p:sld>
</file>

<file path=ppt/slides/slide48.xml><?xml version="1.0" encoding="utf-8"?>
<p:sld xmlns:p="http://schemas.openxmlformats.org/presentationml/2006/main">
  <p:cSld>
    <p:bg>
      <p:bgPr>
        <a:solidFill xmlns:a="http://schemas.openxmlformats.org/drawingml/2006/main">
          <a:srgbClr val="06182B"/>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E9EA701-092D-4912-8374-D696AE5AAAAD}"/>
              </a:ext>
            </a:extLst>
          </p:cNvPr>
          <p:cNvPicPr>
            <a:picLocks xmlns:a="http://schemas.openxmlformats.org/drawingml/2006/main" noChangeAspect="1"/>
          </p:cNvPicPr>
          <p:nvPr/>
        </p:nvPicPr>
        <p:blipFill>
          <a:blip xmlns:r="http://schemas.openxmlformats.org/officeDocument/2006/relationships" xmlns:a="http://schemas.openxmlformats.org/drawingml/2006/main" r:embed="Rfb4875a48b274d3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ntext">
            <a:extLst xmlns:a="http://schemas.openxmlformats.org/drawingml/2006/main">
              <a:ext uri="{FF2B5EF4-FFF2-40B4-BE49-F238E27FC236}">
                <a16:creationId xmlns:a16="http://schemas.microsoft.com/office/drawing/2014/main" id="{89C65E92-51E2-4AA0-B3B3-2AC955098DB7}"/>
              </a:ext>
            </a:extLst>
          </p:cNvPr>
          <p:cNvSpPr>
            <a:spLocks xmlns:a="http://schemas.openxmlformats.org/drawingml/2006/main" noGrp="1"/>
          </p:cNvSpPr>
          <p:nvPr/>
        </p:nvSpPr>
        <p:spPr>
          <a:xfrm xmlns:a="http://schemas.openxmlformats.org/drawingml/2006/main">
            <a:off x="647700" y="95250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73DEDC"/>
                </a:solidFill>
                <a:latin typeface="Segoe UI"/>
                <a:ea typeface="Segoe UI"/>
                <a:cs typeface="Segoe UI"/>
              </a:defRPr>
            </a:defPPr>
            <a:lvl1pPr algn="l">
              <a:defRPr sz="1500" b="1">
                <a:solidFill>
                  <a:srgbClr val="73DEDC"/>
                </a:solidFill>
                <a:latin typeface="Segoe UI"/>
                <a:ea typeface="Segoe UI"/>
                <a:cs typeface="Segoe UI"/>
              </a:defRPr>
            </a:lvl1pPr>
            <a:lvl2pPr algn="l">
              <a:defRPr sz="1500" b="1">
                <a:solidFill>
                  <a:srgbClr val="73DEDC"/>
                </a:solidFill>
                <a:latin typeface="Segoe UI"/>
                <a:ea typeface="Segoe UI"/>
                <a:cs typeface="Segoe UI"/>
              </a:defRPr>
            </a:lvl2pPr>
            <a:lvl3pPr algn="l">
              <a:defRPr sz="1500" b="1">
                <a:solidFill>
                  <a:srgbClr val="73DEDC"/>
                </a:solidFill>
                <a:latin typeface="Segoe UI"/>
                <a:ea typeface="Segoe UI"/>
                <a:cs typeface="Segoe UI"/>
              </a:defRPr>
            </a:lvl3pPr>
            <a:lvl4pPr algn="l">
              <a:defRPr sz="1500" b="1">
                <a:solidFill>
                  <a:srgbClr val="73DEDC"/>
                </a:solidFill>
                <a:latin typeface="Segoe UI"/>
                <a:ea typeface="Segoe UI"/>
                <a:cs typeface="Segoe UI"/>
              </a:defRPr>
            </a:lvl4pPr>
            <a:lvl5pPr algn="l">
              <a:defRPr sz="1500" b="1">
                <a:solidFill>
                  <a:srgbClr val="73DEDC"/>
                </a:solidFill>
                <a:latin typeface="Segoe UI"/>
                <a:ea typeface="Segoe UI"/>
                <a:cs typeface="Segoe UI"/>
              </a:defRPr>
            </a:lvl5pPr>
            <a:lvl6pPr algn="l">
              <a:defRPr sz="1500" b="1">
                <a:solidFill>
                  <a:srgbClr val="73DEDC"/>
                </a:solidFill>
                <a:latin typeface="Segoe UI"/>
                <a:ea typeface="Segoe UI"/>
                <a:cs typeface="Segoe UI"/>
              </a:defRPr>
            </a:lvl6pPr>
            <a:lvl7pPr algn="l">
              <a:defRPr sz="1500" b="1">
                <a:solidFill>
                  <a:srgbClr val="73DEDC"/>
                </a:solidFill>
                <a:latin typeface="Segoe UI"/>
                <a:ea typeface="Segoe UI"/>
                <a:cs typeface="Segoe UI"/>
              </a:defRPr>
            </a:lvl7pPr>
            <a:lvl8pPr algn="l">
              <a:defRPr sz="1500" b="1">
                <a:solidFill>
                  <a:srgbClr val="73DEDC"/>
                </a:solidFill>
                <a:latin typeface="Segoe UI"/>
                <a:ea typeface="Segoe UI"/>
                <a:cs typeface="Segoe UI"/>
              </a:defRPr>
            </a:lvl8pPr>
            <a:lvl9pPr algn="l">
              <a:defRPr sz="1500" b="1">
                <a:solidFill>
                  <a:srgbClr val="73DEDC"/>
                </a:solidFill>
                <a:latin typeface="Segoe UI"/>
                <a:ea typeface="Segoe UI"/>
                <a:cs typeface="Segoe UI"/>
              </a:defRPr>
            </a:lvl9pPr>
          </a:lstStyle>
          <a:p xmlns:a="http://schemas.openxmlformats.org/drawingml/2006/main">
            <a:pPr algn="l">
              <a:defRPr sz="1500" b="1">
                <a:solidFill>
                  <a:srgbClr val="73DEDC"/>
                </a:solidFill>
                <a:latin typeface="Segoe UI"/>
                <a:ea typeface="Segoe UI"/>
                <a:cs typeface="Segoe UI"/>
              </a:defRPr>
            </a:pPr>
            <a:r>
              <a:rPr sz="1500" b="1">
                <a:solidFill>
                  <a:srgbClr val="73DEDC"/>
                </a:solidFill>
                <a:latin typeface="Segoe UI"/>
                <a:ea typeface="Segoe UI"/>
                <a:cs typeface="Segoe UI"/>
              </a:rPr>
              <a:t>MODULE 06</a:t>
            </a:r>
          </a:p>
        </p:txBody>
      </p:sp>
      <p:sp>
        <p:nvSpPr>
          <p:cNvPr id="3" name="title">
            <a:extLst xmlns:a="http://schemas.openxmlformats.org/drawingml/2006/main">
              <a:ext uri="{FF2B5EF4-FFF2-40B4-BE49-F238E27FC236}">
                <a16:creationId xmlns:a16="http://schemas.microsoft.com/office/drawing/2014/main" id="{77F5468B-7FA0-4295-B483-68EDBA1DEE69}"/>
              </a:ext>
            </a:extLst>
          </p:cNvPr>
          <p:cNvSpPr>
            <a:spLocks xmlns:a="http://schemas.openxmlformats.org/drawingml/2006/main" noGrp="1"/>
          </p:cNvSpPr>
          <p:nvPr/>
        </p:nvSpPr>
        <p:spPr>
          <a:xfrm xmlns:a="http://schemas.openxmlformats.org/drawingml/2006/main">
            <a:off x="647700" y="1809750"/>
            <a:ext cx="6858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Segoe UI"/>
                <a:ea typeface="Segoe UI"/>
                <a:cs typeface="Segoe UI"/>
              </a:defRPr>
            </a:defPPr>
            <a:lvl1pPr algn="l">
              <a:defRPr sz="3900" b="1">
                <a:solidFill>
                  <a:srgbClr val="FFFFFF"/>
                </a:solidFill>
                <a:latin typeface="Segoe UI"/>
                <a:ea typeface="Segoe UI"/>
                <a:cs typeface="Segoe UI"/>
              </a:defRPr>
            </a:lvl1pPr>
            <a:lvl2pPr algn="l">
              <a:defRPr sz="3900" b="1">
                <a:solidFill>
                  <a:srgbClr val="FFFFFF"/>
                </a:solidFill>
                <a:latin typeface="Segoe UI"/>
                <a:ea typeface="Segoe UI"/>
                <a:cs typeface="Segoe UI"/>
              </a:defRPr>
            </a:lvl2pPr>
            <a:lvl3pPr algn="l">
              <a:defRPr sz="3900" b="1">
                <a:solidFill>
                  <a:srgbClr val="FFFFFF"/>
                </a:solidFill>
                <a:latin typeface="Segoe UI"/>
                <a:ea typeface="Segoe UI"/>
                <a:cs typeface="Segoe UI"/>
              </a:defRPr>
            </a:lvl3pPr>
            <a:lvl4pPr algn="l">
              <a:defRPr sz="3900" b="1">
                <a:solidFill>
                  <a:srgbClr val="FFFFFF"/>
                </a:solidFill>
                <a:latin typeface="Segoe UI"/>
                <a:ea typeface="Segoe UI"/>
                <a:cs typeface="Segoe UI"/>
              </a:defRPr>
            </a:lvl4pPr>
            <a:lvl5pPr algn="l">
              <a:defRPr sz="3900" b="1">
                <a:solidFill>
                  <a:srgbClr val="FFFFFF"/>
                </a:solidFill>
                <a:latin typeface="Segoe UI"/>
                <a:ea typeface="Segoe UI"/>
                <a:cs typeface="Segoe UI"/>
              </a:defRPr>
            </a:lvl5pPr>
            <a:lvl6pPr algn="l">
              <a:defRPr sz="3900" b="1">
                <a:solidFill>
                  <a:srgbClr val="FFFFFF"/>
                </a:solidFill>
                <a:latin typeface="Segoe UI"/>
                <a:ea typeface="Segoe UI"/>
                <a:cs typeface="Segoe UI"/>
              </a:defRPr>
            </a:lvl6pPr>
            <a:lvl7pPr algn="l">
              <a:defRPr sz="3900" b="1">
                <a:solidFill>
                  <a:srgbClr val="FFFFFF"/>
                </a:solidFill>
                <a:latin typeface="Segoe UI"/>
                <a:ea typeface="Segoe UI"/>
                <a:cs typeface="Segoe UI"/>
              </a:defRPr>
            </a:lvl7pPr>
            <a:lvl8pPr algn="l">
              <a:defRPr sz="3900" b="1">
                <a:solidFill>
                  <a:srgbClr val="FFFFFF"/>
                </a:solidFill>
                <a:latin typeface="Segoe UI"/>
                <a:ea typeface="Segoe UI"/>
                <a:cs typeface="Segoe UI"/>
              </a:defRPr>
            </a:lvl8pPr>
            <a:lvl9pPr algn="l">
              <a:defRPr sz="3900" b="1">
                <a:solidFill>
                  <a:srgbClr val="FFFFFF"/>
                </a:solidFill>
                <a:latin typeface="Segoe UI"/>
                <a:ea typeface="Segoe UI"/>
                <a:cs typeface="Segoe UI"/>
              </a:defRPr>
            </a:lvl9pPr>
          </a:lstStyle>
          <a:p xmlns:a="http://schemas.openxmlformats.org/drawingml/2006/main">
            <a:pPr algn="l">
              <a:defRPr sz="3900" b="1">
                <a:solidFill>
                  <a:srgbClr val="FFFFFF"/>
                </a:solidFill>
                <a:latin typeface="Segoe UI"/>
                <a:ea typeface="Segoe UI"/>
                <a:cs typeface="Segoe UI"/>
              </a:defRPr>
            </a:pPr>
            <a:r>
              <a:rPr sz="3900" b="1">
                <a:solidFill>
                  <a:srgbClr val="FFFFFF"/>
                </a:solidFill>
                <a:latin typeface="Segoe UI"/>
                <a:ea typeface="Segoe UI"/>
                <a:cs typeface="Segoe UI"/>
              </a:rPr>
              <a:t>Orchestration and interoperability</a:t>
            </a:r>
          </a:p>
        </p:txBody>
      </p:sp>
      <p:sp>
        <p:nvSpPr>
          <p:cNvPr id="4" name="subtitle">
            <a:extLst xmlns:a="http://schemas.openxmlformats.org/drawingml/2006/main">
              <a:ext uri="{FF2B5EF4-FFF2-40B4-BE49-F238E27FC236}">
                <a16:creationId xmlns:a16="http://schemas.microsoft.com/office/drawing/2014/main" id="{4841FFDF-F31D-4F39-BC6A-F8570A92F220}"/>
              </a:ext>
            </a:extLst>
          </p:cNvPr>
          <p:cNvSpPr>
            <a:spLocks xmlns:a="http://schemas.openxmlformats.org/drawingml/2006/main" noGrp="1"/>
          </p:cNvSpPr>
          <p:nvPr/>
        </p:nvSpPr>
        <p:spPr>
          <a:xfrm xmlns:a="http://schemas.openxmlformats.org/drawingml/2006/main">
            <a:off x="647700" y="4000500"/>
            <a:ext cx="619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D9E6F0"/>
                </a:solidFill>
                <a:latin typeface="Segoe UI"/>
                <a:ea typeface="Segoe UI"/>
                <a:cs typeface="Segoe UI"/>
              </a:defRPr>
            </a:defPPr>
            <a:lvl1pPr algn="l">
              <a:defRPr sz="2025" b="0">
                <a:solidFill>
                  <a:srgbClr val="D9E6F0"/>
                </a:solidFill>
                <a:latin typeface="Segoe UI"/>
                <a:ea typeface="Segoe UI"/>
                <a:cs typeface="Segoe UI"/>
              </a:defRPr>
            </a:lvl1pPr>
            <a:lvl2pPr algn="l">
              <a:defRPr sz="2025" b="0">
                <a:solidFill>
                  <a:srgbClr val="D9E6F0"/>
                </a:solidFill>
                <a:latin typeface="Segoe UI"/>
                <a:ea typeface="Segoe UI"/>
                <a:cs typeface="Segoe UI"/>
              </a:defRPr>
            </a:lvl2pPr>
            <a:lvl3pPr algn="l">
              <a:defRPr sz="2025" b="0">
                <a:solidFill>
                  <a:srgbClr val="D9E6F0"/>
                </a:solidFill>
                <a:latin typeface="Segoe UI"/>
                <a:ea typeface="Segoe UI"/>
                <a:cs typeface="Segoe UI"/>
              </a:defRPr>
            </a:lvl3pPr>
            <a:lvl4pPr algn="l">
              <a:defRPr sz="2025" b="0">
                <a:solidFill>
                  <a:srgbClr val="D9E6F0"/>
                </a:solidFill>
                <a:latin typeface="Segoe UI"/>
                <a:ea typeface="Segoe UI"/>
                <a:cs typeface="Segoe UI"/>
              </a:defRPr>
            </a:lvl4pPr>
            <a:lvl5pPr algn="l">
              <a:defRPr sz="2025" b="0">
                <a:solidFill>
                  <a:srgbClr val="D9E6F0"/>
                </a:solidFill>
                <a:latin typeface="Segoe UI"/>
                <a:ea typeface="Segoe UI"/>
                <a:cs typeface="Segoe UI"/>
              </a:defRPr>
            </a:lvl5pPr>
            <a:lvl6pPr algn="l">
              <a:defRPr sz="2025" b="0">
                <a:solidFill>
                  <a:srgbClr val="D9E6F0"/>
                </a:solidFill>
                <a:latin typeface="Segoe UI"/>
                <a:ea typeface="Segoe UI"/>
                <a:cs typeface="Segoe UI"/>
              </a:defRPr>
            </a:lvl6pPr>
            <a:lvl7pPr algn="l">
              <a:defRPr sz="2025" b="0">
                <a:solidFill>
                  <a:srgbClr val="D9E6F0"/>
                </a:solidFill>
                <a:latin typeface="Segoe UI"/>
                <a:ea typeface="Segoe UI"/>
                <a:cs typeface="Segoe UI"/>
              </a:defRPr>
            </a:lvl7pPr>
            <a:lvl8pPr algn="l">
              <a:defRPr sz="2025" b="0">
                <a:solidFill>
                  <a:srgbClr val="D9E6F0"/>
                </a:solidFill>
                <a:latin typeface="Segoe UI"/>
                <a:ea typeface="Segoe UI"/>
                <a:cs typeface="Segoe UI"/>
              </a:defRPr>
            </a:lvl8pPr>
            <a:lvl9pPr algn="l">
              <a:defRPr sz="2025" b="0">
                <a:solidFill>
                  <a:srgbClr val="D9E6F0"/>
                </a:solidFill>
                <a:latin typeface="Segoe UI"/>
                <a:ea typeface="Segoe UI"/>
                <a:cs typeface="Segoe UI"/>
              </a:defRPr>
            </a:lvl9pPr>
          </a:lstStyle>
          <a:p xmlns:a="http://schemas.openxmlformats.org/drawingml/2006/main">
            <a:pPr algn="l">
              <a:defRPr sz="2025" b="0">
                <a:solidFill>
                  <a:srgbClr val="D9E6F0"/>
                </a:solidFill>
                <a:latin typeface="Segoe UI"/>
                <a:ea typeface="Segoe UI"/>
                <a:cs typeface="Segoe UI"/>
              </a:defRPr>
            </a:pPr>
            <a:r>
              <a:rPr sz="2025" b="0">
                <a:solidFill>
                  <a:srgbClr val="D9E6F0"/>
                </a:solidFill>
                <a:latin typeface="Segoe UI"/>
                <a:ea typeface="Segoe UI"/>
                <a:cs typeface="Segoe UI"/>
              </a:rPr>
              <a:t>Explicit control over specialist work and external capabilities</a:t>
            </a:r>
          </a:p>
        </p:txBody>
      </p:sp>
      <p:sp>
        <p:nvSpPr>
          <p:cNvPr id="5" name="footer">
            <a:extLst xmlns:a="http://schemas.openxmlformats.org/drawingml/2006/main">
              <a:ext uri="{FF2B5EF4-FFF2-40B4-BE49-F238E27FC236}">
                <a16:creationId xmlns:a16="http://schemas.microsoft.com/office/drawing/2014/main" id="{5D9664A8-0329-45C6-BFF5-3EE2D8DAC67E}"/>
              </a:ext>
            </a:extLst>
          </p:cNvPr>
          <p:cNvSpPr>
            <a:spLocks xmlns:a="http://schemas.openxmlformats.org/drawingml/2006/main" noGrp="1"/>
          </p:cNvSpPr>
          <p:nvPr/>
        </p:nvSpPr>
        <p:spPr>
          <a:xfrm xmlns:a="http://schemas.openxmlformats.org/drawingml/2006/main">
            <a:off x="647700" y="6153150"/>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BC0D2"/>
                </a:solidFill>
                <a:latin typeface="Segoe UI"/>
                <a:ea typeface="Segoe UI"/>
                <a:cs typeface="Segoe UI"/>
              </a:defRPr>
            </a:defPPr>
            <a:lvl1pPr algn="l">
              <a:defRPr sz="1275" b="0">
                <a:solidFill>
                  <a:srgbClr val="ABC0D2"/>
                </a:solidFill>
                <a:latin typeface="Segoe UI"/>
                <a:ea typeface="Segoe UI"/>
                <a:cs typeface="Segoe UI"/>
              </a:defRPr>
            </a:lvl1pPr>
            <a:lvl2pPr algn="l">
              <a:defRPr sz="1275" b="0">
                <a:solidFill>
                  <a:srgbClr val="ABC0D2"/>
                </a:solidFill>
                <a:latin typeface="Segoe UI"/>
                <a:ea typeface="Segoe UI"/>
                <a:cs typeface="Segoe UI"/>
              </a:defRPr>
            </a:lvl2pPr>
            <a:lvl3pPr algn="l">
              <a:defRPr sz="1275" b="0">
                <a:solidFill>
                  <a:srgbClr val="ABC0D2"/>
                </a:solidFill>
                <a:latin typeface="Segoe UI"/>
                <a:ea typeface="Segoe UI"/>
                <a:cs typeface="Segoe UI"/>
              </a:defRPr>
            </a:lvl3pPr>
            <a:lvl4pPr algn="l">
              <a:defRPr sz="1275" b="0">
                <a:solidFill>
                  <a:srgbClr val="ABC0D2"/>
                </a:solidFill>
                <a:latin typeface="Segoe UI"/>
                <a:ea typeface="Segoe UI"/>
                <a:cs typeface="Segoe UI"/>
              </a:defRPr>
            </a:lvl4pPr>
            <a:lvl5pPr algn="l">
              <a:defRPr sz="1275" b="0">
                <a:solidFill>
                  <a:srgbClr val="ABC0D2"/>
                </a:solidFill>
                <a:latin typeface="Segoe UI"/>
                <a:ea typeface="Segoe UI"/>
                <a:cs typeface="Segoe UI"/>
              </a:defRPr>
            </a:lvl5pPr>
            <a:lvl6pPr algn="l">
              <a:defRPr sz="1275" b="0">
                <a:solidFill>
                  <a:srgbClr val="ABC0D2"/>
                </a:solidFill>
                <a:latin typeface="Segoe UI"/>
                <a:ea typeface="Segoe UI"/>
                <a:cs typeface="Segoe UI"/>
              </a:defRPr>
            </a:lvl6pPr>
            <a:lvl7pPr algn="l">
              <a:defRPr sz="1275" b="0">
                <a:solidFill>
                  <a:srgbClr val="ABC0D2"/>
                </a:solidFill>
                <a:latin typeface="Segoe UI"/>
                <a:ea typeface="Segoe UI"/>
                <a:cs typeface="Segoe UI"/>
              </a:defRPr>
            </a:lvl7pPr>
            <a:lvl8pPr algn="l">
              <a:defRPr sz="1275" b="0">
                <a:solidFill>
                  <a:srgbClr val="ABC0D2"/>
                </a:solidFill>
                <a:latin typeface="Segoe UI"/>
                <a:ea typeface="Segoe UI"/>
                <a:cs typeface="Segoe UI"/>
              </a:defRPr>
            </a:lvl8pPr>
            <a:lvl9pPr algn="l">
              <a:defRPr sz="1275" b="0">
                <a:solidFill>
                  <a:srgbClr val="ABC0D2"/>
                </a:solidFill>
                <a:latin typeface="Segoe UI"/>
                <a:ea typeface="Segoe UI"/>
                <a:cs typeface="Segoe UI"/>
              </a:defRPr>
            </a:lvl9pPr>
          </a:lstStyle>
          <a:p xmlns:a="http://schemas.openxmlformats.org/drawingml/2006/main">
            <a:pPr algn="l">
              <a:defRPr sz="1275" b="0">
                <a:solidFill>
                  <a:srgbClr val="ABC0D2"/>
                </a:solidFill>
                <a:latin typeface="Segoe UI"/>
                <a:ea typeface="Segoe UI"/>
                <a:cs typeface="Segoe UI"/>
              </a:defRPr>
            </a:pPr>
            <a:r>
              <a:rPr sz="1275" b="0">
                <a:solidFill>
                  <a:srgbClr val="ABC0D2"/>
                </a:solidFill>
                <a:latin typeface="Segoe UI"/>
                <a:ea typeface="Segoe UI"/>
                <a:cs typeface="Segoe UI"/>
              </a:rPr>
              <a:t>3 contact hours including the module lab</a:t>
            </a:r>
          </a:p>
        </p:txBody>
      </p:sp>
      <p:sp>
        <p:nvSpPr>
          <p:cNvPr id="6" name="page">
            <a:extLst xmlns:a="http://schemas.openxmlformats.org/drawingml/2006/main">
              <a:ext uri="{FF2B5EF4-FFF2-40B4-BE49-F238E27FC236}">
                <a16:creationId xmlns:a16="http://schemas.microsoft.com/office/drawing/2014/main" id="{DE425C57-CA27-4D99-A099-C6826BA3F056}"/>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ABC0D2"/>
                </a:solidFill>
                <a:latin typeface="Segoe UI"/>
                <a:ea typeface="Segoe UI"/>
                <a:cs typeface="Segoe UI"/>
              </a:defRPr>
            </a:defPPr>
            <a:lvl1pPr algn="r">
              <a:defRPr sz="1050" b="0">
                <a:solidFill>
                  <a:srgbClr val="ABC0D2"/>
                </a:solidFill>
                <a:latin typeface="Segoe UI"/>
                <a:ea typeface="Segoe UI"/>
                <a:cs typeface="Segoe UI"/>
              </a:defRPr>
            </a:lvl1pPr>
            <a:lvl2pPr algn="r">
              <a:defRPr sz="1050" b="0">
                <a:solidFill>
                  <a:srgbClr val="ABC0D2"/>
                </a:solidFill>
                <a:latin typeface="Segoe UI"/>
                <a:ea typeface="Segoe UI"/>
                <a:cs typeface="Segoe UI"/>
              </a:defRPr>
            </a:lvl2pPr>
            <a:lvl3pPr algn="r">
              <a:defRPr sz="1050" b="0">
                <a:solidFill>
                  <a:srgbClr val="ABC0D2"/>
                </a:solidFill>
                <a:latin typeface="Segoe UI"/>
                <a:ea typeface="Segoe UI"/>
                <a:cs typeface="Segoe UI"/>
              </a:defRPr>
            </a:lvl3pPr>
            <a:lvl4pPr algn="r">
              <a:defRPr sz="1050" b="0">
                <a:solidFill>
                  <a:srgbClr val="ABC0D2"/>
                </a:solidFill>
                <a:latin typeface="Segoe UI"/>
                <a:ea typeface="Segoe UI"/>
                <a:cs typeface="Segoe UI"/>
              </a:defRPr>
            </a:lvl4pPr>
            <a:lvl5pPr algn="r">
              <a:defRPr sz="1050" b="0">
                <a:solidFill>
                  <a:srgbClr val="ABC0D2"/>
                </a:solidFill>
                <a:latin typeface="Segoe UI"/>
                <a:ea typeface="Segoe UI"/>
                <a:cs typeface="Segoe UI"/>
              </a:defRPr>
            </a:lvl5pPr>
            <a:lvl6pPr algn="r">
              <a:defRPr sz="1050" b="0">
                <a:solidFill>
                  <a:srgbClr val="ABC0D2"/>
                </a:solidFill>
                <a:latin typeface="Segoe UI"/>
                <a:ea typeface="Segoe UI"/>
                <a:cs typeface="Segoe UI"/>
              </a:defRPr>
            </a:lvl6pPr>
            <a:lvl7pPr algn="r">
              <a:defRPr sz="1050" b="0">
                <a:solidFill>
                  <a:srgbClr val="ABC0D2"/>
                </a:solidFill>
                <a:latin typeface="Segoe UI"/>
                <a:ea typeface="Segoe UI"/>
                <a:cs typeface="Segoe UI"/>
              </a:defRPr>
            </a:lvl7pPr>
            <a:lvl8pPr algn="r">
              <a:defRPr sz="1050" b="0">
                <a:solidFill>
                  <a:srgbClr val="ABC0D2"/>
                </a:solidFill>
                <a:latin typeface="Segoe UI"/>
                <a:ea typeface="Segoe UI"/>
                <a:cs typeface="Segoe UI"/>
              </a:defRPr>
            </a:lvl8pPr>
            <a:lvl9pPr algn="r">
              <a:defRPr sz="1050" b="0">
                <a:solidFill>
                  <a:srgbClr val="ABC0D2"/>
                </a:solidFill>
                <a:latin typeface="Segoe UI"/>
                <a:ea typeface="Segoe UI"/>
                <a:cs typeface="Segoe UI"/>
              </a:defRPr>
            </a:lvl9pPr>
          </a:lstStyle>
          <a:p xmlns:a="http://schemas.openxmlformats.org/drawingml/2006/main">
            <a:pPr algn="r">
              <a:defRPr sz="1050" b="0">
                <a:solidFill>
                  <a:srgbClr val="ABC0D2"/>
                </a:solidFill>
                <a:latin typeface="Segoe UI"/>
                <a:ea typeface="Segoe UI"/>
                <a:cs typeface="Segoe UI"/>
              </a:defRPr>
            </a:pPr>
            <a:r>
              <a:rPr sz="1050" b="0">
                <a:solidFill>
                  <a:srgbClr val="ABC0D2"/>
                </a:solidFill>
                <a:latin typeface="Segoe UI"/>
                <a:ea typeface="Segoe UI"/>
                <a:cs typeface="Segoe UI"/>
              </a:rPr>
              <a:t>48</a:t>
            </a:r>
          </a:p>
        </p:txBody>
      </p:sp>
    </p:spTree>
    <p:extLst>
      <p:ext uri="{BB962C8B-B14F-4D97-AF65-F5344CB8AC3E}">
        <p14:creationId xmlns:p14="http://schemas.microsoft.com/office/powerpoint/2010/main" val="672639569"/>
      </p:ext>
    </p:extLst>
  </p:cSld>
  <p:extLst>
    <p:ext uri="{6950BFC3-D8DA-4A85-94F7-54DA5524770B}">
      <p188:commentRel xmlns:r="http://schemas.openxmlformats.org/officeDocument/2006/relationships" xmlns:p188="http://schemas.microsoft.com/office/powerpoint/2018/8/main" r:id="Rc705e7ecee3042a7"/>
    </p:ext>
  </p:extLst>
</p:sld>
</file>

<file path=ppt/slides/slide4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context">
            <a:extLst xmlns:a="http://schemas.openxmlformats.org/drawingml/2006/main">
              <a:ext uri="{FF2B5EF4-FFF2-40B4-BE49-F238E27FC236}">
                <a16:creationId xmlns:a16="http://schemas.microsoft.com/office/drawing/2014/main" id="{EDECA6C5-34C5-4908-BE7D-BE6FC58B9030}"/>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Existing implementation</a:t>
            </a:r>
          </a:p>
        </p:txBody>
      </p:sp>
      <p:sp>
        <p:nvSpPr>
          <p:cNvPr id="2" name="title">
            <a:extLst xmlns:a="http://schemas.openxmlformats.org/drawingml/2006/main">
              <a:ext uri="{FF2B5EF4-FFF2-40B4-BE49-F238E27FC236}">
                <a16:creationId xmlns:a16="http://schemas.microsoft.com/office/drawing/2014/main" id="{7FEA7F7B-B170-4457-AD32-12AB7901A1EA}"/>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The baseline router</a:t>
            </a:r>
          </a:p>
        </p:txBody>
      </p:sp>
      <p:sp>
        <p:nvSpPr>
          <p:cNvPr id="3" name="footer">
            <a:extLst xmlns:a="http://schemas.openxmlformats.org/drawingml/2006/main">
              <a:ext uri="{FF2B5EF4-FFF2-40B4-BE49-F238E27FC236}">
                <a16:creationId xmlns:a16="http://schemas.microsoft.com/office/drawing/2014/main" id="{5FE30F97-A9E4-4065-B19A-FD2D3D0B48CA}"/>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06  Orchestration and interoperability</a:t>
            </a:r>
          </a:p>
        </p:txBody>
      </p:sp>
      <p:sp>
        <p:nvSpPr>
          <p:cNvPr id="4" name="page">
            <a:extLst xmlns:a="http://schemas.openxmlformats.org/drawingml/2006/main">
              <a:ext uri="{FF2B5EF4-FFF2-40B4-BE49-F238E27FC236}">
                <a16:creationId xmlns:a16="http://schemas.microsoft.com/office/drawing/2014/main" id="{25A565FE-43E5-435C-AA75-0C311FA878D3}"/>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49</a:t>
            </a:r>
          </a:p>
        </p:txBody>
      </p:sp>
      <p:graphicFrame>
        <p:nvGraphicFramePr>
          <p:cNvPr id="5" name="">
            <a:extLst xmlns:a="http://schemas.openxmlformats.org/drawingml/2006/main">
              <a:ext uri="{FF2B5EF4-FFF2-40B4-BE49-F238E27FC236}">
                <a16:creationId xmlns:a16="http://schemas.microsoft.com/office/drawing/2014/main" id="{96A94986-554F-4BBB-BDA2-7C03463709C7}"/>
              </a:ext>
            </a:extLst>
          </p:cNvPr>
          <p:cNvGraphicFramePr/>
          <p:nvPr/>
        </p:nvGraphicFramePr>
        <p:xfrm>
          <a:off xmlns:a="http://schemas.openxmlformats.org/drawingml/2006/main" x="685800" y="1809750"/>
          <a:ext xmlns:a="http://schemas.openxmlformats.org/drawingml/2006/main" cx="10820400" cy="3432429"/>
        </p:xfrm>
        <a:graphic xmlns:a="http://schemas.openxmlformats.org/drawingml/2006/main">
          <a:graphicData uri="http://schemas.openxmlformats.org/drawingml/2006/table">
            <a:tbl>
              <a:tblPr/>
              <a:tblGrid>
                <a:gridCol w="4977384"/>
                <a:gridCol w="2705100"/>
                <a:gridCol w="3137916"/>
              </a:tblGrid>
              <a:tr h="552450">
                <a:tc>
                  <a:txBody>
                    <a:bodyPr/>
                    <a:lstStyle/>
                    <a:p>
                      <a:r>
                        <a:rPr sz="1725" b="1">
                          <a:solidFill>
                            <a:srgbClr val="FFFFFF"/>
                          </a:solidFill>
                          <a:latin typeface="Segoe UI"/>
                          <a:ea typeface="Segoe UI"/>
                          <a:cs typeface="Segoe UI"/>
                        </a:rPr>
                        <a:t>Prompt</a:t>
                      </a:r>
                    </a:p>
                  </a:txBody>
                  <a:tcPr marL="133350" marR="133350" marT="114300" marB="95250" anchor="t">
                    <a:lnL w="5715">
                      <a:solidFill>
                        <a:srgbClr val="DCE5EA"/>
                      </a:solidFill>
                      <a:prstDash val="solid"/>
                    </a:lnL>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Current route</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Reason</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r>
              <a:tr h="763143">
                <a:tc>
                  <a:txBody>
                    <a:bodyPr/>
                    <a:lstStyle/>
                    <a:p>
                      <a:r>
                        <a:rPr sz="1725" b="0">
                          <a:solidFill>
                            <a:srgbClr val="34495B"/>
                          </a:solidFill>
                          <a:latin typeface="Segoe UI"/>
                          <a:ea typeface="Segoe UI"/>
                          <a:cs typeface="Segoe UI"/>
                        </a:rPr>
                        <a:t>How do I create a customer?</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Documentation</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An earlier documentation phrase matches</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763143">
                <a:tc>
                  <a:txBody>
                    <a:bodyPr/>
                    <a:lstStyle/>
                    <a:p>
                      <a:r>
                        <a:rPr sz="1725" b="0">
                          <a:solidFill>
                            <a:srgbClr val="34495B"/>
                          </a:solidFill>
                          <a:latin typeface="Segoe UI"/>
                          <a:ea typeface="Segoe UI"/>
                          <a:cs typeface="Segoe UI"/>
                        </a:rPr>
                        <a:t>Show revenue summary</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Analytics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Revenue or summary matches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r h="590550">
                <a:tc>
                  <a:txBody>
                    <a:bodyPr/>
                    <a:lstStyle/>
                    <a:p>
                      <a:r>
                        <a:rPr sz="1725" b="0">
                          <a:solidFill>
                            <a:srgbClr val="34495B"/>
                          </a:solidFill>
                          <a:latin typeface="Segoe UI"/>
                          <a:ea typeface="Segoe UI"/>
                          <a:cs typeface="Segoe UI"/>
                        </a:rPr>
                        <a:t>Show overdue invoices</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Invoice operations</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No earlier route matches</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763143">
                <a:tc>
                  <a:txBody>
                    <a:bodyPr/>
                    <a:lstStyle/>
                    <a:p>
                      <a:r>
                        <a:rPr sz="1725" b="0">
                          <a:solidFill>
                            <a:srgbClr val="34495B"/>
                          </a:solidFill>
                          <a:latin typeface="Segoe UI"/>
                          <a:ea typeface="Segoe UI"/>
                          <a:cs typeface="Segoe UI"/>
                        </a:rPr>
                        <a:t>Which customer owes the most?</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Invoice operations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The phrase who owes is absent</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bl>
          </a:graphicData>
        </a:graphic>
      </p:graphicFrame>
    </p:spTree>
    <p:extLst>
      <p:ext uri="{BB962C8B-B14F-4D97-AF65-F5344CB8AC3E}">
        <p14:creationId xmlns:p14="http://schemas.microsoft.com/office/powerpoint/2010/main" val="188209125"/>
      </p:ext>
    </p:extLst>
  </p:cSld>
  <p:extLst>
    <p:ext uri="{6950BFC3-D8DA-4A85-94F7-54DA5524770B}">
      <p188:commentRel xmlns:r="http://schemas.openxmlformats.org/officeDocument/2006/relationships" xmlns:p188="http://schemas.microsoft.com/office/powerpoint/2018/8/main" r:id="R2ecdc6b0f6734fb0"/>
    </p:ext>
  </p:extLst>
</p:sld>
</file>

<file path=ppt/slides/slide50.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context">
            <a:extLst xmlns:a="http://schemas.openxmlformats.org/drawingml/2006/main">
              <a:ext uri="{FF2B5EF4-FFF2-40B4-BE49-F238E27FC236}">
                <a16:creationId xmlns:a16="http://schemas.microsoft.com/office/drawing/2014/main" id="{E8326F8F-C19B-4FC7-A32A-D9E11FC6E210}"/>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Framework patterns</a:t>
            </a:r>
          </a:p>
        </p:txBody>
      </p:sp>
      <p:sp>
        <p:nvSpPr>
          <p:cNvPr id="2" name="title">
            <a:extLst xmlns:a="http://schemas.openxmlformats.org/drawingml/2006/main">
              <a:ext uri="{FF2B5EF4-FFF2-40B4-BE49-F238E27FC236}">
                <a16:creationId xmlns:a16="http://schemas.microsoft.com/office/drawing/2014/main" id="{4D894E3B-CE01-4145-A961-B3E6573A65A7}"/>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Orchestration patterns</a:t>
            </a:r>
          </a:p>
        </p:txBody>
      </p:sp>
      <p:sp>
        <p:nvSpPr>
          <p:cNvPr id="3" name="footer">
            <a:extLst xmlns:a="http://schemas.openxmlformats.org/drawingml/2006/main">
              <a:ext uri="{FF2B5EF4-FFF2-40B4-BE49-F238E27FC236}">
                <a16:creationId xmlns:a16="http://schemas.microsoft.com/office/drawing/2014/main" id="{02338B90-3CAE-4968-8C56-6CB97BD6D651}"/>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06  Orchestration and interoperability</a:t>
            </a:r>
          </a:p>
        </p:txBody>
      </p:sp>
      <p:sp>
        <p:nvSpPr>
          <p:cNvPr id="4" name="page">
            <a:extLst xmlns:a="http://schemas.openxmlformats.org/drawingml/2006/main">
              <a:ext uri="{FF2B5EF4-FFF2-40B4-BE49-F238E27FC236}">
                <a16:creationId xmlns:a16="http://schemas.microsoft.com/office/drawing/2014/main" id="{B027E17A-1A60-4D25-956B-D57F1FA562B3}"/>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50</a:t>
            </a:r>
          </a:p>
        </p:txBody>
      </p:sp>
      <p:graphicFrame>
        <p:nvGraphicFramePr>
          <p:cNvPr id="5" name="">
            <a:extLst xmlns:a="http://schemas.openxmlformats.org/drawingml/2006/main">
              <a:ext uri="{FF2B5EF4-FFF2-40B4-BE49-F238E27FC236}">
                <a16:creationId xmlns:a16="http://schemas.microsoft.com/office/drawing/2014/main" id="{07D58069-4CB3-45A1-BCA7-0C034192480C}"/>
              </a:ext>
            </a:extLst>
          </p:cNvPr>
          <p:cNvGraphicFramePr/>
          <p:nvPr/>
        </p:nvGraphicFramePr>
        <p:xfrm>
          <a:off xmlns:a="http://schemas.openxmlformats.org/drawingml/2006/main" x="685800" y="1809750"/>
          <a:ext xmlns:a="http://schemas.openxmlformats.org/drawingml/2006/main" cx="10820400" cy="2914650"/>
        </p:xfrm>
        <a:graphic xmlns:a="http://schemas.openxmlformats.org/drawingml/2006/main">
          <a:graphicData uri="http://schemas.openxmlformats.org/drawingml/2006/table">
            <a:tbl>
              <a:tblPr/>
              <a:tblGrid>
                <a:gridCol w="2705100"/>
                <a:gridCol w="4869180"/>
                <a:gridCol w="3246120"/>
              </a:tblGrid>
              <a:tr h="552450">
                <a:tc>
                  <a:txBody>
                    <a:bodyPr/>
                    <a:lstStyle/>
                    <a:p>
                      <a:r>
                        <a:rPr sz="1725" b="1">
                          <a:solidFill>
                            <a:srgbClr val="FFFFFF"/>
                          </a:solidFill>
                          <a:latin typeface="Segoe UI"/>
                          <a:ea typeface="Segoe UI"/>
                          <a:cs typeface="Segoe UI"/>
                        </a:rPr>
                        <a:t>Pattern</a:t>
                      </a:r>
                    </a:p>
                  </a:txBody>
                  <a:tcPr marL="133350" marR="133350" marT="114300" marB="95250" anchor="t">
                    <a:lnL w="5715">
                      <a:solidFill>
                        <a:srgbClr val="DCE5EA"/>
                      </a:solidFill>
                      <a:prstDash val="solid"/>
                    </a:lnL>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Useful InvoiceAI case</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Control decision</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r>
              <a:tr h="590550">
                <a:tc>
                  <a:txBody>
                    <a:bodyPr/>
                    <a:lstStyle/>
                    <a:p>
                      <a:r>
                        <a:rPr sz="1725" b="0">
                          <a:solidFill>
                            <a:srgbClr val="34495B"/>
                          </a:solidFill>
                          <a:latin typeface="Segoe UI"/>
                          <a:ea typeface="Segoe UI"/>
                          <a:cs typeface="Segoe UI"/>
                        </a:rPr>
                        <a:t>Sequential</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Read metrics, then write a narrative</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Defined order</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590550">
                <a:tc>
                  <a:txBody>
                    <a:bodyPr/>
                    <a:lstStyle/>
                    <a:p>
                      <a:r>
                        <a:rPr sz="1725" b="0">
                          <a:solidFill>
                            <a:srgbClr val="34495B"/>
                          </a:solidFill>
                          <a:latin typeface="Segoe UI"/>
                          <a:ea typeface="Segoe UI"/>
                          <a:cs typeface="Segoe UI"/>
                        </a:rPr>
                        <a:t>Concurrent</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Independent customer and invoice reads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Safe fan-out and aggregation</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r h="590550">
                <a:tc>
                  <a:txBody>
                    <a:bodyPr/>
                    <a:lstStyle/>
                    <a:p>
                      <a:r>
                        <a:rPr sz="1725" b="0">
                          <a:solidFill>
                            <a:srgbClr val="34495B"/>
                          </a:solidFill>
                          <a:latin typeface="Segoe UI"/>
                          <a:ea typeface="Segoe UI"/>
                          <a:cs typeface="Segoe UI"/>
                        </a:rPr>
                        <a:t>Handoff</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A specialist owns the next conversation turn</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Contextual transfer</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590550">
                <a:tc>
                  <a:txBody>
                    <a:bodyPr/>
                    <a:lstStyle/>
                    <a:p>
                      <a:r>
                        <a:rPr sz="1725" b="0">
                          <a:solidFill>
                            <a:srgbClr val="34495B"/>
                          </a:solidFill>
                          <a:latin typeface="Segoe UI"/>
                          <a:ea typeface="Segoe UI"/>
                          <a:cs typeface="Segoe UI"/>
                        </a:rPr>
                        <a:t>Group chat / Magentic</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A bounded report review exercise</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Additional model coordination</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bl>
          </a:graphicData>
        </a:graphic>
      </p:graphicFrame>
    </p:spTree>
    <p:extLst>
      <p:ext uri="{BB962C8B-B14F-4D97-AF65-F5344CB8AC3E}">
        <p14:creationId xmlns:p14="http://schemas.microsoft.com/office/powerpoint/2010/main" val="599258880"/>
      </p:ext>
    </p:extLst>
  </p:cSld>
  <p:extLst>
    <p:ext uri="{6950BFC3-D8DA-4A85-94F7-54DA5524770B}">
      <p188:commentRel xmlns:r="http://schemas.openxmlformats.org/officeDocument/2006/relationships" xmlns:p188="http://schemas.microsoft.com/office/powerpoint/2018/8/main" r:id="Ree56d638d66549bc"/>
    </p:ext>
  </p:extLst>
</p:sld>
</file>

<file path=ppt/slides/slide5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context">
            <a:extLst xmlns:a="http://schemas.openxmlformats.org/drawingml/2006/main">
              <a:ext uri="{FF2B5EF4-FFF2-40B4-BE49-F238E27FC236}">
                <a16:creationId xmlns:a16="http://schemas.microsoft.com/office/drawing/2014/main" id="{AC325608-DEF0-4E70-8324-96E8F4EF27FC}"/>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Framework code pattern</a:t>
            </a:r>
          </a:p>
        </p:txBody>
      </p:sp>
      <p:sp>
        <p:nvSpPr>
          <p:cNvPr id="2" name="title">
            <a:extLst xmlns:a="http://schemas.openxmlformats.org/drawingml/2006/main">
              <a:ext uri="{FF2B5EF4-FFF2-40B4-BE49-F238E27FC236}">
                <a16:creationId xmlns:a16="http://schemas.microsoft.com/office/drawing/2014/main" id="{36C4BFE9-1467-4688-BCC9-A41912D4C0FF}"/>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A typed workflow skeleton</a:t>
            </a:r>
          </a:p>
        </p:txBody>
      </p:sp>
      <p:sp>
        <p:nvSpPr>
          <p:cNvPr id="3" name="footer">
            <a:extLst xmlns:a="http://schemas.openxmlformats.org/drawingml/2006/main">
              <a:ext uri="{FF2B5EF4-FFF2-40B4-BE49-F238E27FC236}">
                <a16:creationId xmlns:a16="http://schemas.microsoft.com/office/drawing/2014/main" id="{9576C724-3F43-4C83-8424-ED08EA844A68}"/>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06  Orchestration and interoperability</a:t>
            </a:r>
          </a:p>
        </p:txBody>
      </p:sp>
      <p:sp>
        <p:nvSpPr>
          <p:cNvPr id="4" name="page">
            <a:extLst xmlns:a="http://schemas.openxmlformats.org/drawingml/2006/main">
              <a:ext uri="{FF2B5EF4-FFF2-40B4-BE49-F238E27FC236}">
                <a16:creationId xmlns:a16="http://schemas.microsoft.com/office/drawing/2014/main" id="{FBB9FF9E-46D0-4740-8889-4547A0CC2353}"/>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51</a:t>
            </a:r>
          </a:p>
        </p:txBody>
      </p:sp>
      <p:sp>
        <p:nvSpPr>
          <p:cNvPr id="5" name="code">
            <a:extLst xmlns:a="http://schemas.openxmlformats.org/drawingml/2006/main">
              <a:ext uri="{FF2B5EF4-FFF2-40B4-BE49-F238E27FC236}">
                <a16:creationId xmlns:a16="http://schemas.microsoft.com/office/drawing/2014/main" id="{C6C6C26C-16F0-4CF0-8BFA-66D6268AD77F}"/>
              </a:ext>
            </a:extLst>
          </p:cNvPr>
          <p:cNvSpPr>
            <a:spLocks xmlns:a="http://schemas.openxmlformats.org/drawingml/2006/main" noGrp="1"/>
          </p:cNvSpPr>
          <p:nvPr/>
        </p:nvSpPr>
        <p:spPr>
          <a:xfrm xmlns:a="http://schemas.openxmlformats.org/drawingml/2006/main">
            <a:off x="685800" y="1857375"/>
            <a:ext cx="752475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12C43"/>
                </a:solidFill>
                <a:latin typeface="Consolas"/>
                <a:ea typeface="Consolas"/>
                <a:cs typeface="Consolas"/>
              </a:defRPr>
            </a:defPPr>
            <a:lvl1pPr algn="l">
              <a:defRPr sz="1725" b="0">
                <a:solidFill>
                  <a:srgbClr val="112C43"/>
                </a:solidFill>
                <a:latin typeface="Consolas"/>
                <a:ea typeface="Consolas"/>
                <a:cs typeface="Consolas"/>
              </a:defRPr>
            </a:lvl1pPr>
            <a:lvl2pPr algn="l">
              <a:defRPr sz="1725" b="0">
                <a:solidFill>
                  <a:srgbClr val="112C43"/>
                </a:solidFill>
                <a:latin typeface="Consolas"/>
                <a:ea typeface="Consolas"/>
                <a:cs typeface="Consolas"/>
              </a:defRPr>
            </a:lvl2pPr>
            <a:lvl3pPr algn="l">
              <a:defRPr sz="1725" b="0">
                <a:solidFill>
                  <a:srgbClr val="112C43"/>
                </a:solidFill>
                <a:latin typeface="Consolas"/>
                <a:ea typeface="Consolas"/>
                <a:cs typeface="Consolas"/>
              </a:defRPr>
            </a:lvl3pPr>
            <a:lvl4pPr algn="l">
              <a:defRPr sz="1725" b="0">
                <a:solidFill>
                  <a:srgbClr val="112C43"/>
                </a:solidFill>
                <a:latin typeface="Consolas"/>
                <a:ea typeface="Consolas"/>
                <a:cs typeface="Consolas"/>
              </a:defRPr>
            </a:lvl4pPr>
            <a:lvl5pPr algn="l">
              <a:defRPr sz="1725" b="0">
                <a:solidFill>
                  <a:srgbClr val="112C43"/>
                </a:solidFill>
                <a:latin typeface="Consolas"/>
                <a:ea typeface="Consolas"/>
                <a:cs typeface="Consolas"/>
              </a:defRPr>
            </a:lvl5pPr>
            <a:lvl6pPr algn="l">
              <a:defRPr sz="1725" b="0">
                <a:solidFill>
                  <a:srgbClr val="112C43"/>
                </a:solidFill>
                <a:latin typeface="Consolas"/>
                <a:ea typeface="Consolas"/>
                <a:cs typeface="Consolas"/>
              </a:defRPr>
            </a:lvl6pPr>
            <a:lvl7pPr algn="l">
              <a:defRPr sz="1725" b="0">
                <a:solidFill>
                  <a:srgbClr val="112C43"/>
                </a:solidFill>
                <a:latin typeface="Consolas"/>
                <a:ea typeface="Consolas"/>
                <a:cs typeface="Consolas"/>
              </a:defRPr>
            </a:lvl7pPr>
            <a:lvl8pPr algn="l">
              <a:defRPr sz="1725" b="0">
                <a:solidFill>
                  <a:srgbClr val="112C43"/>
                </a:solidFill>
                <a:latin typeface="Consolas"/>
                <a:ea typeface="Consolas"/>
                <a:cs typeface="Consolas"/>
              </a:defRPr>
            </a:lvl8pPr>
            <a:lvl9pPr algn="l">
              <a:defRPr sz="1725" b="0">
                <a:solidFill>
                  <a:srgbClr val="112C43"/>
                </a:solidFill>
                <a:latin typeface="Consolas"/>
                <a:ea typeface="Consolas"/>
                <a:cs typeface="Consolas"/>
              </a:defRPr>
            </a:lvl9pPr>
          </a:lstStyle>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using Microsoft.Agents.AI.Workflows;</a:t>
            </a:r>
          </a:p>
          <a:p xmlns:a="http://schemas.openxmlformats.org/drawingml/2006/main">
            <a:r>
              <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Course executors implement the typed step contracts.</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WorkflowBuilder builder = new(readInvoice);</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builder.AddEdge(readInvoice, proposeTransition);</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builder.AddEdge(proposeTransition, requestReview);</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var workflow = builder.Build();</a:t>
            </a:r>
          </a:p>
          <a:p xmlns:a="http://schemas.openxmlformats.org/drawingml/2006/main">
            <a:r>
              <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Add explicit outputs, events, and approval handling</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using the pinned SDK's execution APIs.</a:t>
            </a:r>
          </a:p>
        </p:txBody>
      </p:sp>
      <p:sp>
        <p:nvSpPr>
          <p:cNvPr id="6" name="explanation-0">
            <a:extLst xmlns:a="http://schemas.openxmlformats.org/drawingml/2006/main">
              <a:ext uri="{FF2B5EF4-FFF2-40B4-BE49-F238E27FC236}">
                <a16:creationId xmlns:a16="http://schemas.microsoft.com/office/drawing/2014/main" id="{57F752C1-4CDD-4F08-A89C-6F1D6D6A09C0}"/>
              </a:ext>
            </a:extLst>
          </p:cNvPr>
          <p:cNvSpPr>
            <a:spLocks xmlns:a="http://schemas.openxmlformats.org/drawingml/2006/main" noGrp="1"/>
          </p:cNvSpPr>
          <p:nvPr/>
        </p:nvSpPr>
        <p:spPr>
          <a:xfrm xmlns:a="http://schemas.openxmlformats.org/drawingml/2006/main">
            <a:off x="8715375" y="20002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83"/>
                </a:solidFill>
                <a:latin typeface="Segoe UI"/>
                <a:ea typeface="Segoe UI"/>
                <a:cs typeface="Segoe UI"/>
              </a:defRPr>
            </a:defPPr>
            <a:lvl1pPr algn="l">
              <a:defRPr sz="1800" b="0">
                <a:solidFill>
                  <a:srgbClr val="007F83"/>
                </a:solidFill>
                <a:latin typeface="Segoe UI"/>
                <a:ea typeface="Segoe UI"/>
                <a:cs typeface="Segoe UI"/>
              </a:defRPr>
            </a:lvl1pPr>
            <a:lvl2pPr algn="l">
              <a:defRPr sz="1800" b="0">
                <a:solidFill>
                  <a:srgbClr val="007F83"/>
                </a:solidFill>
                <a:latin typeface="Segoe UI"/>
                <a:ea typeface="Segoe UI"/>
                <a:cs typeface="Segoe UI"/>
              </a:defRPr>
            </a:lvl2pPr>
            <a:lvl3pPr algn="l">
              <a:defRPr sz="1800" b="0">
                <a:solidFill>
                  <a:srgbClr val="007F83"/>
                </a:solidFill>
                <a:latin typeface="Segoe UI"/>
                <a:ea typeface="Segoe UI"/>
                <a:cs typeface="Segoe UI"/>
              </a:defRPr>
            </a:lvl3pPr>
            <a:lvl4pPr algn="l">
              <a:defRPr sz="1800" b="0">
                <a:solidFill>
                  <a:srgbClr val="007F83"/>
                </a:solidFill>
                <a:latin typeface="Segoe UI"/>
                <a:ea typeface="Segoe UI"/>
                <a:cs typeface="Segoe UI"/>
              </a:defRPr>
            </a:lvl4pPr>
            <a:lvl5pPr algn="l">
              <a:defRPr sz="1800" b="0">
                <a:solidFill>
                  <a:srgbClr val="007F83"/>
                </a:solidFill>
                <a:latin typeface="Segoe UI"/>
                <a:ea typeface="Segoe UI"/>
                <a:cs typeface="Segoe UI"/>
              </a:defRPr>
            </a:lvl5pPr>
            <a:lvl6pPr algn="l">
              <a:defRPr sz="1800" b="0">
                <a:solidFill>
                  <a:srgbClr val="007F83"/>
                </a:solidFill>
                <a:latin typeface="Segoe UI"/>
                <a:ea typeface="Segoe UI"/>
                <a:cs typeface="Segoe UI"/>
              </a:defRPr>
            </a:lvl6pPr>
            <a:lvl7pPr algn="l">
              <a:defRPr sz="1800" b="0">
                <a:solidFill>
                  <a:srgbClr val="007F83"/>
                </a:solidFill>
                <a:latin typeface="Segoe UI"/>
                <a:ea typeface="Segoe UI"/>
                <a:cs typeface="Segoe UI"/>
              </a:defRPr>
            </a:lvl7pPr>
            <a:lvl8pPr algn="l">
              <a:defRPr sz="1800" b="0">
                <a:solidFill>
                  <a:srgbClr val="007F83"/>
                </a:solidFill>
                <a:latin typeface="Segoe UI"/>
                <a:ea typeface="Segoe UI"/>
                <a:cs typeface="Segoe UI"/>
              </a:defRPr>
            </a:lvl8pPr>
            <a:lvl9pPr algn="l">
              <a:defRPr sz="1800" b="0">
                <a:solidFill>
                  <a:srgbClr val="007F83"/>
                </a:solidFill>
                <a:latin typeface="Segoe UI"/>
                <a:ea typeface="Segoe UI"/>
                <a:cs typeface="Segoe UI"/>
              </a:defRPr>
            </a:lvl9pPr>
          </a:lstStyle>
          <a:p xmlns:a="http://schemas.openxmlformats.org/drawingml/2006/main">
            <a:pPr algn="l">
              <a:defRPr sz="1800" b="0">
                <a:solidFill>
                  <a:srgbClr val="007F83"/>
                </a:solidFill>
                <a:latin typeface="Segoe UI"/>
                <a:ea typeface="Segoe UI"/>
                <a:cs typeface="Segoe UI"/>
              </a:defRPr>
            </a:pPr>
            <a:r>
              <a:rPr sz="1800" b="0">
                <a:solidFill>
                  <a:srgbClr val="007F83"/>
                </a:solidFill>
                <a:latin typeface="Segoe UI"/>
                <a:ea typeface="Segoe UI"/>
                <a:cs typeface="Segoe UI"/>
              </a:rPr>
              <a:t>Executors perform a step.</a:t>
            </a:r>
          </a:p>
        </p:txBody>
      </p:sp>
      <p:sp>
        <p:nvSpPr>
          <p:cNvPr id="7" name="explanation-1">
            <a:extLst xmlns:a="http://schemas.openxmlformats.org/drawingml/2006/main">
              <a:ext uri="{FF2B5EF4-FFF2-40B4-BE49-F238E27FC236}">
                <a16:creationId xmlns:a16="http://schemas.microsoft.com/office/drawing/2014/main" id="{F27CE4E7-C274-49CA-94BE-6800A63E11AD}"/>
              </a:ext>
            </a:extLst>
          </p:cNvPr>
          <p:cNvSpPr>
            <a:spLocks xmlns:a="http://schemas.openxmlformats.org/drawingml/2006/main" noGrp="1"/>
          </p:cNvSpPr>
          <p:nvPr/>
        </p:nvSpPr>
        <p:spPr>
          <a:xfrm xmlns:a="http://schemas.openxmlformats.org/drawingml/2006/main">
            <a:off x="8715375" y="320040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Edges control the path.</a:t>
            </a:r>
          </a:p>
        </p:txBody>
      </p:sp>
      <p:sp>
        <p:nvSpPr>
          <p:cNvPr id="8" name="explanation-2">
            <a:extLst xmlns:a="http://schemas.openxmlformats.org/drawingml/2006/main">
              <a:ext uri="{FF2B5EF4-FFF2-40B4-BE49-F238E27FC236}">
                <a16:creationId xmlns:a16="http://schemas.microsoft.com/office/drawing/2014/main" id="{3A8BBF22-B69C-49D6-91FA-7027CDA3FDE0}"/>
              </a:ext>
            </a:extLst>
          </p:cNvPr>
          <p:cNvSpPr>
            <a:spLocks xmlns:a="http://schemas.openxmlformats.org/drawingml/2006/main" noGrp="1"/>
          </p:cNvSpPr>
          <p:nvPr/>
        </p:nvSpPr>
        <p:spPr>
          <a:xfrm xmlns:a="http://schemas.openxmlformats.org/drawingml/2006/main">
            <a:off x="8715375" y="44005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The application owns business completion.</a:t>
            </a:r>
          </a:p>
        </p:txBody>
      </p:sp>
    </p:spTree>
    <p:extLst>
      <p:ext uri="{BB962C8B-B14F-4D97-AF65-F5344CB8AC3E}">
        <p14:creationId xmlns:p14="http://schemas.microsoft.com/office/powerpoint/2010/main" val="1680662680"/>
      </p:ext>
    </p:extLst>
  </p:cSld>
  <p:extLst>
    <p:ext uri="{6950BFC3-D8DA-4A85-94F7-54DA5524770B}">
      <p188:commentRel xmlns:r="http://schemas.openxmlformats.org/officeDocument/2006/relationships" xmlns:p188="http://schemas.microsoft.com/office/powerpoint/2018/8/main" r:id="Rf3861a155a7049b1"/>
    </p:ext>
  </p:extLst>
</p:sld>
</file>

<file path=ppt/slides/slide5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context">
            <a:extLst xmlns:a="http://schemas.openxmlformats.org/drawingml/2006/main">
              <a:ext uri="{FF2B5EF4-FFF2-40B4-BE49-F238E27FC236}">
                <a16:creationId xmlns:a16="http://schemas.microsoft.com/office/drawing/2014/main" id="{2DA85440-B7E4-41FB-AF96-F95707677261}"/>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Capstone target</a:t>
            </a:r>
          </a:p>
        </p:txBody>
      </p:sp>
      <p:sp>
        <p:nvSpPr>
          <p:cNvPr id="2" name="title">
            <a:extLst xmlns:a="http://schemas.openxmlformats.org/drawingml/2006/main">
              <a:ext uri="{FF2B5EF4-FFF2-40B4-BE49-F238E27FC236}">
                <a16:creationId xmlns:a16="http://schemas.microsoft.com/office/drawing/2014/main" id="{3ABECB17-2B2B-46CF-9540-81CE7563BF93}"/>
              </a:ext>
            </a:extLst>
          </p:cNvPr>
          <p:cNvSpPr>
            <a:spLocks xmlns:a="http://schemas.openxmlformats.org/drawingml/2006/main" noGrp="1"/>
          </p:cNvSpPr>
          <p:nvPr/>
        </p:nvSpPr>
        <p:spPr>
          <a:xfrm xmlns:a="http://schemas.openxmlformats.org/drawingml/2006/main">
            <a:off x="685800" y="6572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12C43"/>
                </a:solidFill>
                <a:latin typeface="Segoe UI"/>
                <a:ea typeface="Segoe UI"/>
                <a:cs typeface="Segoe UI"/>
              </a:defRPr>
            </a:defPPr>
            <a:lvl1pPr algn="l">
              <a:defRPr sz="3225" b="1">
                <a:solidFill>
                  <a:srgbClr val="112C43"/>
                </a:solidFill>
                <a:latin typeface="Segoe UI"/>
                <a:ea typeface="Segoe UI"/>
                <a:cs typeface="Segoe UI"/>
              </a:defRPr>
            </a:lvl1pPr>
            <a:lvl2pPr algn="l">
              <a:defRPr sz="3225" b="1">
                <a:solidFill>
                  <a:srgbClr val="112C43"/>
                </a:solidFill>
                <a:latin typeface="Segoe UI"/>
                <a:ea typeface="Segoe UI"/>
                <a:cs typeface="Segoe UI"/>
              </a:defRPr>
            </a:lvl2pPr>
            <a:lvl3pPr algn="l">
              <a:defRPr sz="3225" b="1">
                <a:solidFill>
                  <a:srgbClr val="112C43"/>
                </a:solidFill>
                <a:latin typeface="Segoe UI"/>
                <a:ea typeface="Segoe UI"/>
                <a:cs typeface="Segoe UI"/>
              </a:defRPr>
            </a:lvl3pPr>
            <a:lvl4pPr algn="l">
              <a:defRPr sz="3225" b="1">
                <a:solidFill>
                  <a:srgbClr val="112C43"/>
                </a:solidFill>
                <a:latin typeface="Segoe UI"/>
                <a:ea typeface="Segoe UI"/>
                <a:cs typeface="Segoe UI"/>
              </a:defRPr>
            </a:lvl4pPr>
            <a:lvl5pPr algn="l">
              <a:defRPr sz="3225" b="1">
                <a:solidFill>
                  <a:srgbClr val="112C43"/>
                </a:solidFill>
                <a:latin typeface="Segoe UI"/>
                <a:ea typeface="Segoe UI"/>
                <a:cs typeface="Segoe UI"/>
              </a:defRPr>
            </a:lvl5pPr>
            <a:lvl6pPr algn="l">
              <a:defRPr sz="3225" b="1">
                <a:solidFill>
                  <a:srgbClr val="112C43"/>
                </a:solidFill>
                <a:latin typeface="Segoe UI"/>
                <a:ea typeface="Segoe UI"/>
                <a:cs typeface="Segoe UI"/>
              </a:defRPr>
            </a:lvl6pPr>
            <a:lvl7pPr algn="l">
              <a:defRPr sz="3225" b="1">
                <a:solidFill>
                  <a:srgbClr val="112C43"/>
                </a:solidFill>
                <a:latin typeface="Segoe UI"/>
                <a:ea typeface="Segoe UI"/>
                <a:cs typeface="Segoe UI"/>
              </a:defRPr>
            </a:lvl7pPr>
            <a:lvl8pPr algn="l">
              <a:defRPr sz="3225" b="1">
                <a:solidFill>
                  <a:srgbClr val="112C43"/>
                </a:solidFill>
                <a:latin typeface="Segoe UI"/>
                <a:ea typeface="Segoe UI"/>
                <a:cs typeface="Segoe UI"/>
              </a:defRPr>
            </a:lvl8pPr>
            <a:lvl9pPr algn="l">
              <a:defRPr sz="3225" b="1">
                <a:solidFill>
                  <a:srgbClr val="112C43"/>
                </a:solidFill>
                <a:latin typeface="Segoe UI"/>
                <a:ea typeface="Segoe UI"/>
                <a:cs typeface="Segoe UI"/>
              </a:defRPr>
            </a:lvl9pPr>
          </a:lstStyle>
          <a:p xmlns:a="http://schemas.openxmlformats.org/drawingml/2006/main">
            <a:pPr algn="l">
              <a:defRPr sz="3225" b="1">
                <a:solidFill>
                  <a:srgbClr val="112C43"/>
                </a:solidFill>
                <a:latin typeface="Segoe UI"/>
                <a:ea typeface="Segoe UI"/>
                <a:cs typeface="Segoe UI"/>
              </a:defRPr>
            </a:pPr>
            <a:r>
              <a:rPr sz="3225" b="1">
                <a:solidFill>
                  <a:srgbClr val="112C43"/>
                </a:solidFill>
                <a:latin typeface="Segoe UI"/>
                <a:ea typeface="Segoe UI"/>
                <a:cs typeface="Segoe UI"/>
              </a:rPr>
              <a:t>An approved invoice write workflow</a:t>
            </a:r>
          </a:p>
        </p:txBody>
      </p:sp>
      <p:pic>
        <p:nvPicPr>
          <p:cNvPr id="3" name="">
            <a:extLst xmlns:a="http://schemas.openxmlformats.org/drawingml/2006/main">
              <a:ext uri="{FF2B5EF4-FFF2-40B4-BE49-F238E27FC236}">
                <a16:creationId xmlns:a16="http://schemas.microsoft.com/office/drawing/2014/main" id="{E018C4C1-97F4-428E-B9FF-AB04A5A0D708}"/>
              </a:ext>
            </a:extLst>
          </p:cNvPr>
          <p:cNvPicPr>
            <a:picLocks xmlns:a="http://schemas.openxmlformats.org/drawingml/2006/main" noChangeAspect="1"/>
          </p:cNvPicPr>
          <p:nvPr/>
        </p:nvPicPr>
        <p:blipFill>
          <a:blip xmlns:r="http://schemas.openxmlformats.org/officeDocument/2006/relationships" xmlns:a="http://schemas.openxmlformats.org/drawingml/2006/main" r:embed="R5117fbfc7d8a4cba"/>
          <a:stretch xmlns:a="http://schemas.openxmlformats.org/drawingml/2006/main"/>
        </p:blipFill>
        <p:spPr>
          <a:xfrm xmlns:a="http://schemas.openxmlformats.org/drawingml/2006/main">
            <a:off x="238125" y="1630392"/>
            <a:ext cx="11715750" cy="4359216"/>
          </a:xfrm>
          <a:prstGeom xmlns:a="http://schemas.openxmlformats.org/drawingml/2006/main" prst="rect">
            <a:avLst/>
          </a:prstGeom>
        </p:spPr>
      </p:pic>
      <p:sp>
        <p:nvSpPr>
          <p:cNvPr id="4" name="footer">
            <a:extLst xmlns:a="http://schemas.openxmlformats.org/drawingml/2006/main">
              <a:ext uri="{FF2B5EF4-FFF2-40B4-BE49-F238E27FC236}">
                <a16:creationId xmlns:a16="http://schemas.microsoft.com/office/drawing/2014/main" id="{F39A22C7-4271-4AC9-B947-786FF51C014E}"/>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06  Orchestration and interoperability</a:t>
            </a:r>
          </a:p>
        </p:txBody>
      </p:sp>
      <p:sp>
        <p:nvSpPr>
          <p:cNvPr id="5" name="page">
            <a:extLst xmlns:a="http://schemas.openxmlformats.org/drawingml/2006/main">
              <a:ext uri="{FF2B5EF4-FFF2-40B4-BE49-F238E27FC236}">
                <a16:creationId xmlns:a16="http://schemas.microsoft.com/office/drawing/2014/main" id="{B4AC0FA0-681B-48C1-BF51-7D5E4EDFC347}"/>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52</a:t>
            </a:r>
          </a:p>
        </p:txBody>
      </p:sp>
    </p:spTree>
    <p:extLst>
      <p:ext uri="{BB962C8B-B14F-4D97-AF65-F5344CB8AC3E}">
        <p14:creationId xmlns:p14="http://schemas.microsoft.com/office/powerpoint/2010/main" val="2080887926"/>
      </p:ext>
    </p:extLst>
  </p:cSld>
  <p:extLst>
    <p:ext uri="{6950BFC3-D8DA-4A85-94F7-54DA5524770B}">
      <p188:commentRel xmlns:r="http://schemas.openxmlformats.org/officeDocument/2006/relationships" xmlns:p188="http://schemas.microsoft.com/office/powerpoint/2018/8/main" r:id="Rce7ce95f569a4df7"/>
    </p:ext>
  </p:extLst>
</p:sld>
</file>

<file path=ppt/slides/slide5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DEEC70A7-040A-4973-A53A-787B1EA61802}"/>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Workflow design</a:t>
            </a:r>
          </a:p>
        </p:txBody>
      </p:sp>
      <p:sp>
        <p:nvSpPr>
          <p:cNvPr id="2" name="title">
            <a:extLst xmlns:a="http://schemas.openxmlformats.org/drawingml/2006/main">
              <a:ext uri="{FF2B5EF4-FFF2-40B4-BE49-F238E27FC236}">
                <a16:creationId xmlns:a16="http://schemas.microsoft.com/office/drawing/2014/main" id="{84F9B304-746F-453A-BFDC-EB798F8C44D7}"/>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Checkpointing and recovery</a:t>
            </a:r>
          </a:p>
        </p:txBody>
      </p:sp>
      <p:sp>
        <p:nvSpPr>
          <p:cNvPr id="3" name="footer">
            <a:extLst xmlns:a="http://schemas.openxmlformats.org/drawingml/2006/main">
              <a:ext uri="{FF2B5EF4-FFF2-40B4-BE49-F238E27FC236}">
                <a16:creationId xmlns:a16="http://schemas.microsoft.com/office/drawing/2014/main" id="{0296A3CB-213D-4B24-B259-E15421944A25}"/>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06  Orchestration and interoperability</a:t>
            </a:r>
          </a:p>
        </p:txBody>
      </p:sp>
      <p:sp>
        <p:nvSpPr>
          <p:cNvPr id="4" name="page">
            <a:extLst xmlns:a="http://schemas.openxmlformats.org/drawingml/2006/main">
              <a:ext uri="{FF2B5EF4-FFF2-40B4-BE49-F238E27FC236}">
                <a16:creationId xmlns:a16="http://schemas.microsoft.com/office/drawing/2014/main" id="{70260021-C82C-4695-9467-D6ABA8213C76}"/>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53</a:t>
            </a:r>
          </a:p>
        </p:txBody>
      </p:sp>
      <p:sp>
        <p:nvSpPr>
          <p:cNvPr id="5" name="label-0">
            <a:extLst xmlns:a="http://schemas.openxmlformats.org/drawingml/2006/main">
              <a:ext uri="{FF2B5EF4-FFF2-40B4-BE49-F238E27FC236}">
                <a16:creationId xmlns:a16="http://schemas.microsoft.com/office/drawing/2014/main" id="{877A4100-96D1-47AF-A722-10FA3D3132FA}"/>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Checkpoint</a:t>
            </a:r>
          </a:p>
        </p:txBody>
      </p:sp>
      <p:sp>
        <p:nvSpPr>
          <p:cNvPr id="6" name="point-0">
            <a:extLst xmlns:a="http://schemas.openxmlformats.org/drawingml/2006/main">
              <a:ext uri="{FF2B5EF4-FFF2-40B4-BE49-F238E27FC236}">
                <a16:creationId xmlns:a16="http://schemas.microsoft.com/office/drawing/2014/main" id="{E15D0C54-089F-4114-80D2-37FFFBED3CE8}"/>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Save workflow progress and pending requests through a chosen store.</a:t>
            </a:r>
          </a:p>
        </p:txBody>
      </p:sp>
      <p:sp>
        <p:nvSpPr>
          <p:cNvPr id="7" name="label-1">
            <a:extLst xmlns:a="http://schemas.openxmlformats.org/drawingml/2006/main">
              <a:ext uri="{FF2B5EF4-FFF2-40B4-BE49-F238E27FC236}">
                <a16:creationId xmlns:a16="http://schemas.microsoft.com/office/drawing/2014/main" id="{79DD7E4B-CFC9-4040-B513-868814171C2F}"/>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Resume</a:t>
            </a:r>
          </a:p>
        </p:txBody>
      </p:sp>
      <p:sp>
        <p:nvSpPr>
          <p:cNvPr id="8" name="point-1">
            <a:extLst xmlns:a="http://schemas.openxmlformats.org/drawingml/2006/main">
              <a:ext uri="{FF2B5EF4-FFF2-40B4-BE49-F238E27FC236}">
                <a16:creationId xmlns:a16="http://schemas.microsoft.com/office/drawing/2014/main" id="{55B4DBB1-1A11-498F-85CC-4FDE3A0D22DF}"/>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Restore the run after an interruption or external decision.</a:t>
            </a:r>
          </a:p>
        </p:txBody>
      </p:sp>
      <p:sp>
        <p:nvSpPr>
          <p:cNvPr id="9" name="label-2">
            <a:extLst xmlns:a="http://schemas.openxmlformats.org/drawingml/2006/main">
              <a:ext uri="{FF2B5EF4-FFF2-40B4-BE49-F238E27FC236}">
                <a16:creationId xmlns:a16="http://schemas.microsoft.com/office/drawing/2014/main" id="{05174B19-7E2D-4E6F-B06B-C17F4924914D}"/>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Revalidate</a:t>
            </a:r>
          </a:p>
        </p:txBody>
      </p:sp>
      <p:sp>
        <p:nvSpPr>
          <p:cNvPr id="10" name="point-2">
            <a:extLst xmlns:a="http://schemas.openxmlformats.org/drawingml/2006/main">
              <a:ext uri="{FF2B5EF4-FFF2-40B4-BE49-F238E27FC236}">
                <a16:creationId xmlns:a16="http://schemas.microsoft.com/office/drawing/2014/main" id="{57B43EE1-4158-4776-BF49-2069A6EB159F}"/>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Reload identity, permissions, and mutable business facts.</a:t>
            </a:r>
          </a:p>
        </p:txBody>
      </p:sp>
      <p:sp>
        <p:nvSpPr>
          <p:cNvPr id="11" name="label-3">
            <a:extLst xmlns:a="http://schemas.openxmlformats.org/drawingml/2006/main">
              <a:ext uri="{FF2B5EF4-FFF2-40B4-BE49-F238E27FC236}">
                <a16:creationId xmlns:a16="http://schemas.microsoft.com/office/drawing/2014/main" id="{689C9999-5E10-4D8C-84A6-E12EECD21802}"/>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Protect writes</a:t>
            </a:r>
          </a:p>
        </p:txBody>
      </p:sp>
      <p:sp>
        <p:nvSpPr>
          <p:cNvPr id="12" name="point-3">
            <a:extLst xmlns:a="http://schemas.openxmlformats.org/drawingml/2006/main">
              <a:ext uri="{FF2B5EF4-FFF2-40B4-BE49-F238E27FC236}">
                <a16:creationId xmlns:a16="http://schemas.microsoft.com/office/drawing/2014/main" id="{B75F424A-98CC-4B59-BDF7-3CE3D37BDCDE}"/>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Use idempotency at the application commit boundary.</a:t>
            </a:r>
          </a:p>
        </p:txBody>
      </p:sp>
    </p:spTree>
    <p:extLst>
      <p:ext uri="{BB962C8B-B14F-4D97-AF65-F5344CB8AC3E}">
        <p14:creationId xmlns:p14="http://schemas.microsoft.com/office/powerpoint/2010/main" val="902582107"/>
      </p:ext>
    </p:extLst>
  </p:cSld>
  <p:extLst>
    <p:ext uri="{6950BFC3-D8DA-4A85-94F7-54DA5524770B}">
      <p188:commentRel xmlns:r="http://schemas.openxmlformats.org/officeDocument/2006/relationships" xmlns:p188="http://schemas.microsoft.com/office/powerpoint/2018/8/main" r:id="Rc57879c773c040ee"/>
    </p:ext>
  </p:extLst>
</p:sld>
</file>

<file path=ppt/slides/slide5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079FE45E-4F51-4EC6-B4B1-04070AFF35F7}"/>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Composition option</a:t>
            </a:r>
          </a:p>
        </p:txBody>
      </p:sp>
      <p:sp>
        <p:nvSpPr>
          <p:cNvPr id="2" name="title">
            <a:extLst xmlns:a="http://schemas.openxmlformats.org/drawingml/2006/main">
              <a:ext uri="{FF2B5EF4-FFF2-40B4-BE49-F238E27FC236}">
                <a16:creationId xmlns:a16="http://schemas.microsoft.com/office/drawing/2014/main" id="{97ABFF35-7E1E-4038-8671-D2498B387512}"/>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Agents as tools</a:t>
            </a:r>
          </a:p>
        </p:txBody>
      </p:sp>
      <p:sp>
        <p:nvSpPr>
          <p:cNvPr id="3" name="footer">
            <a:extLst xmlns:a="http://schemas.openxmlformats.org/drawingml/2006/main">
              <a:ext uri="{FF2B5EF4-FFF2-40B4-BE49-F238E27FC236}">
                <a16:creationId xmlns:a16="http://schemas.microsoft.com/office/drawing/2014/main" id="{41DFF0CA-D058-47C4-97EA-96899E53A848}"/>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06  Orchestration and interoperability</a:t>
            </a:r>
          </a:p>
        </p:txBody>
      </p:sp>
      <p:sp>
        <p:nvSpPr>
          <p:cNvPr id="4" name="page">
            <a:extLst xmlns:a="http://schemas.openxmlformats.org/drawingml/2006/main">
              <a:ext uri="{FF2B5EF4-FFF2-40B4-BE49-F238E27FC236}">
                <a16:creationId xmlns:a16="http://schemas.microsoft.com/office/drawing/2014/main" id="{9E3A07E9-6D02-4A08-95BE-71766E97E242}"/>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54</a:t>
            </a:r>
          </a:p>
        </p:txBody>
      </p:sp>
      <p:sp>
        <p:nvSpPr>
          <p:cNvPr id="5" name="label-0">
            <a:extLst xmlns:a="http://schemas.openxmlformats.org/drawingml/2006/main">
              <a:ext uri="{FF2B5EF4-FFF2-40B4-BE49-F238E27FC236}">
                <a16:creationId xmlns:a16="http://schemas.microsoft.com/office/drawing/2014/main" id="{F34FA027-5156-4B67-8DFD-125F06E521C2}"/>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Composition</a:t>
            </a:r>
          </a:p>
        </p:txBody>
      </p:sp>
      <p:sp>
        <p:nvSpPr>
          <p:cNvPr id="6" name="point-0">
            <a:extLst xmlns:a="http://schemas.openxmlformats.org/drawingml/2006/main">
              <a:ext uri="{FF2B5EF4-FFF2-40B4-BE49-F238E27FC236}">
                <a16:creationId xmlns:a16="http://schemas.microsoft.com/office/drawing/2014/main" id="{4A3241A9-D02C-48DA-AF8F-FA70C3755E03}"/>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An outer agent can invoke a specialist through a function boundary.</a:t>
            </a:r>
          </a:p>
        </p:txBody>
      </p:sp>
      <p:sp>
        <p:nvSpPr>
          <p:cNvPr id="7" name="label-1">
            <a:extLst xmlns:a="http://schemas.openxmlformats.org/drawingml/2006/main">
              <a:ext uri="{FF2B5EF4-FFF2-40B4-BE49-F238E27FC236}">
                <a16:creationId xmlns:a16="http://schemas.microsoft.com/office/drawing/2014/main" id="{D518705D-7FCD-45C2-8DAE-A60254C1808C}"/>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Contract</a:t>
            </a:r>
          </a:p>
        </p:txBody>
      </p:sp>
      <p:sp>
        <p:nvSpPr>
          <p:cNvPr id="8" name="point-1">
            <a:extLst xmlns:a="http://schemas.openxmlformats.org/drawingml/2006/main">
              <a:ext uri="{FF2B5EF4-FFF2-40B4-BE49-F238E27FC236}">
                <a16:creationId xmlns:a16="http://schemas.microsoft.com/office/drawing/2014/main" id="{641A7819-508B-4B5D-A717-587D2D6C0E19}"/>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Supply only the specialist's required input and permitted context.</a:t>
            </a:r>
          </a:p>
        </p:txBody>
      </p:sp>
      <p:sp>
        <p:nvSpPr>
          <p:cNvPr id="9" name="label-2">
            <a:extLst xmlns:a="http://schemas.openxmlformats.org/drawingml/2006/main">
              <a:ext uri="{FF2B5EF4-FFF2-40B4-BE49-F238E27FC236}">
                <a16:creationId xmlns:a16="http://schemas.microsoft.com/office/drawing/2014/main" id="{1BB85913-9A9E-466D-ADA9-DE701CC1A29A}"/>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State</a:t>
            </a:r>
          </a:p>
        </p:txBody>
      </p:sp>
      <p:sp>
        <p:nvSpPr>
          <p:cNvPr id="10" name="point-2">
            <a:extLst xmlns:a="http://schemas.openxmlformats.org/drawingml/2006/main">
              <a:ext uri="{FF2B5EF4-FFF2-40B4-BE49-F238E27FC236}">
                <a16:creationId xmlns:a16="http://schemas.microsoft.com/office/drawing/2014/main" id="{23713842-FCA8-4846-AA7A-2F35D1F1EBE0}"/>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Decide how conversation and evidence move between agents.</a:t>
            </a:r>
          </a:p>
        </p:txBody>
      </p:sp>
      <p:sp>
        <p:nvSpPr>
          <p:cNvPr id="11" name="label-3">
            <a:extLst xmlns:a="http://schemas.openxmlformats.org/drawingml/2006/main">
              <a:ext uri="{FF2B5EF4-FFF2-40B4-BE49-F238E27FC236}">
                <a16:creationId xmlns:a16="http://schemas.microsoft.com/office/drawing/2014/main" id="{9ADC0AA1-0FC8-454C-9AC4-C3D03E01C658}"/>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Limit</a:t>
            </a:r>
          </a:p>
        </p:txBody>
      </p:sp>
      <p:sp>
        <p:nvSpPr>
          <p:cNvPr id="12" name="point-3">
            <a:extLst xmlns:a="http://schemas.openxmlformats.org/drawingml/2006/main">
              <a:ext uri="{FF2B5EF4-FFF2-40B4-BE49-F238E27FC236}">
                <a16:creationId xmlns:a16="http://schemas.microsoft.com/office/drawing/2014/main" id="{73872C16-3E5B-40CB-8D7F-E2CF0D2ECA4A}"/>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Bound delegation depth, tool budget, and failure propagation.</a:t>
            </a:r>
          </a:p>
        </p:txBody>
      </p:sp>
    </p:spTree>
    <p:extLst>
      <p:ext uri="{BB962C8B-B14F-4D97-AF65-F5344CB8AC3E}">
        <p14:creationId xmlns:p14="http://schemas.microsoft.com/office/powerpoint/2010/main" val="391631037"/>
      </p:ext>
    </p:extLst>
  </p:cSld>
  <p:extLst>
    <p:ext uri="{6950BFC3-D8DA-4A85-94F7-54DA5524770B}">
      <p188:commentRel xmlns:r="http://schemas.openxmlformats.org/officeDocument/2006/relationships" xmlns:p188="http://schemas.microsoft.com/office/powerpoint/2018/8/main" r:id="Re21245b3d32e4f5d"/>
    </p:ext>
  </p:extLst>
</p:sld>
</file>

<file path=ppt/slides/slide5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context">
            <a:extLst xmlns:a="http://schemas.openxmlformats.org/drawingml/2006/main">
              <a:ext uri="{FF2B5EF4-FFF2-40B4-BE49-F238E27FC236}">
                <a16:creationId xmlns:a16="http://schemas.microsoft.com/office/drawing/2014/main" id="{CDE20FE3-1896-493F-A7C0-9EA6E1ACF064}"/>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Interoperability options</a:t>
            </a:r>
          </a:p>
        </p:txBody>
      </p:sp>
      <p:sp>
        <p:nvSpPr>
          <p:cNvPr id="2" name="title">
            <a:extLst xmlns:a="http://schemas.openxmlformats.org/drawingml/2006/main">
              <a:ext uri="{FF2B5EF4-FFF2-40B4-BE49-F238E27FC236}">
                <a16:creationId xmlns:a16="http://schemas.microsoft.com/office/drawing/2014/main" id="{328F4F86-EF4D-46C0-BB45-634B9D10B041}"/>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MCP, A2A, and AG-UI</a:t>
            </a:r>
          </a:p>
        </p:txBody>
      </p:sp>
      <p:sp>
        <p:nvSpPr>
          <p:cNvPr id="3" name="footer">
            <a:extLst xmlns:a="http://schemas.openxmlformats.org/drawingml/2006/main">
              <a:ext uri="{FF2B5EF4-FFF2-40B4-BE49-F238E27FC236}">
                <a16:creationId xmlns:a16="http://schemas.microsoft.com/office/drawing/2014/main" id="{B1815F24-663A-4B65-97FB-7AA9502E9317}"/>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06  Orchestration and interoperability</a:t>
            </a:r>
          </a:p>
        </p:txBody>
      </p:sp>
      <p:sp>
        <p:nvSpPr>
          <p:cNvPr id="4" name="page">
            <a:extLst xmlns:a="http://schemas.openxmlformats.org/drawingml/2006/main">
              <a:ext uri="{FF2B5EF4-FFF2-40B4-BE49-F238E27FC236}">
                <a16:creationId xmlns:a16="http://schemas.microsoft.com/office/drawing/2014/main" id="{A223F23B-82E5-49DD-8C70-C094ADC6C5AE}"/>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55</a:t>
            </a:r>
          </a:p>
        </p:txBody>
      </p:sp>
      <p:graphicFrame>
        <p:nvGraphicFramePr>
          <p:cNvPr id="5" name="">
            <a:extLst xmlns:a="http://schemas.openxmlformats.org/drawingml/2006/main">
              <a:ext uri="{FF2B5EF4-FFF2-40B4-BE49-F238E27FC236}">
                <a16:creationId xmlns:a16="http://schemas.microsoft.com/office/drawing/2014/main" id="{716CF454-941D-49C7-9870-543C2D0F8CE9}"/>
              </a:ext>
            </a:extLst>
          </p:cNvPr>
          <p:cNvGraphicFramePr/>
          <p:nvPr/>
        </p:nvGraphicFramePr>
        <p:xfrm>
          <a:off xmlns:a="http://schemas.openxmlformats.org/drawingml/2006/main" x="685800" y="1809750"/>
          <a:ext xmlns:a="http://schemas.openxmlformats.org/drawingml/2006/main" cx="10820400" cy="2324100"/>
        </p:xfrm>
        <a:graphic xmlns:a="http://schemas.openxmlformats.org/drawingml/2006/main">
          <a:graphicData uri="http://schemas.openxmlformats.org/drawingml/2006/table">
            <a:tbl>
              <a:tblPr/>
              <a:tblGrid>
                <a:gridCol w="1839468"/>
                <a:gridCol w="4328160"/>
                <a:gridCol w="4652772"/>
              </a:tblGrid>
              <a:tr h="552450">
                <a:tc>
                  <a:txBody>
                    <a:bodyPr/>
                    <a:lstStyle/>
                    <a:p>
                      <a:r>
                        <a:rPr sz="1725" b="1">
                          <a:solidFill>
                            <a:srgbClr val="FFFFFF"/>
                          </a:solidFill>
                          <a:latin typeface="Segoe UI"/>
                          <a:ea typeface="Segoe UI"/>
                          <a:cs typeface="Segoe UI"/>
                        </a:rPr>
                        <a:t>Protocol</a:t>
                      </a:r>
                    </a:p>
                  </a:txBody>
                  <a:tcPr marL="133350" marR="133350" marT="114300" marB="95250" anchor="t">
                    <a:lnL w="5715">
                      <a:solidFill>
                        <a:srgbClr val="DCE5EA"/>
                      </a:solidFill>
                      <a:prstDash val="solid"/>
                    </a:lnL>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Boundary</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InvoiceAI extension</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r>
              <a:tr h="590550">
                <a:tc>
                  <a:txBody>
                    <a:bodyPr/>
                    <a:lstStyle/>
                    <a:p>
                      <a:r>
                        <a:rPr sz="1725" b="0">
                          <a:solidFill>
                            <a:srgbClr val="34495B"/>
                          </a:solidFill>
                          <a:latin typeface="Segoe UI"/>
                          <a:ea typeface="Segoe UI"/>
                          <a:cs typeface="Segoe UI"/>
                        </a:rPr>
                        <a:t>MCP</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Agent to external tools and context</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An approved document or ERP connector</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590550">
                <a:tc>
                  <a:txBody>
                    <a:bodyPr/>
                    <a:lstStyle/>
                    <a:p>
                      <a:r>
                        <a:rPr sz="1725" b="0">
                          <a:solidFill>
                            <a:srgbClr val="34495B"/>
                          </a:solidFill>
                          <a:latin typeface="Segoe UI"/>
                          <a:ea typeface="Segoe UI"/>
                          <a:cs typeface="Segoe UI"/>
                        </a:rPr>
                        <a:t>A2A</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Application to a remote agent service</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A separately operated collections assistant</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r h="590550">
                <a:tc>
                  <a:txBody>
                    <a:bodyPr/>
                    <a:lstStyle/>
                    <a:p>
                      <a:r>
                        <a:rPr sz="1725" b="0">
                          <a:solidFill>
                            <a:srgbClr val="34495B"/>
                          </a:solidFill>
                          <a:latin typeface="Segoe UI"/>
                          <a:ea typeface="Segoe UI"/>
                          <a:cs typeface="Segoe UI"/>
                        </a:rPr>
                        <a:t>AG-UI</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Agent to interactive user interface</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Text, tool, approval, and state events</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bl>
          </a:graphicData>
        </a:graphic>
      </p:graphicFrame>
    </p:spTree>
    <p:extLst>
      <p:ext uri="{BB962C8B-B14F-4D97-AF65-F5344CB8AC3E}">
        <p14:creationId xmlns:p14="http://schemas.microsoft.com/office/powerpoint/2010/main" val="1098909637"/>
      </p:ext>
    </p:extLst>
  </p:cSld>
  <p:extLst>
    <p:ext uri="{6950BFC3-D8DA-4A85-94F7-54DA5524770B}">
      <p188:commentRel xmlns:r="http://schemas.openxmlformats.org/officeDocument/2006/relationships" xmlns:p188="http://schemas.microsoft.com/office/powerpoint/2018/8/main" r:id="R4e544306168440fa"/>
    </p:ext>
  </p:extLst>
</p:sld>
</file>

<file path=ppt/slides/slide5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F2982543-572D-4C8C-A33B-D9FC471A8F7B}"/>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Advanced extension</a:t>
            </a:r>
          </a:p>
        </p:txBody>
      </p:sp>
      <p:sp>
        <p:nvSpPr>
          <p:cNvPr id="2" name="title">
            <a:extLst xmlns:a="http://schemas.openxmlformats.org/drawingml/2006/main">
              <a:ext uri="{FF2B5EF4-FFF2-40B4-BE49-F238E27FC236}">
                <a16:creationId xmlns:a16="http://schemas.microsoft.com/office/drawing/2014/main" id="{7E53C6B4-3662-4E39-94B0-7280B68AF3E9}"/>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Skills and the Harness Agent</a:t>
            </a:r>
          </a:p>
        </p:txBody>
      </p:sp>
      <p:sp>
        <p:nvSpPr>
          <p:cNvPr id="3" name="footer">
            <a:extLst xmlns:a="http://schemas.openxmlformats.org/drawingml/2006/main">
              <a:ext uri="{FF2B5EF4-FFF2-40B4-BE49-F238E27FC236}">
                <a16:creationId xmlns:a16="http://schemas.microsoft.com/office/drawing/2014/main" id="{13BC2741-0F81-4E43-BD83-7B58704400A3}"/>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06  Orchestration and interoperability</a:t>
            </a:r>
          </a:p>
        </p:txBody>
      </p:sp>
      <p:sp>
        <p:nvSpPr>
          <p:cNvPr id="4" name="page">
            <a:extLst xmlns:a="http://schemas.openxmlformats.org/drawingml/2006/main">
              <a:ext uri="{FF2B5EF4-FFF2-40B4-BE49-F238E27FC236}">
                <a16:creationId xmlns:a16="http://schemas.microsoft.com/office/drawing/2014/main" id="{1BDC848B-7F51-45A5-A346-798F8772677F}"/>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56</a:t>
            </a:r>
          </a:p>
        </p:txBody>
      </p:sp>
      <p:sp>
        <p:nvSpPr>
          <p:cNvPr id="5" name="label-0">
            <a:extLst xmlns:a="http://schemas.openxmlformats.org/drawingml/2006/main">
              <a:ext uri="{FF2B5EF4-FFF2-40B4-BE49-F238E27FC236}">
                <a16:creationId xmlns:a16="http://schemas.microsoft.com/office/drawing/2014/main" id="{EEE8FAC8-F6B0-4D4C-8DCD-E04045B1612B}"/>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Skills</a:t>
            </a:r>
          </a:p>
        </p:txBody>
      </p:sp>
      <p:sp>
        <p:nvSpPr>
          <p:cNvPr id="6" name="point-0">
            <a:extLst xmlns:a="http://schemas.openxmlformats.org/drawingml/2006/main">
              <a:ext uri="{FF2B5EF4-FFF2-40B4-BE49-F238E27FC236}">
                <a16:creationId xmlns:a16="http://schemas.microsoft.com/office/drawing/2014/main" id="{60658204-A537-44DA-95C3-37844A2A0811}"/>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Package reusable domain instructions and resources.</a:t>
            </a:r>
          </a:p>
        </p:txBody>
      </p:sp>
      <p:sp>
        <p:nvSpPr>
          <p:cNvPr id="7" name="label-1">
            <a:extLst xmlns:a="http://schemas.openxmlformats.org/drawingml/2006/main">
              <a:ext uri="{FF2B5EF4-FFF2-40B4-BE49-F238E27FC236}">
                <a16:creationId xmlns:a16="http://schemas.microsoft.com/office/drawing/2014/main" id="{3C3F66AC-45B3-4E43-B098-8C4EA1E7C753}"/>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Harness</a:t>
            </a:r>
          </a:p>
        </p:txBody>
      </p:sp>
      <p:sp>
        <p:nvSpPr>
          <p:cNvPr id="8" name="point-1">
            <a:extLst xmlns:a="http://schemas.openxmlformats.org/drawingml/2006/main">
              <a:ext uri="{FF2B5EF4-FFF2-40B4-BE49-F238E27FC236}">
                <a16:creationId xmlns:a16="http://schemas.microsoft.com/office/drawing/2014/main" id="{9A97BA9A-7848-402F-A4F4-FCF9781ADA70}"/>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Add planning, task tracking, compaction, and controlled file capabilities.</a:t>
            </a:r>
          </a:p>
        </p:txBody>
      </p:sp>
      <p:sp>
        <p:nvSpPr>
          <p:cNvPr id="9" name="label-2">
            <a:extLst xmlns:a="http://schemas.openxmlformats.org/drawingml/2006/main">
              <a:ext uri="{FF2B5EF4-FFF2-40B4-BE49-F238E27FC236}">
                <a16:creationId xmlns:a16="http://schemas.microsoft.com/office/drawing/2014/main" id="{88946CC7-8E88-465C-B34E-D72AF45E14E9}"/>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Scope</a:t>
            </a:r>
          </a:p>
        </p:txBody>
      </p:sp>
      <p:sp>
        <p:nvSpPr>
          <p:cNvPr id="10" name="point-2">
            <a:extLst xmlns:a="http://schemas.openxmlformats.org/drawingml/2006/main">
              <a:ext uri="{FF2B5EF4-FFF2-40B4-BE49-F238E27FC236}">
                <a16:creationId xmlns:a16="http://schemas.microsoft.com/office/drawing/2014/main" id="{93152B87-2340-40DA-9543-57AE6B3F4270}"/>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Review extra autonomy against the business requirement.</a:t>
            </a:r>
          </a:p>
        </p:txBody>
      </p:sp>
      <p:sp>
        <p:nvSpPr>
          <p:cNvPr id="11" name="label-3">
            <a:extLst xmlns:a="http://schemas.openxmlformats.org/drawingml/2006/main">
              <a:ext uri="{FF2B5EF4-FFF2-40B4-BE49-F238E27FC236}">
                <a16:creationId xmlns:a16="http://schemas.microsoft.com/office/drawing/2014/main" id="{0EB29BEB-B374-44FE-9B40-FDACE5FCDC61}"/>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InvoiceAI</a:t>
            </a:r>
          </a:p>
        </p:txBody>
      </p:sp>
      <p:sp>
        <p:nvSpPr>
          <p:cNvPr id="12" name="point-3">
            <a:extLst xmlns:a="http://schemas.openxmlformats.org/drawingml/2006/main">
              <a:ext uri="{FF2B5EF4-FFF2-40B4-BE49-F238E27FC236}">
                <a16:creationId xmlns:a16="http://schemas.microsoft.com/office/drawing/2014/main" id="{FCD2168A-DE99-4E78-A7C5-1AF38F5992CA}"/>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Keep the billing workflow narrow before adding general task execution.</a:t>
            </a:r>
          </a:p>
        </p:txBody>
      </p:sp>
    </p:spTree>
    <p:extLst>
      <p:ext uri="{BB962C8B-B14F-4D97-AF65-F5344CB8AC3E}">
        <p14:creationId xmlns:p14="http://schemas.microsoft.com/office/powerpoint/2010/main" val="807246541"/>
      </p:ext>
    </p:extLst>
  </p:cSld>
  <p:extLst>
    <p:ext uri="{6950BFC3-D8DA-4A85-94F7-54DA5524770B}">
      <p188:commentRel xmlns:r="http://schemas.openxmlformats.org/officeDocument/2006/relationships" xmlns:p188="http://schemas.microsoft.com/office/powerpoint/2018/8/main" r:id="R611900f53fc147c7"/>
    </p:ext>
  </p:extLst>
</p:sld>
</file>

<file path=ppt/slides/slide5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4" name="context">
            <a:extLst xmlns:a="http://schemas.openxmlformats.org/drawingml/2006/main">
              <a:ext uri="{FF2B5EF4-FFF2-40B4-BE49-F238E27FC236}">
                <a16:creationId xmlns:a16="http://schemas.microsoft.com/office/drawing/2014/main" id="{A77C6F10-8CA0-4297-A1B6-53B47839D685}"/>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Lab target</a:t>
            </a:r>
          </a:p>
        </p:txBody>
      </p:sp>
      <p:sp>
        <p:nvSpPr>
          <p:cNvPr id="2" name="title">
            <a:extLst xmlns:a="http://schemas.openxmlformats.org/drawingml/2006/main">
              <a:ext uri="{FF2B5EF4-FFF2-40B4-BE49-F238E27FC236}">
                <a16:creationId xmlns:a16="http://schemas.microsoft.com/office/drawing/2014/main" id="{FED56642-1C57-4AB7-B2F6-DC264895EBD2}"/>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Lab 06: a bounded workflow</a:t>
            </a:r>
          </a:p>
        </p:txBody>
      </p:sp>
      <p:sp>
        <p:nvSpPr>
          <p:cNvPr id="3" name="footer">
            <a:extLst xmlns:a="http://schemas.openxmlformats.org/drawingml/2006/main">
              <a:ext uri="{FF2B5EF4-FFF2-40B4-BE49-F238E27FC236}">
                <a16:creationId xmlns:a16="http://schemas.microsoft.com/office/drawing/2014/main" id="{03B153A6-8D7D-4DD8-806C-60C745AE20F4}"/>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06  Orchestration and interoperability</a:t>
            </a:r>
          </a:p>
        </p:txBody>
      </p:sp>
      <p:sp>
        <p:nvSpPr>
          <p:cNvPr id="4" name="page">
            <a:extLst xmlns:a="http://schemas.openxmlformats.org/drawingml/2006/main">
              <a:ext uri="{FF2B5EF4-FFF2-40B4-BE49-F238E27FC236}">
                <a16:creationId xmlns:a16="http://schemas.microsoft.com/office/drawing/2014/main" id="{5DB05D2F-423F-471D-8772-FC118040E26F}"/>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57</a:t>
            </a:r>
          </a:p>
        </p:txBody>
      </p:sp>
      <p:sp>
        <p:nvSpPr>
          <p:cNvPr id="5" name="implementation">
            <a:extLst xmlns:a="http://schemas.openxmlformats.org/drawingml/2006/main">
              <a:ext uri="{FF2B5EF4-FFF2-40B4-BE49-F238E27FC236}">
                <a16:creationId xmlns:a16="http://schemas.microsoft.com/office/drawing/2014/main" id="{660FFF8D-72F9-445F-9806-90A839BA8D9B}"/>
              </a:ext>
            </a:extLst>
          </p:cNvPr>
          <p:cNvSpPr>
            <a:spLocks xmlns:a="http://schemas.openxmlformats.org/drawingml/2006/main" noGrp="1"/>
          </p:cNvSpPr>
          <p:nvPr/>
        </p:nvSpPr>
        <p:spPr>
          <a:xfrm xmlns:a="http://schemas.openxmlformats.org/drawingml/2006/main">
            <a:off x="685800" y="1857375"/>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Implementation</a:t>
            </a:r>
          </a:p>
        </p:txBody>
      </p:sp>
      <p:sp>
        <p:nvSpPr>
          <p:cNvPr id="6" name="acceptance">
            <a:extLst xmlns:a="http://schemas.openxmlformats.org/drawingml/2006/main">
              <a:ext uri="{FF2B5EF4-FFF2-40B4-BE49-F238E27FC236}">
                <a16:creationId xmlns:a16="http://schemas.microsoft.com/office/drawing/2014/main" id="{35B1DB0F-8A9E-4127-BC9E-E72C9F51A0E1}"/>
              </a:ext>
            </a:extLst>
          </p:cNvPr>
          <p:cNvSpPr>
            <a:spLocks xmlns:a="http://schemas.openxmlformats.org/drawingml/2006/main" noGrp="1"/>
          </p:cNvSpPr>
          <p:nvPr/>
        </p:nvSpPr>
        <p:spPr>
          <a:xfrm xmlns:a="http://schemas.openxmlformats.org/drawingml/2006/main">
            <a:off x="7477125" y="1857375"/>
            <a:ext cx="4029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Acceptance</a:t>
            </a:r>
          </a:p>
        </p:txBody>
      </p:sp>
      <p:sp>
        <p:nvSpPr>
          <p:cNvPr id="7" name="task-0">
            <a:extLst xmlns:a="http://schemas.openxmlformats.org/drawingml/2006/main">
              <a:ext uri="{FF2B5EF4-FFF2-40B4-BE49-F238E27FC236}">
                <a16:creationId xmlns:a16="http://schemas.microsoft.com/office/drawing/2014/main" id="{5CF2E87C-5E94-4A6B-8441-4AD2806C417C}"/>
              </a:ext>
            </a:extLst>
          </p:cNvPr>
          <p:cNvSpPr>
            <a:spLocks xmlns:a="http://schemas.openxmlformats.org/drawingml/2006/main" noGrp="1"/>
          </p:cNvSpPr>
          <p:nvPr/>
        </p:nvSpPr>
        <p:spPr>
          <a:xfrm xmlns:a="http://schemas.openxmlformats.org/drawingml/2006/main">
            <a:off x="685800" y="2476500"/>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1. Build a typed read, proposal, and review sequence.</a:t>
            </a:r>
          </a:p>
        </p:txBody>
      </p:sp>
      <p:sp>
        <p:nvSpPr>
          <p:cNvPr id="8" name="task-1">
            <a:extLst xmlns:a="http://schemas.openxmlformats.org/drawingml/2006/main">
              <a:ext uri="{FF2B5EF4-FFF2-40B4-BE49-F238E27FC236}">
                <a16:creationId xmlns:a16="http://schemas.microsoft.com/office/drawing/2014/main" id="{455A644D-D9BE-4F85-9F28-5B9AB4763FD6}"/>
              </a:ext>
            </a:extLst>
          </p:cNvPr>
          <p:cNvSpPr>
            <a:spLocks xmlns:a="http://schemas.openxmlformats.org/drawingml/2006/main" noGrp="1"/>
          </p:cNvSpPr>
          <p:nvPr/>
        </p:nvSpPr>
        <p:spPr>
          <a:xfrm xmlns:a="http://schemas.openxmlformats.org/drawingml/2006/main">
            <a:off x="685800" y="3495675"/>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2. Define explicit success, rejection, and failure outputs.</a:t>
            </a:r>
          </a:p>
        </p:txBody>
      </p:sp>
      <p:sp>
        <p:nvSpPr>
          <p:cNvPr id="9" name="task-2">
            <a:extLst xmlns:a="http://schemas.openxmlformats.org/drawingml/2006/main">
              <a:ext uri="{FF2B5EF4-FFF2-40B4-BE49-F238E27FC236}">
                <a16:creationId xmlns:a16="http://schemas.microsoft.com/office/drawing/2014/main" id="{1D50FE13-9B58-4F83-A7D0-55A118BC6471}"/>
              </a:ext>
            </a:extLst>
          </p:cNvPr>
          <p:cNvSpPr>
            <a:spLocks xmlns:a="http://schemas.openxmlformats.org/drawingml/2006/main" noGrp="1"/>
          </p:cNvSpPr>
          <p:nvPr/>
        </p:nvSpPr>
        <p:spPr>
          <a:xfrm xmlns:a="http://schemas.openxmlformats.org/drawingml/2006/main">
            <a:off x="685800" y="4514850"/>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3. Pause for a decision and exercise a resume path.</a:t>
            </a:r>
          </a:p>
        </p:txBody>
      </p:sp>
      <p:sp>
        <p:nvSpPr>
          <p:cNvPr id="10" name="criterion-0">
            <a:extLst xmlns:a="http://schemas.openxmlformats.org/drawingml/2006/main">
              <a:ext uri="{FF2B5EF4-FFF2-40B4-BE49-F238E27FC236}">
                <a16:creationId xmlns:a16="http://schemas.microsoft.com/office/drawing/2014/main" id="{54628D65-E489-4C20-B597-B6CBADE13B3F}"/>
              </a:ext>
            </a:extLst>
          </p:cNvPr>
          <p:cNvSpPr>
            <a:spLocks xmlns:a="http://schemas.openxmlformats.org/drawingml/2006/main" noGrp="1"/>
          </p:cNvSpPr>
          <p:nvPr/>
        </p:nvSpPr>
        <p:spPr>
          <a:xfrm xmlns:a="http://schemas.openxmlformats.org/drawingml/2006/main">
            <a:off x="7477125" y="2476500"/>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An unapproved proposal performs no write.</a:t>
            </a:r>
          </a:p>
        </p:txBody>
      </p:sp>
      <p:sp>
        <p:nvSpPr>
          <p:cNvPr id="11" name="criterion-1">
            <a:extLst xmlns:a="http://schemas.openxmlformats.org/drawingml/2006/main">
              <a:ext uri="{FF2B5EF4-FFF2-40B4-BE49-F238E27FC236}">
                <a16:creationId xmlns:a16="http://schemas.microsoft.com/office/drawing/2014/main" id="{406E1DD6-C693-48B5-AA06-5DE65C558157}"/>
              </a:ext>
            </a:extLst>
          </p:cNvPr>
          <p:cNvSpPr>
            <a:spLocks xmlns:a="http://schemas.openxmlformats.org/drawingml/2006/main" noGrp="1"/>
          </p:cNvSpPr>
          <p:nvPr/>
        </p:nvSpPr>
        <p:spPr>
          <a:xfrm xmlns:a="http://schemas.openxmlformats.org/drawingml/2006/main">
            <a:off x="7477125" y="3495675"/>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The workflow has a bounded completion condition.</a:t>
            </a:r>
          </a:p>
        </p:txBody>
      </p:sp>
      <p:sp>
        <p:nvSpPr>
          <p:cNvPr id="12" name="criterion-2">
            <a:extLst xmlns:a="http://schemas.openxmlformats.org/drawingml/2006/main">
              <a:ext uri="{FF2B5EF4-FFF2-40B4-BE49-F238E27FC236}">
                <a16:creationId xmlns:a16="http://schemas.microsoft.com/office/drawing/2014/main" id="{4C1AAF6A-835F-4E18-87E5-1C2397FB6E04}"/>
              </a:ext>
            </a:extLst>
          </p:cNvPr>
          <p:cNvSpPr>
            <a:spLocks xmlns:a="http://schemas.openxmlformats.org/drawingml/2006/main" noGrp="1"/>
          </p:cNvSpPr>
          <p:nvPr/>
        </p:nvSpPr>
        <p:spPr>
          <a:xfrm xmlns:a="http://schemas.openxmlformats.org/drawingml/2006/main">
            <a:off x="7477125" y="4514850"/>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A resumed action rechecks mutable business facts.</a:t>
            </a:r>
          </a:p>
        </p:txBody>
      </p:sp>
      <p:sp>
        <p:nvSpPr>
          <p:cNvPr id="13" name="lab-time">
            <a:extLst xmlns:a="http://schemas.openxmlformats.org/drawingml/2006/main">
              <a:ext uri="{FF2B5EF4-FFF2-40B4-BE49-F238E27FC236}">
                <a16:creationId xmlns:a16="http://schemas.microsoft.com/office/drawing/2014/main" id="{539AEC8B-E81B-482A-8481-8D3D8B5CD565}"/>
              </a:ext>
            </a:extLst>
          </p:cNvPr>
          <p:cNvSpPr>
            <a:spLocks xmlns:a="http://schemas.openxmlformats.org/drawingml/2006/main" noGrp="1"/>
          </p:cNvSpPr>
          <p:nvPr/>
        </p:nvSpPr>
        <p:spPr>
          <a:xfrm xmlns:a="http://schemas.openxmlformats.org/drawingml/2006/main">
            <a:off x="685800" y="588645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17384"/>
                </a:solidFill>
                <a:latin typeface="Segoe UI"/>
                <a:ea typeface="Segoe UI"/>
                <a:cs typeface="Segoe UI"/>
              </a:defRPr>
            </a:defPPr>
            <a:lvl1pPr algn="l">
              <a:defRPr sz="1500" b="0">
                <a:solidFill>
                  <a:srgbClr val="617384"/>
                </a:solidFill>
                <a:latin typeface="Segoe UI"/>
                <a:ea typeface="Segoe UI"/>
                <a:cs typeface="Segoe UI"/>
              </a:defRPr>
            </a:lvl1pPr>
            <a:lvl2pPr algn="l">
              <a:defRPr sz="1500" b="0">
                <a:solidFill>
                  <a:srgbClr val="617384"/>
                </a:solidFill>
                <a:latin typeface="Segoe UI"/>
                <a:ea typeface="Segoe UI"/>
                <a:cs typeface="Segoe UI"/>
              </a:defRPr>
            </a:lvl2pPr>
            <a:lvl3pPr algn="l">
              <a:defRPr sz="1500" b="0">
                <a:solidFill>
                  <a:srgbClr val="617384"/>
                </a:solidFill>
                <a:latin typeface="Segoe UI"/>
                <a:ea typeface="Segoe UI"/>
                <a:cs typeface="Segoe UI"/>
              </a:defRPr>
            </a:lvl3pPr>
            <a:lvl4pPr algn="l">
              <a:defRPr sz="1500" b="0">
                <a:solidFill>
                  <a:srgbClr val="617384"/>
                </a:solidFill>
                <a:latin typeface="Segoe UI"/>
                <a:ea typeface="Segoe UI"/>
                <a:cs typeface="Segoe UI"/>
              </a:defRPr>
            </a:lvl4pPr>
            <a:lvl5pPr algn="l">
              <a:defRPr sz="1500" b="0">
                <a:solidFill>
                  <a:srgbClr val="617384"/>
                </a:solidFill>
                <a:latin typeface="Segoe UI"/>
                <a:ea typeface="Segoe UI"/>
                <a:cs typeface="Segoe UI"/>
              </a:defRPr>
            </a:lvl5pPr>
            <a:lvl6pPr algn="l">
              <a:defRPr sz="1500" b="0">
                <a:solidFill>
                  <a:srgbClr val="617384"/>
                </a:solidFill>
                <a:latin typeface="Segoe UI"/>
                <a:ea typeface="Segoe UI"/>
                <a:cs typeface="Segoe UI"/>
              </a:defRPr>
            </a:lvl6pPr>
            <a:lvl7pPr algn="l">
              <a:defRPr sz="1500" b="0">
                <a:solidFill>
                  <a:srgbClr val="617384"/>
                </a:solidFill>
                <a:latin typeface="Segoe UI"/>
                <a:ea typeface="Segoe UI"/>
                <a:cs typeface="Segoe UI"/>
              </a:defRPr>
            </a:lvl7pPr>
            <a:lvl8pPr algn="l">
              <a:defRPr sz="1500" b="0">
                <a:solidFill>
                  <a:srgbClr val="617384"/>
                </a:solidFill>
                <a:latin typeface="Segoe UI"/>
                <a:ea typeface="Segoe UI"/>
                <a:cs typeface="Segoe UI"/>
              </a:defRPr>
            </a:lvl8pPr>
            <a:lvl9pPr algn="l">
              <a:defRPr sz="1500" b="0">
                <a:solidFill>
                  <a:srgbClr val="617384"/>
                </a:solidFill>
                <a:latin typeface="Segoe UI"/>
                <a:ea typeface="Segoe UI"/>
                <a:cs typeface="Segoe UI"/>
              </a:defRPr>
            </a:lvl9pPr>
          </a:lstStyle>
          <a:p xmlns:a="http://schemas.openxmlformats.org/drawingml/2006/main">
            <a:pPr algn="l">
              <a:defRPr sz="1500" b="0">
                <a:solidFill>
                  <a:srgbClr val="617384"/>
                </a:solidFill>
                <a:latin typeface="Segoe UI"/>
                <a:ea typeface="Segoe UI"/>
                <a:cs typeface="Segoe UI"/>
              </a:defRPr>
            </a:pPr>
            <a:r>
              <a:rPr sz="1500" b="0">
                <a:solidFill>
                  <a:srgbClr val="617384"/>
                </a:solidFill>
                <a:latin typeface="Segoe UI"/>
                <a:ea typeface="Segoe UI"/>
                <a:cs typeface="Segoe UI"/>
              </a:rPr>
              <a:t>Suggested lab work: 70 minutes. Review the evidence before continuing.</a:t>
            </a:r>
          </a:p>
        </p:txBody>
      </p:sp>
    </p:spTree>
    <p:extLst>
      <p:ext uri="{BB962C8B-B14F-4D97-AF65-F5344CB8AC3E}">
        <p14:creationId xmlns:p14="http://schemas.microsoft.com/office/powerpoint/2010/main" val="1172253543"/>
      </p:ext>
    </p:extLst>
  </p:cSld>
  <p:extLst>
    <p:ext uri="{6950BFC3-D8DA-4A85-94F7-54DA5524770B}">
      <p188:commentRel xmlns:r="http://schemas.openxmlformats.org/officeDocument/2006/relationships" xmlns:p188="http://schemas.microsoft.com/office/powerpoint/2018/8/main" r:id="Red79523f8e9f4274"/>
    </p:ext>
  </p:extLst>
</p:sld>
</file>

<file path=ppt/slides/slide58.xml><?xml version="1.0" encoding="utf-8"?>
<p:sld xmlns:p="http://schemas.openxmlformats.org/presentationml/2006/main">
  <p:cSld>
    <p:bg>
      <p:bgPr>
        <a:solidFill xmlns:a="http://schemas.openxmlformats.org/drawingml/2006/main">
          <a:srgbClr val="06182B"/>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5A2C8EE-65EE-4615-AF33-46C69A3DE9F6}"/>
              </a:ext>
            </a:extLst>
          </p:cNvPr>
          <p:cNvPicPr>
            <a:picLocks xmlns:a="http://schemas.openxmlformats.org/drawingml/2006/main" noChangeAspect="1"/>
          </p:cNvPicPr>
          <p:nvPr/>
        </p:nvPicPr>
        <p:blipFill>
          <a:blip xmlns:r="http://schemas.openxmlformats.org/officeDocument/2006/relationships" xmlns:a="http://schemas.openxmlformats.org/drawingml/2006/main" r:embed="Rb926378426f14fd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ntext">
            <a:extLst xmlns:a="http://schemas.openxmlformats.org/drawingml/2006/main">
              <a:ext uri="{FF2B5EF4-FFF2-40B4-BE49-F238E27FC236}">
                <a16:creationId xmlns:a16="http://schemas.microsoft.com/office/drawing/2014/main" id="{00276829-F132-42E6-87F8-515C92192BC7}"/>
              </a:ext>
            </a:extLst>
          </p:cNvPr>
          <p:cNvSpPr>
            <a:spLocks xmlns:a="http://schemas.openxmlformats.org/drawingml/2006/main" noGrp="1"/>
          </p:cNvSpPr>
          <p:nvPr/>
        </p:nvSpPr>
        <p:spPr>
          <a:xfrm xmlns:a="http://schemas.openxmlformats.org/drawingml/2006/main">
            <a:off x="647700" y="95250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73DEDC"/>
                </a:solidFill>
                <a:latin typeface="Segoe UI"/>
                <a:ea typeface="Segoe UI"/>
                <a:cs typeface="Segoe UI"/>
              </a:defRPr>
            </a:defPPr>
            <a:lvl1pPr algn="l">
              <a:defRPr sz="1500" b="1">
                <a:solidFill>
                  <a:srgbClr val="73DEDC"/>
                </a:solidFill>
                <a:latin typeface="Segoe UI"/>
                <a:ea typeface="Segoe UI"/>
                <a:cs typeface="Segoe UI"/>
              </a:defRPr>
            </a:lvl1pPr>
            <a:lvl2pPr algn="l">
              <a:defRPr sz="1500" b="1">
                <a:solidFill>
                  <a:srgbClr val="73DEDC"/>
                </a:solidFill>
                <a:latin typeface="Segoe UI"/>
                <a:ea typeface="Segoe UI"/>
                <a:cs typeface="Segoe UI"/>
              </a:defRPr>
            </a:lvl2pPr>
            <a:lvl3pPr algn="l">
              <a:defRPr sz="1500" b="1">
                <a:solidFill>
                  <a:srgbClr val="73DEDC"/>
                </a:solidFill>
                <a:latin typeface="Segoe UI"/>
                <a:ea typeface="Segoe UI"/>
                <a:cs typeface="Segoe UI"/>
              </a:defRPr>
            </a:lvl3pPr>
            <a:lvl4pPr algn="l">
              <a:defRPr sz="1500" b="1">
                <a:solidFill>
                  <a:srgbClr val="73DEDC"/>
                </a:solidFill>
                <a:latin typeface="Segoe UI"/>
                <a:ea typeface="Segoe UI"/>
                <a:cs typeface="Segoe UI"/>
              </a:defRPr>
            </a:lvl4pPr>
            <a:lvl5pPr algn="l">
              <a:defRPr sz="1500" b="1">
                <a:solidFill>
                  <a:srgbClr val="73DEDC"/>
                </a:solidFill>
                <a:latin typeface="Segoe UI"/>
                <a:ea typeface="Segoe UI"/>
                <a:cs typeface="Segoe UI"/>
              </a:defRPr>
            </a:lvl5pPr>
            <a:lvl6pPr algn="l">
              <a:defRPr sz="1500" b="1">
                <a:solidFill>
                  <a:srgbClr val="73DEDC"/>
                </a:solidFill>
                <a:latin typeface="Segoe UI"/>
                <a:ea typeface="Segoe UI"/>
                <a:cs typeface="Segoe UI"/>
              </a:defRPr>
            </a:lvl6pPr>
            <a:lvl7pPr algn="l">
              <a:defRPr sz="1500" b="1">
                <a:solidFill>
                  <a:srgbClr val="73DEDC"/>
                </a:solidFill>
                <a:latin typeface="Segoe UI"/>
                <a:ea typeface="Segoe UI"/>
                <a:cs typeface="Segoe UI"/>
              </a:defRPr>
            </a:lvl7pPr>
            <a:lvl8pPr algn="l">
              <a:defRPr sz="1500" b="1">
                <a:solidFill>
                  <a:srgbClr val="73DEDC"/>
                </a:solidFill>
                <a:latin typeface="Segoe UI"/>
                <a:ea typeface="Segoe UI"/>
                <a:cs typeface="Segoe UI"/>
              </a:defRPr>
            </a:lvl8pPr>
            <a:lvl9pPr algn="l">
              <a:defRPr sz="1500" b="1">
                <a:solidFill>
                  <a:srgbClr val="73DEDC"/>
                </a:solidFill>
                <a:latin typeface="Segoe UI"/>
                <a:ea typeface="Segoe UI"/>
                <a:cs typeface="Segoe UI"/>
              </a:defRPr>
            </a:lvl9pPr>
          </a:lstStyle>
          <a:p xmlns:a="http://schemas.openxmlformats.org/drawingml/2006/main">
            <a:pPr algn="l">
              <a:defRPr sz="1500" b="1">
                <a:solidFill>
                  <a:srgbClr val="73DEDC"/>
                </a:solidFill>
                <a:latin typeface="Segoe UI"/>
                <a:ea typeface="Segoe UI"/>
                <a:cs typeface="Segoe UI"/>
              </a:defRPr>
            </a:pPr>
            <a:r>
              <a:rPr sz="1500" b="1">
                <a:solidFill>
                  <a:srgbClr val="73DEDC"/>
                </a:solidFill>
                <a:latin typeface="Segoe UI"/>
                <a:ea typeface="Segoe UI"/>
                <a:cs typeface="Segoe UI"/>
              </a:rPr>
              <a:t>MODULE 07</a:t>
            </a:r>
          </a:p>
        </p:txBody>
      </p:sp>
      <p:sp>
        <p:nvSpPr>
          <p:cNvPr id="3" name="title">
            <a:extLst xmlns:a="http://schemas.openxmlformats.org/drawingml/2006/main">
              <a:ext uri="{FF2B5EF4-FFF2-40B4-BE49-F238E27FC236}">
                <a16:creationId xmlns:a16="http://schemas.microsoft.com/office/drawing/2014/main" id="{2F672822-0120-418E-AED6-1A0372060DBF}"/>
              </a:ext>
            </a:extLst>
          </p:cNvPr>
          <p:cNvSpPr>
            <a:spLocks xmlns:a="http://schemas.openxmlformats.org/drawingml/2006/main" noGrp="1"/>
          </p:cNvSpPr>
          <p:nvPr/>
        </p:nvSpPr>
        <p:spPr>
          <a:xfrm xmlns:a="http://schemas.openxmlformats.org/drawingml/2006/main">
            <a:off x="647700" y="1809750"/>
            <a:ext cx="6858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Segoe UI"/>
                <a:ea typeface="Segoe UI"/>
                <a:cs typeface="Segoe UI"/>
              </a:defRPr>
            </a:defPPr>
            <a:lvl1pPr algn="l">
              <a:defRPr sz="3900" b="1">
                <a:solidFill>
                  <a:srgbClr val="FFFFFF"/>
                </a:solidFill>
                <a:latin typeface="Segoe UI"/>
                <a:ea typeface="Segoe UI"/>
                <a:cs typeface="Segoe UI"/>
              </a:defRPr>
            </a:lvl1pPr>
            <a:lvl2pPr algn="l">
              <a:defRPr sz="3900" b="1">
                <a:solidFill>
                  <a:srgbClr val="FFFFFF"/>
                </a:solidFill>
                <a:latin typeface="Segoe UI"/>
                <a:ea typeface="Segoe UI"/>
                <a:cs typeface="Segoe UI"/>
              </a:defRPr>
            </a:lvl2pPr>
            <a:lvl3pPr algn="l">
              <a:defRPr sz="3900" b="1">
                <a:solidFill>
                  <a:srgbClr val="FFFFFF"/>
                </a:solidFill>
                <a:latin typeface="Segoe UI"/>
                <a:ea typeface="Segoe UI"/>
                <a:cs typeface="Segoe UI"/>
              </a:defRPr>
            </a:lvl3pPr>
            <a:lvl4pPr algn="l">
              <a:defRPr sz="3900" b="1">
                <a:solidFill>
                  <a:srgbClr val="FFFFFF"/>
                </a:solidFill>
                <a:latin typeface="Segoe UI"/>
                <a:ea typeface="Segoe UI"/>
                <a:cs typeface="Segoe UI"/>
              </a:defRPr>
            </a:lvl4pPr>
            <a:lvl5pPr algn="l">
              <a:defRPr sz="3900" b="1">
                <a:solidFill>
                  <a:srgbClr val="FFFFFF"/>
                </a:solidFill>
                <a:latin typeface="Segoe UI"/>
                <a:ea typeface="Segoe UI"/>
                <a:cs typeface="Segoe UI"/>
              </a:defRPr>
            </a:lvl5pPr>
            <a:lvl6pPr algn="l">
              <a:defRPr sz="3900" b="1">
                <a:solidFill>
                  <a:srgbClr val="FFFFFF"/>
                </a:solidFill>
                <a:latin typeface="Segoe UI"/>
                <a:ea typeface="Segoe UI"/>
                <a:cs typeface="Segoe UI"/>
              </a:defRPr>
            </a:lvl6pPr>
            <a:lvl7pPr algn="l">
              <a:defRPr sz="3900" b="1">
                <a:solidFill>
                  <a:srgbClr val="FFFFFF"/>
                </a:solidFill>
                <a:latin typeface="Segoe UI"/>
                <a:ea typeface="Segoe UI"/>
                <a:cs typeface="Segoe UI"/>
              </a:defRPr>
            </a:lvl7pPr>
            <a:lvl8pPr algn="l">
              <a:defRPr sz="3900" b="1">
                <a:solidFill>
                  <a:srgbClr val="FFFFFF"/>
                </a:solidFill>
                <a:latin typeface="Segoe UI"/>
                <a:ea typeface="Segoe UI"/>
                <a:cs typeface="Segoe UI"/>
              </a:defRPr>
            </a:lvl8pPr>
            <a:lvl9pPr algn="l">
              <a:defRPr sz="3900" b="1">
                <a:solidFill>
                  <a:srgbClr val="FFFFFF"/>
                </a:solidFill>
                <a:latin typeface="Segoe UI"/>
                <a:ea typeface="Segoe UI"/>
                <a:cs typeface="Segoe UI"/>
              </a:defRPr>
            </a:lvl9pPr>
          </a:lstStyle>
          <a:p xmlns:a="http://schemas.openxmlformats.org/drawingml/2006/main">
            <a:pPr algn="l">
              <a:defRPr sz="3900" b="1">
                <a:solidFill>
                  <a:srgbClr val="FFFFFF"/>
                </a:solidFill>
                <a:latin typeface="Segoe UI"/>
                <a:ea typeface="Segoe UI"/>
                <a:cs typeface="Segoe UI"/>
              </a:defRPr>
            </a:pPr>
            <a:r>
              <a:rPr sz="3900" b="1">
                <a:solidFill>
                  <a:srgbClr val="FFFFFF"/>
                </a:solidFill>
                <a:latin typeface="Segoe UI"/>
                <a:ea typeface="Segoe UI"/>
                <a:cs typeface="Segoe UI"/>
              </a:rPr>
              <a:t>ASP.NET Core and user experience</a:t>
            </a:r>
          </a:p>
        </p:txBody>
      </p:sp>
      <p:sp>
        <p:nvSpPr>
          <p:cNvPr id="4" name="subtitle">
            <a:extLst xmlns:a="http://schemas.openxmlformats.org/drawingml/2006/main">
              <a:ext uri="{FF2B5EF4-FFF2-40B4-BE49-F238E27FC236}">
                <a16:creationId xmlns:a16="http://schemas.microsoft.com/office/drawing/2014/main" id="{97C99DD3-E004-4B79-ADD9-213CB9F17230}"/>
              </a:ext>
            </a:extLst>
          </p:cNvPr>
          <p:cNvSpPr>
            <a:spLocks xmlns:a="http://schemas.openxmlformats.org/drawingml/2006/main" noGrp="1"/>
          </p:cNvSpPr>
          <p:nvPr/>
        </p:nvSpPr>
        <p:spPr>
          <a:xfrm xmlns:a="http://schemas.openxmlformats.org/drawingml/2006/main">
            <a:off x="647700" y="4000500"/>
            <a:ext cx="619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D9E6F0"/>
                </a:solidFill>
                <a:latin typeface="Segoe UI"/>
                <a:ea typeface="Segoe UI"/>
                <a:cs typeface="Segoe UI"/>
              </a:defRPr>
            </a:defPPr>
            <a:lvl1pPr algn="l">
              <a:defRPr sz="2025" b="0">
                <a:solidFill>
                  <a:srgbClr val="D9E6F0"/>
                </a:solidFill>
                <a:latin typeface="Segoe UI"/>
                <a:ea typeface="Segoe UI"/>
                <a:cs typeface="Segoe UI"/>
              </a:defRPr>
            </a:lvl1pPr>
            <a:lvl2pPr algn="l">
              <a:defRPr sz="2025" b="0">
                <a:solidFill>
                  <a:srgbClr val="D9E6F0"/>
                </a:solidFill>
                <a:latin typeface="Segoe UI"/>
                <a:ea typeface="Segoe UI"/>
                <a:cs typeface="Segoe UI"/>
              </a:defRPr>
            </a:lvl2pPr>
            <a:lvl3pPr algn="l">
              <a:defRPr sz="2025" b="0">
                <a:solidFill>
                  <a:srgbClr val="D9E6F0"/>
                </a:solidFill>
                <a:latin typeface="Segoe UI"/>
                <a:ea typeface="Segoe UI"/>
                <a:cs typeface="Segoe UI"/>
              </a:defRPr>
            </a:lvl3pPr>
            <a:lvl4pPr algn="l">
              <a:defRPr sz="2025" b="0">
                <a:solidFill>
                  <a:srgbClr val="D9E6F0"/>
                </a:solidFill>
                <a:latin typeface="Segoe UI"/>
                <a:ea typeface="Segoe UI"/>
                <a:cs typeface="Segoe UI"/>
              </a:defRPr>
            </a:lvl4pPr>
            <a:lvl5pPr algn="l">
              <a:defRPr sz="2025" b="0">
                <a:solidFill>
                  <a:srgbClr val="D9E6F0"/>
                </a:solidFill>
                <a:latin typeface="Segoe UI"/>
                <a:ea typeface="Segoe UI"/>
                <a:cs typeface="Segoe UI"/>
              </a:defRPr>
            </a:lvl5pPr>
            <a:lvl6pPr algn="l">
              <a:defRPr sz="2025" b="0">
                <a:solidFill>
                  <a:srgbClr val="D9E6F0"/>
                </a:solidFill>
                <a:latin typeface="Segoe UI"/>
                <a:ea typeface="Segoe UI"/>
                <a:cs typeface="Segoe UI"/>
              </a:defRPr>
            </a:lvl6pPr>
            <a:lvl7pPr algn="l">
              <a:defRPr sz="2025" b="0">
                <a:solidFill>
                  <a:srgbClr val="D9E6F0"/>
                </a:solidFill>
                <a:latin typeface="Segoe UI"/>
                <a:ea typeface="Segoe UI"/>
                <a:cs typeface="Segoe UI"/>
              </a:defRPr>
            </a:lvl7pPr>
            <a:lvl8pPr algn="l">
              <a:defRPr sz="2025" b="0">
                <a:solidFill>
                  <a:srgbClr val="D9E6F0"/>
                </a:solidFill>
                <a:latin typeface="Segoe UI"/>
                <a:ea typeface="Segoe UI"/>
                <a:cs typeface="Segoe UI"/>
              </a:defRPr>
            </a:lvl8pPr>
            <a:lvl9pPr algn="l">
              <a:defRPr sz="2025" b="0">
                <a:solidFill>
                  <a:srgbClr val="D9E6F0"/>
                </a:solidFill>
                <a:latin typeface="Segoe UI"/>
                <a:ea typeface="Segoe UI"/>
                <a:cs typeface="Segoe UI"/>
              </a:defRPr>
            </a:lvl9pPr>
          </a:lstStyle>
          <a:p xmlns:a="http://schemas.openxmlformats.org/drawingml/2006/main">
            <a:pPr algn="l">
              <a:defRPr sz="2025" b="0">
                <a:solidFill>
                  <a:srgbClr val="D9E6F0"/>
                </a:solidFill>
                <a:latin typeface="Segoe UI"/>
                <a:ea typeface="Segoe UI"/>
                <a:cs typeface="Segoe UI"/>
              </a:defRPr>
            </a:pPr>
            <a:r>
              <a:rPr sz="2025" b="0">
                <a:solidFill>
                  <a:srgbClr val="D9E6F0"/>
                </a:solidFill>
                <a:latin typeface="Segoe UI"/>
                <a:ea typeface="Segoe UI"/>
                <a:cs typeface="Segoe UI"/>
              </a:rPr>
              <a:t>A stable server boundary with real execution events</a:t>
            </a:r>
          </a:p>
        </p:txBody>
      </p:sp>
      <p:sp>
        <p:nvSpPr>
          <p:cNvPr id="5" name="footer">
            <a:extLst xmlns:a="http://schemas.openxmlformats.org/drawingml/2006/main">
              <a:ext uri="{FF2B5EF4-FFF2-40B4-BE49-F238E27FC236}">
                <a16:creationId xmlns:a16="http://schemas.microsoft.com/office/drawing/2014/main" id="{C64EC4C4-67E7-4684-A021-B28A7C717A06}"/>
              </a:ext>
            </a:extLst>
          </p:cNvPr>
          <p:cNvSpPr>
            <a:spLocks xmlns:a="http://schemas.openxmlformats.org/drawingml/2006/main" noGrp="1"/>
          </p:cNvSpPr>
          <p:nvPr/>
        </p:nvSpPr>
        <p:spPr>
          <a:xfrm xmlns:a="http://schemas.openxmlformats.org/drawingml/2006/main">
            <a:off x="647700" y="6153150"/>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BC0D2"/>
                </a:solidFill>
                <a:latin typeface="Segoe UI"/>
                <a:ea typeface="Segoe UI"/>
                <a:cs typeface="Segoe UI"/>
              </a:defRPr>
            </a:defPPr>
            <a:lvl1pPr algn="l">
              <a:defRPr sz="1275" b="0">
                <a:solidFill>
                  <a:srgbClr val="ABC0D2"/>
                </a:solidFill>
                <a:latin typeface="Segoe UI"/>
                <a:ea typeface="Segoe UI"/>
                <a:cs typeface="Segoe UI"/>
              </a:defRPr>
            </a:lvl1pPr>
            <a:lvl2pPr algn="l">
              <a:defRPr sz="1275" b="0">
                <a:solidFill>
                  <a:srgbClr val="ABC0D2"/>
                </a:solidFill>
                <a:latin typeface="Segoe UI"/>
                <a:ea typeface="Segoe UI"/>
                <a:cs typeface="Segoe UI"/>
              </a:defRPr>
            </a:lvl2pPr>
            <a:lvl3pPr algn="l">
              <a:defRPr sz="1275" b="0">
                <a:solidFill>
                  <a:srgbClr val="ABC0D2"/>
                </a:solidFill>
                <a:latin typeface="Segoe UI"/>
                <a:ea typeface="Segoe UI"/>
                <a:cs typeface="Segoe UI"/>
              </a:defRPr>
            </a:lvl3pPr>
            <a:lvl4pPr algn="l">
              <a:defRPr sz="1275" b="0">
                <a:solidFill>
                  <a:srgbClr val="ABC0D2"/>
                </a:solidFill>
                <a:latin typeface="Segoe UI"/>
                <a:ea typeface="Segoe UI"/>
                <a:cs typeface="Segoe UI"/>
              </a:defRPr>
            </a:lvl4pPr>
            <a:lvl5pPr algn="l">
              <a:defRPr sz="1275" b="0">
                <a:solidFill>
                  <a:srgbClr val="ABC0D2"/>
                </a:solidFill>
                <a:latin typeface="Segoe UI"/>
                <a:ea typeface="Segoe UI"/>
                <a:cs typeface="Segoe UI"/>
              </a:defRPr>
            </a:lvl5pPr>
            <a:lvl6pPr algn="l">
              <a:defRPr sz="1275" b="0">
                <a:solidFill>
                  <a:srgbClr val="ABC0D2"/>
                </a:solidFill>
                <a:latin typeface="Segoe UI"/>
                <a:ea typeface="Segoe UI"/>
                <a:cs typeface="Segoe UI"/>
              </a:defRPr>
            </a:lvl6pPr>
            <a:lvl7pPr algn="l">
              <a:defRPr sz="1275" b="0">
                <a:solidFill>
                  <a:srgbClr val="ABC0D2"/>
                </a:solidFill>
                <a:latin typeface="Segoe UI"/>
                <a:ea typeface="Segoe UI"/>
                <a:cs typeface="Segoe UI"/>
              </a:defRPr>
            </a:lvl7pPr>
            <a:lvl8pPr algn="l">
              <a:defRPr sz="1275" b="0">
                <a:solidFill>
                  <a:srgbClr val="ABC0D2"/>
                </a:solidFill>
                <a:latin typeface="Segoe UI"/>
                <a:ea typeface="Segoe UI"/>
                <a:cs typeface="Segoe UI"/>
              </a:defRPr>
            </a:lvl8pPr>
            <a:lvl9pPr algn="l">
              <a:defRPr sz="1275" b="0">
                <a:solidFill>
                  <a:srgbClr val="ABC0D2"/>
                </a:solidFill>
                <a:latin typeface="Segoe UI"/>
                <a:ea typeface="Segoe UI"/>
                <a:cs typeface="Segoe UI"/>
              </a:defRPr>
            </a:lvl9pPr>
          </a:lstStyle>
          <a:p xmlns:a="http://schemas.openxmlformats.org/drawingml/2006/main">
            <a:pPr algn="l">
              <a:defRPr sz="1275" b="0">
                <a:solidFill>
                  <a:srgbClr val="ABC0D2"/>
                </a:solidFill>
                <a:latin typeface="Segoe UI"/>
                <a:ea typeface="Segoe UI"/>
                <a:cs typeface="Segoe UI"/>
              </a:defRPr>
            </a:pPr>
            <a:r>
              <a:rPr sz="1275" b="0">
                <a:solidFill>
                  <a:srgbClr val="ABC0D2"/>
                </a:solidFill>
                <a:latin typeface="Segoe UI"/>
                <a:ea typeface="Segoe UI"/>
                <a:cs typeface="Segoe UI"/>
              </a:rPr>
              <a:t>3 contact hours including the module lab</a:t>
            </a:r>
          </a:p>
        </p:txBody>
      </p:sp>
      <p:sp>
        <p:nvSpPr>
          <p:cNvPr id="6" name="page">
            <a:extLst xmlns:a="http://schemas.openxmlformats.org/drawingml/2006/main">
              <a:ext uri="{FF2B5EF4-FFF2-40B4-BE49-F238E27FC236}">
                <a16:creationId xmlns:a16="http://schemas.microsoft.com/office/drawing/2014/main" id="{CFFA1F95-926D-47CD-BCC0-82B334B981D7}"/>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ABC0D2"/>
                </a:solidFill>
                <a:latin typeface="Segoe UI"/>
                <a:ea typeface="Segoe UI"/>
                <a:cs typeface="Segoe UI"/>
              </a:defRPr>
            </a:defPPr>
            <a:lvl1pPr algn="r">
              <a:defRPr sz="1050" b="0">
                <a:solidFill>
                  <a:srgbClr val="ABC0D2"/>
                </a:solidFill>
                <a:latin typeface="Segoe UI"/>
                <a:ea typeface="Segoe UI"/>
                <a:cs typeface="Segoe UI"/>
              </a:defRPr>
            </a:lvl1pPr>
            <a:lvl2pPr algn="r">
              <a:defRPr sz="1050" b="0">
                <a:solidFill>
                  <a:srgbClr val="ABC0D2"/>
                </a:solidFill>
                <a:latin typeface="Segoe UI"/>
                <a:ea typeface="Segoe UI"/>
                <a:cs typeface="Segoe UI"/>
              </a:defRPr>
            </a:lvl2pPr>
            <a:lvl3pPr algn="r">
              <a:defRPr sz="1050" b="0">
                <a:solidFill>
                  <a:srgbClr val="ABC0D2"/>
                </a:solidFill>
                <a:latin typeface="Segoe UI"/>
                <a:ea typeface="Segoe UI"/>
                <a:cs typeface="Segoe UI"/>
              </a:defRPr>
            </a:lvl3pPr>
            <a:lvl4pPr algn="r">
              <a:defRPr sz="1050" b="0">
                <a:solidFill>
                  <a:srgbClr val="ABC0D2"/>
                </a:solidFill>
                <a:latin typeface="Segoe UI"/>
                <a:ea typeface="Segoe UI"/>
                <a:cs typeface="Segoe UI"/>
              </a:defRPr>
            </a:lvl4pPr>
            <a:lvl5pPr algn="r">
              <a:defRPr sz="1050" b="0">
                <a:solidFill>
                  <a:srgbClr val="ABC0D2"/>
                </a:solidFill>
                <a:latin typeface="Segoe UI"/>
                <a:ea typeface="Segoe UI"/>
                <a:cs typeface="Segoe UI"/>
              </a:defRPr>
            </a:lvl5pPr>
            <a:lvl6pPr algn="r">
              <a:defRPr sz="1050" b="0">
                <a:solidFill>
                  <a:srgbClr val="ABC0D2"/>
                </a:solidFill>
                <a:latin typeface="Segoe UI"/>
                <a:ea typeface="Segoe UI"/>
                <a:cs typeface="Segoe UI"/>
              </a:defRPr>
            </a:lvl6pPr>
            <a:lvl7pPr algn="r">
              <a:defRPr sz="1050" b="0">
                <a:solidFill>
                  <a:srgbClr val="ABC0D2"/>
                </a:solidFill>
                <a:latin typeface="Segoe UI"/>
                <a:ea typeface="Segoe UI"/>
                <a:cs typeface="Segoe UI"/>
              </a:defRPr>
            </a:lvl7pPr>
            <a:lvl8pPr algn="r">
              <a:defRPr sz="1050" b="0">
                <a:solidFill>
                  <a:srgbClr val="ABC0D2"/>
                </a:solidFill>
                <a:latin typeface="Segoe UI"/>
                <a:ea typeface="Segoe UI"/>
                <a:cs typeface="Segoe UI"/>
              </a:defRPr>
            </a:lvl8pPr>
            <a:lvl9pPr algn="r">
              <a:defRPr sz="1050" b="0">
                <a:solidFill>
                  <a:srgbClr val="ABC0D2"/>
                </a:solidFill>
                <a:latin typeface="Segoe UI"/>
                <a:ea typeface="Segoe UI"/>
                <a:cs typeface="Segoe UI"/>
              </a:defRPr>
            </a:lvl9pPr>
          </a:lstStyle>
          <a:p xmlns:a="http://schemas.openxmlformats.org/drawingml/2006/main">
            <a:pPr algn="r">
              <a:defRPr sz="1050" b="0">
                <a:solidFill>
                  <a:srgbClr val="ABC0D2"/>
                </a:solidFill>
                <a:latin typeface="Segoe UI"/>
                <a:ea typeface="Segoe UI"/>
                <a:cs typeface="Segoe UI"/>
              </a:defRPr>
            </a:pPr>
            <a:r>
              <a:rPr sz="1050" b="0">
                <a:solidFill>
                  <a:srgbClr val="ABC0D2"/>
                </a:solidFill>
                <a:latin typeface="Segoe UI"/>
                <a:ea typeface="Segoe UI"/>
                <a:cs typeface="Segoe UI"/>
              </a:rPr>
              <a:t>58</a:t>
            </a:r>
          </a:p>
        </p:txBody>
      </p:sp>
    </p:spTree>
    <p:extLst>
      <p:ext uri="{BB962C8B-B14F-4D97-AF65-F5344CB8AC3E}">
        <p14:creationId xmlns:p14="http://schemas.microsoft.com/office/powerpoint/2010/main" val="2077635355"/>
      </p:ext>
    </p:extLst>
  </p:cSld>
  <p:extLst>
    <p:ext uri="{6950BFC3-D8DA-4A85-94F7-54DA5524770B}">
      <p188:commentRel xmlns:r="http://schemas.openxmlformats.org/officeDocument/2006/relationships" xmlns:p188="http://schemas.microsoft.com/office/powerpoint/2018/8/main" r:id="Rd302102141794b64"/>
    </p:ext>
  </p:extLst>
</p:sld>
</file>

<file path=ppt/slides/slide5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C57A8533-FD4D-420E-B45E-3BCB120A4490}"/>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Existing contract and target</a:t>
            </a:r>
          </a:p>
        </p:txBody>
      </p:sp>
      <p:sp>
        <p:nvSpPr>
          <p:cNvPr id="2" name="title">
            <a:extLst xmlns:a="http://schemas.openxmlformats.org/drawingml/2006/main">
              <a:ext uri="{FF2B5EF4-FFF2-40B4-BE49-F238E27FC236}">
                <a16:creationId xmlns:a16="http://schemas.microsoft.com/office/drawing/2014/main" id="{53EFD1FD-639E-41A3-BEAC-C4E691FFCE25}"/>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The AI endpoint contract</a:t>
            </a:r>
          </a:p>
        </p:txBody>
      </p:sp>
      <p:sp>
        <p:nvSpPr>
          <p:cNvPr id="3" name="footer">
            <a:extLst xmlns:a="http://schemas.openxmlformats.org/drawingml/2006/main">
              <a:ext uri="{FF2B5EF4-FFF2-40B4-BE49-F238E27FC236}">
                <a16:creationId xmlns:a16="http://schemas.microsoft.com/office/drawing/2014/main" id="{1B5ED481-4610-4C92-AF3C-87A4418A5E89}"/>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07  ASP.NET Core and user experience</a:t>
            </a:r>
          </a:p>
        </p:txBody>
      </p:sp>
      <p:sp>
        <p:nvSpPr>
          <p:cNvPr id="4" name="page">
            <a:extLst xmlns:a="http://schemas.openxmlformats.org/drawingml/2006/main">
              <a:ext uri="{FF2B5EF4-FFF2-40B4-BE49-F238E27FC236}">
                <a16:creationId xmlns:a16="http://schemas.microsoft.com/office/drawing/2014/main" id="{DDE6EB5B-78A6-40B8-B71F-5C5C2232A6CF}"/>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59</a:t>
            </a:r>
          </a:p>
        </p:txBody>
      </p:sp>
      <p:sp>
        <p:nvSpPr>
          <p:cNvPr id="5" name="label-0">
            <a:extLst xmlns:a="http://schemas.openxmlformats.org/drawingml/2006/main">
              <a:ext uri="{FF2B5EF4-FFF2-40B4-BE49-F238E27FC236}">
                <a16:creationId xmlns:a16="http://schemas.microsoft.com/office/drawing/2014/main" id="{4E8F36B3-B8F3-4BBF-8909-52917C64F162}"/>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Request</a:t>
            </a:r>
          </a:p>
        </p:txBody>
      </p:sp>
      <p:sp>
        <p:nvSpPr>
          <p:cNvPr id="6" name="point-0">
            <a:extLst xmlns:a="http://schemas.openxmlformats.org/drawingml/2006/main">
              <a:ext uri="{FF2B5EF4-FFF2-40B4-BE49-F238E27FC236}">
                <a16:creationId xmlns:a16="http://schemas.microsoft.com/office/drawing/2014/main" id="{7C814992-5774-4C9F-9DDD-F3AF903826C5}"/>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Message, continuation ID, and bounded client context.</a:t>
            </a:r>
          </a:p>
        </p:txBody>
      </p:sp>
      <p:sp>
        <p:nvSpPr>
          <p:cNvPr id="7" name="label-1">
            <a:extLst xmlns:a="http://schemas.openxmlformats.org/drawingml/2006/main">
              <a:ext uri="{FF2B5EF4-FFF2-40B4-BE49-F238E27FC236}">
                <a16:creationId xmlns:a16="http://schemas.microsoft.com/office/drawing/2014/main" id="{A959A0E5-86C3-4E6C-A189-877F077792EB}"/>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Identity</a:t>
            </a:r>
          </a:p>
        </p:txBody>
      </p:sp>
      <p:sp>
        <p:nvSpPr>
          <p:cNvPr id="8" name="point-1">
            <a:extLst xmlns:a="http://schemas.openxmlformats.org/drawingml/2006/main">
              <a:ext uri="{FF2B5EF4-FFF2-40B4-BE49-F238E27FC236}">
                <a16:creationId xmlns:a16="http://schemas.microsoft.com/office/drawing/2014/main" id="{4002D4B8-6405-4950-BBA4-D9F76CF9F7B1}"/>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Resolve tenant and user from the authenticated server principal.</a:t>
            </a:r>
          </a:p>
        </p:txBody>
      </p:sp>
      <p:sp>
        <p:nvSpPr>
          <p:cNvPr id="9" name="label-2">
            <a:extLst xmlns:a="http://schemas.openxmlformats.org/drawingml/2006/main">
              <a:ext uri="{FF2B5EF4-FFF2-40B4-BE49-F238E27FC236}">
                <a16:creationId xmlns:a16="http://schemas.microsoft.com/office/drawing/2014/main" id="{372AFAF5-1FFD-41DB-9F0B-B06D66AC5A7D}"/>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Run state</a:t>
            </a:r>
          </a:p>
        </p:txBody>
      </p:sp>
      <p:sp>
        <p:nvSpPr>
          <p:cNvPr id="10" name="point-2">
            <a:extLst xmlns:a="http://schemas.openxmlformats.org/drawingml/2006/main">
              <a:ext uri="{FF2B5EF4-FFF2-40B4-BE49-F238E27FC236}">
                <a16:creationId xmlns:a16="http://schemas.microsoft.com/office/drawing/2014/main" id="{A65F3E7E-BD45-4631-891F-71A8E172C9DB}"/>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Completed, awaiting approval, cancelled, or failed.</a:t>
            </a:r>
          </a:p>
        </p:txBody>
      </p:sp>
      <p:sp>
        <p:nvSpPr>
          <p:cNvPr id="11" name="label-3">
            <a:extLst xmlns:a="http://schemas.openxmlformats.org/drawingml/2006/main">
              <a:ext uri="{FF2B5EF4-FFF2-40B4-BE49-F238E27FC236}">
                <a16:creationId xmlns:a16="http://schemas.microsoft.com/office/drawing/2014/main" id="{86BE7467-FFB7-47B2-A668-4BEEE42FAA97}"/>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Response</a:t>
            </a:r>
          </a:p>
        </p:txBody>
      </p:sp>
      <p:sp>
        <p:nvSpPr>
          <p:cNvPr id="12" name="point-3">
            <a:extLst xmlns:a="http://schemas.openxmlformats.org/drawingml/2006/main">
              <a:ext uri="{FF2B5EF4-FFF2-40B4-BE49-F238E27FC236}">
                <a16:creationId xmlns:a16="http://schemas.microsoft.com/office/drawing/2014/main" id="{2A7335DD-38D2-4F60-925F-BA09C96B6188}"/>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Answer, evidence, operation outcome, and correlation identifiers.</a:t>
            </a:r>
          </a:p>
        </p:txBody>
      </p:sp>
    </p:spTree>
    <p:extLst>
      <p:ext uri="{BB962C8B-B14F-4D97-AF65-F5344CB8AC3E}">
        <p14:creationId xmlns:p14="http://schemas.microsoft.com/office/powerpoint/2010/main" val="395357267"/>
      </p:ext>
    </p:extLst>
  </p:cSld>
  <p:extLst>
    <p:ext uri="{6950BFC3-D8DA-4A85-94F7-54DA5524770B}">
      <p188:commentRel xmlns:r="http://schemas.openxmlformats.org/officeDocument/2006/relationships" xmlns:p188="http://schemas.microsoft.com/office/powerpoint/2018/8/main" r:id="R16b9a00618c44526"/>
    </p:ext>
  </p:extLst>
</p:sld>
</file>

<file path=ppt/slides/slide60.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context">
            <a:extLst xmlns:a="http://schemas.openxmlformats.org/drawingml/2006/main">
              <a:ext uri="{FF2B5EF4-FFF2-40B4-BE49-F238E27FC236}">
                <a16:creationId xmlns:a16="http://schemas.microsoft.com/office/drawing/2014/main" id="{C6578943-A56A-49E7-969B-65F13C77379D}"/>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Capstone code design</a:t>
            </a:r>
          </a:p>
        </p:txBody>
      </p:sp>
      <p:sp>
        <p:nvSpPr>
          <p:cNvPr id="2" name="title">
            <a:extLst xmlns:a="http://schemas.openxmlformats.org/drawingml/2006/main">
              <a:ext uri="{FF2B5EF4-FFF2-40B4-BE49-F238E27FC236}">
                <a16:creationId xmlns:a16="http://schemas.microsoft.com/office/drawing/2014/main" id="{AFC56F7F-837C-4868-9A97-02F92EA99924}"/>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The application adapter</a:t>
            </a:r>
          </a:p>
        </p:txBody>
      </p:sp>
      <p:sp>
        <p:nvSpPr>
          <p:cNvPr id="3" name="footer">
            <a:extLst xmlns:a="http://schemas.openxmlformats.org/drawingml/2006/main">
              <a:ext uri="{FF2B5EF4-FFF2-40B4-BE49-F238E27FC236}">
                <a16:creationId xmlns:a16="http://schemas.microsoft.com/office/drawing/2014/main" id="{1C22FFB3-1A64-4DE9-B0C3-5DACF230B550}"/>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07  ASP.NET Core and user experience</a:t>
            </a:r>
          </a:p>
        </p:txBody>
      </p:sp>
      <p:sp>
        <p:nvSpPr>
          <p:cNvPr id="4" name="page">
            <a:extLst xmlns:a="http://schemas.openxmlformats.org/drawingml/2006/main">
              <a:ext uri="{FF2B5EF4-FFF2-40B4-BE49-F238E27FC236}">
                <a16:creationId xmlns:a16="http://schemas.microsoft.com/office/drawing/2014/main" id="{F105C426-812A-49DC-A635-C05311E4C200}"/>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60</a:t>
            </a:r>
          </a:p>
        </p:txBody>
      </p:sp>
      <p:sp>
        <p:nvSpPr>
          <p:cNvPr id="5" name="code">
            <a:extLst xmlns:a="http://schemas.openxmlformats.org/drawingml/2006/main">
              <a:ext uri="{FF2B5EF4-FFF2-40B4-BE49-F238E27FC236}">
                <a16:creationId xmlns:a16="http://schemas.microsoft.com/office/drawing/2014/main" id="{72E33AC5-D31A-49FC-8BD9-00BB891457B9}"/>
              </a:ext>
            </a:extLst>
          </p:cNvPr>
          <p:cNvSpPr>
            <a:spLocks xmlns:a="http://schemas.openxmlformats.org/drawingml/2006/main" noGrp="1"/>
          </p:cNvSpPr>
          <p:nvPr/>
        </p:nvSpPr>
        <p:spPr>
          <a:xfrm xmlns:a="http://schemas.openxmlformats.org/drawingml/2006/main">
            <a:off x="685800" y="1857375"/>
            <a:ext cx="752475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12C43"/>
                </a:solidFill>
                <a:latin typeface="Consolas"/>
                <a:ea typeface="Consolas"/>
                <a:cs typeface="Consolas"/>
              </a:defRPr>
            </a:defPPr>
            <a:lvl1pPr algn="l">
              <a:defRPr sz="1725" b="0">
                <a:solidFill>
                  <a:srgbClr val="112C43"/>
                </a:solidFill>
                <a:latin typeface="Consolas"/>
                <a:ea typeface="Consolas"/>
                <a:cs typeface="Consolas"/>
              </a:defRPr>
            </a:lvl1pPr>
            <a:lvl2pPr algn="l">
              <a:defRPr sz="1725" b="0">
                <a:solidFill>
                  <a:srgbClr val="112C43"/>
                </a:solidFill>
                <a:latin typeface="Consolas"/>
                <a:ea typeface="Consolas"/>
                <a:cs typeface="Consolas"/>
              </a:defRPr>
            </a:lvl2pPr>
            <a:lvl3pPr algn="l">
              <a:defRPr sz="1725" b="0">
                <a:solidFill>
                  <a:srgbClr val="112C43"/>
                </a:solidFill>
                <a:latin typeface="Consolas"/>
                <a:ea typeface="Consolas"/>
                <a:cs typeface="Consolas"/>
              </a:defRPr>
            </a:lvl3pPr>
            <a:lvl4pPr algn="l">
              <a:defRPr sz="1725" b="0">
                <a:solidFill>
                  <a:srgbClr val="112C43"/>
                </a:solidFill>
                <a:latin typeface="Consolas"/>
                <a:ea typeface="Consolas"/>
                <a:cs typeface="Consolas"/>
              </a:defRPr>
            </a:lvl4pPr>
            <a:lvl5pPr algn="l">
              <a:defRPr sz="1725" b="0">
                <a:solidFill>
                  <a:srgbClr val="112C43"/>
                </a:solidFill>
                <a:latin typeface="Consolas"/>
                <a:ea typeface="Consolas"/>
                <a:cs typeface="Consolas"/>
              </a:defRPr>
            </a:lvl5pPr>
            <a:lvl6pPr algn="l">
              <a:defRPr sz="1725" b="0">
                <a:solidFill>
                  <a:srgbClr val="112C43"/>
                </a:solidFill>
                <a:latin typeface="Consolas"/>
                <a:ea typeface="Consolas"/>
                <a:cs typeface="Consolas"/>
              </a:defRPr>
            </a:lvl6pPr>
            <a:lvl7pPr algn="l">
              <a:defRPr sz="1725" b="0">
                <a:solidFill>
                  <a:srgbClr val="112C43"/>
                </a:solidFill>
                <a:latin typeface="Consolas"/>
                <a:ea typeface="Consolas"/>
                <a:cs typeface="Consolas"/>
              </a:defRPr>
            </a:lvl7pPr>
            <a:lvl8pPr algn="l">
              <a:defRPr sz="1725" b="0">
                <a:solidFill>
                  <a:srgbClr val="112C43"/>
                </a:solidFill>
                <a:latin typeface="Consolas"/>
                <a:ea typeface="Consolas"/>
                <a:cs typeface="Consolas"/>
              </a:defRPr>
            </a:lvl8pPr>
            <a:lvl9pPr algn="l">
              <a:defRPr sz="1725" b="0">
                <a:solidFill>
                  <a:srgbClr val="112C43"/>
                </a:solidFill>
                <a:latin typeface="Consolas"/>
                <a:ea typeface="Consolas"/>
                <a:cs typeface="Consolas"/>
              </a:defRPr>
            </a:lvl9pPr>
          </a:lstStyle>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Course-owned boundary, independent of the UI protocol</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public interface IBillingAssistant</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Task&lt;AssistantTurn&gt; RunAsync(</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AssistantInput input,</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ActorContext actor,</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CancellationToken ct);</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a:t>
            </a:r>
          </a:p>
          <a:p xmlns:a="http://schemas.openxmlformats.org/drawingml/2006/main">
            <a:r>
              <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Implementation resolves authorized context,</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restores AgentSession, runs AIAgent, and maps results.</a:t>
            </a:r>
          </a:p>
        </p:txBody>
      </p:sp>
      <p:sp>
        <p:nvSpPr>
          <p:cNvPr id="6" name="explanation-0">
            <a:extLst xmlns:a="http://schemas.openxmlformats.org/drawingml/2006/main">
              <a:ext uri="{FF2B5EF4-FFF2-40B4-BE49-F238E27FC236}">
                <a16:creationId xmlns:a16="http://schemas.microsoft.com/office/drawing/2014/main" id="{B9641616-C03B-40BC-9741-8A4A8B43CF11}"/>
              </a:ext>
            </a:extLst>
          </p:cNvPr>
          <p:cNvSpPr>
            <a:spLocks xmlns:a="http://schemas.openxmlformats.org/drawingml/2006/main" noGrp="1"/>
          </p:cNvSpPr>
          <p:nvPr/>
        </p:nvSpPr>
        <p:spPr>
          <a:xfrm xmlns:a="http://schemas.openxmlformats.org/drawingml/2006/main">
            <a:off x="8715375" y="20002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83"/>
                </a:solidFill>
                <a:latin typeface="Segoe UI"/>
                <a:ea typeface="Segoe UI"/>
                <a:cs typeface="Segoe UI"/>
              </a:defRPr>
            </a:defPPr>
            <a:lvl1pPr algn="l">
              <a:defRPr sz="1800" b="0">
                <a:solidFill>
                  <a:srgbClr val="007F83"/>
                </a:solidFill>
                <a:latin typeface="Segoe UI"/>
                <a:ea typeface="Segoe UI"/>
                <a:cs typeface="Segoe UI"/>
              </a:defRPr>
            </a:lvl1pPr>
            <a:lvl2pPr algn="l">
              <a:defRPr sz="1800" b="0">
                <a:solidFill>
                  <a:srgbClr val="007F83"/>
                </a:solidFill>
                <a:latin typeface="Segoe UI"/>
                <a:ea typeface="Segoe UI"/>
                <a:cs typeface="Segoe UI"/>
              </a:defRPr>
            </a:lvl2pPr>
            <a:lvl3pPr algn="l">
              <a:defRPr sz="1800" b="0">
                <a:solidFill>
                  <a:srgbClr val="007F83"/>
                </a:solidFill>
                <a:latin typeface="Segoe UI"/>
                <a:ea typeface="Segoe UI"/>
                <a:cs typeface="Segoe UI"/>
              </a:defRPr>
            </a:lvl3pPr>
            <a:lvl4pPr algn="l">
              <a:defRPr sz="1800" b="0">
                <a:solidFill>
                  <a:srgbClr val="007F83"/>
                </a:solidFill>
                <a:latin typeface="Segoe UI"/>
                <a:ea typeface="Segoe UI"/>
                <a:cs typeface="Segoe UI"/>
              </a:defRPr>
            </a:lvl4pPr>
            <a:lvl5pPr algn="l">
              <a:defRPr sz="1800" b="0">
                <a:solidFill>
                  <a:srgbClr val="007F83"/>
                </a:solidFill>
                <a:latin typeface="Segoe UI"/>
                <a:ea typeface="Segoe UI"/>
                <a:cs typeface="Segoe UI"/>
              </a:defRPr>
            </a:lvl5pPr>
            <a:lvl6pPr algn="l">
              <a:defRPr sz="1800" b="0">
                <a:solidFill>
                  <a:srgbClr val="007F83"/>
                </a:solidFill>
                <a:latin typeface="Segoe UI"/>
                <a:ea typeface="Segoe UI"/>
                <a:cs typeface="Segoe UI"/>
              </a:defRPr>
            </a:lvl6pPr>
            <a:lvl7pPr algn="l">
              <a:defRPr sz="1800" b="0">
                <a:solidFill>
                  <a:srgbClr val="007F83"/>
                </a:solidFill>
                <a:latin typeface="Segoe UI"/>
                <a:ea typeface="Segoe UI"/>
                <a:cs typeface="Segoe UI"/>
              </a:defRPr>
            </a:lvl7pPr>
            <a:lvl8pPr algn="l">
              <a:defRPr sz="1800" b="0">
                <a:solidFill>
                  <a:srgbClr val="007F83"/>
                </a:solidFill>
                <a:latin typeface="Segoe UI"/>
                <a:ea typeface="Segoe UI"/>
                <a:cs typeface="Segoe UI"/>
              </a:defRPr>
            </a:lvl8pPr>
            <a:lvl9pPr algn="l">
              <a:defRPr sz="1800" b="0">
                <a:solidFill>
                  <a:srgbClr val="007F83"/>
                </a:solidFill>
                <a:latin typeface="Segoe UI"/>
                <a:ea typeface="Segoe UI"/>
                <a:cs typeface="Segoe UI"/>
              </a:defRPr>
            </a:lvl9pPr>
          </a:lstStyle>
          <a:p xmlns:a="http://schemas.openxmlformats.org/drawingml/2006/main">
            <a:pPr algn="l">
              <a:defRPr sz="1800" b="0">
                <a:solidFill>
                  <a:srgbClr val="007F83"/>
                </a:solidFill>
                <a:latin typeface="Segoe UI"/>
                <a:ea typeface="Segoe UI"/>
                <a:cs typeface="Segoe UI"/>
              </a:defRPr>
            </a:pPr>
            <a:r>
              <a:rPr sz="1800" b="0">
                <a:solidFill>
                  <a:srgbClr val="007F83"/>
                </a:solidFill>
                <a:latin typeface="Segoe UI"/>
                <a:ea typeface="Segoe UI"/>
                <a:cs typeface="Segoe UI"/>
              </a:rPr>
              <a:t>Keep provider details behind the adapter.</a:t>
            </a:r>
          </a:p>
        </p:txBody>
      </p:sp>
      <p:sp>
        <p:nvSpPr>
          <p:cNvPr id="7" name="explanation-1">
            <a:extLst xmlns:a="http://schemas.openxmlformats.org/drawingml/2006/main">
              <a:ext uri="{FF2B5EF4-FFF2-40B4-BE49-F238E27FC236}">
                <a16:creationId xmlns:a16="http://schemas.microsoft.com/office/drawing/2014/main" id="{78CA1848-F05D-4648-86AD-6B194E4551C4}"/>
              </a:ext>
            </a:extLst>
          </p:cNvPr>
          <p:cNvSpPr>
            <a:spLocks xmlns:a="http://schemas.openxmlformats.org/drawingml/2006/main" noGrp="1"/>
          </p:cNvSpPr>
          <p:nvPr/>
        </p:nvSpPr>
        <p:spPr>
          <a:xfrm xmlns:a="http://schemas.openxmlformats.org/drawingml/2006/main">
            <a:off x="8715375" y="320040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Pass server-owned identity separately.</a:t>
            </a:r>
          </a:p>
        </p:txBody>
      </p:sp>
      <p:sp>
        <p:nvSpPr>
          <p:cNvPr id="8" name="explanation-2">
            <a:extLst xmlns:a="http://schemas.openxmlformats.org/drawingml/2006/main">
              <a:ext uri="{FF2B5EF4-FFF2-40B4-BE49-F238E27FC236}">
                <a16:creationId xmlns:a16="http://schemas.microsoft.com/office/drawing/2014/main" id="{365E8FB2-122B-4B24-9087-9CE280FD3A7D}"/>
              </a:ext>
            </a:extLst>
          </p:cNvPr>
          <p:cNvSpPr>
            <a:spLocks xmlns:a="http://schemas.openxmlformats.org/drawingml/2006/main" noGrp="1"/>
          </p:cNvSpPr>
          <p:nvPr/>
        </p:nvSpPr>
        <p:spPr>
          <a:xfrm xmlns:a="http://schemas.openxmlformats.org/drawingml/2006/main">
            <a:off x="8715375" y="44005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Expose business and execution outcomes.</a:t>
            </a:r>
          </a:p>
        </p:txBody>
      </p:sp>
    </p:spTree>
    <p:extLst>
      <p:ext uri="{BB962C8B-B14F-4D97-AF65-F5344CB8AC3E}">
        <p14:creationId xmlns:p14="http://schemas.microsoft.com/office/powerpoint/2010/main" val="310777341"/>
      </p:ext>
    </p:extLst>
  </p:cSld>
  <p:extLst>
    <p:ext uri="{6950BFC3-D8DA-4A85-94F7-54DA5524770B}">
      <p188:commentRel xmlns:r="http://schemas.openxmlformats.org/officeDocument/2006/relationships" xmlns:p188="http://schemas.microsoft.com/office/powerpoint/2018/8/main" r:id="R259eccd2ef964fd8"/>
    </p:ext>
  </p:extLst>
</p:sld>
</file>

<file path=ppt/slides/slide6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87354BD5-9526-41F6-8431-0614CB208C79}"/>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Framework hosting option</a:t>
            </a:r>
          </a:p>
        </p:txBody>
      </p:sp>
      <p:sp>
        <p:nvSpPr>
          <p:cNvPr id="2" name="title">
            <a:extLst xmlns:a="http://schemas.openxmlformats.org/drawingml/2006/main">
              <a:ext uri="{FF2B5EF4-FFF2-40B4-BE49-F238E27FC236}">
                <a16:creationId xmlns:a16="http://schemas.microsoft.com/office/drawing/2014/main" id="{FE0D63E5-9E25-41A6-908A-973668D16349}"/>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Hosting and DI integration</a:t>
            </a:r>
          </a:p>
        </p:txBody>
      </p:sp>
      <p:sp>
        <p:nvSpPr>
          <p:cNvPr id="3" name="footer">
            <a:extLst xmlns:a="http://schemas.openxmlformats.org/drawingml/2006/main">
              <a:ext uri="{FF2B5EF4-FFF2-40B4-BE49-F238E27FC236}">
                <a16:creationId xmlns:a16="http://schemas.microsoft.com/office/drawing/2014/main" id="{9BC36C16-1C4F-480B-9E2F-BA9F12A8E229}"/>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07  ASP.NET Core and user experience</a:t>
            </a:r>
          </a:p>
        </p:txBody>
      </p:sp>
      <p:sp>
        <p:nvSpPr>
          <p:cNvPr id="4" name="page">
            <a:extLst xmlns:a="http://schemas.openxmlformats.org/drawingml/2006/main">
              <a:ext uri="{FF2B5EF4-FFF2-40B4-BE49-F238E27FC236}">
                <a16:creationId xmlns:a16="http://schemas.microsoft.com/office/drawing/2014/main" id="{4BE2BAAA-4FEE-4483-A23B-95F0992B3E76}"/>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61</a:t>
            </a:r>
          </a:p>
        </p:txBody>
      </p:sp>
      <p:sp>
        <p:nvSpPr>
          <p:cNvPr id="5" name="label-0">
            <a:extLst xmlns:a="http://schemas.openxmlformats.org/drawingml/2006/main">
              <a:ext uri="{FF2B5EF4-FFF2-40B4-BE49-F238E27FC236}">
                <a16:creationId xmlns:a16="http://schemas.microsoft.com/office/drawing/2014/main" id="{312DA3B2-1D9F-42AD-BBB9-C2AFA097BB76}"/>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Existing API</a:t>
            </a:r>
          </a:p>
        </p:txBody>
      </p:sp>
      <p:sp>
        <p:nvSpPr>
          <p:cNvPr id="6" name="point-0">
            <a:extLst xmlns:a="http://schemas.openxmlformats.org/drawingml/2006/main">
              <a:ext uri="{FF2B5EF4-FFF2-40B4-BE49-F238E27FC236}">
                <a16:creationId xmlns:a16="http://schemas.microsoft.com/office/drawing/2014/main" id="{4AF42FC9-DA75-45E3-B20E-5876B3BAAC67}"/>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Host the agent beside the application's established use cases.</a:t>
            </a:r>
          </a:p>
        </p:txBody>
      </p:sp>
      <p:sp>
        <p:nvSpPr>
          <p:cNvPr id="7" name="label-1">
            <a:extLst xmlns:a="http://schemas.openxmlformats.org/drawingml/2006/main">
              <a:ext uri="{FF2B5EF4-FFF2-40B4-BE49-F238E27FC236}">
                <a16:creationId xmlns:a16="http://schemas.microsoft.com/office/drawing/2014/main" id="{50780EB9-86D7-460D-A2BA-C8CCE7646107}"/>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Registration</a:t>
            </a:r>
          </a:p>
        </p:txBody>
      </p:sp>
      <p:sp>
        <p:nvSpPr>
          <p:cNvPr id="8" name="point-1">
            <a:extLst xmlns:a="http://schemas.openxmlformats.org/drawingml/2006/main">
              <a:ext uri="{FF2B5EF4-FFF2-40B4-BE49-F238E27FC236}">
                <a16:creationId xmlns:a16="http://schemas.microsoft.com/office/drawing/2014/main" id="{68C4ABD2-F5DC-4E0A-BF9D-FEA64F29088C}"/>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Choose named agent and workflow registrations deliberately.</a:t>
            </a:r>
          </a:p>
        </p:txBody>
      </p:sp>
      <p:sp>
        <p:nvSpPr>
          <p:cNvPr id="9" name="label-2">
            <a:extLst xmlns:a="http://schemas.openxmlformats.org/drawingml/2006/main">
              <a:ext uri="{FF2B5EF4-FFF2-40B4-BE49-F238E27FC236}">
                <a16:creationId xmlns:a16="http://schemas.microsoft.com/office/drawing/2014/main" id="{35AE947D-02DA-4F41-B54F-560EEA9BE68E}"/>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Session store</a:t>
            </a:r>
          </a:p>
        </p:txBody>
      </p:sp>
      <p:sp>
        <p:nvSpPr>
          <p:cNvPr id="10" name="point-2">
            <a:extLst xmlns:a="http://schemas.openxmlformats.org/drawingml/2006/main">
              <a:ext uri="{FF2B5EF4-FFF2-40B4-BE49-F238E27FC236}">
                <a16:creationId xmlns:a16="http://schemas.microsoft.com/office/drawing/2014/main" id="{103EE43D-6A2F-44E6-8898-3C342B87427F}"/>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Bind continuation storage to authorized ownership.</a:t>
            </a:r>
          </a:p>
        </p:txBody>
      </p:sp>
      <p:sp>
        <p:nvSpPr>
          <p:cNvPr id="11" name="label-3">
            <a:extLst xmlns:a="http://schemas.openxmlformats.org/drawingml/2006/main">
              <a:ext uri="{FF2B5EF4-FFF2-40B4-BE49-F238E27FC236}">
                <a16:creationId xmlns:a16="http://schemas.microsoft.com/office/drawing/2014/main" id="{7C65E01B-A8FC-48CC-B5A9-5850ED4B73A1}"/>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Scope</a:t>
            </a:r>
          </a:p>
        </p:txBody>
      </p:sp>
      <p:sp>
        <p:nvSpPr>
          <p:cNvPr id="12" name="point-3">
            <a:extLst xmlns:a="http://schemas.openxmlformats.org/drawingml/2006/main">
              <a:ext uri="{FF2B5EF4-FFF2-40B4-BE49-F238E27FC236}">
                <a16:creationId xmlns:a16="http://schemas.microsoft.com/office/drawing/2014/main" id="{2484B542-3117-4EF5-8628-1D4A227743B4}"/>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Verify tool dependencies under the chosen hosting lifetime.</a:t>
            </a:r>
          </a:p>
        </p:txBody>
      </p:sp>
    </p:spTree>
    <p:extLst>
      <p:ext uri="{BB962C8B-B14F-4D97-AF65-F5344CB8AC3E}">
        <p14:creationId xmlns:p14="http://schemas.microsoft.com/office/powerpoint/2010/main" val="927958628"/>
      </p:ext>
    </p:extLst>
  </p:cSld>
  <p:extLst>
    <p:ext uri="{6950BFC3-D8DA-4A85-94F7-54DA5524770B}">
      <p188:commentRel xmlns:r="http://schemas.openxmlformats.org/officeDocument/2006/relationships" xmlns:p188="http://schemas.microsoft.com/office/powerpoint/2018/8/main" r:id="R0932835549e34396"/>
    </p:ext>
  </p:extLst>
</p:sld>
</file>

<file path=ppt/slides/slide6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616ACFA8-7739-445D-9844-7D5B57CED2CD}"/>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Capstone target</a:t>
            </a:r>
          </a:p>
        </p:txBody>
      </p:sp>
      <p:sp>
        <p:nvSpPr>
          <p:cNvPr id="2" name="title">
            <a:extLst xmlns:a="http://schemas.openxmlformats.org/drawingml/2006/main">
              <a:ext uri="{FF2B5EF4-FFF2-40B4-BE49-F238E27FC236}">
                <a16:creationId xmlns:a16="http://schemas.microsoft.com/office/drawing/2014/main" id="{FC79A0EA-548F-4C79-95D6-FCB5FBAF348D}"/>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A user experience built on real events</a:t>
            </a:r>
          </a:p>
        </p:txBody>
      </p:sp>
      <p:sp>
        <p:nvSpPr>
          <p:cNvPr id="3" name="footer">
            <a:extLst xmlns:a="http://schemas.openxmlformats.org/drawingml/2006/main">
              <a:ext uri="{FF2B5EF4-FFF2-40B4-BE49-F238E27FC236}">
                <a16:creationId xmlns:a16="http://schemas.microsoft.com/office/drawing/2014/main" id="{C53746B1-6355-4CA0-A38A-7744ED90D52B}"/>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07  ASP.NET Core and user experience</a:t>
            </a:r>
          </a:p>
        </p:txBody>
      </p:sp>
      <p:sp>
        <p:nvSpPr>
          <p:cNvPr id="4" name="page">
            <a:extLst xmlns:a="http://schemas.openxmlformats.org/drawingml/2006/main">
              <a:ext uri="{FF2B5EF4-FFF2-40B4-BE49-F238E27FC236}">
                <a16:creationId xmlns:a16="http://schemas.microsoft.com/office/drawing/2014/main" id="{3A45DE4B-69BB-4D5D-9CFE-5D4BD85A6665}"/>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62</a:t>
            </a:r>
          </a:p>
        </p:txBody>
      </p:sp>
      <p:sp>
        <p:nvSpPr>
          <p:cNvPr id="5" name="label-0">
            <a:extLst xmlns:a="http://schemas.openxmlformats.org/drawingml/2006/main">
              <a:ext uri="{FF2B5EF4-FFF2-40B4-BE49-F238E27FC236}">
                <a16:creationId xmlns:a16="http://schemas.microsoft.com/office/drawing/2014/main" id="{20D97644-3814-4E8D-8C5A-4BFC5AE0254A}"/>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Text</a:t>
            </a:r>
          </a:p>
        </p:txBody>
      </p:sp>
      <p:sp>
        <p:nvSpPr>
          <p:cNvPr id="6" name="point-0">
            <a:extLst xmlns:a="http://schemas.openxmlformats.org/drawingml/2006/main">
              <a:ext uri="{FF2B5EF4-FFF2-40B4-BE49-F238E27FC236}">
                <a16:creationId xmlns:a16="http://schemas.microsoft.com/office/drawing/2014/main" id="{B3804A5F-B356-40A8-9854-7686BEEF808C}"/>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Render partial output and the authoritative completed answer.</a:t>
            </a:r>
          </a:p>
        </p:txBody>
      </p:sp>
      <p:sp>
        <p:nvSpPr>
          <p:cNvPr id="7" name="label-1">
            <a:extLst xmlns:a="http://schemas.openxmlformats.org/drawingml/2006/main">
              <a:ext uri="{FF2B5EF4-FFF2-40B4-BE49-F238E27FC236}">
                <a16:creationId xmlns:a16="http://schemas.microsoft.com/office/drawing/2014/main" id="{8D65B21B-A4BE-4679-A0B3-9B6192CE25C7}"/>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Tools</a:t>
            </a:r>
          </a:p>
        </p:txBody>
      </p:sp>
      <p:sp>
        <p:nvSpPr>
          <p:cNvPr id="8" name="point-1">
            <a:extLst xmlns:a="http://schemas.openxmlformats.org/drawingml/2006/main">
              <a:ext uri="{FF2B5EF4-FFF2-40B4-BE49-F238E27FC236}">
                <a16:creationId xmlns:a16="http://schemas.microsoft.com/office/drawing/2014/main" id="{65228D8F-F2C2-4AB9-9DDF-7B1242A5FF05}"/>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Show server-issued start, result, and failure events.</a:t>
            </a:r>
          </a:p>
        </p:txBody>
      </p:sp>
      <p:sp>
        <p:nvSpPr>
          <p:cNvPr id="9" name="label-2">
            <a:extLst xmlns:a="http://schemas.openxmlformats.org/drawingml/2006/main">
              <a:ext uri="{FF2B5EF4-FFF2-40B4-BE49-F238E27FC236}">
                <a16:creationId xmlns:a16="http://schemas.microsoft.com/office/drawing/2014/main" id="{9A26A618-33F1-4881-AFB7-2BF135A228E5}"/>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Approvals</a:t>
            </a:r>
          </a:p>
        </p:txBody>
      </p:sp>
      <p:sp>
        <p:nvSpPr>
          <p:cNvPr id="10" name="point-2">
            <a:extLst xmlns:a="http://schemas.openxmlformats.org/drawingml/2006/main">
              <a:ext uri="{FF2B5EF4-FFF2-40B4-BE49-F238E27FC236}">
                <a16:creationId xmlns:a16="http://schemas.microsoft.com/office/drawing/2014/main" id="{CF9AA89A-3D6F-4EDE-BB2D-9BFC09A1CF9E}"/>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Display the exact invoice, action, and consequence.</a:t>
            </a:r>
          </a:p>
        </p:txBody>
      </p:sp>
      <p:sp>
        <p:nvSpPr>
          <p:cNvPr id="11" name="label-3">
            <a:extLst xmlns:a="http://schemas.openxmlformats.org/drawingml/2006/main">
              <a:ext uri="{FF2B5EF4-FFF2-40B4-BE49-F238E27FC236}">
                <a16:creationId xmlns:a16="http://schemas.microsoft.com/office/drawing/2014/main" id="{15CBF564-0AF2-4E9B-A8E0-A6F881DAA6F7}"/>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Recovery</a:t>
            </a:r>
          </a:p>
        </p:txBody>
      </p:sp>
      <p:sp>
        <p:nvSpPr>
          <p:cNvPr id="12" name="point-3">
            <a:extLst xmlns:a="http://schemas.openxmlformats.org/drawingml/2006/main">
              <a:ext uri="{FF2B5EF4-FFF2-40B4-BE49-F238E27FC236}">
                <a16:creationId xmlns:a16="http://schemas.microsoft.com/office/drawing/2014/main" id="{9D7164D0-1B33-4FB3-84E9-17F3EE9B1231}"/>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Reconnect to persisted run state without replaying a write.</a:t>
            </a:r>
          </a:p>
        </p:txBody>
      </p:sp>
    </p:spTree>
    <p:extLst>
      <p:ext uri="{BB962C8B-B14F-4D97-AF65-F5344CB8AC3E}">
        <p14:creationId xmlns:p14="http://schemas.microsoft.com/office/powerpoint/2010/main" val="393350245"/>
      </p:ext>
    </p:extLst>
  </p:cSld>
  <p:extLst>
    <p:ext uri="{6950BFC3-D8DA-4A85-94F7-54DA5524770B}">
      <p188:commentRel xmlns:r="http://schemas.openxmlformats.org/officeDocument/2006/relationships" xmlns:p188="http://schemas.microsoft.com/office/powerpoint/2018/8/main" r:id="Rcd027731f60e4740"/>
    </p:ext>
  </p:extLst>
</p:sld>
</file>

<file path=ppt/slides/slide6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context">
            <a:extLst xmlns:a="http://schemas.openxmlformats.org/drawingml/2006/main">
              <a:ext uri="{FF2B5EF4-FFF2-40B4-BE49-F238E27FC236}">
                <a16:creationId xmlns:a16="http://schemas.microsoft.com/office/drawing/2014/main" id="{5A1A9584-2A80-40D2-8415-DF8CAE375BFD}"/>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Framework code pattern</a:t>
            </a:r>
          </a:p>
        </p:txBody>
      </p:sp>
      <p:sp>
        <p:nvSpPr>
          <p:cNvPr id="2" name="title">
            <a:extLst xmlns:a="http://schemas.openxmlformats.org/drawingml/2006/main">
              <a:ext uri="{FF2B5EF4-FFF2-40B4-BE49-F238E27FC236}">
                <a16:creationId xmlns:a16="http://schemas.microsoft.com/office/drawing/2014/main" id="{6CAED509-958B-47BA-8F24-710467A9CAF8}"/>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An AG-UI hosting option</a:t>
            </a:r>
          </a:p>
        </p:txBody>
      </p:sp>
      <p:sp>
        <p:nvSpPr>
          <p:cNvPr id="3" name="footer">
            <a:extLst xmlns:a="http://schemas.openxmlformats.org/drawingml/2006/main">
              <a:ext uri="{FF2B5EF4-FFF2-40B4-BE49-F238E27FC236}">
                <a16:creationId xmlns:a16="http://schemas.microsoft.com/office/drawing/2014/main" id="{FC46DB0E-345B-4788-B061-A66CDDA2E374}"/>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07  ASP.NET Core and user experience</a:t>
            </a:r>
          </a:p>
        </p:txBody>
      </p:sp>
      <p:sp>
        <p:nvSpPr>
          <p:cNvPr id="4" name="page">
            <a:extLst xmlns:a="http://schemas.openxmlformats.org/drawingml/2006/main">
              <a:ext uri="{FF2B5EF4-FFF2-40B4-BE49-F238E27FC236}">
                <a16:creationId xmlns:a16="http://schemas.microsoft.com/office/drawing/2014/main" id="{DE6F2394-FFC0-4FBE-986B-AD28B53C19B7}"/>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63</a:t>
            </a:r>
          </a:p>
        </p:txBody>
      </p:sp>
      <p:sp>
        <p:nvSpPr>
          <p:cNvPr id="5" name="code">
            <a:extLst xmlns:a="http://schemas.openxmlformats.org/drawingml/2006/main">
              <a:ext uri="{FF2B5EF4-FFF2-40B4-BE49-F238E27FC236}">
                <a16:creationId xmlns:a16="http://schemas.microsoft.com/office/drawing/2014/main" id="{E5E594A9-0AC2-46B7-9943-C98918CD3553}"/>
              </a:ext>
            </a:extLst>
          </p:cNvPr>
          <p:cNvSpPr>
            <a:spLocks xmlns:a="http://schemas.openxmlformats.org/drawingml/2006/main" noGrp="1"/>
          </p:cNvSpPr>
          <p:nvPr/>
        </p:nvSpPr>
        <p:spPr>
          <a:xfrm xmlns:a="http://schemas.openxmlformats.org/drawingml/2006/main">
            <a:off x="685800" y="1857375"/>
            <a:ext cx="752475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12C43"/>
                </a:solidFill>
                <a:latin typeface="Consolas"/>
                <a:ea typeface="Consolas"/>
                <a:cs typeface="Consolas"/>
              </a:defRPr>
            </a:defPPr>
            <a:lvl1pPr algn="l">
              <a:defRPr sz="1725" b="0">
                <a:solidFill>
                  <a:srgbClr val="112C43"/>
                </a:solidFill>
                <a:latin typeface="Consolas"/>
                <a:ea typeface="Consolas"/>
                <a:cs typeface="Consolas"/>
              </a:defRPr>
            </a:lvl1pPr>
            <a:lvl2pPr algn="l">
              <a:defRPr sz="1725" b="0">
                <a:solidFill>
                  <a:srgbClr val="112C43"/>
                </a:solidFill>
                <a:latin typeface="Consolas"/>
                <a:ea typeface="Consolas"/>
                <a:cs typeface="Consolas"/>
              </a:defRPr>
            </a:lvl2pPr>
            <a:lvl3pPr algn="l">
              <a:defRPr sz="1725" b="0">
                <a:solidFill>
                  <a:srgbClr val="112C43"/>
                </a:solidFill>
                <a:latin typeface="Consolas"/>
                <a:ea typeface="Consolas"/>
                <a:cs typeface="Consolas"/>
              </a:defRPr>
            </a:lvl3pPr>
            <a:lvl4pPr algn="l">
              <a:defRPr sz="1725" b="0">
                <a:solidFill>
                  <a:srgbClr val="112C43"/>
                </a:solidFill>
                <a:latin typeface="Consolas"/>
                <a:ea typeface="Consolas"/>
                <a:cs typeface="Consolas"/>
              </a:defRPr>
            </a:lvl4pPr>
            <a:lvl5pPr algn="l">
              <a:defRPr sz="1725" b="0">
                <a:solidFill>
                  <a:srgbClr val="112C43"/>
                </a:solidFill>
                <a:latin typeface="Consolas"/>
                <a:ea typeface="Consolas"/>
                <a:cs typeface="Consolas"/>
              </a:defRPr>
            </a:lvl5pPr>
            <a:lvl6pPr algn="l">
              <a:defRPr sz="1725" b="0">
                <a:solidFill>
                  <a:srgbClr val="112C43"/>
                </a:solidFill>
                <a:latin typeface="Consolas"/>
                <a:ea typeface="Consolas"/>
                <a:cs typeface="Consolas"/>
              </a:defRPr>
            </a:lvl6pPr>
            <a:lvl7pPr algn="l">
              <a:defRPr sz="1725" b="0">
                <a:solidFill>
                  <a:srgbClr val="112C43"/>
                </a:solidFill>
                <a:latin typeface="Consolas"/>
                <a:ea typeface="Consolas"/>
                <a:cs typeface="Consolas"/>
              </a:defRPr>
            </a:lvl7pPr>
            <a:lvl8pPr algn="l">
              <a:defRPr sz="1725" b="0">
                <a:solidFill>
                  <a:srgbClr val="112C43"/>
                </a:solidFill>
                <a:latin typeface="Consolas"/>
                <a:ea typeface="Consolas"/>
                <a:cs typeface="Consolas"/>
              </a:defRPr>
            </a:lvl8pPr>
            <a:lvl9pPr algn="l">
              <a:defRPr sz="1725" b="0">
                <a:solidFill>
                  <a:srgbClr val="112C43"/>
                </a:solidFill>
                <a:latin typeface="Consolas"/>
                <a:ea typeface="Consolas"/>
                <a:cs typeface="Consolas"/>
              </a:defRPr>
            </a:lvl9pPr>
          </a:lstStyle>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using Microsoft.Agents.AI.Hosting.AGUI.AspNetCore;</a:t>
            </a:r>
          </a:p>
          <a:p xmlns:a="http://schemas.openxmlformats.org/drawingml/2006/main">
            <a:r>
              <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builder.Services.AddAGUIServer();</a:t>
            </a:r>
          </a:p>
          <a:p xmlns:a="http://schemas.openxmlformats.org/drawingml/2006/main">
            <a:r>
              <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agent is the configured framework AIAgent.</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var app = builder.Build();</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app.MapAGUIServer("/ai/events", agent);</a:t>
            </a:r>
          </a:p>
          <a:p xmlns:a="http://schemas.openxmlformats.org/drawingml/2006/main">
            <a:r>
              <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Add application identity, policy, session storage,</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and client event handling for the chosen deployment.</a:t>
            </a:r>
          </a:p>
        </p:txBody>
      </p:sp>
      <p:sp>
        <p:nvSpPr>
          <p:cNvPr id="6" name="explanation-0">
            <a:extLst xmlns:a="http://schemas.openxmlformats.org/drawingml/2006/main">
              <a:ext uri="{FF2B5EF4-FFF2-40B4-BE49-F238E27FC236}">
                <a16:creationId xmlns:a16="http://schemas.microsoft.com/office/drawing/2014/main" id="{DD2BA5C8-A33D-4B87-ACA1-DDBC1082559D}"/>
              </a:ext>
            </a:extLst>
          </p:cNvPr>
          <p:cNvSpPr>
            <a:spLocks xmlns:a="http://schemas.openxmlformats.org/drawingml/2006/main" noGrp="1"/>
          </p:cNvSpPr>
          <p:nvPr/>
        </p:nvSpPr>
        <p:spPr>
          <a:xfrm xmlns:a="http://schemas.openxmlformats.org/drawingml/2006/main">
            <a:off x="8715375" y="20002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83"/>
                </a:solidFill>
                <a:latin typeface="Segoe UI"/>
                <a:ea typeface="Segoe UI"/>
                <a:cs typeface="Segoe UI"/>
              </a:defRPr>
            </a:defPPr>
            <a:lvl1pPr algn="l">
              <a:defRPr sz="1800" b="0">
                <a:solidFill>
                  <a:srgbClr val="007F83"/>
                </a:solidFill>
                <a:latin typeface="Segoe UI"/>
                <a:ea typeface="Segoe UI"/>
                <a:cs typeface="Segoe UI"/>
              </a:defRPr>
            </a:lvl1pPr>
            <a:lvl2pPr algn="l">
              <a:defRPr sz="1800" b="0">
                <a:solidFill>
                  <a:srgbClr val="007F83"/>
                </a:solidFill>
                <a:latin typeface="Segoe UI"/>
                <a:ea typeface="Segoe UI"/>
                <a:cs typeface="Segoe UI"/>
              </a:defRPr>
            </a:lvl2pPr>
            <a:lvl3pPr algn="l">
              <a:defRPr sz="1800" b="0">
                <a:solidFill>
                  <a:srgbClr val="007F83"/>
                </a:solidFill>
                <a:latin typeface="Segoe UI"/>
                <a:ea typeface="Segoe UI"/>
                <a:cs typeface="Segoe UI"/>
              </a:defRPr>
            </a:lvl3pPr>
            <a:lvl4pPr algn="l">
              <a:defRPr sz="1800" b="0">
                <a:solidFill>
                  <a:srgbClr val="007F83"/>
                </a:solidFill>
                <a:latin typeface="Segoe UI"/>
                <a:ea typeface="Segoe UI"/>
                <a:cs typeface="Segoe UI"/>
              </a:defRPr>
            </a:lvl4pPr>
            <a:lvl5pPr algn="l">
              <a:defRPr sz="1800" b="0">
                <a:solidFill>
                  <a:srgbClr val="007F83"/>
                </a:solidFill>
                <a:latin typeface="Segoe UI"/>
                <a:ea typeface="Segoe UI"/>
                <a:cs typeface="Segoe UI"/>
              </a:defRPr>
            </a:lvl5pPr>
            <a:lvl6pPr algn="l">
              <a:defRPr sz="1800" b="0">
                <a:solidFill>
                  <a:srgbClr val="007F83"/>
                </a:solidFill>
                <a:latin typeface="Segoe UI"/>
                <a:ea typeface="Segoe UI"/>
                <a:cs typeface="Segoe UI"/>
              </a:defRPr>
            </a:lvl6pPr>
            <a:lvl7pPr algn="l">
              <a:defRPr sz="1800" b="0">
                <a:solidFill>
                  <a:srgbClr val="007F83"/>
                </a:solidFill>
                <a:latin typeface="Segoe UI"/>
                <a:ea typeface="Segoe UI"/>
                <a:cs typeface="Segoe UI"/>
              </a:defRPr>
            </a:lvl7pPr>
            <a:lvl8pPr algn="l">
              <a:defRPr sz="1800" b="0">
                <a:solidFill>
                  <a:srgbClr val="007F83"/>
                </a:solidFill>
                <a:latin typeface="Segoe UI"/>
                <a:ea typeface="Segoe UI"/>
                <a:cs typeface="Segoe UI"/>
              </a:defRPr>
            </a:lvl8pPr>
            <a:lvl9pPr algn="l">
              <a:defRPr sz="1800" b="0">
                <a:solidFill>
                  <a:srgbClr val="007F83"/>
                </a:solidFill>
                <a:latin typeface="Segoe UI"/>
                <a:ea typeface="Segoe UI"/>
                <a:cs typeface="Segoe UI"/>
              </a:defRPr>
            </a:lvl9pPr>
          </a:lstStyle>
          <a:p xmlns:a="http://schemas.openxmlformats.org/drawingml/2006/main">
            <a:pPr algn="l">
              <a:defRPr sz="1800" b="0">
                <a:solidFill>
                  <a:srgbClr val="007F83"/>
                </a:solidFill>
                <a:latin typeface="Segoe UI"/>
                <a:ea typeface="Segoe UI"/>
                <a:cs typeface="Segoe UI"/>
              </a:defRPr>
            </a:pPr>
            <a:r>
              <a:rPr sz="1800" b="0">
                <a:solidFill>
                  <a:srgbClr val="007F83"/>
                </a:solidFill>
                <a:latin typeface="Segoe UI"/>
                <a:ea typeface="Segoe UI"/>
                <a:cs typeface="Segoe UI"/>
              </a:rPr>
              <a:t>The adapter emits AG-UI events over SSE.</a:t>
            </a:r>
          </a:p>
        </p:txBody>
      </p:sp>
      <p:sp>
        <p:nvSpPr>
          <p:cNvPr id="7" name="explanation-1">
            <a:extLst xmlns:a="http://schemas.openxmlformats.org/drawingml/2006/main">
              <a:ext uri="{FF2B5EF4-FFF2-40B4-BE49-F238E27FC236}">
                <a16:creationId xmlns:a16="http://schemas.microsoft.com/office/drawing/2014/main" id="{42ADE5C4-AB26-4367-BC58-5260D39996FD}"/>
              </a:ext>
            </a:extLst>
          </p:cNvPr>
          <p:cNvSpPr>
            <a:spLocks xmlns:a="http://schemas.openxmlformats.org/drawingml/2006/main" noGrp="1"/>
          </p:cNvSpPr>
          <p:nvPr/>
        </p:nvSpPr>
        <p:spPr>
          <a:xfrm xmlns:a="http://schemas.openxmlformats.org/drawingml/2006/main">
            <a:off x="8715375" y="320040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The client controls rendering.</a:t>
            </a:r>
          </a:p>
        </p:txBody>
      </p:sp>
      <p:sp>
        <p:nvSpPr>
          <p:cNvPr id="8" name="explanation-2">
            <a:extLst xmlns:a="http://schemas.openxmlformats.org/drawingml/2006/main">
              <a:ext uri="{FF2B5EF4-FFF2-40B4-BE49-F238E27FC236}">
                <a16:creationId xmlns:a16="http://schemas.microsoft.com/office/drawing/2014/main" id="{68AD56AC-83B9-43E9-B3BC-5D433B745F7C}"/>
              </a:ext>
            </a:extLst>
          </p:cNvPr>
          <p:cNvSpPr>
            <a:spLocks xmlns:a="http://schemas.openxmlformats.org/drawingml/2006/main" noGrp="1"/>
          </p:cNvSpPr>
          <p:nvPr/>
        </p:nvSpPr>
        <p:spPr>
          <a:xfrm xmlns:a="http://schemas.openxmlformats.org/drawingml/2006/main">
            <a:off x="8715375" y="44005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Continuation identifiers still need isolation.</a:t>
            </a:r>
          </a:p>
        </p:txBody>
      </p:sp>
    </p:spTree>
    <p:extLst>
      <p:ext uri="{BB962C8B-B14F-4D97-AF65-F5344CB8AC3E}">
        <p14:creationId xmlns:p14="http://schemas.microsoft.com/office/powerpoint/2010/main" val="432590195"/>
      </p:ext>
    </p:extLst>
  </p:cSld>
  <p:extLst>
    <p:ext uri="{6950BFC3-D8DA-4A85-94F7-54DA5524770B}">
      <p188:commentRel xmlns:r="http://schemas.openxmlformats.org/officeDocument/2006/relationships" xmlns:p188="http://schemas.microsoft.com/office/powerpoint/2018/8/main" r:id="Rc9163c1ecb6642e5"/>
    </p:ext>
  </p:extLst>
</p:sld>
</file>

<file path=ppt/slides/slide6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context">
            <a:extLst xmlns:a="http://schemas.openxmlformats.org/drawingml/2006/main">
              <a:ext uri="{FF2B5EF4-FFF2-40B4-BE49-F238E27FC236}">
                <a16:creationId xmlns:a16="http://schemas.microsoft.com/office/drawing/2014/main" id="{6C9B3F2F-AF03-4DF2-80CC-AEBE31ACC31C}"/>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Hosting choices</a:t>
            </a:r>
          </a:p>
        </p:txBody>
      </p:sp>
      <p:sp>
        <p:nvSpPr>
          <p:cNvPr id="2" name="title">
            <a:extLst xmlns:a="http://schemas.openxmlformats.org/drawingml/2006/main">
              <a:ext uri="{FF2B5EF4-FFF2-40B4-BE49-F238E27FC236}">
                <a16:creationId xmlns:a16="http://schemas.microsoft.com/office/drawing/2014/main" id="{EBC56097-22DB-4001-B9AA-9F225B7CBE38}"/>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Interactive, background, and durable execution</a:t>
            </a:r>
          </a:p>
        </p:txBody>
      </p:sp>
      <p:sp>
        <p:nvSpPr>
          <p:cNvPr id="3" name="footer">
            <a:extLst xmlns:a="http://schemas.openxmlformats.org/drawingml/2006/main">
              <a:ext uri="{FF2B5EF4-FFF2-40B4-BE49-F238E27FC236}">
                <a16:creationId xmlns:a16="http://schemas.microsoft.com/office/drawing/2014/main" id="{BA339AD6-4945-48D5-B5AE-CD49322FF5A3}"/>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07  ASP.NET Core and user experience</a:t>
            </a:r>
          </a:p>
        </p:txBody>
      </p:sp>
      <p:sp>
        <p:nvSpPr>
          <p:cNvPr id="4" name="page">
            <a:extLst xmlns:a="http://schemas.openxmlformats.org/drawingml/2006/main">
              <a:ext uri="{FF2B5EF4-FFF2-40B4-BE49-F238E27FC236}">
                <a16:creationId xmlns:a16="http://schemas.microsoft.com/office/drawing/2014/main" id="{C9125DEC-4302-4AFD-8FCE-B12FB2927946}"/>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64</a:t>
            </a:r>
          </a:p>
        </p:txBody>
      </p:sp>
      <p:graphicFrame>
        <p:nvGraphicFramePr>
          <p:cNvPr id="5" name="">
            <a:extLst xmlns:a="http://schemas.openxmlformats.org/drawingml/2006/main">
              <a:ext uri="{FF2B5EF4-FFF2-40B4-BE49-F238E27FC236}">
                <a16:creationId xmlns:a16="http://schemas.microsoft.com/office/drawing/2014/main" id="{2801F0BF-B9F4-4675-A1A3-E25C1EC1E9B8}"/>
              </a:ext>
            </a:extLst>
          </p:cNvPr>
          <p:cNvGraphicFramePr/>
          <p:nvPr/>
        </p:nvGraphicFramePr>
        <p:xfrm>
          <a:off xmlns:a="http://schemas.openxmlformats.org/drawingml/2006/main" x="685800" y="1809750"/>
          <a:ext xmlns:a="http://schemas.openxmlformats.org/drawingml/2006/main" cx="10820400" cy="3259836"/>
        </p:xfrm>
        <a:graphic xmlns:a="http://schemas.openxmlformats.org/drawingml/2006/main">
          <a:graphicData uri="http://schemas.openxmlformats.org/drawingml/2006/table">
            <a:tbl>
              <a:tblPr/>
              <a:tblGrid>
                <a:gridCol w="2705100"/>
                <a:gridCol w="3462528"/>
                <a:gridCol w="4652772"/>
              </a:tblGrid>
              <a:tr h="552450">
                <a:tc>
                  <a:txBody>
                    <a:bodyPr/>
                    <a:lstStyle/>
                    <a:p>
                      <a:r>
                        <a:rPr sz="1725" b="1">
                          <a:solidFill>
                            <a:srgbClr val="FFFFFF"/>
                          </a:solidFill>
                          <a:latin typeface="Segoe UI"/>
                          <a:ea typeface="Segoe UI"/>
                          <a:cs typeface="Segoe UI"/>
                        </a:rPr>
                        <a:t>Mode</a:t>
                      </a:r>
                    </a:p>
                  </a:txBody>
                  <a:tcPr marL="133350" marR="133350" marT="114300" marB="95250" anchor="t">
                    <a:lnL w="5715">
                      <a:solidFill>
                        <a:srgbClr val="DCE5EA"/>
                      </a:solidFill>
                      <a:prstDash val="solid"/>
                    </a:lnL>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Suitable work</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Required application decision</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r>
              <a:tr h="590550">
                <a:tc>
                  <a:txBody>
                    <a:bodyPr/>
                    <a:lstStyle/>
                    <a:p>
                      <a:r>
                        <a:rPr sz="1725" b="0">
                          <a:solidFill>
                            <a:srgbClr val="34495B"/>
                          </a:solidFill>
                          <a:latin typeface="Segoe UI"/>
                          <a:ea typeface="Segoe UI"/>
                          <a:cs typeface="Segoe UI"/>
                        </a:rPr>
                        <a:t>Interactive run</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A short invoice lookup</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Deadline and cancellation semantics</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763143">
                <a:tc>
                  <a:txBody>
                    <a:bodyPr/>
                    <a:lstStyle/>
                    <a:p>
                      <a:r>
                        <a:rPr sz="1725" b="0">
                          <a:solidFill>
                            <a:srgbClr val="34495B"/>
                          </a:solidFill>
                          <a:latin typeface="Segoe UI"/>
                          <a:ea typeface="Segoe UI"/>
                          <a:cs typeface="Segoe UI"/>
                        </a:rPr>
                        <a:t>Background response</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A provider-supported long response</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Persist continuation and status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r h="763143">
                <a:tc>
                  <a:txBody>
                    <a:bodyPr/>
                    <a:lstStyle/>
                    <a:p>
                      <a:r>
                        <a:rPr sz="1725" b="0">
                          <a:solidFill>
                            <a:srgbClr val="34495B"/>
                          </a:solidFill>
                          <a:latin typeface="Segoe UI"/>
                          <a:ea typeface="Segoe UI"/>
                          <a:cs typeface="Segoe UI"/>
                        </a:rPr>
                        <a:t>Durable workflow</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A review that spans restarts or workers</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Durable state and idempotent effects</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590550">
                <a:tc>
                  <a:txBody>
                    <a:bodyPr/>
                    <a:lstStyle/>
                    <a:p>
                      <a:r>
                        <a:rPr sz="1725" b="0">
                          <a:solidFill>
                            <a:srgbClr val="34495B"/>
                          </a:solidFill>
                          <a:latin typeface="Segoe UI"/>
                          <a:ea typeface="Segoe UI"/>
                          <a:cs typeface="Segoe UI"/>
                        </a:rPr>
                        <a:t>Managed or self-hosted</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Deployment ownership</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Who owns scaling, identity, and operations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bl>
          </a:graphicData>
        </a:graphic>
      </p:graphicFrame>
    </p:spTree>
    <p:extLst>
      <p:ext uri="{BB962C8B-B14F-4D97-AF65-F5344CB8AC3E}">
        <p14:creationId xmlns:p14="http://schemas.microsoft.com/office/powerpoint/2010/main" val="1893897979"/>
      </p:ext>
    </p:extLst>
  </p:cSld>
  <p:extLst>
    <p:ext uri="{6950BFC3-D8DA-4A85-94F7-54DA5524770B}">
      <p188:commentRel xmlns:r="http://schemas.openxmlformats.org/officeDocument/2006/relationships" xmlns:p188="http://schemas.microsoft.com/office/powerpoint/2018/8/main" r:id="R68f1968941e9484a"/>
    </p:ext>
  </p:extLst>
</p:sld>
</file>

<file path=ppt/slides/slide6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4" name="context">
            <a:extLst xmlns:a="http://schemas.openxmlformats.org/drawingml/2006/main">
              <a:ext uri="{FF2B5EF4-FFF2-40B4-BE49-F238E27FC236}">
                <a16:creationId xmlns:a16="http://schemas.microsoft.com/office/drawing/2014/main" id="{0B944F5E-CC6A-4721-BB7C-EBF8A62D3F79}"/>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Lab target</a:t>
            </a:r>
          </a:p>
        </p:txBody>
      </p:sp>
      <p:sp>
        <p:nvSpPr>
          <p:cNvPr id="2" name="title">
            <a:extLst xmlns:a="http://schemas.openxmlformats.org/drawingml/2006/main">
              <a:ext uri="{FF2B5EF4-FFF2-40B4-BE49-F238E27FC236}">
                <a16:creationId xmlns:a16="http://schemas.microsoft.com/office/drawing/2014/main" id="{671ADC37-63E3-482C-B255-CAA34AD8F1F8}"/>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Lab 07: an end-to-end read experience</a:t>
            </a:r>
          </a:p>
        </p:txBody>
      </p:sp>
      <p:sp>
        <p:nvSpPr>
          <p:cNvPr id="3" name="footer">
            <a:extLst xmlns:a="http://schemas.openxmlformats.org/drawingml/2006/main">
              <a:ext uri="{FF2B5EF4-FFF2-40B4-BE49-F238E27FC236}">
                <a16:creationId xmlns:a16="http://schemas.microsoft.com/office/drawing/2014/main" id="{FB1DFCE8-D898-4EB3-961D-3B7532DE45FD}"/>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07  ASP.NET Core and user experience</a:t>
            </a:r>
          </a:p>
        </p:txBody>
      </p:sp>
      <p:sp>
        <p:nvSpPr>
          <p:cNvPr id="4" name="page">
            <a:extLst xmlns:a="http://schemas.openxmlformats.org/drawingml/2006/main">
              <a:ext uri="{FF2B5EF4-FFF2-40B4-BE49-F238E27FC236}">
                <a16:creationId xmlns:a16="http://schemas.microsoft.com/office/drawing/2014/main" id="{B04A861F-E8B5-4EA9-9AEF-E9D6533A6BA8}"/>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65</a:t>
            </a:r>
          </a:p>
        </p:txBody>
      </p:sp>
      <p:sp>
        <p:nvSpPr>
          <p:cNvPr id="5" name="implementation">
            <a:extLst xmlns:a="http://schemas.openxmlformats.org/drawingml/2006/main">
              <a:ext uri="{FF2B5EF4-FFF2-40B4-BE49-F238E27FC236}">
                <a16:creationId xmlns:a16="http://schemas.microsoft.com/office/drawing/2014/main" id="{F903CD06-FF1F-48B3-8ADC-55BD5FE33995}"/>
              </a:ext>
            </a:extLst>
          </p:cNvPr>
          <p:cNvSpPr>
            <a:spLocks xmlns:a="http://schemas.openxmlformats.org/drawingml/2006/main" noGrp="1"/>
          </p:cNvSpPr>
          <p:nvPr/>
        </p:nvSpPr>
        <p:spPr>
          <a:xfrm xmlns:a="http://schemas.openxmlformats.org/drawingml/2006/main">
            <a:off x="685800" y="1857375"/>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Implementation</a:t>
            </a:r>
          </a:p>
        </p:txBody>
      </p:sp>
      <p:sp>
        <p:nvSpPr>
          <p:cNvPr id="6" name="acceptance">
            <a:extLst xmlns:a="http://schemas.openxmlformats.org/drawingml/2006/main">
              <a:ext uri="{FF2B5EF4-FFF2-40B4-BE49-F238E27FC236}">
                <a16:creationId xmlns:a16="http://schemas.microsoft.com/office/drawing/2014/main" id="{C047A3DB-8FC0-4B90-AA1B-6601B2F81A44}"/>
              </a:ext>
            </a:extLst>
          </p:cNvPr>
          <p:cNvSpPr>
            <a:spLocks xmlns:a="http://schemas.openxmlformats.org/drawingml/2006/main" noGrp="1"/>
          </p:cNvSpPr>
          <p:nvPr/>
        </p:nvSpPr>
        <p:spPr>
          <a:xfrm xmlns:a="http://schemas.openxmlformats.org/drawingml/2006/main">
            <a:off x="7477125" y="1857375"/>
            <a:ext cx="4029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Acceptance</a:t>
            </a:r>
          </a:p>
        </p:txBody>
      </p:sp>
      <p:sp>
        <p:nvSpPr>
          <p:cNvPr id="7" name="task-0">
            <a:extLst xmlns:a="http://schemas.openxmlformats.org/drawingml/2006/main">
              <a:ext uri="{FF2B5EF4-FFF2-40B4-BE49-F238E27FC236}">
                <a16:creationId xmlns:a16="http://schemas.microsoft.com/office/drawing/2014/main" id="{6232BDB7-3F95-43C4-9573-2C5326CE7290}"/>
              </a:ext>
            </a:extLst>
          </p:cNvPr>
          <p:cNvSpPr>
            <a:spLocks xmlns:a="http://schemas.openxmlformats.org/drawingml/2006/main" noGrp="1"/>
          </p:cNvSpPr>
          <p:nvPr/>
        </p:nvSpPr>
        <p:spPr>
          <a:xfrm xmlns:a="http://schemas.openxmlformats.org/drawingml/2006/main">
            <a:off x="685800" y="2476500"/>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1. Connect the framework adapter to the AI API.</a:t>
            </a:r>
          </a:p>
        </p:txBody>
      </p:sp>
      <p:sp>
        <p:nvSpPr>
          <p:cNvPr id="8" name="task-1">
            <a:extLst xmlns:a="http://schemas.openxmlformats.org/drawingml/2006/main">
              <a:ext uri="{FF2B5EF4-FFF2-40B4-BE49-F238E27FC236}">
                <a16:creationId xmlns:a16="http://schemas.microsoft.com/office/drawing/2014/main" id="{D874C001-5936-4B9A-894E-18A6EE9E8779}"/>
              </a:ext>
            </a:extLst>
          </p:cNvPr>
          <p:cNvSpPr>
            <a:spLocks xmlns:a="http://schemas.openxmlformats.org/drawingml/2006/main" noGrp="1"/>
          </p:cNvSpPr>
          <p:nvPr/>
        </p:nvSpPr>
        <p:spPr>
          <a:xfrm xmlns:a="http://schemas.openxmlformats.org/drawingml/2006/main">
            <a:off x="685800" y="3495675"/>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2. Preserve a session across two web requests.</a:t>
            </a:r>
          </a:p>
        </p:txBody>
      </p:sp>
      <p:sp>
        <p:nvSpPr>
          <p:cNvPr id="9" name="task-2">
            <a:extLst xmlns:a="http://schemas.openxmlformats.org/drawingml/2006/main">
              <a:ext uri="{FF2B5EF4-FFF2-40B4-BE49-F238E27FC236}">
                <a16:creationId xmlns:a16="http://schemas.microsoft.com/office/drawing/2014/main" id="{4D708347-077F-4DFE-A81C-D07D95203A0C}"/>
              </a:ext>
            </a:extLst>
          </p:cNvPr>
          <p:cNvSpPr>
            <a:spLocks xmlns:a="http://schemas.openxmlformats.org/drawingml/2006/main" noGrp="1"/>
          </p:cNvSpPr>
          <p:nvPr/>
        </p:nvSpPr>
        <p:spPr>
          <a:xfrm xmlns:a="http://schemas.openxmlformats.org/drawingml/2006/main">
            <a:off x="685800" y="4514850"/>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3. Render actual run and tool events or a consistent JSON result.</a:t>
            </a:r>
          </a:p>
        </p:txBody>
      </p:sp>
      <p:sp>
        <p:nvSpPr>
          <p:cNvPr id="10" name="criterion-0">
            <a:extLst xmlns:a="http://schemas.openxmlformats.org/drawingml/2006/main">
              <a:ext uri="{FF2B5EF4-FFF2-40B4-BE49-F238E27FC236}">
                <a16:creationId xmlns:a16="http://schemas.microsoft.com/office/drawing/2014/main" id="{05375083-AFDD-4C44-AD35-1C3D4E0E1771}"/>
              </a:ext>
            </a:extLst>
          </p:cNvPr>
          <p:cNvSpPr>
            <a:spLocks xmlns:a="http://schemas.openxmlformats.org/drawingml/2006/main" noGrp="1"/>
          </p:cNvSpPr>
          <p:nvPr/>
        </p:nvSpPr>
        <p:spPr>
          <a:xfrm xmlns:a="http://schemas.openxmlformats.org/drawingml/2006/main">
            <a:off x="7477125" y="2476500"/>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The browser uses server-issued identifiers.</a:t>
            </a:r>
          </a:p>
        </p:txBody>
      </p:sp>
      <p:sp>
        <p:nvSpPr>
          <p:cNvPr id="11" name="criterion-1">
            <a:extLst xmlns:a="http://schemas.openxmlformats.org/drawingml/2006/main">
              <a:ext uri="{FF2B5EF4-FFF2-40B4-BE49-F238E27FC236}">
                <a16:creationId xmlns:a16="http://schemas.microsoft.com/office/drawing/2014/main" id="{C3AF08F7-63C2-48EC-90EF-F941945D9F34}"/>
              </a:ext>
            </a:extLst>
          </p:cNvPr>
          <p:cNvSpPr>
            <a:spLocks xmlns:a="http://schemas.openxmlformats.org/drawingml/2006/main" noGrp="1"/>
          </p:cNvSpPr>
          <p:nvPr/>
        </p:nvSpPr>
        <p:spPr>
          <a:xfrm xmlns:a="http://schemas.openxmlformats.org/drawingml/2006/main">
            <a:off x="7477125" y="3495675"/>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A read failure is visible as a failure.</a:t>
            </a:r>
          </a:p>
        </p:txBody>
      </p:sp>
      <p:sp>
        <p:nvSpPr>
          <p:cNvPr id="12" name="criterion-2">
            <a:extLst xmlns:a="http://schemas.openxmlformats.org/drawingml/2006/main">
              <a:ext uri="{FF2B5EF4-FFF2-40B4-BE49-F238E27FC236}">
                <a16:creationId xmlns:a16="http://schemas.microsoft.com/office/drawing/2014/main" id="{EF049380-D61C-4D64-922D-6C57AC4A87C5}"/>
              </a:ext>
            </a:extLst>
          </p:cNvPr>
          <p:cNvSpPr>
            <a:spLocks xmlns:a="http://schemas.openxmlformats.org/drawingml/2006/main" noGrp="1"/>
          </p:cNvSpPr>
          <p:nvPr/>
        </p:nvSpPr>
        <p:spPr>
          <a:xfrm xmlns:a="http://schemas.openxmlformats.org/drawingml/2006/main">
            <a:off x="7477125" y="4514850"/>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The answer and event stream share one run ID.</a:t>
            </a:r>
          </a:p>
        </p:txBody>
      </p:sp>
      <p:sp>
        <p:nvSpPr>
          <p:cNvPr id="13" name="lab-time">
            <a:extLst xmlns:a="http://schemas.openxmlformats.org/drawingml/2006/main">
              <a:ext uri="{FF2B5EF4-FFF2-40B4-BE49-F238E27FC236}">
                <a16:creationId xmlns:a16="http://schemas.microsoft.com/office/drawing/2014/main" id="{9BC416CE-B009-4A84-8A17-B7445EC8ADA6}"/>
              </a:ext>
            </a:extLst>
          </p:cNvPr>
          <p:cNvSpPr>
            <a:spLocks xmlns:a="http://schemas.openxmlformats.org/drawingml/2006/main" noGrp="1"/>
          </p:cNvSpPr>
          <p:nvPr/>
        </p:nvSpPr>
        <p:spPr>
          <a:xfrm xmlns:a="http://schemas.openxmlformats.org/drawingml/2006/main">
            <a:off x="685800" y="588645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17384"/>
                </a:solidFill>
                <a:latin typeface="Segoe UI"/>
                <a:ea typeface="Segoe UI"/>
                <a:cs typeface="Segoe UI"/>
              </a:defRPr>
            </a:defPPr>
            <a:lvl1pPr algn="l">
              <a:defRPr sz="1500" b="0">
                <a:solidFill>
                  <a:srgbClr val="617384"/>
                </a:solidFill>
                <a:latin typeface="Segoe UI"/>
                <a:ea typeface="Segoe UI"/>
                <a:cs typeface="Segoe UI"/>
              </a:defRPr>
            </a:lvl1pPr>
            <a:lvl2pPr algn="l">
              <a:defRPr sz="1500" b="0">
                <a:solidFill>
                  <a:srgbClr val="617384"/>
                </a:solidFill>
                <a:latin typeface="Segoe UI"/>
                <a:ea typeface="Segoe UI"/>
                <a:cs typeface="Segoe UI"/>
              </a:defRPr>
            </a:lvl2pPr>
            <a:lvl3pPr algn="l">
              <a:defRPr sz="1500" b="0">
                <a:solidFill>
                  <a:srgbClr val="617384"/>
                </a:solidFill>
                <a:latin typeface="Segoe UI"/>
                <a:ea typeface="Segoe UI"/>
                <a:cs typeface="Segoe UI"/>
              </a:defRPr>
            </a:lvl3pPr>
            <a:lvl4pPr algn="l">
              <a:defRPr sz="1500" b="0">
                <a:solidFill>
                  <a:srgbClr val="617384"/>
                </a:solidFill>
                <a:latin typeface="Segoe UI"/>
                <a:ea typeface="Segoe UI"/>
                <a:cs typeface="Segoe UI"/>
              </a:defRPr>
            </a:lvl4pPr>
            <a:lvl5pPr algn="l">
              <a:defRPr sz="1500" b="0">
                <a:solidFill>
                  <a:srgbClr val="617384"/>
                </a:solidFill>
                <a:latin typeface="Segoe UI"/>
                <a:ea typeface="Segoe UI"/>
                <a:cs typeface="Segoe UI"/>
              </a:defRPr>
            </a:lvl5pPr>
            <a:lvl6pPr algn="l">
              <a:defRPr sz="1500" b="0">
                <a:solidFill>
                  <a:srgbClr val="617384"/>
                </a:solidFill>
                <a:latin typeface="Segoe UI"/>
                <a:ea typeface="Segoe UI"/>
                <a:cs typeface="Segoe UI"/>
              </a:defRPr>
            </a:lvl6pPr>
            <a:lvl7pPr algn="l">
              <a:defRPr sz="1500" b="0">
                <a:solidFill>
                  <a:srgbClr val="617384"/>
                </a:solidFill>
                <a:latin typeface="Segoe UI"/>
                <a:ea typeface="Segoe UI"/>
                <a:cs typeface="Segoe UI"/>
              </a:defRPr>
            </a:lvl7pPr>
            <a:lvl8pPr algn="l">
              <a:defRPr sz="1500" b="0">
                <a:solidFill>
                  <a:srgbClr val="617384"/>
                </a:solidFill>
                <a:latin typeface="Segoe UI"/>
                <a:ea typeface="Segoe UI"/>
                <a:cs typeface="Segoe UI"/>
              </a:defRPr>
            </a:lvl8pPr>
            <a:lvl9pPr algn="l">
              <a:defRPr sz="1500" b="0">
                <a:solidFill>
                  <a:srgbClr val="617384"/>
                </a:solidFill>
                <a:latin typeface="Segoe UI"/>
                <a:ea typeface="Segoe UI"/>
                <a:cs typeface="Segoe UI"/>
              </a:defRPr>
            </a:lvl9pPr>
          </a:lstStyle>
          <a:p xmlns:a="http://schemas.openxmlformats.org/drawingml/2006/main">
            <a:pPr algn="l">
              <a:defRPr sz="1500" b="0">
                <a:solidFill>
                  <a:srgbClr val="617384"/>
                </a:solidFill>
                <a:latin typeface="Segoe UI"/>
                <a:ea typeface="Segoe UI"/>
                <a:cs typeface="Segoe UI"/>
              </a:defRPr>
            </a:pPr>
            <a:r>
              <a:rPr sz="1500" b="0">
                <a:solidFill>
                  <a:srgbClr val="617384"/>
                </a:solidFill>
                <a:latin typeface="Segoe UI"/>
                <a:ea typeface="Segoe UI"/>
                <a:cs typeface="Segoe UI"/>
              </a:rPr>
              <a:t>Suggested lab work: 70 minutes. Review the evidence before continuing.</a:t>
            </a:r>
          </a:p>
        </p:txBody>
      </p:sp>
    </p:spTree>
    <p:extLst>
      <p:ext uri="{BB962C8B-B14F-4D97-AF65-F5344CB8AC3E}">
        <p14:creationId xmlns:p14="http://schemas.microsoft.com/office/powerpoint/2010/main" val="594541460"/>
      </p:ext>
    </p:extLst>
  </p:cSld>
  <p:extLst>
    <p:ext uri="{6950BFC3-D8DA-4A85-94F7-54DA5524770B}">
      <p188:commentRel xmlns:r="http://schemas.openxmlformats.org/officeDocument/2006/relationships" xmlns:p188="http://schemas.microsoft.com/office/powerpoint/2018/8/main" r:id="Reb137cbd9ea64af5"/>
    </p:ext>
  </p:extLst>
</p:sld>
</file>

<file path=ppt/slides/slide66.xml><?xml version="1.0" encoding="utf-8"?>
<p:sld xmlns:p="http://schemas.openxmlformats.org/presentationml/2006/main">
  <p:cSld>
    <p:bg>
      <p:bgPr>
        <a:solidFill xmlns:a="http://schemas.openxmlformats.org/drawingml/2006/main">
          <a:srgbClr val="06182B"/>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E336E9D2-4728-4551-ABE9-46B506CE27C0}"/>
              </a:ext>
            </a:extLst>
          </p:cNvPr>
          <p:cNvPicPr>
            <a:picLocks xmlns:a="http://schemas.openxmlformats.org/drawingml/2006/main" noChangeAspect="1"/>
          </p:cNvPicPr>
          <p:nvPr/>
        </p:nvPicPr>
        <p:blipFill>
          <a:blip xmlns:r="http://schemas.openxmlformats.org/officeDocument/2006/relationships" xmlns:a="http://schemas.openxmlformats.org/drawingml/2006/main" r:embed="R401db7f7f31549e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ntext">
            <a:extLst xmlns:a="http://schemas.openxmlformats.org/drawingml/2006/main">
              <a:ext uri="{FF2B5EF4-FFF2-40B4-BE49-F238E27FC236}">
                <a16:creationId xmlns:a16="http://schemas.microsoft.com/office/drawing/2014/main" id="{706DBEA9-478C-4A73-A055-A6A3A9EAA015}"/>
              </a:ext>
            </a:extLst>
          </p:cNvPr>
          <p:cNvSpPr>
            <a:spLocks xmlns:a="http://schemas.openxmlformats.org/drawingml/2006/main" noGrp="1"/>
          </p:cNvSpPr>
          <p:nvPr/>
        </p:nvSpPr>
        <p:spPr>
          <a:xfrm xmlns:a="http://schemas.openxmlformats.org/drawingml/2006/main">
            <a:off x="647700" y="95250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73DEDC"/>
                </a:solidFill>
                <a:latin typeface="Segoe UI"/>
                <a:ea typeface="Segoe UI"/>
                <a:cs typeface="Segoe UI"/>
              </a:defRPr>
            </a:defPPr>
            <a:lvl1pPr algn="l">
              <a:defRPr sz="1500" b="1">
                <a:solidFill>
                  <a:srgbClr val="73DEDC"/>
                </a:solidFill>
                <a:latin typeface="Segoe UI"/>
                <a:ea typeface="Segoe UI"/>
                <a:cs typeface="Segoe UI"/>
              </a:defRPr>
            </a:lvl1pPr>
            <a:lvl2pPr algn="l">
              <a:defRPr sz="1500" b="1">
                <a:solidFill>
                  <a:srgbClr val="73DEDC"/>
                </a:solidFill>
                <a:latin typeface="Segoe UI"/>
                <a:ea typeface="Segoe UI"/>
                <a:cs typeface="Segoe UI"/>
              </a:defRPr>
            </a:lvl2pPr>
            <a:lvl3pPr algn="l">
              <a:defRPr sz="1500" b="1">
                <a:solidFill>
                  <a:srgbClr val="73DEDC"/>
                </a:solidFill>
                <a:latin typeface="Segoe UI"/>
                <a:ea typeface="Segoe UI"/>
                <a:cs typeface="Segoe UI"/>
              </a:defRPr>
            </a:lvl3pPr>
            <a:lvl4pPr algn="l">
              <a:defRPr sz="1500" b="1">
                <a:solidFill>
                  <a:srgbClr val="73DEDC"/>
                </a:solidFill>
                <a:latin typeface="Segoe UI"/>
                <a:ea typeface="Segoe UI"/>
                <a:cs typeface="Segoe UI"/>
              </a:defRPr>
            </a:lvl4pPr>
            <a:lvl5pPr algn="l">
              <a:defRPr sz="1500" b="1">
                <a:solidFill>
                  <a:srgbClr val="73DEDC"/>
                </a:solidFill>
                <a:latin typeface="Segoe UI"/>
                <a:ea typeface="Segoe UI"/>
                <a:cs typeface="Segoe UI"/>
              </a:defRPr>
            </a:lvl5pPr>
            <a:lvl6pPr algn="l">
              <a:defRPr sz="1500" b="1">
                <a:solidFill>
                  <a:srgbClr val="73DEDC"/>
                </a:solidFill>
                <a:latin typeface="Segoe UI"/>
                <a:ea typeface="Segoe UI"/>
                <a:cs typeface="Segoe UI"/>
              </a:defRPr>
            </a:lvl6pPr>
            <a:lvl7pPr algn="l">
              <a:defRPr sz="1500" b="1">
                <a:solidFill>
                  <a:srgbClr val="73DEDC"/>
                </a:solidFill>
                <a:latin typeface="Segoe UI"/>
                <a:ea typeface="Segoe UI"/>
                <a:cs typeface="Segoe UI"/>
              </a:defRPr>
            </a:lvl7pPr>
            <a:lvl8pPr algn="l">
              <a:defRPr sz="1500" b="1">
                <a:solidFill>
                  <a:srgbClr val="73DEDC"/>
                </a:solidFill>
                <a:latin typeface="Segoe UI"/>
                <a:ea typeface="Segoe UI"/>
                <a:cs typeface="Segoe UI"/>
              </a:defRPr>
            </a:lvl8pPr>
            <a:lvl9pPr algn="l">
              <a:defRPr sz="1500" b="1">
                <a:solidFill>
                  <a:srgbClr val="73DEDC"/>
                </a:solidFill>
                <a:latin typeface="Segoe UI"/>
                <a:ea typeface="Segoe UI"/>
                <a:cs typeface="Segoe UI"/>
              </a:defRPr>
            </a:lvl9pPr>
          </a:lstStyle>
          <a:p xmlns:a="http://schemas.openxmlformats.org/drawingml/2006/main">
            <a:pPr algn="l">
              <a:defRPr sz="1500" b="1">
                <a:solidFill>
                  <a:srgbClr val="73DEDC"/>
                </a:solidFill>
                <a:latin typeface="Segoe UI"/>
                <a:ea typeface="Segoe UI"/>
                <a:cs typeface="Segoe UI"/>
              </a:defRPr>
            </a:pPr>
            <a:r>
              <a:rPr sz="1500" b="1">
                <a:solidFill>
                  <a:srgbClr val="73DEDC"/>
                </a:solidFill>
                <a:latin typeface="Segoe UI"/>
                <a:ea typeface="Segoe UI"/>
                <a:cs typeface="Segoe UI"/>
              </a:rPr>
              <a:t>MODULE 08</a:t>
            </a:r>
          </a:p>
        </p:txBody>
      </p:sp>
      <p:sp>
        <p:nvSpPr>
          <p:cNvPr id="3" name="title">
            <a:extLst xmlns:a="http://schemas.openxmlformats.org/drawingml/2006/main">
              <a:ext uri="{FF2B5EF4-FFF2-40B4-BE49-F238E27FC236}">
                <a16:creationId xmlns:a16="http://schemas.microsoft.com/office/drawing/2014/main" id="{CC884D53-F5D8-4923-92BC-2FDE0BBC4B62}"/>
              </a:ext>
            </a:extLst>
          </p:cNvPr>
          <p:cNvSpPr>
            <a:spLocks xmlns:a="http://schemas.openxmlformats.org/drawingml/2006/main" noGrp="1"/>
          </p:cNvSpPr>
          <p:nvPr/>
        </p:nvSpPr>
        <p:spPr>
          <a:xfrm xmlns:a="http://schemas.openxmlformats.org/drawingml/2006/main">
            <a:off x="647700" y="1809750"/>
            <a:ext cx="6858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Segoe UI"/>
                <a:ea typeface="Segoe UI"/>
                <a:cs typeface="Segoe UI"/>
              </a:defRPr>
            </a:defPPr>
            <a:lvl1pPr algn="l">
              <a:defRPr sz="3900" b="1">
                <a:solidFill>
                  <a:srgbClr val="FFFFFF"/>
                </a:solidFill>
                <a:latin typeface="Segoe UI"/>
                <a:ea typeface="Segoe UI"/>
                <a:cs typeface="Segoe UI"/>
              </a:defRPr>
            </a:lvl1pPr>
            <a:lvl2pPr algn="l">
              <a:defRPr sz="3900" b="1">
                <a:solidFill>
                  <a:srgbClr val="FFFFFF"/>
                </a:solidFill>
                <a:latin typeface="Segoe UI"/>
                <a:ea typeface="Segoe UI"/>
                <a:cs typeface="Segoe UI"/>
              </a:defRPr>
            </a:lvl2pPr>
            <a:lvl3pPr algn="l">
              <a:defRPr sz="3900" b="1">
                <a:solidFill>
                  <a:srgbClr val="FFFFFF"/>
                </a:solidFill>
                <a:latin typeface="Segoe UI"/>
                <a:ea typeface="Segoe UI"/>
                <a:cs typeface="Segoe UI"/>
              </a:defRPr>
            </a:lvl3pPr>
            <a:lvl4pPr algn="l">
              <a:defRPr sz="3900" b="1">
                <a:solidFill>
                  <a:srgbClr val="FFFFFF"/>
                </a:solidFill>
                <a:latin typeface="Segoe UI"/>
                <a:ea typeface="Segoe UI"/>
                <a:cs typeface="Segoe UI"/>
              </a:defRPr>
            </a:lvl4pPr>
            <a:lvl5pPr algn="l">
              <a:defRPr sz="3900" b="1">
                <a:solidFill>
                  <a:srgbClr val="FFFFFF"/>
                </a:solidFill>
                <a:latin typeface="Segoe UI"/>
                <a:ea typeface="Segoe UI"/>
                <a:cs typeface="Segoe UI"/>
              </a:defRPr>
            </a:lvl5pPr>
            <a:lvl6pPr algn="l">
              <a:defRPr sz="3900" b="1">
                <a:solidFill>
                  <a:srgbClr val="FFFFFF"/>
                </a:solidFill>
                <a:latin typeface="Segoe UI"/>
                <a:ea typeface="Segoe UI"/>
                <a:cs typeface="Segoe UI"/>
              </a:defRPr>
            </a:lvl6pPr>
            <a:lvl7pPr algn="l">
              <a:defRPr sz="3900" b="1">
                <a:solidFill>
                  <a:srgbClr val="FFFFFF"/>
                </a:solidFill>
                <a:latin typeface="Segoe UI"/>
                <a:ea typeface="Segoe UI"/>
                <a:cs typeface="Segoe UI"/>
              </a:defRPr>
            </a:lvl7pPr>
            <a:lvl8pPr algn="l">
              <a:defRPr sz="3900" b="1">
                <a:solidFill>
                  <a:srgbClr val="FFFFFF"/>
                </a:solidFill>
                <a:latin typeface="Segoe UI"/>
                <a:ea typeface="Segoe UI"/>
                <a:cs typeface="Segoe UI"/>
              </a:defRPr>
            </a:lvl8pPr>
            <a:lvl9pPr algn="l">
              <a:defRPr sz="3900" b="1">
                <a:solidFill>
                  <a:srgbClr val="FFFFFF"/>
                </a:solidFill>
                <a:latin typeface="Segoe UI"/>
                <a:ea typeface="Segoe UI"/>
                <a:cs typeface="Segoe UI"/>
              </a:defRPr>
            </a:lvl9pPr>
          </a:lstStyle>
          <a:p xmlns:a="http://schemas.openxmlformats.org/drawingml/2006/main">
            <a:pPr algn="l">
              <a:defRPr sz="3900" b="1">
                <a:solidFill>
                  <a:srgbClr val="FFFFFF"/>
                </a:solidFill>
                <a:latin typeface="Segoe UI"/>
                <a:ea typeface="Segoe UI"/>
                <a:cs typeface="Segoe UI"/>
              </a:defRPr>
            </a:pPr>
            <a:r>
              <a:rPr sz="3900" b="1">
                <a:solidFill>
                  <a:srgbClr val="FFFFFF"/>
                </a:solidFill>
                <a:latin typeface="Segoe UI"/>
                <a:ea typeface="Segoe UI"/>
                <a:cs typeface="Segoe UI"/>
              </a:rPr>
              <a:t>Security and controlled writes</a:t>
            </a:r>
          </a:p>
        </p:txBody>
      </p:sp>
      <p:sp>
        <p:nvSpPr>
          <p:cNvPr id="4" name="subtitle">
            <a:extLst xmlns:a="http://schemas.openxmlformats.org/drawingml/2006/main">
              <a:ext uri="{FF2B5EF4-FFF2-40B4-BE49-F238E27FC236}">
                <a16:creationId xmlns:a16="http://schemas.microsoft.com/office/drawing/2014/main" id="{8C179DF0-5152-4823-8E0B-0AA5397562AF}"/>
              </a:ext>
            </a:extLst>
          </p:cNvPr>
          <p:cNvSpPr>
            <a:spLocks xmlns:a="http://schemas.openxmlformats.org/drawingml/2006/main" noGrp="1"/>
          </p:cNvSpPr>
          <p:nvPr/>
        </p:nvSpPr>
        <p:spPr>
          <a:xfrm xmlns:a="http://schemas.openxmlformats.org/drawingml/2006/main">
            <a:off x="647700" y="4000500"/>
            <a:ext cx="619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D9E6F0"/>
                </a:solidFill>
                <a:latin typeface="Segoe UI"/>
                <a:ea typeface="Segoe UI"/>
                <a:cs typeface="Segoe UI"/>
              </a:defRPr>
            </a:defPPr>
            <a:lvl1pPr algn="l">
              <a:defRPr sz="2025" b="0">
                <a:solidFill>
                  <a:srgbClr val="D9E6F0"/>
                </a:solidFill>
                <a:latin typeface="Segoe UI"/>
                <a:ea typeface="Segoe UI"/>
                <a:cs typeface="Segoe UI"/>
              </a:defRPr>
            </a:lvl1pPr>
            <a:lvl2pPr algn="l">
              <a:defRPr sz="2025" b="0">
                <a:solidFill>
                  <a:srgbClr val="D9E6F0"/>
                </a:solidFill>
                <a:latin typeface="Segoe UI"/>
                <a:ea typeface="Segoe UI"/>
                <a:cs typeface="Segoe UI"/>
              </a:defRPr>
            </a:lvl2pPr>
            <a:lvl3pPr algn="l">
              <a:defRPr sz="2025" b="0">
                <a:solidFill>
                  <a:srgbClr val="D9E6F0"/>
                </a:solidFill>
                <a:latin typeface="Segoe UI"/>
                <a:ea typeface="Segoe UI"/>
                <a:cs typeface="Segoe UI"/>
              </a:defRPr>
            </a:lvl3pPr>
            <a:lvl4pPr algn="l">
              <a:defRPr sz="2025" b="0">
                <a:solidFill>
                  <a:srgbClr val="D9E6F0"/>
                </a:solidFill>
                <a:latin typeface="Segoe UI"/>
                <a:ea typeface="Segoe UI"/>
                <a:cs typeface="Segoe UI"/>
              </a:defRPr>
            </a:lvl4pPr>
            <a:lvl5pPr algn="l">
              <a:defRPr sz="2025" b="0">
                <a:solidFill>
                  <a:srgbClr val="D9E6F0"/>
                </a:solidFill>
                <a:latin typeface="Segoe UI"/>
                <a:ea typeface="Segoe UI"/>
                <a:cs typeface="Segoe UI"/>
              </a:defRPr>
            </a:lvl5pPr>
            <a:lvl6pPr algn="l">
              <a:defRPr sz="2025" b="0">
                <a:solidFill>
                  <a:srgbClr val="D9E6F0"/>
                </a:solidFill>
                <a:latin typeface="Segoe UI"/>
                <a:ea typeface="Segoe UI"/>
                <a:cs typeface="Segoe UI"/>
              </a:defRPr>
            </a:lvl6pPr>
            <a:lvl7pPr algn="l">
              <a:defRPr sz="2025" b="0">
                <a:solidFill>
                  <a:srgbClr val="D9E6F0"/>
                </a:solidFill>
                <a:latin typeface="Segoe UI"/>
                <a:ea typeface="Segoe UI"/>
                <a:cs typeface="Segoe UI"/>
              </a:defRPr>
            </a:lvl7pPr>
            <a:lvl8pPr algn="l">
              <a:defRPr sz="2025" b="0">
                <a:solidFill>
                  <a:srgbClr val="D9E6F0"/>
                </a:solidFill>
                <a:latin typeface="Segoe UI"/>
                <a:ea typeface="Segoe UI"/>
                <a:cs typeface="Segoe UI"/>
              </a:defRPr>
            </a:lvl8pPr>
            <a:lvl9pPr algn="l">
              <a:defRPr sz="2025" b="0">
                <a:solidFill>
                  <a:srgbClr val="D9E6F0"/>
                </a:solidFill>
                <a:latin typeface="Segoe UI"/>
                <a:ea typeface="Segoe UI"/>
                <a:cs typeface="Segoe UI"/>
              </a:defRPr>
            </a:lvl9pPr>
          </a:lstStyle>
          <a:p xmlns:a="http://schemas.openxmlformats.org/drawingml/2006/main">
            <a:pPr algn="l">
              <a:defRPr sz="2025" b="0">
                <a:solidFill>
                  <a:srgbClr val="D9E6F0"/>
                </a:solidFill>
                <a:latin typeface="Segoe UI"/>
                <a:ea typeface="Segoe UI"/>
                <a:cs typeface="Segoe UI"/>
              </a:defRPr>
            </a:pPr>
            <a:r>
              <a:rPr sz="2025" b="0">
                <a:solidFill>
                  <a:srgbClr val="D9E6F0"/>
                </a:solidFill>
                <a:latin typeface="Segoe UI"/>
                <a:ea typeface="Segoe UI"/>
                <a:cs typeface="Segoe UI"/>
              </a:rPr>
              <a:t>Permissions and decisions enforced before state changes</a:t>
            </a:r>
          </a:p>
        </p:txBody>
      </p:sp>
      <p:sp>
        <p:nvSpPr>
          <p:cNvPr id="5" name="footer">
            <a:extLst xmlns:a="http://schemas.openxmlformats.org/drawingml/2006/main">
              <a:ext uri="{FF2B5EF4-FFF2-40B4-BE49-F238E27FC236}">
                <a16:creationId xmlns:a16="http://schemas.microsoft.com/office/drawing/2014/main" id="{9CECF1D2-6935-4C8F-8B70-682951E7702E}"/>
              </a:ext>
            </a:extLst>
          </p:cNvPr>
          <p:cNvSpPr>
            <a:spLocks xmlns:a="http://schemas.openxmlformats.org/drawingml/2006/main" noGrp="1"/>
          </p:cNvSpPr>
          <p:nvPr/>
        </p:nvSpPr>
        <p:spPr>
          <a:xfrm xmlns:a="http://schemas.openxmlformats.org/drawingml/2006/main">
            <a:off x="647700" y="6153150"/>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BC0D2"/>
                </a:solidFill>
                <a:latin typeface="Segoe UI"/>
                <a:ea typeface="Segoe UI"/>
                <a:cs typeface="Segoe UI"/>
              </a:defRPr>
            </a:defPPr>
            <a:lvl1pPr algn="l">
              <a:defRPr sz="1275" b="0">
                <a:solidFill>
                  <a:srgbClr val="ABC0D2"/>
                </a:solidFill>
                <a:latin typeface="Segoe UI"/>
                <a:ea typeface="Segoe UI"/>
                <a:cs typeface="Segoe UI"/>
              </a:defRPr>
            </a:lvl1pPr>
            <a:lvl2pPr algn="l">
              <a:defRPr sz="1275" b="0">
                <a:solidFill>
                  <a:srgbClr val="ABC0D2"/>
                </a:solidFill>
                <a:latin typeface="Segoe UI"/>
                <a:ea typeface="Segoe UI"/>
                <a:cs typeface="Segoe UI"/>
              </a:defRPr>
            </a:lvl2pPr>
            <a:lvl3pPr algn="l">
              <a:defRPr sz="1275" b="0">
                <a:solidFill>
                  <a:srgbClr val="ABC0D2"/>
                </a:solidFill>
                <a:latin typeface="Segoe UI"/>
                <a:ea typeface="Segoe UI"/>
                <a:cs typeface="Segoe UI"/>
              </a:defRPr>
            </a:lvl3pPr>
            <a:lvl4pPr algn="l">
              <a:defRPr sz="1275" b="0">
                <a:solidFill>
                  <a:srgbClr val="ABC0D2"/>
                </a:solidFill>
                <a:latin typeface="Segoe UI"/>
                <a:ea typeface="Segoe UI"/>
                <a:cs typeface="Segoe UI"/>
              </a:defRPr>
            </a:lvl4pPr>
            <a:lvl5pPr algn="l">
              <a:defRPr sz="1275" b="0">
                <a:solidFill>
                  <a:srgbClr val="ABC0D2"/>
                </a:solidFill>
                <a:latin typeface="Segoe UI"/>
                <a:ea typeface="Segoe UI"/>
                <a:cs typeface="Segoe UI"/>
              </a:defRPr>
            </a:lvl5pPr>
            <a:lvl6pPr algn="l">
              <a:defRPr sz="1275" b="0">
                <a:solidFill>
                  <a:srgbClr val="ABC0D2"/>
                </a:solidFill>
                <a:latin typeface="Segoe UI"/>
                <a:ea typeface="Segoe UI"/>
                <a:cs typeface="Segoe UI"/>
              </a:defRPr>
            </a:lvl6pPr>
            <a:lvl7pPr algn="l">
              <a:defRPr sz="1275" b="0">
                <a:solidFill>
                  <a:srgbClr val="ABC0D2"/>
                </a:solidFill>
                <a:latin typeface="Segoe UI"/>
                <a:ea typeface="Segoe UI"/>
                <a:cs typeface="Segoe UI"/>
              </a:defRPr>
            </a:lvl7pPr>
            <a:lvl8pPr algn="l">
              <a:defRPr sz="1275" b="0">
                <a:solidFill>
                  <a:srgbClr val="ABC0D2"/>
                </a:solidFill>
                <a:latin typeface="Segoe UI"/>
                <a:ea typeface="Segoe UI"/>
                <a:cs typeface="Segoe UI"/>
              </a:defRPr>
            </a:lvl8pPr>
            <a:lvl9pPr algn="l">
              <a:defRPr sz="1275" b="0">
                <a:solidFill>
                  <a:srgbClr val="ABC0D2"/>
                </a:solidFill>
                <a:latin typeface="Segoe UI"/>
                <a:ea typeface="Segoe UI"/>
                <a:cs typeface="Segoe UI"/>
              </a:defRPr>
            </a:lvl9pPr>
          </a:lstStyle>
          <a:p xmlns:a="http://schemas.openxmlformats.org/drawingml/2006/main">
            <a:pPr algn="l">
              <a:defRPr sz="1275" b="0">
                <a:solidFill>
                  <a:srgbClr val="ABC0D2"/>
                </a:solidFill>
                <a:latin typeface="Segoe UI"/>
                <a:ea typeface="Segoe UI"/>
                <a:cs typeface="Segoe UI"/>
              </a:defRPr>
            </a:pPr>
            <a:r>
              <a:rPr sz="1275" b="0">
                <a:solidFill>
                  <a:srgbClr val="ABC0D2"/>
                </a:solidFill>
                <a:latin typeface="Segoe UI"/>
                <a:ea typeface="Segoe UI"/>
                <a:cs typeface="Segoe UI"/>
              </a:rPr>
              <a:t>3 contact hours including the module lab</a:t>
            </a:r>
          </a:p>
        </p:txBody>
      </p:sp>
      <p:sp>
        <p:nvSpPr>
          <p:cNvPr id="6" name="page">
            <a:extLst xmlns:a="http://schemas.openxmlformats.org/drawingml/2006/main">
              <a:ext uri="{FF2B5EF4-FFF2-40B4-BE49-F238E27FC236}">
                <a16:creationId xmlns:a16="http://schemas.microsoft.com/office/drawing/2014/main" id="{0FE1222C-BA59-4D96-8199-307690B40E9B}"/>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ABC0D2"/>
                </a:solidFill>
                <a:latin typeface="Segoe UI"/>
                <a:ea typeface="Segoe UI"/>
                <a:cs typeface="Segoe UI"/>
              </a:defRPr>
            </a:defPPr>
            <a:lvl1pPr algn="r">
              <a:defRPr sz="1050" b="0">
                <a:solidFill>
                  <a:srgbClr val="ABC0D2"/>
                </a:solidFill>
                <a:latin typeface="Segoe UI"/>
                <a:ea typeface="Segoe UI"/>
                <a:cs typeface="Segoe UI"/>
              </a:defRPr>
            </a:lvl1pPr>
            <a:lvl2pPr algn="r">
              <a:defRPr sz="1050" b="0">
                <a:solidFill>
                  <a:srgbClr val="ABC0D2"/>
                </a:solidFill>
                <a:latin typeface="Segoe UI"/>
                <a:ea typeface="Segoe UI"/>
                <a:cs typeface="Segoe UI"/>
              </a:defRPr>
            </a:lvl2pPr>
            <a:lvl3pPr algn="r">
              <a:defRPr sz="1050" b="0">
                <a:solidFill>
                  <a:srgbClr val="ABC0D2"/>
                </a:solidFill>
                <a:latin typeface="Segoe UI"/>
                <a:ea typeface="Segoe UI"/>
                <a:cs typeface="Segoe UI"/>
              </a:defRPr>
            </a:lvl3pPr>
            <a:lvl4pPr algn="r">
              <a:defRPr sz="1050" b="0">
                <a:solidFill>
                  <a:srgbClr val="ABC0D2"/>
                </a:solidFill>
                <a:latin typeface="Segoe UI"/>
                <a:ea typeface="Segoe UI"/>
                <a:cs typeface="Segoe UI"/>
              </a:defRPr>
            </a:lvl4pPr>
            <a:lvl5pPr algn="r">
              <a:defRPr sz="1050" b="0">
                <a:solidFill>
                  <a:srgbClr val="ABC0D2"/>
                </a:solidFill>
                <a:latin typeface="Segoe UI"/>
                <a:ea typeface="Segoe UI"/>
                <a:cs typeface="Segoe UI"/>
              </a:defRPr>
            </a:lvl5pPr>
            <a:lvl6pPr algn="r">
              <a:defRPr sz="1050" b="0">
                <a:solidFill>
                  <a:srgbClr val="ABC0D2"/>
                </a:solidFill>
                <a:latin typeface="Segoe UI"/>
                <a:ea typeface="Segoe UI"/>
                <a:cs typeface="Segoe UI"/>
              </a:defRPr>
            </a:lvl6pPr>
            <a:lvl7pPr algn="r">
              <a:defRPr sz="1050" b="0">
                <a:solidFill>
                  <a:srgbClr val="ABC0D2"/>
                </a:solidFill>
                <a:latin typeface="Segoe UI"/>
                <a:ea typeface="Segoe UI"/>
                <a:cs typeface="Segoe UI"/>
              </a:defRPr>
            </a:lvl7pPr>
            <a:lvl8pPr algn="r">
              <a:defRPr sz="1050" b="0">
                <a:solidFill>
                  <a:srgbClr val="ABC0D2"/>
                </a:solidFill>
                <a:latin typeface="Segoe UI"/>
                <a:ea typeface="Segoe UI"/>
                <a:cs typeface="Segoe UI"/>
              </a:defRPr>
            </a:lvl8pPr>
            <a:lvl9pPr algn="r">
              <a:defRPr sz="1050" b="0">
                <a:solidFill>
                  <a:srgbClr val="ABC0D2"/>
                </a:solidFill>
                <a:latin typeface="Segoe UI"/>
                <a:ea typeface="Segoe UI"/>
                <a:cs typeface="Segoe UI"/>
              </a:defRPr>
            </a:lvl9pPr>
          </a:lstStyle>
          <a:p xmlns:a="http://schemas.openxmlformats.org/drawingml/2006/main">
            <a:pPr algn="r">
              <a:defRPr sz="1050" b="0">
                <a:solidFill>
                  <a:srgbClr val="ABC0D2"/>
                </a:solidFill>
                <a:latin typeface="Segoe UI"/>
                <a:ea typeface="Segoe UI"/>
                <a:cs typeface="Segoe UI"/>
              </a:defRPr>
            </a:pPr>
            <a:r>
              <a:rPr sz="1050" b="0">
                <a:solidFill>
                  <a:srgbClr val="ABC0D2"/>
                </a:solidFill>
                <a:latin typeface="Segoe UI"/>
                <a:ea typeface="Segoe UI"/>
                <a:cs typeface="Segoe UI"/>
              </a:rPr>
              <a:t>66</a:t>
            </a:r>
          </a:p>
        </p:txBody>
      </p:sp>
    </p:spTree>
    <p:extLst>
      <p:ext uri="{BB962C8B-B14F-4D97-AF65-F5344CB8AC3E}">
        <p14:creationId xmlns:p14="http://schemas.microsoft.com/office/powerpoint/2010/main" val="1615943270"/>
      </p:ext>
    </p:extLst>
  </p:cSld>
  <p:extLst>
    <p:ext uri="{6950BFC3-D8DA-4A85-94F7-54DA5524770B}">
      <p188:commentRel xmlns:r="http://schemas.openxmlformats.org/officeDocument/2006/relationships" xmlns:p188="http://schemas.microsoft.com/office/powerpoint/2018/8/main" r:id="R8ee8486d7ecb49ff"/>
    </p:ext>
  </p:extLst>
</p:sld>
</file>

<file path=ppt/slides/slide6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EC2934D1-62BA-4A5F-ABDB-DC98D07F3623}"/>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Threat-model exercise</a:t>
            </a:r>
          </a:p>
        </p:txBody>
      </p:sp>
      <p:sp>
        <p:nvSpPr>
          <p:cNvPr id="2" name="title">
            <a:extLst xmlns:a="http://schemas.openxmlformats.org/drawingml/2006/main">
              <a:ext uri="{FF2B5EF4-FFF2-40B4-BE49-F238E27FC236}">
                <a16:creationId xmlns:a16="http://schemas.microsoft.com/office/drawing/2014/main" id="{9F17235D-E138-4071-B14A-9540D7847F2B}"/>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The InvoiceAI threat model</a:t>
            </a:r>
          </a:p>
        </p:txBody>
      </p:sp>
      <p:sp>
        <p:nvSpPr>
          <p:cNvPr id="3" name="footer">
            <a:extLst xmlns:a="http://schemas.openxmlformats.org/drawingml/2006/main">
              <a:ext uri="{FF2B5EF4-FFF2-40B4-BE49-F238E27FC236}">
                <a16:creationId xmlns:a16="http://schemas.microsoft.com/office/drawing/2014/main" id="{9C14909F-8698-4073-85B5-086DAB631A7D}"/>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08  Security and controlled writes</a:t>
            </a:r>
          </a:p>
        </p:txBody>
      </p:sp>
      <p:sp>
        <p:nvSpPr>
          <p:cNvPr id="4" name="page">
            <a:extLst xmlns:a="http://schemas.openxmlformats.org/drawingml/2006/main">
              <a:ext uri="{FF2B5EF4-FFF2-40B4-BE49-F238E27FC236}">
                <a16:creationId xmlns:a16="http://schemas.microsoft.com/office/drawing/2014/main" id="{E32A84F9-09A0-4B8E-9329-B39119ABDFF7}"/>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67</a:t>
            </a:r>
          </a:p>
        </p:txBody>
      </p:sp>
      <p:sp>
        <p:nvSpPr>
          <p:cNvPr id="5" name="label-0">
            <a:extLst xmlns:a="http://schemas.openxmlformats.org/drawingml/2006/main">
              <a:ext uri="{FF2B5EF4-FFF2-40B4-BE49-F238E27FC236}">
                <a16:creationId xmlns:a16="http://schemas.microsoft.com/office/drawing/2014/main" id="{7275E809-CA18-480D-BEB3-67FBEACF5954}"/>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Untrusted input</a:t>
            </a:r>
          </a:p>
        </p:txBody>
      </p:sp>
      <p:sp>
        <p:nvSpPr>
          <p:cNvPr id="6" name="point-0">
            <a:extLst xmlns:a="http://schemas.openxmlformats.org/drawingml/2006/main">
              <a:ext uri="{FF2B5EF4-FFF2-40B4-BE49-F238E27FC236}">
                <a16:creationId xmlns:a16="http://schemas.microsoft.com/office/drawing/2014/main" id="{4863D423-F03E-48F8-9031-F0FCF04A2872}"/>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User messages, invoice notes, documents, and tool results.</a:t>
            </a:r>
          </a:p>
        </p:txBody>
      </p:sp>
      <p:sp>
        <p:nvSpPr>
          <p:cNvPr id="7" name="label-1">
            <a:extLst xmlns:a="http://schemas.openxmlformats.org/drawingml/2006/main">
              <a:ext uri="{FF2B5EF4-FFF2-40B4-BE49-F238E27FC236}">
                <a16:creationId xmlns:a16="http://schemas.microsoft.com/office/drawing/2014/main" id="{94795297-5B71-44DE-BCAF-CCD723612EE2}"/>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Sensitive data</a:t>
            </a:r>
          </a:p>
        </p:txBody>
      </p:sp>
      <p:sp>
        <p:nvSpPr>
          <p:cNvPr id="8" name="point-1">
            <a:extLst xmlns:a="http://schemas.openxmlformats.org/drawingml/2006/main">
              <a:ext uri="{FF2B5EF4-FFF2-40B4-BE49-F238E27FC236}">
                <a16:creationId xmlns:a16="http://schemas.microsoft.com/office/drawing/2014/main" id="{9BF64037-D6AD-4D30-8D6F-9320AA218A84}"/>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Customer identities, invoice details, and conversation history.</a:t>
            </a:r>
          </a:p>
        </p:txBody>
      </p:sp>
      <p:sp>
        <p:nvSpPr>
          <p:cNvPr id="9" name="label-2">
            <a:extLst xmlns:a="http://schemas.openxmlformats.org/drawingml/2006/main">
              <a:ext uri="{FF2B5EF4-FFF2-40B4-BE49-F238E27FC236}">
                <a16:creationId xmlns:a16="http://schemas.microsoft.com/office/drawing/2014/main" id="{36B62497-B3A7-4188-BE17-3618B3B1A941}"/>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Sensitive effects</a:t>
            </a:r>
          </a:p>
        </p:txBody>
      </p:sp>
      <p:sp>
        <p:nvSpPr>
          <p:cNvPr id="10" name="point-2">
            <a:extLst xmlns:a="http://schemas.openxmlformats.org/drawingml/2006/main">
              <a:ext uri="{FF2B5EF4-FFF2-40B4-BE49-F238E27FC236}">
                <a16:creationId xmlns:a16="http://schemas.microsoft.com/office/drawing/2014/main" id="{BF547F87-06AA-4D35-A243-F88656FE3DAC}"/>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Status transitions, draft deletion, and external communication.</a:t>
            </a:r>
          </a:p>
        </p:txBody>
      </p:sp>
      <p:sp>
        <p:nvSpPr>
          <p:cNvPr id="11" name="label-3">
            <a:extLst xmlns:a="http://schemas.openxmlformats.org/drawingml/2006/main">
              <a:ext uri="{FF2B5EF4-FFF2-40B4-BE49-F238E27FC236}">
                <a16:creationId xmlns:a16="http://schemas.microsoft.com/office/drawing/2014/main" id="{6F9F95A0-74AD-40B7-9EE6-9EEA203910FA}"/>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Enforcement</a:t>
            </a:r>
          </a:p>
        </p:txBody>
      </p:sp>
      <p:sp>
        <p:nvSpPr>
          <p:cNvPr id="12" name="point-3">
            <a:extLst xmlns:a="http://schemas.openxmlformats.org/drawingml/2006/main">
              <a:ext uri="{FF2B5EF4-FFF2-40B4-BE49-F238E27FC236}">
                <a16:creationId xmlns:a16="http://schemas.microsoft.com/office/drawing/2014/main" id="{80156EAD-F6FD-4EFE-98BC-674BDB44D6A5}"/>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Server identity, narrow tools, access checks, and reviewed actions.</a:t>
            </a:r>
          </a:p>
        </p:txBody>
      </p:sp>
    </p:spTree>
    <p:extLst>
      <p:ext uri="{BB962C8B-B14F-4D97-AF65-F5344CB8AC3E}">
        <p14:creationId xmlns:p14="http://schemas.microsoft.com/office/powerpoint/2010/main" val="986439155"/>
      </p:ext>
    </p:extLst>
  </p:cSld>
  <p:extLst>
    <p:ext uri="{6950BFC3-D8DA-4A85-94F7-54DA5524770B}">
      <p188:commentRel xmlns:r="http://schemas.openxmlformats.org/officeDocument/2006/relationships" xmlns:p188="http://schemas.microsoft.com/office/powerpoint/2018/8/main" r:id="R6999daa8dc564895"/>
    </p:ext>
  </p:extLst>
</p:sld>
</file>

<file path=ppt/slides/slide6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C0BC2235-7E36-4448-BE4B-7FB3B750A1CC}"/>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Capstone requirement</a:t>
            </a:r>
          </a:p>
        </p:txBody>
      </p:sp>
      <p:sp>
        <p:nvSpPr>
          <p:cNvPr id="2" name="title">
            <a:extLst xmlns:a="http://schemas.openxmlformats.org/drawingml/2006/main">
              <a:ext uri="{FF2B5EF4-FFF2-40B4-BE49-F238E27FC236}">
                <a16:creationId xmlns:a16="http://schemas.microsoft.com/office/drawing/2014/main" id="{BA12DC55-C5F6-48E6-8185-974EA10C272B}"/>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Authorization and tenant isolation</a:t>
            </a:r>
          </a:p>
        </p:txBody>
      </p:sp>
      <p:sp>
        <p:nvSpPr>
          <p:cNvPr id="3" name="footer">
            <a:extLst xmlns:a="http://schemas.openxmlformats.org/drawingml/2006/main">
              <a:ext uri="{FF2B5EF4-FFF2-40B4-BE49-F238E27FC236}">
                <a16:creationId xmlns:a16="http://schemas.microsoft.com/office/drawing/2014/main" id="{3C136EC5-5FAF-4FA3-820F-2CE55730472A}"/>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08  Security and controlled writes</a:t>
            </a:r>
          </a:p>
        </p:txBody>
      </p:sp>
      <p:sp>
        <p:nvSpPr>
          <p:cNvPr id="4" name="page">
            <a:extLst xmlns:a="http://schemas.openxmlformats.org/drawingml/2006/main">
              <a:ext uri="{FF2B5EF4-FFF2-40B4-BE49-F238E27FC236}">
                <a16:creationId xmlns:a16="http://schemas.microsoft.com/office/drawing/2014/main" id="{33E40402-52D5-4121-AD77-91C577B71DB3}"/>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68</a:t>
            </a:r>
          </a:p>
        </p:txBody>
      </p:sp>
      <p:sp>
        <p:nvSpPr>
          <p:cNvPr id="5" name="label-0">
            <a:extLst xmlns:a="http://schemas.openxmlformats.org/drawingml/2006/main">
              <a:ext uri="{FF2B5EF4-FFF2-40B4-BE49-F238E27FC236}">
                <a16:creationId xmlns:a16="http://schemas.microsoft.com/office/drawing/2014/main" id="{9EC74CFC-BA78-4688-A999-F44B3FA7EC93}"/>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Principal</a:t>
            </a:r>
          </a:p>
        </p:txBody>
      </p:sp>
      <p:sp>
        <p:nvSpPr>
          <p:cNvPr id="6" name="point-0">
            <a:extLst xmlns:a="http://schemas.openxmlformats.org/drawingml/2006/main">
              <a:ext uri="{FF2B5EF4-FFF2-40B4-BE49-F238E27FC236}">
                <a16:creationId xmlns:a16="http://schemas.microsoft.com/office/drawing/2014/main" id="{46D4F7DD-78DB-4852-B50B-34E5F9F1AF7F}"/>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Derive actor and tenant from authenticated server context.</a:t>
            </a:r>
          </a:p>
        </p:txBody>
      </p:sp>
      <p:sp>
        <p:nvSpPr>
          <p:cNvPr id="7" name="label-1">
            <a:extLst xmlns:a="http://schemas.openxmlformats.org/drawingml/2006/main">
              <a:ext uri="{FF2B5EF4-FFF2-40B4-BE49-F238E27FC236}">
                <a16:creationId xmlns:a16="http://schemas.microsoft.com/office/drawing/2014/main" id="{2702D086-6597-4C59-A1BB-91E2F7C230FA}"/>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Read policy</a:t>
            </a:r>
          </a:p>
        </p:txBody>
      </p:sp>
      <p:sp>
        <p:nvSpPr>
          <p:cNvPr id="8" name="point-1">
            <a:extLst xmlns:a="http://schemas.openxmlformats.org/drawingml/2006/main">
              <a:ext uri="{FF2B5EF4-FFF2-40B4-BE49-F238E27FC236}">
                <a16:creationId xmlns:a16="http://schemas.microsoft.com/office/drawing/2014/main" id="{AFD065ED-153D-4DB5-9EBC-631B51B9CB69}"/>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Scope queries before results reach the model.</a:t>
            </a:r>
          </a:p>
        </p:txBody>
      </p:sp>
      <p:sp>
        <p:nvSpPr>
          <p:cNvPr id="9" name="label-2">
            <a:extLst xmlns:a="http://schemas.openxmlformats.org/drawingml/2006/main">
              <a:ext uri="{FF2B5EF4-FFF2-40B4-BE49-F238E27FC236}">
                <a16:creationId xmlns:a16="http://schemas.microsoft.com/office/drawing/2014/main" id="{7AABE71E-EE90-478D-994C-FC4CAEA2A344}"/>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Write policy</a:t>
            </a:r>
          </a:p>
        </p:txBody>
      </p:sp>
      <p:sp>
        <p:nvSpPr>
          <p:cNvPr id="10" name="point-2">
            <a:extLst xmlns:a="http://schemas.openxmlformats.org/drawingml/2006/main">
              <a:ext uri="{FF2B5EF4-FFF2-40B4-BE49-F238E27FC236}">
                <a16:creationId xmlns:a16="http://schemas.microsoft.com/office/drawing/2014/main" id="{AC77931F-D48A-480F-9D24-66C736664DD1}"/>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Reauthorize the exact operation immediately before commit.</a:t>
            </a:r>
          </a:p>
        </p:txBody>
      </p:sp>
      <p:sp>
        <p:nvSpPr>
          <p:cNvPr id="11" name="label-3">
            <a:extLst xmlns:a="http://schemas.openxmlformats.org/drawingml/2006/main">
              <a:ext uri="{FF2B5EF4-FFF2-40B4-BE49-F238E27FC236}">
                <a16:creationId xmlns:a16="http://schemas.microsoft.com/office/drawing/2014/main" id="{51755EB0-73FD-4EEF-9464-FE51FF71A5DF}"/>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Session policy</a:t>
            </a:r>
          </a:p>
        </p:txBody>
      </p:sp>
      <p:sp>
        <p:nvSpPr>
          <p:cNvPr id="12" name="point-3">
            <a:extLst xmlns:a="http://schemas.openxmlformats.org/drawingml/2006/main">
              <a:ext uri="{FF2B5EF4-FFF2-40B4-BE49-F238E27FC236}">
                <a16:creationId xmlns:a16="http://schemas.microsoft.com/office/drawing/2014/main" id="{7B72A8C6-A127-4302-AE03-14E69BBFFCC9}"/>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Bind conversation, approval, and operation IDs to ownership.</a:t>
            </a:r>
          </a:p>
        </p:txBody>
      </p:sp>
    </p:spTree>
    <p:extLst>
      <p:ext uri="{BB962C8B-B14F-4D97-AF65-F5344CB8AC3E}">
        <p14:creationId xmlns:p14="http://schemas.microsoft.com/office/powerpoint/2010/main" val="992357315"/>
      </p:ext>
    </p:extLst>
  </p:cSld>
  <p:extLst>
    <p:ext uri="{6950BFC3-D8DA-4A85-94F7-54DA5524770B}">
      <p188:commentRel xmlns:r="http://schemas.openxmlformats.org/officeDocument/2006/relationships" xmlns:p188="http://schemas.microsoft.com/office/powerpoint/2018/8/main" r:id="Ra0e428f8804b4d8e"/>
    </p:ext>
  </p:extLst>
</p:sld>
</file>

<file path=ppt/slides/slide6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4ACFF17E-D812-4E8D-A4B5-CDE744EFDFD3}"/>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Security design</a:t>
            </a:r>
          </a:p>
        </p:txBody>
      </p:sp>
      <p:sp>
        <p:nvSpPr>
          <p:cNvPr id="2" name="title">
            <a:extLst xmlns:a="http://schemas.openxmlformats.org/drawingml/2006/main">
              <a:ext uri="{FF2B5EF4-FFF2-40B4-BE49-F238E27FC236}">
                <a16:creationId xmlns:a16="http://schemas.microsoft.com/office/drawing/2014/main" id="{F4946CB0-610F-4384-A269-402276B5886B}"/>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Prompt injection and output handling</a:t>
            </a:r>
          </a:p>
        </p:txBody>
      </p:sp>
      <p:sp>
        <p:nvSpPr>
          <p:cNvPr id="3" name="footer">
            <a:extLst xmlns:a="http://schemas.openxmlformats.org/drawingml/2006/main">
              <a:ext uri="{FF2B5EF4-FFF2-40B4-BE49-F238E27FC236}">
                <a16:creationId xmlns:a16="http://schemas.microsoft.com/office/drawing/2014/main" id="{2FC0C36B-3129-4CB0-B8DC-97B950677FB2}"/>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08  Security and controlled writes</a:t>
            </a:r>
          </a:p>
        </p:txBody>
      </p:sp>
      <p:sp>
        <p:nvSpPr>
          <p:cNvPr id="4" name="page">
            <a:extLst xmlns:a="http://schemas.openxmlformats.org/drawingml/2006/main">
              <a:ext uri="{FF2B5EF4-FFF2-40B4-BE49-F238E27FC236}">
                <a16:creationId xmlns:a16="http://schemas.microsoft.com/office/drawing/2014/main" id="{B5F05557-5DDB-4156-8067-DB3A42234033}"/>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69</a:t>
            </a:r>
          </a:p>
        </p:txBody>
      </p:sp>
      <p:sp>
        <p:nvSpPr>
          <p:cNvPr id="5" name="label-0">
            <a:extLst xmlns:a="http://schemas.openxmlformats.org/drawingml/2006/main">
              <a:ext uri="{FF2B5EF4-FFF2-40B4-BE49-F238E27FC236}">
                <a16:creationId xmlns:a16="http://schemas.microsoft.com/office/drawing/2014/main" id="{DF8A0697-C665-41E5-8A07-3D172B65387D}"/>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Instructions</a:t>
            </a:r>
          </a:p>
        </p:txBody>
      </p:sp>
      <p:sp>
        <p:nvSpPr>
          <p:cNvPr id="6" name="point-0">
            <a:extLst xmlns:a="http://schemas.openxmlformats.org/drawingml/2006/main">
              <a:ext uri="{FF2B5EF4-FFF2-40B4-BE49-F238E27FC236}">
                <a16:creationId xmlns:a16="http://schemas.microsoft.com/office/drawing/2014/main" id="{44375A90-8EC9-42BE-8156-516902305C3B}"/>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Keep developer policy under server control.</a:t>
            </a:r>
          </a:p>
        </p:txBody>
      </p:sp>
      <p:sp>
        <p:nvSpPr>
          <p:cNvPr id="7" name="label-1">
            <a:extLst xmlns:a="http://schemas.openxmlformats.org/drawingml/2006/main">
              <a:ext uri="{FF2B5EF4-FFF2-40B4-BE49-F238E27FC236}">
                <a16:creationId xmlns:a16="http://schemas.microsoft.com/office/drawing/2014/main" id="{134BF856-107E-4751-B33A-DD5AE26F3ABC}"/>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Evidence</a:t>
            </a:r>
          </a:p>
        </p:txBody>
      </p:sp>
      <p:sp>
        <p:nvSpPr>
          <p:cNvPr id="8" name="point-1">
            <a:extLst xmlns:a="http://schemas.openxmlformats.org/drawingml/2006/main">
              <a:ext uri="{FF2B5EF4-FFF2-40B4-BE49-F238E27FC236}">
                <a16:creationId xmlns:a16="http://schemas.microsoft.com/office/drawing/2014/main" id="{114EB047-6E44-4A34-A7A3-B6DA76430B81}"/>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Separate retrieved data from trusted instructions.</a:t>
            </a:r>
          </a:p>
        </p:txBody>
      </p:sp>
      <p:sp>
        <p:nvSpPr>
          <p:cNvPr id="9" name="label-2">
            <a:extLst xmlns:a="http://schemas.openxmlformats.org/drawingml/2006/main">
              <a:ext uri="{FF2B5EF4-FFF2-40B4-BE49-F238E27FC236}">
                <a16:creationId xmlns:a16="http://schemas.microsoft.com/office/drawing/2014/main" id="{2F7910C3-0DC1-42D2-9E6B-D5DB5239BEE3}"/>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Capabilities</a:t>
            </a:r>
          </a:p>
        </p:txBody>
      </p:sp>
      <p:sp>
        <p:nvSpPr>
          <p:cNvPr id="10" name="point-2">
            <a:extLst xmlns:a="http://schemas.openxmlformats.org/drawingml/2006/main">
              <a:ext uri="{FF2B5EF4-FFF2-40B4-BE49-F238E27FC236}">
                <a16:creationId xmlns:a16="http://schemas.microsoft.com/office/drawing/2014/main" id="{8DEA0F17-9B6B-47C3-8C90-95C6C2D3931C}"/>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Limit accessible functions and validate arguments.</a:t>
            </a:r>
          </a:p>
        </p:txBody>
      </p:sp>
      <p:sp>
        <p:nvSpPr>
          <p:cNvPr id="11" name="label-3">
            <a:extLst xmlns:a="http://schemas.openxmlformats.org/drawingml/2006/main">
              <a:ext uri="{FF2B5EF4-FFF2-40B4-BE49-F238E27FC236}">
                <a16:creationId xmlns:a16="http://schemas.microsoft.com/office/drawing/2014/main" id="{EB3767AC-35ED-418C-8D1E-CB7D5FB1DE22}"/>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Rendering</a:t>
            </a:r>
          </a:p>
        </p:txBody>
      </p:sp>
      <p:sp>
        <p:nvSpPr>
          <p:cNvPr id="12" name="point-3">
            <a:extLst xmlns:a="http://schemas.openxmlformats.org/drawingml/2006/main">
              <a:ext uri="{FF2B5EF4-FFF2-40B4-BE49-F238E27FC236}">
                <a16:creationId xmlns:a16="http://schemas.microsoft.com/office/drawing/2014/main" id="{C7E446A9-1B70-446E-AFFE-7ACD5C889A19}"/>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Sanitize output and reject executable or unsupported payloads.</a:t>
            </a:r>
          </a:p>
        </p:txBody>
      </p:sp>
    </p:spTree>
    <p:extLst>
      <p:ext uri="{BB962C8B-B14F-4D97-AF65-F5344CB8AC3E}">
        <p14:creationId xmlns:p14="http://schemas.microsoft.com/office/powerpoint/2010/main" val="67165451"/>
      </p:ext>
    </p:extLst>
  </p:cSld>
  <p:extLst>
    <p:ext uri="{6950BFC3-D8DA-4A85-94F7-54DA5524770B}">
      <p188:commentRel xmlns:r="http://schemas.openxmlformats.org/officeDocument/2006/relationships" xmlns:p188="http://schemas.microsoft.com/office/powerpoint/2018/8/main" r:id="Redeab5c55b82478a"/>
    </p:ext>
  </p:extLst>
</p:sld>
</file>

<file path=ppt/slides/slide70.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context">
            <a:extLst xmlns:a="http://schemas.openxmlformats.org/drawingml/2006/main">
              <a:ext uri="{FF2B5EF4-FFF2-40B4-BE49-F238E27FC236}">
                <a16:creationId xmlns:a16="http://schemas.microsoft.com/office/drawing/2014/main" id="{D572C3B9-D05B-4E86-9923-B62219FDAE7C}"/>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Framework code pattern</a:t>
            </a:r>
          </a:p>
        </p:txBody>
      </p:sp>
      <p:sp>
        <p:nvSpPr>
          <p:cNvPr id="2" name="title">
            <a:extLst xmlns:a="http://schemas.openxmlformats.org/drawingml/2006/main">
              <a:ext uri="{FF2B5EF4-FFF2-40B4-BE49-F238E27FC236}">
                <a16:creationId xmlns:a16="http://schemas.microsoft.com/office/drawing/2014/main" id="{F7408734-E495-4319-A3C5-F0EFF8552A4F}"/>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Framework function approval</a:t>
            </a:r>
          </a:p>
        </p:txBody>
      </p:sp>
      <p:sp>
        <p:nvSpPr>
          <p:cNvPr id="3" name="footer">
            <a:extLst xmlns:a="http://schemas.openxmlformats.org/drawingml/2006/main">
              <a:ext uri="{FF2B5EF4-FFF2-40B4-BE49-F238E27FC236}">
                <a16:creationId xmlns:a16="http://schemas.microsoft.com/office/drawing/2014/main" id="{C78AEC5B-ECF6-4D2F-A75E-ED9807CBB24E}"/>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08  Security and controlled writes</a:t>
            </a:r>
          </a:p>
        </p:txBody>
      </p:sp>
      <p:sp>
        <p:nvSpPr>
          <p:cNvPr id="4" name="page">
            <a:extLst xmlns:a="http://schemas.openxmlformats.org/drawingml/2006/main">
              <a:ext uri="{FF2B5EF4-FFF2-40B4-BE49-F238E27FC236}">
                <a16:creationId xmlns:a16="http://schemas.microsoft.com/office/drawing/2014/main" id="{C016DF04-1E39-4EA2-939E-8F3C24CB0C73}"/>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70</a:t>
            </a:r>
          </a:p>
        </p:txBody>
      </p:sp>
      <p:sp>
        <p:nvSpPr>
          <p:cNvPr id="5" name="code">
            <a:extLst xmlns:a="http://schemas.openxmlformats.org/drawingml/2006/main">
              <a:ext uri="{FF2B5EF4-FFF2-40B4-BE49-F238E27FC236}">
                <a16:creationId xmlns:a16="http://schemas.microsoft.com/office/drawing/2014/main" id="{CA2DBB88-F884-479F-AE46-4495C880F6D4}"/>
              </a:ext>
            </a:extLst>
          </p:cNvPr>
          <p:cNvSpPr>
            <a:spLocks xmlns:a="http://schemas.openxmlformats.org/drawingml/2006/main" noGrp="1"/>
          </p:cNvSpPr>
          <p:nvPr/>
        </p:nvSpPr>
        <p:spPr>
          <a:xfrm xmlns:a="http://schemas.openxmlformats.org/drawingml/2006/main">
            <a:off x="685800" y="1857375"/>
            <a:ext cx="752475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12C43"/>
                </a:solidFill>
                <a:latin typeface="Consolas"/>
                <a:ea typeface="Consolas"/>
                <a:cs typeface="Consolas"/>
              </a:defRPr>
            </a:defPPr>
            <a:lvl1pPr algn="l">
              <a:defRPr sz="1725" b="0">
                <a:solidFill>
                  <a:srgbClr val="112C43"/>
                </a:solidFill>
                <a:latin typeface="Consolas"/>
                <a:ea typeface="Consolas"/>
                <a:cs typeface="Consolas"/>
              </a:defRPr>
            </a:lvl1pPr>
            <a:lvl2pPr algn="l">
              <a:defRPr sz="1725" b="0">
                <a:solidFill>
                  <a:srgbClr val="112C43"/>
                </a:solidFill>
                <a:latin typeface="Consolas"/>
                <a:ea typeface="Consolas"/>
                <a:cs typeface="Consolas"/>
              </a:defRPr>
            </a:lvl2pPr>
            <a:lvl3pPr algn="l">
              <a:defRPr sz="1725" b="0">
                <a:solidFill>
                  <a:srgbClr val="112C43"/>
                </a:solidFill>
                <a:latin typeface="Consolas"/>
                <a:ea typeface="Consolas"/>
                <a:cs typeface="Consolas"/>
              </a:defRPr>
            </a:lvl3pPr>
            <a:lvl4pPr algn="l">
              <a:defRPr sz="1725" b="0">
                <a:solidFill>
                  <a:srgbClr val="112C43"/>
                </a:solidFill>
                <a:latin typeface="Consolas"/>
                <a:ea typeface="Consolas"/>
                <a:cs typeface="Consolas"/>
              </a:defRPr>
            </a:lvl4pPr>
            <a:lvl5pPr algn="l">
              <a:defRPr sz="1725" b="0">
                <a:solidFill>
                  <a:srgbClr val="112C43"/>
                </a:solidFill>
                <a:latin typeface="Consolas"/>
                <a:ea typeface="Consolas"/>
                <a:cs typeface="Consolas"/>
              </a:defRPr>
            </a:lvl5pPr>
            <a:lvl6pPr algn="l">
              <a:defRPr sz="1725" b="0">
                <a:solidFill>
                  <a:srgbClr val="112C43"/>
                </a:solidFill>
                <a:latin typeface="Consolas"/>
                <a:ea typeface="Consolas"/>
                <a:cs typeface="Consolas"/>
              </a:defRPr>
            </a:lvl6pPr>
            <a:lvl7pPr algn="l">
              <a:defRPr sz="1725" b="0">
                <a:solidFill>
                  <a:srgbClr val="112C43"/>
                </a:solidFill>
                <a:latin typeface="Consolas"/>
                <a:ea typeface="Consolas"/>
                <a:cs typeface="Consolas"/>
              </a:defRPr>
            </a:lvl7pPr>
            <a:lvl8pPr algn="l">
              <a:defRPr sz="1725" b="0">
                <a:solidFill>
                  <a:srgbClr val="112C43"/>
                </a:solidFill>
                <a:latin typeface="Consolas"/>
                <a:ea typeface="Consolas"/>
                <a:cs typeface="Consolas"/>
              </a:defRPr>
            </a:lvl8pPr>
            <a:lvl9pPr algn="l">
              <a:defRPr sz="1725" b="0">
                <a:solidFill>
                  <a:srgbClr val="112C43"/>
                </a:solidFill>
                <a:latin typeface="Consolas"/>
                <a:ea typeface="Consolas"/>
                <a:cs typeface="Consolas"/>
              </a:defRPr>
            </a:lvl9pPr>
          </a:lstStyle>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AIFunction change = AIFunctionFactory.Create(</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invoiceTools.UpdateInvoiceStatus);</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AIFunction reviewed = new ApprovalRequiredAIFunction(change);</a:t>
            </a:r>
          </a:p>
          <a:p xmlns:a="http://schemas.openxmlformats.org/drawingml/2006/main">
            <a:r>
              <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Include reviewed in the agent's permitted tool list.</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var requests = response.Messages</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.SelectMany(message =&gt; message.Contents)</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.OfType&lt;ToolApprovalRequestContent&gt;();</a:t>
            </a:r>
          </a:p>
          <a:p xmlns:a="http://schemas.openxmlformats.org/drawingml/2006/main">
            <a:r>
              <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Resume with each approved/rejected response</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and the same authorized AgentSession.</a:t>
            </a:r>
          </a:p>
        </p:txBody>
      </p:sp>
      <p:sp>
        <p:nvSpPr>
          <p:cNvPr id="6" name="explanation-0">
            <a:extLst xmlns:a="http://schemas.openxmlformats.org/drawingml/2006/main">
              <a:ext uri="{FF2B5EF4-FFF2-40B4-BE49-F238E27FC236}">
                <a16:creationId xmlns:a16="http://schemas.microsoft.com/office/drawing/2014/main" id="{36CCED49-0008-41FA-B2C6-672EC22DB2FB}"/>
              </a:ext>
            </a:extLst>
          </p:cNvPr>
          <p:cNvSpPr>
            <a:spLocks xmlns:a="http://schemas.openxmlformats.org/drawingml/2006/main" noGrp="1"/>
          </p:cNvSpPr>
          <p:nvPr/>
        </p:nvSpPr>
        <p:spPr>
          <a:xfrm xmlns:a="http://schemas.openxmlformats.org/drawingml/2006/main">
            <a:off x="8715375" y="20002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83"/>
                </a:solidFill>
                <a:latin typeface="Segoe UI"/>
                <a:ea typeface="Segoe UI"/>
                <a:cs typeface="Segoe UI"/>
              </a:defRPr>
            </a:defPPr>
            <a:lvl1pPr algn="l">
              <a:defRPr sz="1800" b="0">
                <a:solidFill>
                  <a:srgbClr val="007F83"/>
                </a:solidFill>
                <a:latin typeface="Segoe UI"/>
                <a:ea typeface="Segoe UI"/>
                <a:cs typeface="Segoe UI"/>
              </a:defRPr>
            </a:lvl1pPr>
            <a:lvl2pPr algn="l">
              <a:defRPr sz="1800" b="0">
                <a:solidFill>
                  <a:srgbClr val="007F83"/>
                </a:solidFill>
                <a:latin typeface="Segoe UI"/>
                <a:ea typeface="Segoe UI"/>
                <a:cs typeface="Segoe UI"/>
              </a:defRPr>
            </a:lvl2pPr>
            <a:lvl3pPr algn="l">
              <a:defRPr sz="1800" b="0">
                <a:solidFill>
                  <a:srgbClr val="007F83"/>
                </a:solidFill>
                <a:latin typeface="Segoe UI"/>
                <a:ea typeface="Segoe UI"/>
                <a:cs typeface="Segoe UI"/>
              </a:defRPr>
            </a:lvl3pPr>
            <a:lvl4pPr algn="l">
              <a:defRPr sz="1800" b="0">
                <a:solidFill>
                  <a:srgbClr val="007F83"/>
                </a:solidFill>
                <a:latin typeface="Segoe UI"/>
                <a:ea typeface="Segoe UI"/>
                <a:cs typeface="Segoe UI"/>
              </a:defRPr>
            </a:lvl4pPr>
            <a:lvl5pPr algn="l">
              <a:defRPr sz="1800" b="0">
                <a:solidFill>
                  <a:srgbClr val="007F83"/>
                </a:solidFill>
                <a:latin typeface="Segoe UI"/>
                <a:ea typeface="Segoe UI"/>
                <a:cs typeface="Segoe UI"/>
              </a:defRPr>
            </a:lvl5pPr>
            <a:lvl6pPr algn="l">
              <a:defRPr sz="1800" b="0">
                <a:solidFill>
                  <a:srgbClr val="007F83"/>
                </a:solidFill>
                <a:latin typeface="Segoe UI"/>
                <a:ea typeface="Segoe UI"/>
                <a:cs typeface="Segoe UI"/>
              </a:defRPr>
            </a:lvl6pPr>
            <a:lvl7pPr algn="l">
              <a:defRPr sz="1800" b="0">
                <a:solidFill>
                  <a:srgbClr val="007F83"/>
                </a:solidFill>
                <a:latin typeface="Segoe UI"/>
                <a:ea typeface="Segoe UI"/>
                <a:cs typeface="Segoe UI"/>
              </a:defRPr>
            </a:lvl7pPr>
            <a:lvl8pPr algn="l">
              <a:defRPr sz="1800" b="0">
                <a:solidFill>
                  <a:srgbClr val="007F83"/>
                </a:solidFill>
                <a:latin typeface="Segoe UI"/>
                <a:ea typeface="Segoe UI"/>
                <a:cs typeface="Segoe UI"/>
              </a:defRPr>
            </a:lvl8pPr>
            <a:lvl9pPr algn="l">
              <a:defRPr sz="1800" b="0">
                <a:solidFill>
                  <a:srgbClr val="007F83"/>
                </a:solidFill>
                <a:latin typeface="Segoe UI"/>
                <a:ea typeface="Segoe UI"/>
                <a:cs typeface="Segoe UI"/>
              </a:defRPr>
            </a:lvl9pPr>
          </a:lstStyle>
          <a:p xmlns:a="http://schemas.openxmlformats.org/drawingml/2006/main">
            <a:pPr algn="l">
              <a:defRPr sz="1800" b="0">
                <a:solidFill>
                  <a:srgbClr val="007F83"/>
                </a:solidFill>
                <a:latin typeface="Segoe UI"/>
                <a:ea typeface="Segoe UI"/>
                <a:cs typeface="Segoe UI"/>
              </a:defRPr>
            </a:pPr>
            <a:r>
              <a:rPr sz="1800" b="0">
                <a:solidFill>
                  <a:srgbClr val="007F83"/>
                </a:solidFill>
                <a:latin typeface="Segoe UI"/>
                <a:ea typeface="Segoe UI"/>
                <a:cs typeface="Segoe UI"/>
              </a:rPr>
              <a:t>Pause before the tool executes.</a:t>
            </a:r>
          </a:p>
        </p:txBody>
      </p:sp>
      <p:sp>
        <p:nvSpPr>
          <p:cNvPr id="7" name="explanation-1">
            <a:extLst xmlns:a="http://schemas.openxmlformats.org/drawingml/2006/main">
              <a:ext uri="{FF2B5EF4-FFF2-40B4-BE49-F238E27FC236}">
                <a16:creationId xmlns:a16="http://schemas.microsoft.com/office/drawing/2014/main" id="{1DB1B864-93C5-4F9E-8F50-5D4E8E1DB1B9}"/>
              </a:ext>
            </a:extLst>
          </p:cNvPr>
          <p:cNvSpPr>
            <a:spLocks xmlns:a="http://schemas.openxmlformats.org/drawingml/2006/main" noGrp="1"/>
          </p:cNvSpPr>
          <p:nvPr/>
        </p:nvSpPr>
        <p:spPr>
          <a:xfrm xmlns:a="http://schemas.openxmlformats.org/drawingml/2006/main">
            <a:off x="8715375" y="320040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Render the actual tool call and arguments.</a:t>
            </a:r>
          </a:p>
        </p:txBody>
      </p:sp>
      <p:sp>
        <p:nvSpPr>
          <p:cNvPr id="8" name="explanation-2">
            <a:extLst xmlns:a="http://schemas.openxmlformats.org/drawingml/2006/main">
              <a:ext uri="{FF2B5EF4-FFF2-40B4-BE49-F238E27FC236}">
                <a16:creationId xmlns:a16="http://schemas.microsoft.com/office/drawing/2014/main" id="{DC09624C-00C3-4BFF-B998-747A431FAC7A}"/>
              </a:ext>
            </a:extLst>
          </p:cNvPr>
          <p:cNvSpPr>
            <a:spLocks xmlns:a="http://schemas.openxmlformats.org/drawingml/2006/main" noGrp="1"/>
          </p:cNvSpPr>
          <p:nvPr/>
        </p:nvSpPr>
        <p:spPr>
          <a:xfrm xmlns:a="http://schemas.openxmlformats.org/drawingml/2006/main">
            <a:off x="8715375" y="44005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Continue handling pending decisions.</a:t>
            </a:r>
          </a:p>
        </p:txBody>
      </p:sp>
    </p:spTree>
    <p:extLst>
      <p:ext uri="{BB962C8B-B14F-4D97-AF65-F5344CB8AC3E}">
        <p14:creationId xmlns:p14="http://schemas.microsoft.com/office/powerpoint/2010/main" val="1943192217"/>
      </p:ext>
    </p:extLst>
  </p:cSld>
  <p:extLst>
    <p:ext uri="{6950BFC3-D8DA-4A85-94F7-54DA5524770B}">
      <p188:commentRel xmlns:r="http://schemas.openxmlformats.org/officeDocument/2006/relationships" xmlns:p188="http://schemas.microsoft.com/office/powerpoint/2018/8/main" r:id="R8c41596c26e44711"/>
    </p:ext>
  </p:extLst>
</p:sld>
</file>

<file path=ppt/slides/slide7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B27C5595-A9BA-4C88-BE11-2F1CBEE304B5}"/>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Capstone requirement</a:t>
            </a:r>
          </a:p>
        </p:txBody>
      </p:sp>
      <p:sp>
        <p:nvSpPr>
          <p:cNvPr id="2" name="title">
            <a:extLst xmlns:a="http://schemas.openxmlformats.org/drawingml/2006/main">
              <a:ext uri="{FF2B5EF4-FFF2-40B4-BE49-F238E27FC236}">
                <a16:creationId xmlns:a16="http://schemas.microsoft.com/office/drawing/2014/main" id="{6055D9F1-8BA6-4F1E-8EA3-A9F2295356CE}"/>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Idempotency and business concurrency</a:t>
            </a:r>
          </a:p>
        </p:txBody>
      </p:sp>
      <p:sp>
        <p:nvSpPr>
          <p:cNvPr id="3" name="footer">
            <a:extLst xmlns:a="http://schemas.openxmlformats.org/drawingml/2006/main">
              <a:ext uri="{FF2B5EF4-FFF2-40B4-BE49-F238E27FC236}">
                <a16:creationId xmlns:a16="http://schemas.microsoft.com/office/drawing/2014/main" id="{0510A7FD-5C49-4EA8-8E24-5551862B576B}"/>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08  Security and controlled writes</a:t>
            </a:r>
          </a:p>
        </p:txBody>
      </p:sp>
      <p:sp>
        <p:nvSpPr>
          <p:cNvPr id="4" name="page">
            <a:extLst xmlns:a="http://schemas.openxmlformats.org/drawingml/2006/main">
              <a:ext uri="{FF2B5EF4-FFF2-40B4-BE49-F238E27FC236}">
                <a16:creationId xmlns:a16="http://schemas.microsoft.com/office/drawing/2014/main" id="{81F1D9BD-F122-4232-AD16-F2761C26472A}"/>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71</a:t>
            </a:r>
          </a:p>
        </p:txBody>
      </p:sp>
      <p:sp>
        <p:nvSpPr>
          <p:cNvPr id="5" name="label-0">
            <a:extLst xmlns:a="http://schemas.openxmlformats.org/drawingml/2006/main">
              <a:ext uri="{FF2B5EF4-FFF2-40B4-BE49-F238E27FC236}">
                <a16:creationId xmlns:a16="http://schemas.microsoft.com/office/drawing/2014/main" id="{5FB4168A-09E3-4DB1-9B6A-7355B33871B7}"/>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Bind</a:t>
            </a:r>
          </a:p>
        </p:txBody>
      </p:sp>
      <p:sp>
        <p:nvSpPr>
          <p:cNvPr id="6" name="point-0">
            <a:extLst xmlns:a="http://schemas.openxmlformats.org/drawingml/2006/main">
              <a:ext uri="{FF2B5EF4-FFF2-40B4-BE49-F238E27FC236}">
                <a16:creationId xmlns:a16="http://schemas.microsoft.com/office/drawing/2014/main" id="{2413C676-89C7-4C17-A8D9-16AA2272F4A7}"/>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Approval covers actor, invoice, target state, and operation ID.</a:t>
            </a:r>
          </a:p>
        </p:txBody>
      </p:sp>
      <p:sp>
        <p:nvSpPr>
          <p:cNvPr id="7" name="label-1">
            <a:extLst xmlns:a="http://schemas.openxmlformats.org/drawingml/2006/main">
              <a:ext uri="{FF2B5EF4-FFF2-40B4-BE49-F238E27FC236}">
                <a16:creationId xmlns:a16="http://schemas.microsoft.com/office/drawing/2014/main" id="{E20873A8-B095-4884-9519-5E41FD80BCB7}"/>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Recheck</a:t>
            </a:r>
          </a:p>
        </p:txBody>
      </p:sp>
      <p:sp>
        <p:nvSpPr>
          <p:cNvPr id="8" name="point-1">
            <a:extLst xmlns:a="http://schemas.openxmlformats.org/drawingml/2006/main">
              <a:ext uri="{FF2B5EF4-FFF2-40B4-BE49-F238E27FC236}">
                <a16:creationId xmlns:a16="http://schemas.microsoft.com/office/drawing/2014/main" id="{7392E772-B842-409B-A66C-3C795A6556C3}"/>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Reject a stale proposal when relevant state has changed.</a:t>
            </a:r>
          </a:p>
        </p:txBody>
      </p:sp>
      <p:sp>
        <p:nvSpPr>
          <p:cNvPr id="9" name="label-2">
            <a:extLst xmlns:a="http://schemas.openxmlformats.org/drawingml/2006/main">
              <a:ext uri="{FF2B5EF4-FFF2-40B4-BE49-F238E27FC236}">
                <a16:creationId xmlns:a16="http://schemas.microsoft.com/office/drawing/2014/main" id="{63BEA0F2-DB2E-4268-B3F3-91DB22373A83}"/>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Deduplicate</a:t>
            </a:r>
          </a:p>
        </p:txBody>
      </p:sp>
      <p:sp>
        <p:nvSpPr>
          <p:cNvPr id="10" name="point-2">
            <a:extLst xmlns:a="http://schemas.openxmlformats.org/drawingml/2006/main">
              <a:ext uri="{FF2B5EF4-FFF2-40B4-BE49-F238E27FC236}">
                <a16:creationId xmlns:a16="http://schemas.microsoft.com/office/drawing/2014/main" id="{30DD1D7C-013C-4134-AF93-55672BE77F0D}"/>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Store the idempotency result at the commit boundary.</a:t>
            </a:r>
          </a:p>
        </p:txBody>
      </p:sp>
      <p:sp>
        <p:nvSpPr>
          <p:cNvPr id="11" name="label-3">
            <a:extLst xmlns:a="http://schemas.openxmlformats.org/drawingml/2006/main">
              <a:ext uri="{FF2B5EF4-FFF2-40B4-BE49-F238E27FC236}">
                <a16:creationId xmlns:a16="http://schemas.microsoft.com/office/drawing/2014/main" id="{37E11298-481A-40DD-8976-4785B8F3CB7A}"/>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Audit</a:t>
            </a:r>
          </a:p>
        </p:txBody>
      </p:sp>
      <p:sp>
        <p:nvSpPr>
          <p:cNvPr id="12" name="point-3">
            <a:extLst xmlns:a="http://schemas.openxmlformats.org/drawingml/2006/main">
              <a:ext uri="{FF2B5EF4-FFF2-40B4-BE49-F238E27FC236}">
                <a16:creationId xmlns:a16="http://schemas.microsoft.com/office/drawing/2014/main" id="{9EFB3818-DFF1-41E4-BBE1-8B2CE2F4C8AF}"/>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Record the decision and business outcome without inventing success.</a:t>
            </a:r>
          </a:p>
        </p:txBody>
      </p:sp>
    </p:spTree>
    <p:extLst>
      <p:ext uri="{BB962C8B-B14F-4D97-AF65-F5344CB8AC3E}">
        <p14:creationId xmlns:p14="http://schemas.microsoft.com/office/powerpoint/2010/main" val="387237313"/>
      </p:ext>
    </p:extLst>
  </p:cSld>
  <p:extLst>
    <p:ext uri="{6950BFC3-D8DA-4A85-94F7-54DA5524770B}">
      <p188:commentRel xmlns:r="http://schemas.openxmlformats.org/officeDocument/2006/relationships" xmlns:p188="http://schemas.microsoft.com/office/powerpoint/2018/8/main" r:id="R9aa4849403174a57"/>
    </p:ext>
  </p:extLst>
</p:sld>
</file>

<file path=ppt/slides/slide7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96281927-E114-4587-BD48-5D593C337AA2}"/>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Application policy</a:t>
            </a:r>
          </a:p>
        </p:txBody>
      </p:sp>
      <p:sp>
        <p:nvSpPr>
          <p:cNvPr id="2" name="title">
            <a:extLst xmlns:a="http://schemas.openxmlformats.org/drawingml/2006/main">
              <a:ext uri="{FF2B5EF4-FFF2-40B4-BE49-F238E27FC236}">
                <a16:creationId xmlns:a16="http://schemas.microsoft.com/office/drawing/2014/main" id="{C1E34A4C-8CA8-4C6D-BEEC-47E8F46545D9}"/>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Data handling and external dependencies</a:t>
            </a:r>
          </a:p>
        </p:txBody>
      </p:sp>
      <p:sp>
        <p:nvSpPr>
          <p:cNvPr id="3" name="footer">
            <a:extLst xmlns:a="http://schemas.openxmlformats.org/drawingml/2006/main">
              <a:ext uri="{FF2B5EF4-FFF2-40B4-BE49-F238E27FC236}">
                <a16:creationId xmlns:a16="http://schemas.microsoft.com/office/drawing/2014/main" id="{130A1CA7-7742-4ACC-8564-B27524100348}"/>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08  Security and controlled writes</a:t>
            </a:r>
          </a:p>
        </p:txBody>
      </p:sp>
      <p:sp>
        <p:nvSpPr>
          <p:cNvPr id="4" name="page">
            <a:extLst xmlns:a="http://schemas.openxmlformats.org/drawingml/2006/main">
              <a:ext uri="{FF2B5EF4-FFF2-40B4-BE49-F238E27FC236}">
                <a16:creationId xmlns:a16="http://schemas.microsoft.com/office/drawing/2014/main" id="{6450FA6B-2C8E-4FB6-9934-4DB2F620D7FA}"/>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72</a:t>
            </a:r>
          </a:p>
        </p:txBody>
      </p:sp>
      <p:sp>
        <p:nvSpPr>
          <p:cNvPr id="5" name="label-0">
            <a:extLst xmlns:a="http://schemas.openxmlformats.org/drawingml/2006/main">
              <a:ext uri="{FF2B5EF4-FFF2-40B4-BE49-F238E27FC236}">
                <a16:creationId xmlns:a16="http://schemas.microsoft.com/office/drawing/2014/main" id="{EC62572D-24D1-47A6-93EF-571275095FFF}"/>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Minimize</a:t>
            </a:r>
          </a:p>
        </p:txBody>
      </p:sp>
      <p:sp>
        <p:nvSpPr>
          <p:cNvPr id="6" name="point-0">
            <a:extLst xmlns:a="http://schemas.openxmlformats.org/drawingml/2006/main">
              <a:ext uri="{FF2B5EF4-FFF2-40B4-BE49-F238E27FC236}">
                <a16:creationId xmlns:a16="http://schemas.microsoft.com/office/drawing/2014/main" id="{AAFB7A67-93A8-47AC-8CF8-BD26384F217A}"/>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Send only the fields required for the task.</a:t>
            </a:r>
          </a:p>
        </p:txBody>
      </p:sp>
      <p:sp>
        <p:nvSpPr>
          <p:cNvPr id="7" name="label-1">
            <a:extLst xmlns:a="http://schemas.openxmlformats.org/drawingml/2006/main">
              <a:ext uri="{FF2B5EF4-FFF2-40B4-BE49-F238E27FC236}">
                <a16:creationId xmlns:a16="http://schemas.microsoft.com/office/drawing/2014/main" id="{2FBB88DF-7742-460C-886B-3128EB7D1FBC}"/>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Redact</a:t>
            </a:r>
          </a:p>
        </p:txBody>
      </p:sp>
      <p:sp>
        <p:nvSpPr>
          <p:cNvPr id="8" name="point-1">
            <a:extLst xmlns:a="http://schemas.openxmlformats.org/drawingml/2006/main">
              <a:ext uri="{FF2B5EF4-FFF2-40B4-BE49-F238E27FC236}">
                <a16:creationId xmlns:a16="http://schemas.microsoft.com/office/drawing/2014/main" id="{F0CFF26A-97F6-45C6-807E-6BFBBBFD74D4}"/>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Exclude secrets and unnecessary personal data from telemetry.</a:t>
            </a:r>
          </a:p>
        </p:txBody>
      </p:sp>
      <p:sp>
        <p:nvSpPr>
          <p:cNvPr id="9" name="label-2">
            <a:extLst xmlns:a="http://schemas.openxmlformats.org/drawingml/2006/main">
              <a:ext uri="{FF2B5EF4-FFF2-40B4-BE49-F238E27FC236}">
                <a16:creationId xmlns:a16="http://schemas.microsoft.com/office/drawing/2014/main" id="{58514E5D-EB62-4687-ACD1-DCF68B517EAC}"/>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Review</a:t>
            </a:r>
          </a:p>
        </p:txBody>
      </p:sp>
      <p:sp>
        <p:nvSpPr>
          <p:cNvPr id="10" name="point-2">
            <a:extLst xmlns:a="http://schemas.openxmlformats.org/drawingml/2006/main">
              <a:ext uri="{FF2B5EF4-FFF2-40B4-BE49-F238E27FC236}">
                <a16:creationId xmlns:a16="http://schemas.microsoft.com/office/drawing/2014/main" id="{17E4CDE2-F989-4934-B0A8-05CB7C247FF9}"/>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Check data flows to models, MCP services, and remote agents.</a:t>
            </a:r>
          </a:p>
        </p:txBody>
      </p:sp>
      <p:sp>
        <p:nvSpPr>
          <p:cNvPr id="11" name="label-3">
            <a:extLst xmlns:a="http://schemas.openxmlformats.org/drawingml/2006/main">
              <a:ext uri="{FF2B5EF4-FFF2-40B4-BE49-F238E27FC236}">
                <a16:creationId xmlns:a16="http://schemas.microsoft.com/office/drawing/2014/main" id="{FC2F31C0-6613-41ED-A7C2-9E4CA8B1A172}"/>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Retain</a:t>
            </a:r>
          </a:p>
        </p:txBody>
      </p:sp>
      <p:sp>
        <p:nvSpPr>
          <p:cNvPr id="12" name="point-3">
            <a:extLst xmlns:a="http://schemas.openxmlformats.org/drawingml/2006/main">
              <a:ext uri="{FF2B5EF4-FFF2-40B4-BE49-F238E27FC236}">
                <a16:creationId xmlns:a16="http://schemas.microsoft.com/office/drawing/2014/main" id="{28CD62CC-C063-4550-9CB1-07DB214C8B4D}"/>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Apply expiry and deletion policies to sessions and evidence.</a:t>
            </a:r>
          </a:p>
        </p:txBody>
      </p:sp>
    </p:spTree>
    <p:extLst>
      <p:ext uri="{BB962C8B-B14F-4D97-AF65-F5344CB8AC3E}">
        <p14:creationId xmlns:p14="http://schemas.microsoft.com/office/powerpoint/2010/main" val="1115146316"/>
      </p:ext>
    </p:extLst>
  </p:cSld>
  <p:extLst>
    <p:ext uri="{6950BFC3-D8DA-4A85-94F7-54DA5524770B}">
      <p188:commentRel xmlns:r="http://schemas.openxmlformats.org/officeDocument/2006/relationships" xmlns:p188="http://schemas.microsoft.com/office/powerpoint/2018/8/main" r:id="Rf7d3cee459e54eeb"/>
    </p:ext>
  </p:extLst>
</p:sld>
</file>

<file path=ppt/slides/slide7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4" name="context">
            <a:extLst xmlns:a="http://schemas.openxmlformats.org/drawingml/2006/main">
              <a:ext uri="{FF2B5EF4-FFF2-40B4-BE49-F238E27FC236}">
                <a16:creationId xmlns:a16="http://schemas.microsoft.com/office/drawing/2014/main" id="{EA55C6CE-842F-41D9-90DA-5E57F4F46B13}"/>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Lab target</a:t>
            </a:r>
          </a:p>
        </p:txBody>
      </p:sp>
      <p:sp>
        <p:nvSpPr>
          <p:cNvPr id="2" name="title">
            <a:extLst xmlns:a="http://schemas.openxmlformats.org/drawingml/2006/main">
              <a:ext uri="{FF2B5EF4-FFF2-40B4-BE49-F238E27FC236}">
                <a16:creationId xmlns:a16="http://schemas.microsoft.com/office/drawing/2014/main" id="{50D6DAFD-E30E-446F-9A3E-9659D5A1097F}"/>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Lab 08: an approved status transition</a:t>
            </a:r>
          </a:p>
        </p:txBody>
      </p:sp>
      <p:sp>
        <p:nvSpPr>
          <p:cNvPr id="3" name="footer">
            <a:extLst xmlns:a="http://schemas.openxmlformats.org/drawingml/2006/main">
              <a:ext uri="{FF2B5EF4-FFF2-40B4-BE49-F238E27FC236}">
                <a16:creationId xmlns:a16="http://schemas.microsoft.com/office/drawing/2014/main" id="{4E6D7243-EC44-405E-B6F9-456F36798437}"/>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08  Security and controlled writes</a:t>
            </a:r>
          </a:p>
        </p:txBody>
      </p:sp>
      <p:sp>
        <p:nvSpPr>
          <p:cNvPr id="4" name="page">
            <a:extLst xmlns:a="http://schemas.openxmlformats.org/drawingml/2006/main">
              <a:ext uri="{FF2B5EF4-FFF2-40B4-BE49-F238E27FC236}">
                <a16:creationId xmlns:a16="http://schemas.microsoft.com/office/drawing/2014/main" id="{B332861C-087E-4705-996E-DBB124F48695}"/>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73</a:t>
            </a:r>
          </a:p>
        </p:txBody>
      </p:sp>
      <p:sp>
        <p:nvSpPr>
          <p:cNvPr id="5" name="implementation">
            <a:extLst xmlns:a="http://schemas.openxmlformats.org/drawingml/2006/main">
              <a:ext uri="{FF2B5EF4-FFF2-40B4-BE49-F238E27FC236}">
                <a16:creationId xmlns:a16="http://schemas.microsoft.com/office/drawing/2014/main" id="{58A43430-6AC6-4700-889B-9BDC477EA473}"/>
              </a:ext>
            </a:extLst>
          </p:cNvPr>
          <p:cNvSpPr>
            <a:spLocks xmlns:a="http://schemas.openxmlformats.org/drawingml/2006/main" noGrp="1"/>
          </p:cNvSpPr>
          <p:nvPr/>
        </p:nvSpPr>
        <p:spPr>
          <a:xfrm xmlns:a="http://schemas.openxmlformats.org/drawingml/2006/main">
            <a:off x="685800" y="1857375"/>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Implementation</a:t>
            </a:r>
          </a:p>
        </p:txBody>
      </p:sp>
      <p:sp>
        <p:nvSpPr>
          <p:cNvPr id="6" name="acceptance">
            <a:extLst xmlns:a="http://schemas.openxmlformats.org/drawingml/2006/main">
              <a:ext uri="{FF2B5EF4-FFF2-40B4-BE49-F238E27FC236}">
                <a16:creationId xmlns:a16="http://schemas.microsoft.com/office/drawing/2014/main" id="{C3025D87-74FB-4300-9E85-CE6E6791C265}"/>
              </a:ext>
            </a:extLst>
          </p:cNvPr>
          <p:cNvSpPr>
            <a:spLocks xmlns:a="http://schemas.openxmlformats.org/drawingml/2006/main" noGrp="1"/>
          </p:cNvSpPr>
          <p:nvPr/>
        </p:nvSpPr>
        <p:spPr>
          <a:xfrm xmlns:a="http://schemas.openxmlformats.org/drawingml/2006/main">
            <a:off x="7477125" y="1857375"/>
            <a:ext cx="4029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Acceptance</a:t>
            </a:r>
          </a:p>
        </p:txBody>
      </p:sp>
      <p:sp>
        <p:nvSpPr>
          <p:cNvPr id="7" name="task-0">
            <a:extLst xmlns:a="http://schemas.openxmlformats.org/drawingml/2006/main">
              <a:ext uri="{FF2B5EF4-FFF2-40B4-BE49-F238E27FC236}">
                <a16:creationId xmlns:a16="http://schemas.microsoft.com/office/drawing/2014/main" id="{F22DFDF2-58C4-4B00-AFB8-1CD7EA625C83}"/>
              </a:ext>
            </a:extLst>
          </p:cNvPr>
          <p:cNvSpPr>
            <a:spLocks xmlns:a="http://schemas.openxmlformats.org/drawingml/2006/main" noGrp="1"/>
          </p:cNvSpPr>
          <p:nvPr/>
        </p:nvSpPr>
        <p:spPr>
          <a:xfrm xmlns:a="http://schemas.openxmlformats.org/drawingml/2006/main">
            <a:off x="685800" y="2476500"/>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1. Add authorization and approval for a status tool.</a:t>
            </a:r>
          </a:p>
        </p:txBody>
      </p:sp>
      <p:sp>
        <p:nvSpPr>
          <p:cNvPr id="8" name="task-1">
            <a:extLst xmlns:a="http://schemas.openxmlformats.org/drawingml/2006/main">
              <a:ext uri="{FF2B5EF4-FFF2-40B4-BE49-F238E27FC236}">
                <a16:creationId xmlns:a16="http://schemas.microsoft.com/office/drawing/2014/main" id="{E1DEBB97-0C33-46A6-82EE-9BAF51FDB1F4}"/>
              </a:ext>
            </a:extLst>
          </p:cNvPr>
          <p:cNvSpPr>
            <a:spLocks xmlns:a="http://schemas.openxmlformats.org/drawingml/2006/main" noGrp="1"/>
          </p:cNvSpPr>
          <p:nvPr/>
        </p:nvSpPr>
        <p:spPr>
          <a:xfrm xmlns:a="http://schemas.openxmlformats.org/drawingml/2006/main">
            <a:off x="685800" y="3495675"/>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2. Bind the proposal to a known invoice and operation ID.</a:t>
            </a:r>
          </a:p>
        </p:txBody>
      </p:sp>
      <p:sp>
        <p:nvSpPr>
          <p:cNvPr id="9" name="task-2">
            <a:extLst xmlns:a="http://schemas.openxmlformats.org/drawingml/2006/main">
              <a:ext uri="{FF2B5EF4-FFF2-40B4-BE49-F238E27FC236}">
                <a16:creationId xmlns:a16="http://schemas.microsoft.com/office/drawing/2014/main" id="{6EA19D9C-635B-4B9F-92C1-1F02C3E8B56A}"/>
              </a:ext>
            </a:extLst>
          </p:cNvPr>
          <p:cNvSpPr>
            <a:spLocks xmlns:a="http://schemas.openxmlformats.org/drawingml/2006/main" noGrp="1"/>
          </p:cNvSpPr>
          <p:nvPr/>
        </p:nvSpPr>
        <p:spPr>
          <a:xfrm xmlns:a="http://schemas.openxmlformats.org/drawingml/2006/main">
            <a:off x="685800" y="4514850"/>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3. Test rejection, stale state, duplicate submission, and a foreign actor.</a:t>
            </a:r>
          </a:p>
        </p:txBody>
      </p:sp>
      <p:sp>
        <p:nvSpPr>
          <p:cNvPr id="10" name="criterion-0">
            <a:extLst xmlns:a="http://schemas.openxmlformats.org/drawingml/2006/main">
              <a:ext uri="{FF2B5EF4-FFF2-40B4-BE49-F238E27FC236}">
                <a16:creationId xmlns:a16="http://schemas.microsoft.com/office/drawing/2014/main" id="{B96448AA-58CC-44A8-829E-07BD288E8D9D}"/>
              </a:ext>
            </a:extLst>
          </p:cNvPr>
          <p:cNvSpPr>
            <a:spLocks xmlns:a="http://schemas.openxmlformats.org/drawingml/2006/main" noGrp="1"/>
          </p:cNvSpPr>
          <p:nvPr/>
        </p:nvSpPr>
        <p:spPr>
          <a:xfrm xmlns:a="http://schemas.openxmlformats.org/drawingml/2006/main">
            <a:off x="7477125" y="2476500"/>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A rejected or unauthorized request performs no write.</a:t>
            </a:r>
          </a:p>
        </p:txBody>
      </p:sp>
      <p:sp>
        <p:nvSpPr>
          <p:cNvPr id="11" name="criterion-1">
            <a:extLst xmlns:a="http://schemas.openxmlformats.org/drawingml/2006/main">
              <a:ext uri="{FF2B5EF4-FFF2-40B4-BE49-F238E27FC236}">
                <a16:creationId xmlns:a16="http://schemas.microsoft.com/office/drawing/2014/main" id="{E408290E-9B9A-4908-9376-5712C20F503D}"/>
              </a:ext>
            </a:extLst>
          </p:cNvPr>
          <p:cNvSpPr>
            <a:spLocks xmlns:a="http://schemas.openxmlformats.org/drawingml/2006/main" noGrp="1"/>
          </p:cNvSpPr>
          <p:nvPr/>
        </p:nvSpPr>
        <p:spPr>
          <a:xfrm xmlns:a="http://schemas.openxmlformats.org/drawingml/2006/main">
            <a:off x="7477125" y="3495675"/>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Draft-to-Paid still fails.</a:t>
            </a:r>
          </a:p>
        </p:txBody>
      </p:sp>
      <p:sp>
        <p:nvSpPr>
          <p:cNvPr id="12" name="criterion-2">
            <a:extLst xmlns:a="http://schemas.openxmlformats.org/drawingml/2006/main">
              <a:ext uri="{FF2B5EF4-FFF2-40B4-BE49-F238E27FC236}">
                <a16:creationId xmlns:a16="http://schemas.microsoft.com/office/drawing/2014/main" id="{8831F997-4257-45B7-B929-067F96F0E2EA}"/>
              </a:ext>
            </a:extLst>
          </p:cNvPr>
          <p:cNvSpPr>
            <a:spLocks xmlns:a="http://schemas.openxmlformats.org/drawingml/2006/main" noGrp="1"/>
          </p:cNvSpPr>
          <p:nvPr/>
        </p:nvSpPr>
        <p:spPr>
          <a:xfrm xmlns:a="http://schemas.openxmlformats.org/drawingml/2006/main">
            <a:off x="7477125" y="4514850"/>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A duplicate approved request returns the recorded outcome.</a:t>
            </a:r>
          </a:p>
        </p:txBody>
      </p:sp>
      <p:sp>
        <p:nvSpPr>
          <p:cNvPr id="13" name="lab-time">
            <a:extLst xmlns:a="http://schemas.openxmlformats.org/drawingml/2006/main">
              <a:ext uri="{FF2B5EF4-FFF2-40B4-BE49-F238E27FC236}">
                <a16:creationId xmlns:a16="http://schemas.microsoft.com/office/drawing/2014/main" id="{D6601697-28EB-4D22-BD82-BD9113EF53C0}"/>
              </a:ext>
            </a:extLst>
          </p:cNvPr>
          <p:cNvSpPr>
            <a:spLocks xmlns:a="http://schemas.openxmlformats.org/drawingml/2006/main" noGrp="1"/>
          </p:cNvSpPr>
          <p:nvPr/>
        </p:nvSpPr>
        <p:spPr>
          <a:xfrm xmlns:a="http://schemas.openxmlformats.org/drawingml/2006/main">
            <a:off x="685800" y="588645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17384"/>
                </a:solidFill>
                <a:latin typeface="Segoe UI"/>
                <a:ea typeface="Segoe UI"/>
                <a:cs typeface="Segoe UI"/>
              </a:defRPr>
            </a:defPPr>
            <a:lvl1pPr algn="l">
              <a:defRPr sz="1500" b="0">
                <a:solidFill>
                  <a:srgbClr val="617384"/>
                </a:solidFill>
                <a:latin typeface="Segoe UI"/>
                <a:ea typeface="Segoe UI"/>
                <a:cs typeface="Segoe UI"/>
              </a:defRPr>
            </a:lvl1pPr>
            <a:lvl2pPr algn="l">
              <a:defRPr sz="1500" b="0">
                <a:solidFill>
                  <a:srgbClr val="617384"/>
                </a:solidFill>
                <a:latin typeface="Segoe UI"/>
                <a:ea typeface="Segoe UI"/>
                <a:cs typeface="Segoe UI"/>
              </a:defRPr>
            </a:lvl2pPr>
            <a:lvl3pPr algn="l">
              <a:defRPr sz="1500" b="0">
                <a:solidFill>
                  <a:srgbClr val="617384"/>
                </a:solidFill>
                <a:latin typeface="Segoe UI"/>
                <a:ea typeface="Segoe UI"/>
                <a:cs typeface="Segoe UI"/>
              </a:defRPr>
            </a:lvl3pPr>
            <a:lvl4pPr algn="l">
              <a:defRPr sz="1500" b="0">
                <a:solidFill>
                  <a:srgbClr val="617384"/>
                </a:solidFill>
                <a:latin typeface="Segoe UI"/>
                <a:ea typeface="Segoe UI"/>
                <a:cs typeface="Segoe UI"/>
              </a:defRPr>
            </a:lvl4pPr>
            <a:lvl5pPr algn="l">
              <a:defRPr sz="1500" b="0">
                <a:solidFill>
                  <a:srgbClr val="617384"/>
                </a:solidFill>
                <a:latin typeface="Segoe UI"/>
                <a:ea typeface="Segoe UI"/>
                <a:cs typeface="Segoe UI"/>
              </a:defRPr>
            </a:lvl5pPr>
            <a:lvl6pPr algn="l">
              <a:defRPr sz="1500" b="0">
                <a:solidFill>
                  <a:srgbClr val="617384"/>
                </a:solidFill>
                <a:latin typeface="Segoe UI"/>
                <a:ea typeface="Segoe UI"/>
                <a:cs typeface="Segoe UI"/>
              </a:defRPr>
            </a:lvl6pPr>
            <a:lvl7pPr algn="l">
              <a:defRPr sz="1500" b="0">
                <a:solidFill>
                  <a:srgbClr val="617384"/>
                </a:solidFill>
                <a:latin typeface="Segoe UI"/>
                <a:ea typeface="Segoe UI"/>
                <a:cs typeface="Segoe UI"/>
              </a:defRPr>
            </a:lvl7pPr>
            <a:lvl8pPr algn="l">
              <a:defRPr sz="1500" b="0">
                <a:solidFill>
                  <a:srgbClr val="617384"/>
                </a:solidFill>
                <a:latin typeface="Segoe UI"/>
                <a:ea typeface="Segoe UI"/>
                <a:cs typeface="Segoe UI"/>
              </a:defRPr>
            </a:lvl8pPr>
            <a:lvl9pPr algn="l">
              <a:defRPr sz="1500" b="0">
                <a:solidFill>
                  <a:srgbClr val="617384"/>
                </a:solidFill>
                <a:latin typeface="Segoe UI"/>
                <a:ea typeface="Segoe UI"/>
                <a:cs typeface="Segoe UI"/>
              </a:defRPr>
            </a:lvl9pPr>
          </a:lstStyle>
          <a:p xmlns:a="http://schemas.openxmlformats.org/drawingml/2006/main">
            <a:pPr algn="l">
              <a:defRPr sz="1500" b="0">
                <a:solidFill>
                  <a:srgbClr val="617384"/>
                </a:solidFill>
                <a:latin typeface="Segoe UI"/>
                <a:ea typeface="Segoe UI"/>
                <a:cs typeface="Segoe UI"/>
              </a:defRPr>
            </a:pPr>
            <a:r>
              <a:rPr sz="1500" b="0">
                <a:solidFill>
                  <a:srgbClr val="617384"/>
                </a:solidFill>
                <a:latin typeface="Segoe UI"/>
                <a:ea typeface="Segoe UI"/>
                <a:cs typeface="Segoe UI"/>
              </a:rPr>
              <a:t>Suggested lab work: 70 minutes. Review the evidence before continuing.</a:t>
            </a:r>
          </a:p>
        </p:txBody>
      </p:sp>
    </p:spTree>
    <p:extLst>
      <p:ext uri="{BB962C8B-B14F-4D97-AF65-F5344CB8AC3E}">
        <p14:creationId xmlns:p14="http://schemas.microsoft.com/office/powerpoint/2010/main" val="294570377"/>
      </p:ext>
    </p:extLst>
  </p:cSld>
  <p:extLst>
    <p:ext uri="{6950BFC3-D8DA-4A85-94F7-54DA5524770B}">
      <p188:commentRel xmlns:r="http://schemas.openxmlformats.org/officeDocument/2006/relationships" xmlns:p188="http://schemas.microsoft.com/office/powerpoint/2018/8/main" r:id="Rb5021964e4e246d4"/>
    </p:ext>
  </p:extLst>
</p:sld>
</file>

<file path=ppt/slides/slide74.xml><?xml version="1.0" encoding="utf-8"?>
<p:sld xmlns:p="http://schemas.openxmlformats.org/presentationml/2006/main">
  <p:cSld>
    <p:bg>
      <p:bgPr>
        <a:solidFill xmlns:a="http://schemas.openxmlformats.org/drawingml/2006/main">
          <a:srgbClr val="06182B"/>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50297025-71B9-45C0-84C0-13469AAD8F56}"/>
              </a:ext>
            </a:extLst>
          </p:cNvPr>
          <p:cNvPicPr>
            <a:picLocks xmlns:a="http://schemas.openxmlformats.org/drawingml/2006/main" noChangeAspect="1"/>
          </p:cNvPicPr>
          <p:nvPr/>
        </p:nvPicPr>
        <p:blipFill>
          <a:blip xmlns:r="http://schemas.openxmlformats.org/officeDocument/2006/relationships" xmlns:a="http://schemas.openxmlformats.org/drawingml/2006/main" r:embed="R249435e4a76f4aa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ntext">
            <a:extLst xmlns:a="http://schemas.openxmlformats.org/drawingml/2006/main">
              <a:ext uri="{FF2B5EF4-FFF2-40B4-BE49-F238E27FC236}">
                <a16:creationId xmlns:a16="http://schemas.microsoft.com/office/drawing/2014/main" id="{11EB0553-D6BD-42EF-9D2C-E7F52746F171}"/>
              </a:ext>
            </a:extLst>
          </p:cNvPr>
          <p:cNvSpPr>
            <a:spLocks xmlns:a="http://schemas.openxmlformats.org/drawingml/2006/main" noGrp="1"/>
          </p:cNvSpPr>
          <p:nvPr/>
        </p:nvSpPr>
        <p:spPr>
          <a:xfrm xmlns:a="http://schemas.openxmlformats.org/drawingml/2006/main">
            <a:off x="647700" y="95250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73DEDC"/>
                </a:solidFill>
                <a:latin typeface="Segoe UI"/>
                <a:ea typeface="Segoe UI"/>
                <a:cs typeface="Segoe UI"/>
              </a:defRPr>
            </a:defPPr>
            <a:lvl1pPr algn="l">
              <a:defRPr sz="1500" b="1">
                <a:solidFill>
                  <a:srgbClr val="73DEDC"/>
                </a:solidFill>
                <a:latin typeface="Segoe UI"/>
                <a:ea typeface="Segoe UI"/>
                <a:cs typeface="Segoe UI"/>
              </a:defRPr>
            </a:lvl1pPr>
            <a:lvl2pPr algn="l">
              <a:defRPr sz="1500" b="1">
                <a:solidFill>
                  <a:srgbClr val="73DEDC"/>
                </a:solidFill>
                <a:latin typeface="Segoe UI"/>
                <a:ea typeface="Segoe UI"/>
                <a:cs typeface="Segoe UI"/>
              </a:defRPr>
            </a:lvl2pPr>
            <a:lvl3pPr algn="l">
              <a:defRPr sz="1500" b="1">
                <a:solidFill>
                  <a:srgbClr val="73DEDC"/>
                </a:solidFill>
                <a:latin typeface="Segoe UI"/>
                <a:ea typeface="Segoe UI"/>
                <a:cs typeface="Segoe UI"/>
              </a:defRPr>
            </a:lvl3pPr>
            <a:lvl4pPr algn="l">
              <a:defRPr sz="1500" b="1">
                <a:solidFill>
                  <a:srgbClr val="73DEDC"/>
                </a:solidFill>
                <a:latin typeface="Segoe UI"/>
                <a:ea typeface="Segoe UI"/>
                <a:cs typeface="Segoe UI"/>
              </a:defRPr>
            </a:lvl4pPr>
            <a:lvl5pPr algn="l">
              <a:defRPr sz="1500" b="1">
                <a:solidFill>
                  <a:srgbClr val="73DEDC"/>
                </a:solidFill>
                <a:latin typeface="Segoe UI"/>
                <a:ea typeface="Segoe UI"/>
                <a:cs typeface="Segoe UI"/>
              </a:defRPr>
            </a:lvl5pPr>
            <a:lvl6pPr algn="l">
              <a:defRPr sz="1500" b="1">
                <a:solidFill>
                  <a:srgbClr val="73DEDC"/>
                </a:solidFill>
                <a:latin typeface="Segoe UI"/>
                <a:ea typeface="Segoe UI"/>
                <a:cs typeface="Segoe UI"/>
              </a:defRPr>
            </a:lvl6pPr>
            <a:lvl7pPr algn="l">
              <a:defRPr sz="1500" b="1">
                <a:solidFill>
                  <a:srgbClr val="73DEDC"/>
                </a:solidFill>
                <a:latin typeface="Segoe UI"/>
                <a:ea typeface="Segoe UI"/>
                <a:cs typeface="Segoe UI"/>
              </a:defRPr>
            </a:lvl7pPr>
            <a:lvl8pPr algn="l">
              <a:defRPr sz="1500" b="1">
                <a:solidFill>
                  <a:srgbClr val="73DEDC"/>
                </a:solidFill>
                <a:latin typeface="Segoe UI"/>
                <a:ea typeface="Segoe UI"/>
                <a:cs typeface="Segoe UI"/>
              </a:defRPr>
            </a:lvl8pPr>
            <a:lvl9pPr algn="l">
              <a:defRPr sz="1500" b="1">
                <a:solidFill>
                  <a:srgbClr val="73DEDC"/>
                </a:solidFill>
                <a:latin typeface="Segoe UI"/>
                <a:ea typeface="Segoe UI"/>
                <a:cs typeface="Segoe UI"/>
              </a:defRPr>
            </a:lvl9pPr>
          </a:lstStyle>
          <a:p xmlns:a="http://schemas.openxmlformats.org/drawingml/2006/main">
            <a:pPr algn="l">
              <a:defRPr sz="1500" b="1">
                <a:solidFill>
                  <a:srgbClr val="73DEDC"/>
                </a:solidFill>
                <a:latin typeface="Segoe UI"/>
                <a:ea typeface="Segoe UI"/>
                <a:cs typeface="Segoe UI"/>
              </a:defRPr>
            </a:pPr>
            <a:r>
              <a:rPr sz="1500" b="1">
                <a:solidFill>
                  <a:srgbClr val="73DEDC"/>
                </a:solidFill>
                <a:latin typeface="Segoe UI"/>
                <a:ea typeface="Segoe UI"/>
                <a:cs typeface="Segoe UI"/>
              </a:rPr>
              <a:t>MODULE 09</a:t>
            </a:r>
          </a:p>
        </p:txBody>
      </p:sp>
      <p:sp>
        <p:nvSpPr>
          <p:cNvPr id="3" name="title">
            <a:extLst xmlns:a="http://schemas.openxmlformats.org/drawingml/2006/main">
              <a:ext uri="{FF2B5EF4-FFF2-40B4-BE49-F238E27FC236}">
                <a16:creationId xmlns:a16="http://schemas.microsoft.com/office/drawing/2014/main" id="{FF13E454-4ABE-4C56-B330-377194A4E9AB}"/>
              </a:ext>
            </a:extLst>
          </p:cNvPr>
          <p:cNvSpPr>
            <a:spLocks xmlns:a="http://schemas.openxmlformats.org/drawingml/2006/main" noGrp="1"/>
          </p:cNvSpPr>
          <p:nvPr/>
        </p:nvSpPr>
        <p:spPr>
          <a:xfrm xmlns:a="http://schemas.openxmlformats.org/drawingml/2006/main">
            <a:off x="647700" y="1809750"/>
            <a:ext cx="6858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Segoe UI"/>
                <a:ea typeface="Segoe UI"/>
                <a:cs typeface="Segoe UI"/>
              </a:defRPr>
            </a:defPPr>
            <a:lvl1pPr algn="l">
              <a:defRPr sz="3900" b="1">
                <a:solidFill>
                  <a:srgbClr val="FFFFFF"/>
                </a:solidFill>
                <a:latin typeface="Segoe UI"/>
                <a:ea typeface="Segoe UI"/>
                <a:cs typeface="Segoe UI"/>
              </a:defRPr>
            </a:lvl1pPr>
            <a:lvl2pPr algn="l">
              <a:defRPr sz="3900" b="1">
                <a:solidFill>
                  <a:srgbClr val="FFFFFF"/>
                </a:solidFill>
                <a:latin typeface="Segoe UI"/>
                <a:ea typeface="Segoe UI"/>
                <a:cs typeface="Segoe UI"/>
              </a:defRPr>
            </a:lvl2pPr>
            <a:lvl3pPr algn="l">
              <a:defRPr sz="3900" b="1">
                <a:solidFill>
                  <a:srgbClr val="FFFFFF"/>
                </a:solidFill>
                <a:latin typeface="Segoe UI"/>
                <a:ea typeface="Segoe UI"/>
                <a:cs typeface="Segoe UI"/>
              </a:defRPr>
            </a:lvl3pPr>
            <a:lvl4pPr algn="l">
              <a:defRPr sz="3900" b="1">
                <a:solidFill>
                  <a:srgbClr val="FFFFFF"/>
                </a:solidFill>
                <a:latin typeface="Segoe UI"/>
                <a:ea typeface="Segoe UI"/>
                <a:cs typeface="Segoe UI"/>
              </a:defRPr>
            </a:lvl4pPr>
            <a:lvl5pPr algn="l">
              <a:defRPr sz="3900" b="1">
                <a:solidFill>
                  <a:srgbClr val="FFFFFF"/>
                </a:solidFill>
                <a:latin typeface="Segoe UI"/>
                <a:ea typeface="Segoe UI"/>
                <a:cs typeface="Segoe UI"/>
              </a:defRPr>
            </a:lvl5pPr>
            <a:lvl6pPr algn="l">
              <a:defRPr sz="3900" b="1">
                <a:solidFill>
                  <a:srgbClr val="FFFFFF"/>
                </a:solidFill>
                <a:latin typeface="Segoe UI"/>
                <a:ea typeface="Segoe UI"/>
                <a:cs typeface="Segoe UI"/>
              </a:defRPr>
            </a:lvl6pPr>
            <a:lvl7pPr algn="l">
              <a:defRPr sz="3900" b="1">
                <a:solidFill>
                  <a:srgbClr val="FFFFFF"/>
                </a:solidFill>
                <a:latin typeface="Segoe UI"/>
                <a:ea typeface="Segoe UI"/>
                <a:cs typeface="Segoe UI"/>
              </a:defRPr>
            </a:lvl7pPr>
            <a:lvl8pPr algn="l">
              <a:defRPr sz="3900" b="1">
                <a:solidFill>
                  <a:srgbClr val="FFFFFF"/>
                </a:solidFill>
                <a:latin typeface="Segoe UI"/>
                <a:ea typeface="Segoe UI"/>
                <a:cs typeface="Segoe UI"/>
              </a:defRPr>
            </a:lvl8pPr>
            <a:lvl9pPr algn="l">
              <a:defRPr sz="3900" b="1">
                <a:solidFill>
                  <a:srgbClr val="FFFFFF"/>
                </a:solidFill>
                <a:latin typeface="Segoe UI"/>
                <a:ea typeface="Segoe UI"/>
                <a:cs typeface="Segoe UI"/>
              </a:defRPr>
            </a:lvl9pPr>
          </a:lstStyle>
          <a:p xmlns:a="http://schemas.openxmlformats.org/drawingml/2006/main">
            <a:pPr algn="l">
              <a:defRPr sz="3900" b="1">
                <a:solidFill>
                  <a:srgbClr val="FFFFFF"/>
                </a:solidFill>
                <a:latin typeface="Segoe UI"/>
                <a:ea typeface="Segoe UI"/>
                <a:cs typeface="Segoe UI"/>
              </a:defRPr>
            </a:pPr>
            <a:r>
              <a:rPr sz="3900" b="1">
                <a:solidFill>
                  <a:srgbClr val="FFFFFF"/>
                </a:solidFill>
                <a:latin typeface="Segoe UI"/>
                <a:ea typeface="Segoe UI"/>
                <a:cs typeface="Segoe UI"/>
              </a:rPr>
              <a:t>Operations and reliability</a:t>
            </a:r>
          </a:p>
        </p:txBody>
      </p:sp>
      <p:sp>
        <p:nvSpPr>
          <p:cNvPr id="4" name="subtitle">
            <a:extLst xmlns:a="http://schemas.openxmlformats.org/drawingml/2006/main">
              <a:ext uri="{FF2B5EF4-FFF2-40B4-BE49-F238E27FC236}">
                <a16:creationId xmlns:a16="http://schemas.microsoft.com/office/drawing/2014/main" id="{A276DF70-B7A1-43E9-81FC-AFE685D0D9AC}"/>
              </a:ext>
            </a:extLst>
          </p:cNvPr>
          <p:cNvSpPr>
            <a:spLocks xmlns:a="http://schemas.openxmlformats.org/drawingml/2006/main" noGrp="1"/>
          </p:cNvSpPr>
          <p:nvPr/>
        </p:nvSpPr>
        <p:spPr>
          <a:xfrm xmlns:a="http://schemas.openxmlformats.org/drawingml/2006/main">
            <a:off x="647700" y="4000500"/>
            <a:ext cx="619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D9E6F0"/>
                </a:solidFill>
                <a:latin typeface="Segoe UI"/>
                <a:ea typeface="Segoe UI"/>
                <a:cs typeface="Segoe UI"/>
              </a:defRPr>
            </a:defPPr>
            <a:lvl1pPr algn="l">
              <a:defRPr sz="2025" b="0">
                <a:solidFill>
                  <a:srgbClr val="D9E6F0"/>
                </a:solidFill>
                <a:latin typeface="Segoe UI"/>
                <a:ea typeface="Segoe UI"/>
                <a:cs typeface="Segoe UI"/>
              </a:defRPr>
            </a:lvl1pPr>
            <a:lvl2pPr algn="l">
              <a:defRPr sz="2025" b="0">
                <a:solidFill>
                  <a:srgbClr val="D9E6F0"/>
                </a:solidFill>
                <a:latin typeface="Segoe UI"/>
                <a:ea typeface="Segoe UI"/>
                <a:cs typeface="Segoe UI"/>
              </a:defRPr>
            </a:lvl2pPr>
            <a:lvl3pPr algn="l">
              <a:defRPr sz="2025" b="0">
                <a:solidFill>
                  <a:srgbClr val="D9E6F0"/>
                </a:solidFill>
                <a:latin typeface="Segoe UI"/>
                <a:ea typeface="Segoe UI"/>
                <a:cs typeface="Segoe UI"/>
              </a:defRPr>
            </a:lvl3pPr>
            <a:lvl4pPr algn="l">
              <a:defRPr sz="2025" b="0">
                <a:solidFill>
                  <a:srgbClr val="D9E6F0"/>
                </a:solidFill>
                <a:latin typeface="Segoe UI"/>
                <a:ea typeface="Segoe UI"/>
                <a:cs typeface="Segoe UI"/>
              </a:defRPr>
            </a:lvl4pPr>
            <a:lvl5pPr algn="l">
              <a:defRPr sz="2025" b="0">
                <a:solidFill>
                  <a:srgbClr val="D9E6F0"/>
                </a:solidFill>
                <a:latin typeface="Segoe UI"/>
                <a:ea typeface="Segoe UI"/>
                <a:cs typeface="Segoe UI"/>
              </a:defRPr>
            </a:lvl5pPr>
            <a:lvl6pPr algn="l">
              <a:defRPr sz="2025" b="0">
                <a:solidFill>
                  <a:srgbClr val="D9E6F0"/>
                </a:solidFill>
                <a:latin typeface="Segoe UI"/>
                <a:ea typeface="Segoe UI"/>
                <a:cs typeface="Segoe UI"/>
              </a:defRPr>
            </a:lvl6pPr>
            <a:lvl7pPr algn="l">
              <a:defRPr sz="2025" b="0">
                <a:solidFill>
                  <a:srgbClr val="D9E6F0"/>
                </a:solidFill>
                <a:latin typeface="Segoe UI"/>
                <a:ea typeface="Segoe UI"/>
                <a:cs typeface="Segoe UI"/>
              </a:defRPr>
            </a:lvl7pPr>
            <a:lvl8pPr algn="l">
              <a:defRPr sz="2025" b="0">
                <a:solidFill>
                  <a:srgbClr val="D9E6F0"/>
                </a:solidFill>
                <a:latin typeface="Segoe UI"/>
                <a:ea typeface="Segoe UI"/>
                <a:cs typeface="Segoe UI"/>
              </a:defRPr>
            </a:lvl8pPr>
            <a:lvl9pPr algn="l">
              <a:defRPr sz="2025" b="0">
                <a:solidFill>
                  <a:srgbClr val="D9E6F0"/>
                </a:solidFill>
                <a:latin typeface="Segoe UI"/>
                <a:ea typeface="Segoe UI"/>
                <a:cs typeface="Segoe UI"/>
              </a:defRPr>
            </a:lvl9pPr>
          </a:lstStyle>
          <a:p xmlns:a="http://schemas.openxmlformats.org/drawingml/2006/main">
            <a:pPr algn="l">
              <a:defRPr sz="2025" b="0">
                <a:solidFill>
                  <a:srgbClr val="D9E6F0"/>
                </a:solidFill>
                <a:latin typeface="Segoe UI"/>
                <a:ea typeface="Segoe UI"/>
                <a:cs typeface="Segoe UI"/>
              </a:defRPr>
            </a:pPr>
            <a:r>
              <a:rPr sz="2025" b="0">
                <a:solidFill>
                  <a:srgbClr val="D9E6F0"/>
                </a:solidFill>
                <a:latin typeface="Segoe UI"/>
                <a:ea typeface="Segoe UI"/>
                <a:cs typeface="Segoe UI"/>
              </a:rPr>
              <a:t>A traceable request with bounded latency and cost</a:t>
            </a:r>
          </a:p>
        </p:txBody>
      </p:sp>
      <p:sp>
        <p:nvSpPr>
          <p:cNvPr id="5" name="footer">
            <a:extLst xmlns:a="http://schemas.openxmlformats.org/drawingml/2006/main">
              <a:ext uri="{FF2B5EF4-FFF2-40B4-BE49-F238E27FC236}">
                <a16:creationId xmlns:a16="http://schemas.microsoft.com/office/drawing/2014/main" id="{796CDA3F-2B95-4C08-A271-2A125579DFF0}"/>
              </a:ext>
            </a:extLst>
          </p:cNvPr>
          <p:cNvSpPr>
            <a:spLocks xmlns:a="http://schemas.openxmlformats.org/drawingml/2006/main" noGrp="1"/>
          </p:cNvSpPr>
          <p:nvPr/>
        </p:nvSpPr>
        <p:spPr>
          <a:xfrm xmlns:a="http://schemas.openxmlformats.org/drawingml/2006/main">
            <a:off x="647700" y="6153150"/>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BC0D2"/>
                </a:solidFill>
                <a:latin typeface="Segoe UI"/>
                <a:ea typeface="Segoe UI"/>
                <a:cs typeface="Segoe UI"/>
              </a:defRPr>
            </a:defPPr>
            <a:lvl1pPr algn="l">
              <a:defRPr sz="1275" b="0">
                <a:solidFill>
                  <a:srgbClr val="ABC0D2"/>
                </a:solidFill>
                <a:latin typeface="Segoe UI"/>
                <a:ea typeface="Segoe UI"/>
                <a:cs typeface="Segoe UI"/>
              </a:defRPr>
            </a:lvl1pPr>
            <a:lvl2pPr algn="l">
              <a:defRPr sz="1275" b="0">
                <a:solidFill>
                  <a:srgbClr val="ABC0D2"/>
                </a:solidFill>
                <a:latin typeface="Segoe UI"/>
                <a:ea typeface="Segoe UI"/>
                <a:cs typeface="Segoe UI"/>
              </a:defRPr>
            </a:lvl2pPr>
            <a:lvl3pPr algn="l">
              <a:defRPr sz="1275" b="0">
                <a:solidFill>
                  <a:srgbClr val="ABC0D2"/>
                </a:solidFill>
                <a:latin typeface="Segoe UI"/>
                <a:ea typeface="Segoe UI"/>
                <a:cs typeface="Segoe UI"/>
              </a:defRPr>
            </a:lvl3pPr>
            <a:lvl4pPr algn="l">
              <a:defRPr sz="1275" b="0">
                <a:solidFill>
                  <a:srgbClr val="ABC0D2"/>
                </a:solidFill>
                <a:latin typeface="Segoe UI"/>
                <a:ea typeface="Segoe UI"/>
                <a:cs typeface="Segoe UI"/>
              </a:defRPr>
            </a:lvl4pPr>
            <a:lvl5pPr algn="l">
              <a:defRPr sz="1275" b="0">
                <a:solidFill>
                  <a:srgbClr val="ABC0D2"/>
                </a:solidFill>
                <a:latin typeface="Segoe UI"/>
                <a:ea typeface="Segoe UI"/>
                <a:cs typeface="Segoe UI"/>
              </a:defRPr>
            </a:lvl5pPr>
            <a:lvl6pPr algn="l">
              <a:defRPr sz="1275" b="0">
                <a:solidFill>
                  <a:srgbClr val="ABC0D2"/>
                </a:solidFill>
                <a:latin typeface="Segoe UI"/>
                <a:ea typeface="Segoe UI"/>
                <a:cs typeface="Segoe UI"/>
              </a:defRPr>
            </a:lvl6pPr>
            <a:lvl7pPr algn="l">
              <a:defRPr sz="1275" b="0">
                <a:solidFill>
                  <a:srgbClr val="ABC0D2"/>
                </a:solidFill>
                <a:latin typeface="Segoe UI"/>
                <a:ea typeface="Segoe UI"/>
                <a:cs typeface="Segoe UI"/>
              </a:defRPr>
            </a:lvl7pPr>
            <a:lvl8pPr algn="l">
              <a:defRPr sz="1275" b="0">
                <a:solidFill>
                  <a:srgbClr val="ABC0D2"/>
                </a:solidFill>
                <a:latin typeface="Segoe UI"/>
                <a:ea typeface="Segoe UI"/>
                <a:cs typeface="Segoe UI"/>
              </a:defRPr>
            </a:lvl8pPr>
            <a:lvl9pPr algn="l">
              <a:defRPr sz="1275" b="0">
                <a:solidFill>
                  <a:srgbClr val="ABC0D2"/>
                </a:solidFill>
                <a:latin typeface="Segoe UI"/>
                <a:ea typeface="Segoe UI"/>
                <a:cs typeface="Segoe UI"/>
              </a:defRPr>
            </a:lvl9pPr>
          </a:lstStyle>
          <a:p xmlns:a="http://schemas.openxmlformats.org/drawingml/2006/main">
            <a:pPr algn="l">
              <a:defRPr sz="1275" b="0">
                <a:solidFill>
                  <a:srgbClr val="ABC0D2"/>
                </a:solidFill>
                <a:latin typeface="Segoe UI"/>
                <a:ea typeface="Segoe UI"/>
                <a:cs typeface="Segoe UI"/>
              </a:defRPr>
            </a:pPr>
            <a:r>
              <a:rPr sz="1275" b="0">
                <a:solidFill>
                  <a:srgbClr val="ABC0D2"/>
                </a:solidFill>
                <a:latin typeface="Segoe UI"/>
                <a:ea typeface="Segoe UI"/>
                <a:cs typeface="Segoe UI"/>
              </a:rPr>
              <a:t>3 contact hours including the module lab</a:t>
            </a:r>
          </a:p>
        </p:txBody>
      </p:sp>
      <p:sp>
        <p:nvSpPr>
          <p:cNvPr id="6" name="page">
            <a:extLst xmlns:a="http://schemas.openxmlformats.org/drawingml/2006/main">
              <a:ext uri="{FF2B5EF4-FFF2-40B4-BE49-F238E27FC236}">
                <a16:creationId xmlns:a16="http://schemas.microsoft.com/office/drawing/2014/main" id="{166DE77E-28CC-43FC-9A63-BA424ABAA9B6}"/>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ABC0D2"/>
                </a:solidFill>
                <a:latin typeface="Segoe UI"/>
                <a:ea typeface="Segoe UI"/>
                <a:cs typeface="Segoe UI"/>
              </a:defRPr>
            </a:defPPr>
            <a:lvl1pPr algn="r">
              <a:defRPr sz="1050" b="0">
                <a:solidFill>
                  <a:srgbClr val="ABC0D2"/>
                </a:solidFill>
                <a:latin typeface="Segoe UI"/>
                <a:ea typeface="Segoe UI"/>
                <a:cs typeface="Segoe UI"/>
              </a:defRPr>
            </a:lvl1pPr>
            <a:lvl2pPr algn="r">
              <a:defRPr sz="1050" b="0">
                <a:solidFill>
                  <a:srgbClr val="ABC0D2"/>
                </a:solidFill>
                <a:latin typeface="Segoe UI"/>
                <a:ea typeface="Segoe UI"/>
                <a:cs typeface="Segoe UI"/>
              </a:defRPr>
            </a:lvl2pPr>
            <a:lvl3pPr algn="r">
              <a:defRPr sz="1050" b="0">
                <a:solidFill>
                  <a:srgbClr val="ABC0D2"/>
                </a:solidFill>
                <a:latin typeface="Segoe UI"/>
                <a:ea typeface="Segoe UI"/>
                <a:cs typeface="Segoe UI"/>
              </a:defRPr>
            </a:lvl3pPr>
            <a:lvl4pPr algn="r">
              <a:defRPr sz="1050" b="0">
                <a:solidFill>
                  <a:srgbClr val="ABC0D2"/>
                </a:solidFill>
                <a:latin typeface="Segoe UI"/>
                <a:ea typeface="Segoe UI"/>
                <a:cs typeface="Segoe UI"/>
              </a:defRPr>
            </a:lvl4pPr>
            <a:lvl5pPr algn="r">
              <a:defRPr sz="1050" b="0">
                <a:solidFill>
                  <a:srgbClr val="ABC0D2"/>
                </a:solidFill>
                <a:latin typeface="Segoe UI"/>
                <a:ea typeface="Segoe UI"/>
                <a:cs typeface="Segoe UI"/>
              </a:defRPr>
            </a:lvl5pPr>
            <a:lvl6pPr algn="r">
              <a:defRPr sz="1050" b="0">
                <a:solidFill>
                  <a:srgbClr val="ABC0D2"/>
                </a:solidFill>
                <a:latin typeface="Segoe UI"/>
                <a:ea typeface="Segoe UI"/>
                <a:cs typeface="Segoe UI"/>
              </a:defRPr>
            </a:lvl6pPr>
            <a:lvl7pPr algn="r">
              <a:defRPr sz="1050" b="0">
                <a:solidFill>
                  <a:srgbClr val="ABC0D2"/>
                </a:solidFill>
                <a:latin typeface="Segoe UI"/>
                <a:ea typeface="Segoe UI"/>
                <a:cs typeface="Segoe UI"/>
              </a:defRPr>
            </a:lvl7pPr>
            <a:lvl8pPr algn="r">
              <a:defRPr sz="1050" b="0">
                <a:solidFill>
                  <a:srgbClr val="ABC0D2"/>
                </a:solidFill>
                <a:latin typeface="Segoe UI"/>
                <a:ea typeface="Segoe UI"/>
                <a:cs typeface="Segoe UI"/>
              </a:defRPr>
            </a:lvl8pPr>
            <a:lvl9pPr algn="r">
              <a:defRPr sz="1050" b="0">
                <a:solidFill>
                  <a:srgbClr val="ABC0D2"/>
                </a:solidFill>
                <a:latin typeface="Segoe UI"/>
                <a:ea typeface="Segoe UI"/>
                <a:cs typeface="Segoe UI"/>
              </a:defRPr>
            </a:lvl9pPr>
          </a:lstStyle>
          <a:p xmlns:a="http://schemas.openxmlformats.org/drawingml/2006/main">
            <a:pPr algn="r">
              <a:defRPr sz="1050" b="0">
                <a:solidFill>
                  <a:srgbClr val="ABC0D2"/>
                </a:solidFill>
                <a:latin typeface="Segoe UI"/>
                <a:ea typeface="Segoe UI"/>
                <a:cs typeface="Segoe UI"/>
              </a:defRPr>
            </a:pPr>
            <a:r>
              <a:rPr sz="1050" b="0">
                <a:solidFill>
                  <a:srgbClr val="ABC0D2"/>
                </a:solidFill>
                <a:latin typeface="Segoe UI"/>
                <a:ea typeface="Segoe UI"/>
                <a:cs typeface="Segoe UI"/>
              </a:rPr>
              <a:t>74</a:t>
            </a:r>
          </a:p>
        </p:txBody>
      </p:sp>
    </p:spTree>
    <p:extLst>
      <p:ext uri="{BB962C8B-B14F-4D97-AF65-F5344CB8AC3E}">
        <p14:creationId xmlns:p14="http://schemas.microsoft.com/office/powerpoint/2010/main" val="927141321"/>
      </p:ext>
    </p:extLst>
  </p:cSld>
  <p:extLst>
    <p:ext uri="{6950BFC3-D8DA-4A85-94F7-54DA5524770B}">
      <p188:commentRel xmlns:r="http://schemas.openxmlformats.org/officeDocument/2006/relationships" xmlns:p188="http://schemas.microsoft.com/office/powerpoint/2018/8/main" r:id="R532d1252846b431a"/>
    </p:ext>
  </p:extLst>
</p:sld>
</file>

<file path=ppt/slides/slide7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context">
            <a:extLst xmlns:a="http://schemas.openxmlformats.org/drawingml/2006/main">
              <a:ext uri="{FF2B5EF4-FFF2-40B4-BE49-F238E27FC236}">
                <a16:creationId xmlns:a16="http://schemas.microsoft.com/office/drawing/2014/main" id="{66173CD7-1B3B-45BA-901D-8490C0943203}"/>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Operations design</a:t>
            </a:r>
          </a:p>
        </p:txBody>
      </p:sp>
      <p:sp>
        <p:nvSpPr>
          <p:cNvPr id="2" name="title">
            <a:extLst xmlns:a="http://schemas.openxmlformats.org/drawingml/2006/main">
              <a:ext uri="{FF2B5EF4-FFF2-40B4-BE49-F238E27FC236}">
                <a16:creationId xmlns:a16="http://schemas.microsoft.com/office/drawing/2014/main" id="{2020BED9-7ADD-4BF3-9BD4-A24AA23CE033}"/>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Observability signals</a:t>
            </a:r>
          </a:p>
        </p:txBody>
      </p:sp>
      <p:sp>
        <p:nvSpPr>
          <p:cNvPr id="3" name="footer">
            <a:extLst xmlns:a="http://schemas.openxmlformats.org/drawingml/2006/main">
              <a:ext uri="{FF2B5EF4-FFF2-40B4-BE49-F238E27FC236}">
                <a16:creationId xmlns:a16="http://schemas.microsoft.com/office/drawing/2014/main" id="{C4B618AF-D633-4905-B768-70FCD2F03087}"/>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09  Operations and reliability</a:t>
            </a:r>
          </a:p>
        </p:txBody>
      </p:sp>
      <p:sp>
        <p:nvSpPr>
          <p:cNvPr id="4" name="page">
            <a:extLst xmlns:a="http://schemas.openxmlformats.org/drawingml/2006/main">
              <a:ext uri="{FF2B5EF4-FFF2-40B4-BE49-F238E27FC236}">
                <a16:creationId xmlns:a16="http://schemas.microsoft.com/office/drawing/2014/main" id="{5AE00ABC-252B-4F75-9628-DD1D714AB535}"/>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75</a:t>
            </a:r>
          </a:p>
        </p:txBody>
      </p:sp>
      <p:graphicFrame>
        <p:nvGraphicFramePr>
          <p:cNvPr id="5" name="">
            <a:extLst xmlns:a="http://schemas.openxmlformats.org/drawingml/2006/main">
              <a:ext uri="{FF2B5EF4-FFF2-40B4-BE49-F238E27FC236}">
                <a16:creationId xmlns:a16="http://schemas.microsoft.com/office/drawing/2014/main" id="{24317C91-E10C-48CE-ABC2-F82770F2D388}"/>
              </a:ext>
            </a:extLst>
          </p:cNvPr>
          <p:cNvGraphicFramePr/>
          <p:nvPr/>
        </p:nvGraphicFramePr>
        <p:xfrm>
          <a:off xmlns:a="http://schemas.openxmlformats.org/drawingml/2006/main" x="685800" y="1809750"/>
          <a:ext xmlns:a="http://schemas.openxmlformats.org/drawingml/2006/main" cx="10820400" cy="3087243"/>
        </p:xfrm>
        <a:graphic xmlns:a="http://schemas.openxmlformats.org/drawingml/2006/main">
          <a:graphicData uri="http://schemas.openxmlformats.org/drawingml/2006/table">
            <a:tbl>
              <a:tblPr/>
              <a:tblGrid>
                <a:gridCol w="2380488"/>
                <a:gridCol w="4652772"/>
                <a:gridCol w="3787140"/>
              </a:tblGrid>
              <a:tr h="552450">
                <a:tc>
                  <a:txBody>
                    <a:bodyPr/>
                    <a:lstStyle/>
                    <a:p>
                      <a:r>
                        <a:rPr sz="1725" b="1">
                          <a:solidFill>
                            <a:srgbClr val="FFFFFF"/>
                          </a:solidFill>
                          <a:latin typeface="Segoe UI"/>
                          <a:ea typeface="Segoe UI"/>
                          <a:cs typeface="Segoe UI"/>
                        </a:rPr>
                        <a:t>Signal</a:t>
                      </a:r>
                    </a:p>
                  </a:txBody>
                  <a:tcPr marL="133350" marR="133350" marT="114300" marB="95250" anchor="t">
                    <a:lnL w="5715">
                      <a:solidFill>
                        <a:srgbClr val="DCE5EA"/>
                      </a:solidFill>
                      <a:prstDash val="solid"/>
                    </a:lnL>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Capture</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InvoiceAI question</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r>
              <a:tr h="590550">
                <a:tc>
                  <a:txBody>
                    <a:bodyPr/>
                    <a:lstStyle/>
                    <a:p>
                      <a:r>
                        <a:rPr sz="1725" b="0">
                          <a:solidFill>
                            <a:srgbClr val="34495B"/>
                          </a:solidFill>
                          <a:latin typeface="Segoe UI"/>
                          <a:ea typeface="Segoe UI"/>
                          <a:cs typeface="Segoe UI"/>
                        </a:rPr>
                        <a:t>Trace</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Run, model, tool, and application spans</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Where did latency or failure occur?</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590550">
                <a:tc>
                  <a:txBody>
                    <a:bodyPr/>
                    <a:lstStyle/>
                    <a:p>
                      <a:r>
                        <a:rPr sz="1725" b="0">
                          <a:solidFill>
                            <a:srgbClr val="34495B"/>
                          </a:solidFill>
                          <a:latin typeface="Segoe UI"/>
                          <a:ea typeface="Segoe UI"/>
                          <a:cs typeface="Segoe UI"/>
                        </a:rPr>
                        <a:t>Metrics</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Latency, tokens, tool outcomes, and quotas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Is the feature meeting its target?</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r h="763143">
                <a:tc>
                  <a:txBody>
                    <a:bodyPr/>
                    <a:lstStyle/>
                    <a:p>
                      <a:r>
                        <a:rPr sz="1725" b="0">
                          <a:solidFill>
                            <a:srgbClr val="34495B"/>
                          </a:solidFill>
                          <a:latin typeface="Segoe UI"/>
                          <a:ea typeface="Segoe UI"/>
                          <a:cs typeface="Segoe UI"/>
                        </a:rPr>
                        <a:t>Audit</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Authorized actor and business operation</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What changed and who approved it?</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590550">
                <a:tc>
                  <a:txBody>
                    <a:bodyPr/>
                    <a:lstStyle/>
                    <a:p>
                      <a:r>
                        <a:rPr sz="1725" b="0">
                          <a:solidFill>
                            <a:srgbClr val="34495B"/>
                          </a:solidFill>
                          <a:latin typeface="Segoe UI"/>
                          <a:ea typeface="Segoe UI"/>
                          <a:cs typeface="Segoe UI"/>
                        </a:rPr>
                        <a:t>Evaluation</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Quality on a defined case set</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Did behavior regress?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bl>
          </a:graphicData>
        </a:graphic>
      </p:graphicFrame>
    </p:spTree>
    <p:extLst>
      <p:ext uri="{BB962C8B-B14F-4D97-AF65-F5344CB8AC3E}">
        <p14:creationId xmlns:p14="http://schemas.microsoft.com/office/powerpoint/2010/main" val="898160422"/>
      </p:ext>
    </p:extLst>
  </p:cSld>
  <p:extLst>
    <p:ext uri="{6950BFC3-D8DA-4A85-94F7-54DA5524770B}">
      <p188:commentRel xmlns:r="http://schemas.openxmlformats.org/officeDocument/2006/relationships" xmlns:p188="http://schemas.microsoft.com/office/powerpoint/2018/8/main" r:id="R1d015f8c92ff4377"/>
    </p:ext>
  </p:extLst>
</p:sld>
</file>

<file path=ppt/slides/slide7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context">
            <a:extLst xmlns:a="http://schemas.openxmlformats.org/drawingml/2006/main">
              <a:ext uri="{FF2B5EF4-FFF2-40B4-BE49-F238E27FC236}">
                <a16:creationId xmlns:a16="http://schemas.microsoft.com/office/drawing/2014/main" id="{20184659-2681-42E8-884F-FF87C791293C}"/>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Framework code pattern</a:t>
            </a:r>
          </a:p>
        </p:txBody>
      </p:sp>
      <p:sp>
        <p:nvSpPr>
          <p:cNvPr id="2" name="title">
            <a:extLst xmlns:a="http://schemas.openxmlformats.org/drawingml/2006/main">
              <a:ext uri="{FF2B5EF4-FFF2-40B4-BE49-F238E27FC236}">
                <a16:creationId xmlns:a16="http://schemas.microsoft.com/office/drawing/2014/main" id="{4AF15A2F-818C-44A8-999F-BAB7B7B86CFA}"/>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Framework telemetry integration</a:t>
            </a:r>
          </a:p>
        </p:txBody>
      </p:sp>
      <p:sp>
        <p:nvSpPr>
          <p:cNvPr id="3" name="footer">
            <a:extLst xmlns:a="http://schemas.openxmlformats.org/drawingml/2006/main">
              <a:ext uri="{FF2B5EF4-FFF2-40B4-BE49-F238E27FC236}">
                <a16:creationId xmlns:a16="http://schemas.microsoft.com/office/drawing/2014/main" id="{B1C0B590-6142-4F6B-A231-29012D6E00F0}"/>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09  Operations and reliability</a:t>
            </a:r>
          </a:p>
        </p:txBody>
      </p:sp>
      <p:sp>
        <p:nvSpPr>
          <p:cNvPr id="4" name="page">
            <a:extLst xmlns:a="http://schemas.openxmlformats.org/drawingml/2006/main">
              <a:ext uri="{FF2B5EF4-FFF2-40B4-BE49-F238E27FC236}">
                <a16:creationId xmlns:a16="http://schemas.microsoft.com/office/drawing/2014/main" id="{E06F0CE8-40E9-403D-A42E-D5650042B7D8}"/>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76</a:t>
            </a:r>
          </a:p>
        </p:txBody>
      </p:sp>
      <p:sp>
        <p:nvSpPr>
          <p:cNvPr id="5" name="code">
            <a:extLst xmlns:a="http://schemas.openxmlformats.org/drawingml/2006/main">
              <a:ext uri="{FF2B5EF4-FFF2-40B4-BE49-F238E27FC236}">
                <a16:creationId xmlns:a16="http://schemas.microsoft.com/office/drawing/2014/main" id="{D65F8B70-DE30-4EA5-AC2B-2D037259DAB8}"/>
              </a:ext>
            </a:extLst>
          </p:cNvPr>
          <p:cNvSpPr>
            <a:spLocks xmlns:a="http://schemas.openxmlformats.org/drawingml/2006/main" noGrp="1"/>
          </p:cNvSpPr>
          <p:nvPr/>
        </p:nvSpPr>
        <p:spPr>
          <a:xfrm xmlns:a="http://schemas.openxmlformats.org/drawingml/2006/main">
            <a:off x="685800" y="1857375"/>
            <a:ext cx="752475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12C43"/>
                </a:solidFill>
                <a:latin typeface="Consolas"/>
                <a:ea typeface="Consolas"/>
                <a:cs typeface="Consolas"/>
              </a:defRPr>
            </a:defPPr>
            <a:lvl1pPr algn="l">
              <a:defRPr sz="1725" b="0">
                <a:solidFill>
                  <a:srgbClr val="112C43"/>
                </a:solidFill>
                <a:latin typeface="Consolas"/>
                <a:ea typeface="Consolas"/>
                <a:cs typeface="Consolas"/>
              </a:defRPr>
            </a:lvl1pPr>
            <a:lvl2pPr algn="l">
              <a:defRPr sz="1725" b="0">
                <a:solidFill>
                  <a:srgbClr val="112C43"/>
                </a:solidFill>
                <a:latin typeface="Consolas"/>
                <a:ea typeface="Consolas"/>
                <a:cs typeface="Consolas"/>
              </a:defRPr>
            </a:lvl2pPr>
            <a:lvl3pPr algn="l">
              <a:defRPr sz="1725" b="0">
                <a:solidFill>
                  <a:srgbClr val="112C43"/>
                </a:solidFill>
                <a:latin typeface="Consolas"/>
                <a:ea typeface="Consolas"/>
                <a:cs typeface="Consolas"/>
              </a:defRPr>
            </a:lvl3pPr>
            <a:lvl4pPr algn="l">
              <a:defRPr sz="1725" b="0">
                <a:solidFill>
                  <a:srgbClr val="112C43"/>
                </a:solidFill>
                <a:latin typeface="Consolas"/>
                <a:ea typeface="Consolas"/>
                <a:cs typeface="Consolas"/>
              </a:defRPr>
            </a:lvl4pPr>
            <a:lvl5pPr algn="l">
              <a:defRPr sz="1725" b="0">
                <a:solidFill>
                  <a:srgbClr val="112C43"/>
                </a:solidFill>
                <a:latin typeface="Consolas"/>
                <a:ea typeface="Consolas"/>
                <a:cs typeface="Consolas"/>
              </a:defRPr>
            </a:lvl5pPr>
            <a:lvl6pPr algn="l">
              <a:defRPr sz="1725" b="0">
                <a:solidFill>
                  <a:srgbClr val="112C43"/>
                </a:solidFill>
                <a:latin typeface="Consolas"/>
                <a:ea typeface="Consolas"/>
                <a:cs typeface="Consolas"/>
              </a:defRPr>
            </a:lvl6pPr>
            <a:lvl7pPr algn="l">
              <a:defRPr sz="1725" b="0">
                <a:solidFill>
                  <a:srgbClr val="112C43"/>
                </a:solidFill>
                <a:latin typeface="Consolas"/>
                <a:ea typeface="Consolas"/>
                <a:cs typeface="Consolas"/>
              </a:defRPr>
            </a:lvl7pPr>
            <a:lvl8pPr algn="l">
              <a:defRPr sz="1725" b="0">
                <a:solidFill>
                  <a:srgbClr val="112C43"/>
                </a:solidFill>
                <a:latin typeface="Consolas"/>
                <a:ea typeface="Consolas"/>
                <a:cs typeface="Consolas"/>
              </a:defRPr>
            </a:lvl8pPr>
            <a:lvl9pPr algn="l">
              <a:defRPr sz="1725" b="0">
                <a:solidFill>
                  <a:srgbClr val="112C43"/>
                </a:solidFill>
                <a:latin typeface="Consolas"/>
                <a:ea typeface="Consolas"/>
                <a:cs typeface="Consolas"/>
              </a:defRPr>
            </a:lvl9pPr>
          </a:lstStyle>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AIAgent observable = billing</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.AsBuilder()</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.UseOpenTelemetry(sourceName: "InvoiceAI.Agents")</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.Build();</a:t>
            </a:r>
          </a:p>
          <a:p xmlns:a="http://schemas.openxmlformats.org/drawingml/2006/main">
            <a:r>
              <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Configure the host's OpenTelemetry exporter</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to collect this source and relevant meters.</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Keep sensitive-data capture disabled by default.</a:t>
            </a:r>
          </a:p>
        </p:txBody>
      </p:sp>
      <p:sp>
        <p:nvSpPr>
          <p:cNvPr id="6" name="explanation-0">
            <a:extLst xmlns:a="http://schemas.openxmlformats.org/drawingml/2006/main">
              <a:ext uri="{FF2B5EF4-FFF2-40B4-BE49-F238E27FC236}">
                <a16:creationId xmlns:a16="http://schemas.microsoft.com/office/drawing/2014/main" id="{62FC491F-5504-4862-87FA-E27433A1A9FC}"/>
              </a:ext>
            </a:extLst>
          </p:cNvPr>
          <p:cNvSpPr>
            <a:spLocks xmlns:a="http://schemas.openxmlformats.org/drawingml/2006/main" noGrp="1"/>
          </p:cNvSpPr>
          <p:nvPr/>
        </p:nvSpPr>
        <p:spPr>
          <a:xfrm xmlns:a="http://schemas.openxmlformats.org/drawingml/2006/main">
            <a:off x="8715375" y="20002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83"/>
                </a:solidFill>
                <a:latin typeface="Segoe UI"/>
                <a:ea typeface="Segoe UI"/>
                <a:cs typeface="Segoe UI"/>
              </a:defRPr>
            </a:defPPr>
            <a:lvl1pPr algn="l">
              <a:defRPr sz="1800" b="0">
                <a:solidFill>
                  <a:srgbClr val="007F83"/>
                </a:solidFill>
                <a:latin typeface="Segoe UI"/>
                <a:ea typeface="Segoe UI"/>
                <a:cs typeface="Segoe UI"/>
              </a:defRPr>
            </a:lvl1pPr>
            <a:lvl2pPr algn="l">
              <a:defRPr sz="1800" b="0">
                <a:solidFill>
                  <a:srgbClr val="007F83"/>
                </a:solidFill>
                <a:latin typeface="Segoe UI"/>
                <a:ea typeface="Segoe UI"/>
                <a:cs typeface="Segoe UI"/>
              </a:defRPr>
            </a:lvl2pPr>
            <a:lvl3pPr algn="l">
              <a:defRPr sz="1800" b="0">
                <a:solidFill>
                  <a:srgbClr val="007F83"/>
                </a:solidFill>
                <a:latin typeface="Segoe UI"/>
                <a:ea typeface="Segoe UI"/>
                <a:cs typeface="Segoe UI"/>
              </a:defRPr>
            </a:lvl3pPr>
            <a:lvl4pPr algn="l">
              <a:defRPr sz="1800" b="0">
                <a:solidFill>
                  <a:srgbClr val="007F83"/>
                </a:solidFill>
                <a:latin typeface="Segoe UI"/>
                <a:ea typeface="Segoe UI"/>
                <a:cs typeface="Segoe UI"/>
              </a:defRPr>
            </a:lvl4pPr>
            <a:lvl5pPr algn="l">
              <a:defRPr sz="1800" b="0">
                <a:solidFill>
                  <a:srgbClr val="007F83"/>
                </a:solidFill>
                <a:latin typeface="Segoe UI"/>
                <a:ea typeface="Segoe UI"/>
                <a:cs typeface="Segoe UI"/>
              </a:defRPr>
            </a:lvl5pPr>
            <a:lvl6pPr algn="l">
              <a:defRPr sz="1800" b="0">
                <a:solidFill>
                  <a:srgbClr val="007F83"/>
                </a:solidFill>
                <a:latin typeface="Segoe UI"/>
                <a:ea typeface="Segoe UI"/>
                <a:cs typeface="Segoe UI"/>
              </a:defRPr>
            </a:lvl6pPr>
            <a:lvl7pPr algn="l">
              <a:defRPr sz="1800" b="0">
                <a:solidFill>
                  <a:srgbClr val="007F83"/>
                </a:solidFill>
                <a:latin typeface="Segoe UI"/>
                <a:ea typeface="Segoe UI"/>
                <a:cs typeface="Segoe UI"/>
              </a:defRPr>
            </a:lvl7pPr>
            <a:lvl8pPr algn="l">
              <a:defRPr sz="1800" b="0">
                <a:solidFill>
                  <a:srgbClr val="007F83"/>
                </a:solidFill>
                <a:latin typeface="Segoe UI"/>
                <a:ea typeface="Segoe UI"/>
                <a:cs typeface="Segoe UI"/>
              </a:defRPr>
            </a:lvl8pPr>
            <a:lvl9pPr algn="l">
              <a:defRPr sz="1800" b="0">
                <a:solidFill>
                  <a:srgbClr val="007F83"/>
                </a:solidFill>
                <a:latin typeface="Segoe UI"/>
                <a:ea typeface="Segoe UI"/>
                <a:cs typeface="Segoe UI"/>
              </a:defRPr>
            </a:lvl9pPr>
          </a:lstStyle>
          <a:p xmlns:a="http://schemas.openxmlformats.org/drawingml/2006/main">
            <a:pPr algn="l">
              <a:defRPr sz="1800" b="0">
                <a:solidFill>
                  <a:srgbClr val="007F83"/>
                </a:solidFill>
                <a:latin typeface="Segoe UI"/>
                <a:ea typeface="Segoe UI"/>
                <a:cs typeface="Segoe UI"/>
              </a:defRPr>
            </a:pPr>
            <a:r>
              <a:rPr sz="1800" b="0">
                <a:solidFill>
                  <a:srgbClr val="007F83"/>
                </a:solidFill>
                <a:latin typeface="Segoe UI"/>
                <a:ea typeface="Segoe UI"/>
                <a:cs typeface="Segoe UI"/>
              </a:rPr>
              <a:t>Instrument the actual agent/tool path.</a:t>
            </a:r>
          </a:p>
        </p:txBody>
      </p:sp>
      <p:sp>
        <p:nvSpPr>
          <p:cNvPr id="7" name="explanation-1">
            <a:extLst xmlns:a="http://schemas.openxmlformats.org/drawingml/2006/main">
              <a:ext uri="{FF2B5EF4-FFF2-40B4-BE49-F238E27FC236}">
                <a16:creationId xmlns:a16="http://schemas.microsoft.com/office/drawing/2014/main" id="{60336E03-74CE-4B4B-A097-D0F81BD5B34A}"/>
              </a:ext>
            </a:extLst>
          </p:cNvPr>
          <p:cNvSpPr>
            <a:spLocks xmlns:a="http://schemas.openxmlformats.org/drawingml/2006/main" noGrp="1"/>
          </p:cNvSpPr>
          <p:nvPr/>
        </p:nvSpPr>
        <p:spPr>
          <a:xfrm xmlns:a="http://schemas.openxmlformats.org/drawingml/2006/main">
            <a:off x="8715375" y="320040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Correlate with application spans.</a:t>
            </a:r>
          </a:p>
        </p:txBody>
      </p:sp>
      <p:sp>
        <p:nvSpPr>
          <p:cNvPr id="8" name="explanation-2">
            <a:extLst xmlns:a="http://schemas.openxmlformats.org/drawingml/2006/main">
              <a:ext uri="{FF2B5EF4-FFF2-40B4-BE49-F238E27FC236}">
                <a16:creationId xmlns:a16="http://schemas.microsoft.com/office/drawing/2014/main" id="{5F0B0EEC-69F0-4E11-9D03-3079A4CA5CBB}"/>
              </a:ext>
            </a:extLst>
          </p:cNvPr>
          <p:cNvSpPr>
            <a:spLocks xmlns:a="http://schemas.openxmlformats.org/drawingml/2006/main" noGrp="1"/>
          </p:cNvSpPr>
          <p:nvPr/>
        </p:nvSpPr>
        <p:spPr>
          <a:xfrm xmlns:a="http://schemas.openxmlformats.org/drawingml/2006/main">
            <a:off x="8715375" y="44005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Choose an exporter for the deployment.</a:t>
            </a:r>
          </a:p>
        </p:txBody>
      </p:sp>
    </p:spTree>
    <p:extLst>
      <p:ext uri="{BB962C8B-B14F-4D97-AF65-F5344CB8AC3E}">
        <p14:creationId xmlns:p14="http://schemas.microsoft.com/office/powerpoint/2010/main" val="557745479"/>
      </p:ext>
    </p:extLst>
  </p:cSld>
  <p:extLst>
    <p:ext uri="{6950BFC3-D8DA-4A85-94F7-54DA5524770B}">
      <p188:commentRel xmlns:r="http://schemas.openxmlformats.org/officeDocument/2006/relationships" xmlns:p188="http://schemas.microsoft.com/office/powerpoint/2018/8/main" r:id="Rae8c8083e4a94690"/>
    </p:ext>
  </p:extLst>
</p:sld>
</file>

<file path=ppt/slides/slide7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6E989AF8-23F4-4422-B94C-DCDE8A2F109D}"/>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Application reliability policy</a:t>
            </a:r>
          </a:p>
        </p:txBody>
      </p:sp>
      <p:sp>
        <p:nvSpPr>
          <p:cNvPr id="2" name="title">
            <a:extLst xmlns:a="http://schemas.openxmlformats.org/drawingml/2006/main">
              <a:ext uri="{FF2B5EF4-FFF2-40B4-BE49-F238E27FC236}">
                <a16:creationId xmlns:a16="http://schemas.microsoft.com/office/drawing/2014/main" id="{7933B219-0791-4683-9241-BFB492A49797}"/>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Resilience and bounded execution</a:t>
            </a:r>
          </a:p>
        </p:txBody>
      </p:sp>
      <p:sp>
        <p:nvSpPr>
          <p:cNvPr id="3" name="footer">
            <a:extLst xmlns:a="http://schemas.openxmlformats.org/drawingml/2006/main">
              <a:ext uri="{FF2B5EF4-FFF2-40B4-BE49-F238E27FC236}">
                <a16:creationId xmlns:a16="http://schemas.microsoft.com/office/drawing/2014/main" id="{0D34693F-1CD1-4480-BA80-D0E49559E3B2}"/>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09  Operations and reliability</a:t>
            </a:r>
          </a:p>
        </p:txBody>
      </p:sp>
      <p:sp>
        <p:nvSpPr>
          <p:cNvPr id="4" name="page">
            <a:extLst xmlns:a="http://schemas.openxmlformats.org/drawingml/2006/main">
              <a:ext uri="{FF2B5EF4-FFF2-40B4-BE49-F238E27FC236}">
                <a16:creationId xmlns:a16="http://schemas.microsoft.com/office/drawing/2014/main" id="{6885D3D1-34C9-4731-A731-C4E6E9BAD2C3}"/>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77</a:t>
            </a:r>
          </a:p>
        </p:txBody>
      </p:sp>
      <p:sp>
        <p:nvSpPr>
          <p:cNvPr id="5" name="label-0">
            <a:extLst xmlns:a="http://schemas.openxmlformats.org/drawingml/2006/main">
              <a:ext uri="{FF2B5EF4-FFF2-40B4-BE49-F238E27FC236}">
                <a16:creationId xmlns:a16="http://schemas.microsoft.com/office/drawing/2014/main" id="{BF8F389B-303C-4C97-9491-19D3051F2280}"/>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Deadline</a:t>
            </a:r>
          </a:p>
        </p:txBody>
      </p:sp>
      <p:sp>
        <p:nvSpPr>
          <p:cNvPr id="6" name="point-0">
            <a:extLst xmlns:a="http://schemas.openxmlformats.org/drawingml/2006/main">
              <a:ext uri="{FF2B5EF4-FFF2-40B4-BE49-F238E27FC236}">
                <a16:creationId xmlns:a16="http://schemas.microsoft.com/office/drawing/2014/main" id="{D741CA59-FB89-4556-AC3C-B77FD1BE4D31}"/>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Apply an end-to-end run budget, not only a model timeout.</a:t>
            </a:r>
          </a:p>
        </p:txBody>
      </p:sp>
      <p:sp>
        <p:nvSpPr>
          <p:cNvPr id="7" name="label-1">
            <a:extLst xmlns:a="http://schemas.openxmlformats.org/drawingml/2006/main">
              <a:ext uri="{FF2B5EF4-FFF2-40B4-BE49-F238E27FC236}">
                <a16:creationId xmlns:a16="http://schemas.microsoft.com/office/drawing/2014/main" id="{98A49540-23E1-4127-99D2-F3A512E7BD49}"/>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Retry</a:t>
            </a:r>
          </a:p>
        </p:txBody>
      </p:sp>
      <p:sp>
        <p:nvSpPr>
          <p:cNvPr id="8" name="point-1">
            <a:extLst xmlns:a="http://schemas.openxmlformats.org/drawingml/2006/main">
              <a:ext uri="{FF2B5EF4-FFF2-40B4-BE49-F238E27FC236}">
                <a16:creationId xmlns:a16="http://schemas.microsoft.com/office/drawing/2014/main" id="{792DC94D-D94E-4D94-97D9-E91F57D392E4}"/>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Use bounded retry/backoff for suitable transient failures.</a:t>
            </a:r>
          </a:p>
        </p:txBody>
      </p:sp>
      <p:sp>
        <p:nvSpPr>
          <p:cNvPr id="9" name="label-2">
            <a:extLst xmlns:a="http://schemas.openxmlformats.org/drawingml/2006/main">
              <a:ext uri="{FF2B5EF4-FFF2-40B4-BE49-F238E27FC236}">
                <a16:creationId xmlns:a16="http://schemas.microsoft.com/office/drawing/2014/main" id="{6785FC9F-F8ED-4E3A-823F-8EAD504B740B}"/>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Write safety</a:t>
            </a:r>
          </a:p>
        </p:txBody>
      </p:sp>
      <p:sp>
        <p:nvSpPr>
          <p:cNvPr id="10" name="point-2">
            <a:extLst xmlns:a="http://schemas.openxmlformats.org/drawingml/2006/main">
              <a:ext uri="{FF2B5EF4-FFF2-40B4-BE49-F238E27FC236}">
                <a16:creationId xmlns:a16="http://schemas.microsoft.com/office/drawing/2014/main" id="{ED41D30B-71CB-4555-A212-CFC1BA9A260C}"/>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Do not retry uncertain effects without deduplication.</a:t>
            </a:r>
          </a:p>
        </p:txBody>
      </p:sp>
      <p:sp>
        <p:nvSpPr>
          <p:cNvPr id="11" name="label-3">
            <a:extLst xmlns:a="http://schemas.openxmlformats.org/drawingml/2006/main">
              <a:ext uri="{FF2B5EF4-FFF2-40B4-BE49-F238E27FC236}">
                <a16:creationId xmlns:a16="http://schemas.microsoft.com/office/drawing/2014/main" id="{0927B8A7-0CE8-4089-A778-B9A062C13102}"/>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Degradation</a:t>
            </a:r>
          </a:p>
        </p:txBody>
      </p:sp>
      <p:sp>
        <p:nvSpPr>
          <p:cNvPr id="12" name="point-3">
            <a:extLst xmlns:a="http://schemas.openxmlformats.org/drawingml/2006/main">
              <a:ext uri="{FF2B5EF4-FFF2-40B4-BE49-F238E27FC236}">
                <a16:creationId xmlns:a16="http://schemas.microsoft.com/office/drawing/2014/main" id="{87E1E018-F37B-4A7C-98C0-1BE8FBC2DBA7}"/>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Expose an explicit unavailable or reduced-capability mode.</a:t>
            </a:r>
          </a:p>
        </p:txBody>
      </p:sp>
    </p:spTree>
    <p:extLst>
      <p:ext uri="{BB962C8B-B14F-4D97-AF65-F5344CB8AC3E}">
        <p14:creationId xmlns:p14="http://schemas.microsoft.com/office/powerpoint/2010/main" val="2137733846"/>
      </p:ext>
    </p:extLst>
  </p:cSld>
  <p:extLst>
    <p:ext uri="{6950BFC3-D8DA-4A85-94F7-54DA5524770B}">
      <p188:commentRel xmlns:r="http://schemas.openxmlformats.org/officeDocument/2006/relationships" xmlns:p188="http://schemas.microsoft.com/office/powerpoint/2018/8/main" r:id="R846e3bcf3fa648f3"/>
    </p:ext>
  </p:extLst>
</p:sld>
</file>

<file path=ppt/slides/slide7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6517BD08-CBC2-41E5-A020-2B00A335DCB6}"/>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Cost engineering</a:t>
            </a:r>
          </a:p>
        </p:txBody>
      </p:sp>
      <p:sp>
        <p:nvSpPr>
          <p:cNvPr id="2" name="title">
            <a:extLst xmlns:a="http://schemas.openxmlformats.org/drawingml/2006/main">
              <a:ext uri="{FF2B5EF4-FFF2-40B4-BE49-F238E27FC236}">
                <a16:creationId xmlns:a16="http://schemas.microsoft.com/office/drawing/2014/main" id="{B72F74A2-8F4B-491F-9DCF-E644A5430C08}"/>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The cost model</a:t>
            </a:r>
          </a:p>
        </p:txBody>
      </p:sp>
      <p:sp>
        <p:nvSpPr>
          <p:cNvPr id="3" name="footer">
            <a:extLst xmlns:a="http://schemas.openxmlformats.org/drawingml/2006/main">
              <a:ext uri="{FF2B5EF4-FFF2-40B4-BE49-F238E27FC236}">
                <a16:creationId xmlns:a16="http://schemas.microsoft.com/office/drawing/2014/main" id="{474D182D-2F64-41D0-80E3-7332F37823FA}"/>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09  Operations and reliability</a:t>
            </a:r>
          </a:p>
        </p:txBody>
      </p:sp>
      <p:sp>
        <p:nvSpPr>
          <p:cNvPr id="4" name="page">
            <a:extLst xmlns:a="http://schemas.openxmlformats.org/drawingml/2006/main">
              <a:ext uri="{FF2B5EF4-FFF2-40B4-BE49-F238E27FC236}">
                <a16:creationId xmlns:a16="http://schemas.microsoft.com/office/drawing/2014/main" id="{1E322DAD-E6C7-4C93-AFB2-F6D435881FAB}"/>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78</a:t>
            </a:r>
          </a:p>
        </p:txBody>
      </p:sp>
      <p:sp>
        <p:nvSpPr>
          <p:cNvPr id="5" name="label-0">
            <a:extLst xmlns:a="http://schemas.openxmlformats.org/drawingml/2006/main">
              <a:ext uri="{FF2B5EF4-FFF2-40B4-BE49-F238E27FC236}">
                <a16:creationId xmlns:a16="http://schemas.microsoft.com/office/drawing/2014/main" id="{FBB66630-2938-4E51-9A91-0B5076BFC387}"/>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Inference</a:t>
            </a:r>
          </a:p>
        </p:txBody>
      </p:sp>
      <p:sp>
        <p:nvSpPr>
          <p:cNvPr id="6" name="point-0">
            <a:extLst xmlns:a="http://schemas.openxmlformats.org/drawingml/2006/main">
              <a:ext uri="{FF2B5EF4-FFF2-40B4-BE49-F238E27FC236}">
                <a16:creationId xmlns:a16="http://schemas.microsoft.com/office/drawing/2014/main" id="{397C26A6-04A8-46E9-AE65-617336150545}"/>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Input tokens multiplied by input rate, plus output tokens multiplied by output rate.</a:t>
            </a:r>
          </a:p>
        </p:txBody>
      </p:sp>
      <p:sp>
        <p:nvSpPr>
          <p:cNvPr id="7" name="label-1">
            <a:extLst xmlns:a="http://schemas.openxmlformats.org/drawingml/2006/main">
              <a:ext uri="{FF2B5EF4-FFF2-40B4-BE49-F238E27FC236}">
                <a16:creationId xmlns:a16="http://schemas.microsoft.com/office/drawing/2014/main" id="{E92C870F-3DF6-4802-B70F-1A49C5900B26}"/>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Tools</a:t>
            </a:r>
          </a:p>
        </p:txBody>
      </p:sp>
      <p:sp>
        <p:nvSpPr>
          <p:cNvPr id="8" name="point-1">
            <a:extLst xmlns:a="http://schemas.openxmlformats.org/drawingml/2006/main">
              <a:ext uri="{FF2B5EF4-FFF2-40B4-BE49-F238E27FC236}">
                <a16:creationId xmlns:a16="http://schemas.microsoft.com/office/drawing/2014/main" id="{8459064E-72DF-48DB-8CEA-03DCD14DA02D}"/>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Database, retrieval, connector, and extra agent work.</a:t>
            </a:r>
          </a:p>
        </p:txBody>
      </p:sp>
      <p:sp>
        <p:nvSpPr>
          <p:cNvPr id="9" name="label-2">
            <a:extLst xmlns:a="http://schemas.openxmlformats.org/drawingml/2006/main">
              <a:ext uri="{FF2B5EF4-FFF2-40B4-BE49-F238E27FC236}">
                <a16:creationId xmlns:a16="http://schemas.microsoft.com/office/drawing/2014/main" id="{2BB43691-689D-494D-BB80-88A751167604}"/>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Storage</a:t>
            </a:r>
          </a:p>
        </p:txBody>
      </p:sp>
      <p:sp>
        <p:nvSpPr>
          <p:cNvPr id="10" name="point-2">
            <a:extLst xmlns:a="http://schemas.openxmlformats.org/drawingml/2006/main">
              <a:ext uri="{FF2B5EF4-FFF2-40B4-BE49-F238E27FC236}">
                <a16:creationId xmlns:a16="http://schemas.microsoft.com/office/drawing/2014/main" id="{0FFA7361-1008-4EC9-95DA-1E73D3C17D95}"/>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History, evidence, indexes, traces, and checkpoints.</a:t>
            </a:r>
          </a:p>
        </p:txBody>
      </p:sp>
      <p:sp>
        <p:nvSpPr>
          <p:cNvPr id="11" name="label-3">
            <a:extLst xmlns:a="http://schemas.openxmlformats.org/drawingml/2006/main">
              <a:ext uri="{FF2B5EF4-FFF2-40B4-BE49-F238E27FC236}">
                <a16:creationId xmlns:a16="http://schemas.microsoft.com/office/drawing/2014/main" id="{1E6B05AE-D84B-4380-BF7E-BB694B037BC5}"/>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Control</a:t>
            </a:r>
          </a:p>
        </p:txBody>
      </p:sp>
      <p:sp>
        <p:nvSpPr>
          <p:cNvPr id="12" name="point-3">
            <a:extLst xmlns:a="http://schemas.openxmlformats.org/drawingml/2006/main">
              <a:ext uri="{FF2B5EF4-FFF2-40B4-BE49-F238E27FC236}">
                <a16:creationId xmlns:a16="http://schemas.microsoft.com/office/drawing/2014/main" id="{D30EF7FC-E695-49E4-90AC-1B538B093FC3}"/>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Per-run ceilings, quota alerts, caching policy, and model selection.</a:t>
            </a:r>
          </a:p>
        </p:txBody>
      </p:sp>
    </p:spTree>
    <p:extLst>
      <p:ext uri="{BB962C8B-B14F-4D97-AF65-F5344CB8AC3E}">
        <p14:creationId xmlns:p14="http://schemas.microsoft.com/office/powerpoint/2010/main" val="457351817"/>
      </p:ext>
    </p:extLst>
  </p:cSld>
  <p:extLst>
    <p:ext uri="{6950BFC3-D8DA-4A85-94F7-54DA5524770B}">
      <p188:commentRel xmlns:r="http://schemas.openxmlformats.org/officeDocument/2006/relationships" xmlns:p188="http://schemas.microsoft.com/office/powerpoint/2018/8/main" r:id="R4e3167f7ee4a4919"/>
    </p:ext>
  </p:extLst>
</p:sld>
</file>

<file path=ppt/slides/slide7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context">
            <a:extLst xmlns:a="http://schemas.openxmlformats.org/drawingml/2006/main">
              <a:ext uri="{FF2B5EF4-FFF2-40B4-BE49-F238E27FC236}">
                <a16:creationId xmlns:a16="http://schemas.microsoft.com/office/drawing/2014/main" id="{1CE538AF-AE13-474C-A47D-8769D29C2DFD}"/>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Existing implementation</a:t>
            </a:r>
          </a:p>
        </p:txBody>
      </p:sp>
      <p:sp>
        <p:nvSpPr>
          <p:cNvPr id="2" name="title">
            <a:extLst xmlns:a="http://schemas.openxmlformats.org/drawingml/2006/main">
              <a:ext uri="{FF2B5EF4-FFF2-40B4-BE49-F238E27FC236}">
                <a16:creationId xmlns:a16="http://schemas.microsoft.com/office/drawing/2014/main" id="{0AA30FAA-F07A-4B26-83B7-B059EF8FE35C}"/>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The baseline fallback behavior</a:t>
            </a:r>
          </a:p>
        </p:txBody>
      </p:sp>
      <p:sp>
        <p:nvSpPr>
          <p:cNvPr id="3" name="footer">
            <a:extLst xmlns:a="http://schemas.openxmlformats.org/drawingml/2006/main">
              <a:ext uri="{FF2B5EF4-FFF2-40B4-BE49-F238E27FC236}">
                <a16:creationId xmlns:a16="http://schemas.microsoft.com/office/drawing/2014/main" id="{EF1A6D6C-93B6-422E-86F4-1C3CE5C82740}"/>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09  Operations and reliability</a:t>
            </a:r>
          </a:p>
        </p:txBody>
      </p:sp>
      <p:sp>
        <p:nvSpPr>
          <p:cNvPr id="4" name="page">
            <a:extLst xmlns:a="http://schemas.openxmlformats.org/drawingml/2006/main">
              <a:ext uri="{FF2B5EF4-FFF2-40B4-BE49-F238E27FC236}">
                <a16:creationId xmlns:a16="http://schemas.microsoft.com/office/drawing/2014/main" id="{6B04D5B6-B2F3-41C5-A2F7-9C5CE914DC18}"/>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79</a:t>
            </a:r>
          </a:p>
        </p:txBody>
      </p:sp>
      <p:graphicFrame>
        <p:nvGraphicFramePr>
          <p:cNvPr id="5" name="">
            <a:extLst xmlns:a="http://schemas.openxmlformats.org/drawingml/2006/main">
              <a:ext uri="{FF2B5EF4-FFF2-40B4-BE49-F238E27FC236}">
                <a16:creationId xmlns:a16="http://schemas.microsoft.com/office/drawing/2014/main" id="{99B9707A-815A-490A-A06A-5605D4BEBDA7}"/>
              </a:ext>
            </a:extLst>
          </p:cNvPr>
          <p:cNvGraphicFramePr/>
          <p:nvPr/>
        </p:nvGraphicFramePr>
        <p:xfrm>
          <a:off xmlns:a="http://schemas.openxmlformats.org/drawingml/2006/main" x="685800" y="1809750"/>
          <a:ext xmlns:a="http://schemas.openxmlformats.org/drawingml/2006/main" cx="10820400" cy="3259836"/>
        </p:xfrm>
        <a:graphic xmlns:a="http://schemas.openxmlformats.org/drawingml/2006/main">
          <a:graphicData uri="http://schemas.openxmlformats.org/drawingml/2006/table">
            <a:tbl>
              <a:tblPr/>
              <a:tblGrid>
                <a:gridCol w="2705100"/>
                <a:gridCol w="3787140"/>
                <a:gridCol w="4328160"/>
              </a:tblGrid>
              <a:tr h="552450">
                <a:tc>
                  <a:txBody>
                    <a:bodyPr/>
                    <a:lstStyle/>
                    <a:p>
                      <a:r>
                        <a:rPr sz="1725" b="1">
                          <a:solidFill>
                            <a:srgbClr val="FFFFFF"/>
                          </a:solidFill>
                          <a:latin typeface="Segoe UI"/>
                          <a:ea typeface="Segoe UI"/>
                          <a:cs typeface="Segoe UI"/>
                        </a:rPr>
                        <a:t>Path</a:t>
                      </a:r>
                    </a:p>
                  </a:txBody>
                  <a:tcPr marL="133350" marR="133350" marT="114300" marB="95250" anchor="t">
                    <a:lnL w="5715">
                      <a:solidFill>
                        <a:srgbClr val="DCE5EA"/>
                      </a:solidFill>
                      <a:prstDash val="solid"/>
                    </a:lnL>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Trigger</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Operational caveat</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r>
              <a:tr h="763143">
                <a:tc>
                  <a:txBody>
                    <a:bodyPr/>
                    <a:lstStyle/>
                    <a:p>
                      <a:r>
                        <a:rPr sz="1725" b="0">
                          <a:solidFill>
                            <a:srgbClr val="34495B"/>
                          </a:solidFill>
                          <a:latin typeface="Segoe UI"/>
                          <a:ea typeface="Segoe UI"/>
                          <a:cs typeface="Segoe UI"/>
                        </a:rPr>
                        <a:t>Backend simulation</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Missing configuration or null chat client</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Some overrides run real database tools</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590550">
                <a:tc>
                  <a:txBody>
                    <a:bodyPr/>
                    <a:lstStyle/>
                    <a:p>
                      <a:r>
                        <a:rPr sz="1725" b="0">
                          <a:solidFill>
                            <a:srgbClr val="34495B"/>
                          </a:solidFill>
                          <a:latin typeface="Segoe UI"/>
                          <a:ea typeface="Segoe UI"/>
                          <a:cs typeface="Segoe UI"/>
                        </a:rPr>
                        <a:t>Live failure</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Exception during the live agent call</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Returns a failed agent response</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r h="763143">
                <a:tc>
                  <a:txBody>
                    <a:bodyPr/>
                    <a:lstStyle/>
                    <a:p>
                      <a:r>
                        <a:rPr sz="1725" b="0">
                          <a:solidFill>
                            <a:srgbClr val="34495B"/>
                          </a:solidFill>
                          <a:latin typeface="Segoe UI"/>
                          <a:ea typeface="Segoe UI"/>
                          <a:cs typeface="Segoe UI"/>
                        </a:rPr>
                        <a:t>Web mock</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AI API transport/envelope failure</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Uses separate template and business API logic</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590550">
                <a:tc>
                  <a:txBody>
                    <a:bodyPr/>
                    <a:lstStyle/>
                    <a:p>
                      <a:r>
                        <a:rPr sz="1725" b="0">
                          <a:solidFill>
                            <a:srgbClr val="34495B"/>
                          </a:solidFill>
                          <a:latin typeface="Segoe UI"/>
                          <a:ea typeface="Segoe UI"/>
                          <a:cs typeface="Segoe UI"/>
                        </a:rPr>
                        <a:t>Studio inspector</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Keyword inference from text</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Does not prove a tool executed</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bl>
          </a:graphicData>
        </a:graphic>
      </p:graphicFrame>
    </p:spTree>
    <p:extLst>
      <p:ext uri="{BB962C8B-B14F-4D97-AF65-F5344CB8AC3E}">
        <p14:creationId xmlns:p14="http://schemas.microsoft.com/office/powerpoint/2010/main" val="2081209647"/>
      </p:ext>
    </p:extLst>
  </p:cSld>
  <p:extLst>
    <p:ext uri="{6950BFC3-D8DA-4A85-94F7-54DA5524770B}">
      <p188:commentRel xmlns:r="http://schemas.openxmlformats.org/officeDocument/2006/relationships" xmlns:p188="http://schemas.microsoft.com/office/powerpoint/2018/8/main" r:id="Rb821d2dcc16745b3"/>
    </p:ext>
  </p:extLst>
</p:sld>
</file>

<file path=ppt/slides/slide80.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B1BA88D7-B48D-4938-A472-0348ABF20602}"/>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Capstone operations target</a:t>
            </a:r>
          </a:p>
        </p:txBody>
      </p:sp>
      <p:sp>
        <p:nvSpPr>
          <p:cNvPr id="2" name="title">
            <a:extLst xmlns:a="http://schemas.openxmlformats.org/drawingml/2006/main">
              <a:ext uri="{FF2B5EF4-FFF2-40B4-BE49-F238E27FC236}">
                <a16:creationId xmlns:a16="http://schemas.microsoft.com/office/drawing/2014/main" id="{4D8F8F32-2608-40B5-8358-15C9AE8AA72C}"/>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Deployment and production operations</a:t>
            </a:r>
          </a:p>
        </p:txBody>
      </p:sp>
      <p:sp>
        <p:nvSpPr>
          <p:cNvPr id="3" name="footer">
            <a:extLst xmlns:a="http://schemas.openxmlformats.org/drawingml/2006/main">
              <a:ext uri="{FF2B5EF4-FFF2-40B4-BE49-F238E27FC236}">
                <a16:creationId xmlns:a16="http://schemas.microsoft.com/office/drawing/2014/main" id="{B421CDB5-4061-4E5C-A921-5FFB3839EAB3}"/>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09  Operations and reliability</a:t>
            </a:r>
          </a:p>
        </p:txBody>
      </p:sp>
      <p:sp>
        <p:nvSpPr>
          <p:cNvPr id="4" name="page">
            <a:extLst xmlns:a="http://schemas.openxmlformats.org/drawingml/2006/main">
              <a:ext uri="{FF2B5EF4-FFF2-40B4-BE49-F238E27FC236}">
                <a16:creationId xmlns:a16="http://schemas.microsoft.com/office/drawing/2014/main" id="{40424257-E024-4CC0-BD02-E37E2118C647}"/>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80</a:t>
            </a:r>
          </a:p>
        </p:txBody>
      </p:sp>
      <p:sp>
        <p:nvSpPr>
          <p:cNvPr id="5" name="label-0">
            <a:extLst xmlns:a="http://schemas.openxmlformats.org/drawingml/2006/main">
              <a:ext uri="{FF2B5EF4-FFF2-40B4-BE49-F238E27FC236}">
                <a16:creationId xmlns:a16="http://schemas.microsoft.com/office/drawing/2014/main" id="{1CB3ABFC-29FE-4D1D-ABAE-C2E4F1A85685}"/>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Release</a:t>
            </a:r>
          </a:p>
        </p:txBody>
      </p:sp>
      <p:sp>
        <p:nvSpPr>
          <p:cNvPr id="6" name="point-0">
            <a:extLst xmlns:a="http://schemas.openxmlformats.org/drawingml/2006/main">
              <a:ext uri="{FF2B5EF4-FFF2-40B4-BE49-F238E27FC236}">
                <a16:creationId xmlns:a16="http://schemas.microsoft.com/office/drawing/2014/main" id="{7D746F49-C696-4A00-9912-F559B38DDF46}"/>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Prompts, packages, tools, retrieval data, and model configuration form one versioned release.</a:t>
            </a:r>
          </a:p>
        </p:txBody>
      </p:sp>
      <p:sp>
        <p:nvSpPr>
          <p:cNvPr id="7" name="label-1">
            <a:extLst xmlns:a="http://schemas.openxmlformats.org/drawingml/2006/main">
              <a:ext uri="{FF2B5EF4-FFF2-40B4-BE49-F238E27FC236}">
                <a16:creationId xmlns:a16="http://schemas.microsoft.com/office/drawing/2014/main" id="{0A88E824-C74D-47DF-943C-A63933F8E09D}"/>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Health</a:t>
            </a:r>
          </a:p>
        </p:txBody>
      </p:sp>
      <p:sp>
        <p:nvSpPr>
          <p:cNvPr id="8" name="point-1">
            <a:extLst xmlns:a="http://schemas.openxmlformats.org/drawingml/2006/main">
              <a:ext uri="{FF2B5EF4-FFF2-40B4-BE49-F238E27FC236}">
                <a16:creationId xmlns:a16="http://schemas.microsoft.com/office/drawing/2014/main" id="{D3A9D13E-66F4-4594-BCF6-7B1EDCEA2065}"/>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Separate process readiness from model and database capability.</a:t>
            </a:r>
          </a:p>
        </p:txBody>
      </p:sp>
      <p:sp>
        <p:nvSpPr>
          <p:cNvPr id="9" name="label-2">
            <a:extLst xmlns:a="http://schemas.openxmlformats.org/drawingml/2006/main">
              <a:ext uri="{FF2B5EF4-FFF2-40B4-BE49-F238E27FC236}">
                <a16:creationId xmlns:a16="http://schemas.microsoft.com/office/drawing/2014/main" id="{03182E5F-D6F7-42E7-BA19-00846E97BE97}"/>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Rollout</a:t>
            </a:r>
          </a:p>
        </p:txBody>
      </p:sp>
      <p:sp>
        <p:nvSpPr>
          <p:cNvPr id="10" name="point-2">
            <a:extLst xmlns:a="http://schemas.openxmlformats.org/drawingml/2006/main">
              <a:ext uri="{FF2B5EF4-FFF2-40B4-BE49-F238E27FC236}">
                <a16:creationId xmlns:a16="http://schemas.microsoft.com/office/drawing/2014/main" id="{79543603-867E-4302-8B3C-8E5D7A01A0B2}"/>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Use feature flags, a small initial audience, and rollback criteria.</a:t>
            </a:r>
          </a:p>
        </p:txBody>
      </p:sp>
      <p:sp>
        <p:nvSpPr>
          <p:cNvPr id="11" name="label-3">
            <a:extLst xmlns:a="http://schemas.openxmlformats.org/drawingml/2006/main">
              <a:ext uri="{FF2B5EF4-FFF2-40B4-BE49-F238E27FC236}">
                <a16:creationId xmlns:a16="http://schemas.microsoft.com/office/drawing/2014/main" id="{B5078FA1-8145-4C44-A8A0-B692906B774C}"/>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Response</a:t>
            </a:r>
          </a:p>
        </p:txBody>
      </p:sp>
      <p:sp>
        <p:nvSpPr>
          <p:cNvPr id="12" name="point-3">
            <a:extLst xmlns:a="http://schemas.openxmlformats.org/drawingml/2006/main">
              <a:ext uri="{FF2B5EF4-FFF2-40B4-BE49-F238E27FC236}">
                <a16:creationId xmlns:a16="http://schemas.microsoft.com/office/drawing/2014/main" id="{083C7D0F-8DDB-4E56-81E8-A9A1F480E440}"/>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Keep runbooks for quota, latency, bad answers, and uncertain writes.</a:t>
            </a:r>
          </a:p>
        </p:txBody>
      </p:sp>
    </p:spTree>
    <p:extLst>
      <p:ext uri="{BB962C8B-B14F-4D97-AF65-F5344CB8AC3E}">
        <p14:creationId xmlns:p14="http://schemas.microsoft.com/office/powerpoint/2010/main" val="1223648392"/>
      </p:ext>
    </p:extLst>
  </p:cSld>
  <p:extLst>
    <p:ext uri="{6950BFC3-D8DA-4A85-94F7-54DA5524770B}">
      <p188:commentRel xmlns:r="http://schemas.openxmlformats.org/officeDocument/2006/relationships" xmlns:p188="http://schemas.microsoft.com/office/powerpoint/2018/8/main" r:id="R350997f41e744894"/>
    </p:ext>
  </p:extLst>
</p:sld>
</file>

<file path=ppt/slides/slide8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4" name="context">
            <a:extLst xmlns:a="http://schemas.openxmlformats.org/drawingml/2006/main">
              <a:ext uri="{FF2B5EF4-FFF2-40B4-BE49-F238E27FC236}">
                <a16:creationId xmlns:a16="http://schemas.microsoft.com/office/drawing/2014/main" id="{27A1D9A0-5532-4761-A0FD-252630D4985D}"/>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Lab target</a:t>
            </a:r>
          </a:p>
        </p:txBody>
      </p:sp>
      <p:sp>
        <p:nvSpPr>
          <p:cNvPr id="2" name="title">
            <a:extLst xmlns:a="http://schemas.openxmlformats.org/drawingml/2006/main">
              <a:ext uri="{FF2B5EF4-FFF2-40B4-BE49-F238E27FC236}">
                <a16:creationId xmlns:a16="http://schemas.microsoft.com/office/drawing/2014/main" id="{AA15C759-1F06-42A3-95F1-0BEAD75B8740}"/>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Lab 09: trace and fault-inject a run</a:t>
            </a:r>
          </a:p>
        </p:txBody>
      </p:sp>
      <p:sp>
        <p:nvSpPr>
          <p:cNvPr id="3" name="footer">
            <a:extLst xmlns:a="http://schemas.openxmlformats.org/drawingml/2006/main">
              <a:ext uri="{FF2B5EF4-FFF2-40B4-BE49-F238E27FC236}">
                <a16:creationId xmlns:a16="http://schemas.microsoft.com/office/drawing/2014/main" id="{17638982-9B9D-4EAB-A8B4-40824741B357}"/>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09  Operations and reliability</a:t>
            </a:r>
          </a:p>
        </p:txBody>
      </p:sp>
      <p:sp>
        <p:nvSpPr>
          <p:cNvPr id="4" name="page">
            <a:extLst xmlns:a="http://schemas.openxmlformats.org/drawingml/2006/main">
              <a:ext uri="{FF2B5EF4-FFF2-40B4-BE49-F238E27FC236}">
                <a16:creationId xmlns:a16="http://schemas.microsoft.com/office/drawing/2014/main" id="{0C46A95F-A971-49B5-9955-EE23D75575FA}"/>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81</a:t>
            </a:r>
          </a:p>
        </p:txBody>
      </p:sp>
      <p:sp>
        <p:nvSpPr>
          <p:cNvPr id="5" name="implementation">
            <a:extLst xmlns:a="http://schemas.openxmlformats.org/drawingml/2006/main">
              <a:ext uri="{FF2B5EF4-FFF2-40B4-BE49-F238E27FC236}">
                <a16:creationId xmlns:a16="http://schemas.microsoft.com/office/drawing/2014/main" id="{5300C3CF-0E82-49EA-8744-9EEA8AD82B75}"/>
              </a:ext>
            </a:extLst>
          </p:cNvPr>
          <p:cNvSpPr>
            <a:spLocks xmlns:a="http://schemas.openxmlformats.org/drawingml/2006/main" noGrp="1"/>
          </p:cNvSpPr>
          <p:nvPr/>
        </p:nvSpPr>
        <p:spPr>
          <a:xfrm xmlns:a="http://schemas.openxmlformats.org/drawingml/2006/main">
            <a:off x="685800" y="1857375"/>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Implementation</a:t>
            </a:r>
          </a:p>
        </p:txBody>
      </p:sp>
      <p:sp>
        <p:nvSpPr>
          <p:cNvPr id="6" name="acceptance">
            <a:extLst xmlns:a="http://schemas.openxmlformats.org/drawingml/2006/main">
              <a:ext uri="{FF2B5EF4-FFF2-40B4-BE49-F238E27FC236}">
                <a16:creationId xmlns:a16="http://schemas.microsoft.com/office/drawing/2014/main" id="{6104F6A5-9DEE-483B-9DF2-A696D867C157}"/>
              </a:ext>
            </a:extLst>
          </p:cNvPr>
          <p:cNvSpPr>
            <a:spLocks xmlns:a="http://schemas.openxmlformats.org/drawingml/2006/main" noGrp="1"/>
          </p:cNvSpPr>
          <p:nvPr/>
        </p:nvSpPr>
        <p:spPr>
          <a:xfrm xmlns:a="http://schemas.openxmlformats.org/drawingml/2006/main">
            <a:off x="7477125" y="1857375"/>
            <a:ext cx="4029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Acceptance</a:t>
            </a:r>
          </a:p>
        </p:txBody>
      </p:sp>
      <p:sp>
        <p:nvSpPr>
          <p:cNvPr id="7" name="task-0">
            <a:extLst xmlns:a="http://schemas.openxmlformats.org/drawingml/2006/main">
              <a:ext uri="{FF2B5EF4-FFF2-40B4-BE49-F238E27FC236}">
                <a16:creationId xmlns:a16="http://schemas.microsoft.com/office/drawing/2014/main" id="{BE447F57-1BB2-45BB-8BD2-BEE5940F08CB}"/>
              </a:ext>
            </a:extLst>
          </p:cNvPr>
          <p:cNvSpPr>
            <a:spLocks xmlns:a="http://schemas.openxmlformats.org/drawingml/2006/main" noGrp="1"/>
          </p:cNvSpPr>
          <p:nvPr/>
        </p:nvSpPr>
        <p:spPr>
          <a:xfrm xmlns:a="http://schemas.openxmlformats.org/drawingml/2006/main">
            <a:off x="685800" y="2476500"/>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1. Instrument a model call, a tool, and the application operation.</a:t>
            </a:r>
          </a:p>
        </p:txBody>
      </p:sp>
      <p:sp>
        <p:nvSpPr>
          <p:cNvPr id="8" name="task-1">
            <a:extLst xmlns:a="http://schemas.openxmlformats.org/drawingml/2006/main">
              <a:ext uri="{FF2B5EF4-FFF2-40B4-BE49-F238E27FC236}">
                <a16:creationId xmlns:a16="http://schemas.microsoft.com/office/drawing/2014/main" id="{08DFD527-D57C-436A-8F6C-FCE2FDC9EEA9}"/>
              </a:ext>
            </a:extLst>
          </p:cNvPr>
          <p:cNvSpPr>
            <a:spLocks xmlns:a="http://schemas.openxmlformats.org/drawingml/2006/main" noGrp="1"/>
          </p:cNvSpPr>
          <p:nvPr/>
        </p:nvSpPr>
        <p:spPr>
          <a:xfrm xmlns:a="http://schemas.openxmlformats.org/drawingml/2006/main">
            <a:off x="685800" y="3495675"/>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2. Inject a database failure and a provider timeout.</a:t>
            </a:r>
          </a:p>
        </p:txBody>
      </p:sp>
      <p:sp>
        <p:nvSpPr>
          <p:cNvPr id="9" name="task-2">
            <a:extLst xmlns:a="http://schemas.openxmlformats.org/drawingml/2006/main">
              <a:ext uri="{FF2B5EF4-FFF2-40B4-BE49-F238E27FC236}">
                <a16:creationId xmlns:a16="http://schemas.microsoft.com/office/drawing/2014/main" id="{4C8EE387-78BA-4197-BF12-990D102322B0}"/>
              </a:ext>
            </a:extLst>
          </p:cNvPr>
          <p:cNvSpPr>
            <a:spLocks xmlns:a="http://schemas.openxmlformats.org/drawingml/2006/main" noGrp="1"/>
          </p:cNvSpPr>
          <p:nvPr/>
        </p:nvSpPr>
        <p:spPr>
          <a:xfrm xmlns:a="http://schemas.openxmlformats.org/drawingml/2006/main">
            <a:off x="685800" y="4514850"/>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3. Measure a run budget and document a rollback path.</a:t>
            </a:r>
          </a:p>
        </p:txBody>
      </p:sp>
      <p:sp>
        <p:nvSpPr>
          <p:cNvPr id="10" name="criterion-0">
            <a:extLst xmlns:a="http://schemas.openxmlformats.org/drawingml/2006/main">
              <a:ext uri="{FF2B5EF4-FFF2-40B4-BE49-F238E27FC236}">
                <a16:creationId xmlns:a16="http://schemas.microsoft.com/office/drawing/2014/main" id="{AE7BAA02-453C-4C8F-A34D-D78FD1B4159A}"/>
              </a:ext>
            </a:extLst>
          </p:cNvPr>
          <p:cNvSpPr>
            <a:spLocks xmlns:a="http://schemas.openxmlformats.org/drawingml/2006/main" noGrp="1"/>
          </p:cNvSpPr>
          <p:nvPr/>
        </p:nvSpPr>
        <p:spPr>
          <a:xfrm xmlns:a="http://schemas.openxmlformats.org/drawingml/2006/main">
            <a:off x="7477125" y="2476500"/>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One trace explains the actual execution.</a:t>
            </a:r>
          </a:p>
        </p:txBody>
      </p:sp>
      <p:sp>
        <p:nvSpPr>
          <p:cNvPr id="11" name="criterion-1">
            <a:extLst xmlns:a="http://schemas.openxmlformats.org/drawingml/2006/main">
              <a:ext uri="{FF2B5EF4-FFF2-40B4-BE49-F238E27FC236}">
                <a16:creationId xmlns:a16="http://schemas.microsoft.com/office/drawing/2014/main" id="{AC2C2915-8C9F-4217-92F1-7921B0B0F841}"/>
              </a:ext>
            </a:extLst>
          </p:cNvPr>
          <p:cNvSpPr>
            <a:spLocks xmlns:a="http://schemas.openxmlformats.org/drawingml/2006/main" noGrp="1"/>
          </p:cNvSpPr>
          <p:nvPr/>
        </p:nvSpPr>
        <p:spPr>
          <a:xfrm xmlns:a="http://schemas.openxmlformats.org/drawingml/2006/main">
            <a:off x="7477125" y="3495675"/>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Sensitive data stays out of default telemetry.</a:t>
            </a:r>
          </a:p>
        </p:txBody>
      </p:sp>
      <p:sp>
        <p:nvSpPr>
          <p:cNvPr id="12" name="criterion-2">
            <a:extLst xmlns:a="http://schemas.openxmlformats.org/drawingml/2006/main">
              <a:ext uri="{FF2B5EF4-FFF2-40B4-BE49-F238E27FC236}">
                <a16:creationId xmlns:a16="http://schemas.microsoft.com/office/drawing/2014/main" id="{19A44289-41E5-4EF3-AC87-8ADA7ECA51F9}"/>
              </a:ext>
            </a:extLst>
          </p:cNvPr>
          <p:cNvSpPr>
            <a:spLocks xmlns:a="http://schemas.openxmlformats.org/drawingml/2006/main" noGrp="1"/>
          </p:cNvSpPr>
          <p:nvPr/>
        </p:nvSpPr>
        <p:spPr>
          <a:xfrm xmlns:a="http://schemas.openxmlformats.org/drawingml/2006/main">
            <a:off x="7477125" y="4514850"/>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The UI distinguishes failure from a completed write.</a:t>
            </a:r>
          </a:p>
        </p:txBody>
      </p:sp>
      <p:sp>
        <p:nvSpPr>
          <p:cNvPr id="13" name="lab-time">
            <a:extLst xmlns:a="http://schemas.openxmlformats.org/drawingml/2006/main">
              <a:ext uri="{FF2B5EF4-FFF2-40B4-BE49-F238E27FC236}">
                <a16:creationId xmlns:a16="http://schemas.microsoft.com/office/drawing/2014/main" id="{B09CA135-14CD-4ED4-9DB1-5478E2733136}"/>
              </a:ext>
            </a:extLst>
          </p:cNvPr>
          <p:cNvSpPr>
            <a:spLocks xmlns:a="http://schemas.openxmlformats.org/drawingml/2006/main" noGrp="1"/>
          </p:cNvSpPr>
          <p:nvPr/>
        </p:nvSpPr>
        <p:spPr>
          <a:xfrm xmlns:a="http://schemas.openxmlformats.org/drawingml/2006/main">
            <a:off x="685800" y="588645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17384"/>
                </a:solidFill>
                <a:latin typeface="Segoe UI"/>
                <a:ea typeface="Segoe UI"/>
                <a:cs typeface="Segoe UI"/>
              </a:defRPr>
            </a:defPPr>
            <a:lvl1pPr algn="l">
              <a:defRPr sz="1500" b="0">
                <a:solidFill>
                  <a:srgbClr val="617384"/>
                </a:solidFill>
                <a:latin typeface="Segoe UI"/>
                <a:ea typeface="Segoe UI"/>
                <a:cs typeface="Segoe UI"/>
              </a:defRPr>
            </a:lvl1pPr>
            <a:lvl2pPr algn="l">
              <a:defRPr sz="1500" b="0">
                <a:solidFill>
                  <a:srgbClr val="617384"/>
                </a:solidFill>
                <a:latin typeface="Segoe UI"/>
                <a:ea typeface="Segoe UI"/>
                <a:cs typeface="Segoe UI"/>
              </a:defRPr>
            </a:lvl2pPr>
            <a:lvl3pPr algn="l">
              <a:defRPr sz="1500" b="0">
                <a:solidFill>
                  <a:srgbClr val="617384"/>
                </a:solidFill>
                <a:latin typeface="Segoe UI"/>
                <a:ea typeface="Segoe UI"/>
                <a:cs typeface="Segoe UI"/>
              </a:defRPr>
            </a:lvl3pPr>
            <a:lvl4pPr algn="l">
              <a:defRPr sz="1500" b="0">
                <a:solidFill>
                  <a:srgbClr val="617384"/>
                </a:solidFill>
                <a:latin typeface="Segoe UI"/>
                <a:ea typeface="Segoe UI"/>
                <a:cs typeface="Segoe UI"/>
              </a:defRPr>
            </a:lvl4pPr>
            <a:lvl5pPr algn="l">
              <a:defRPr sz="1500" b="0">
                <a:solidFill>
                  <a:srgbClr val="617384"/>
                </a:solidFill>
                <a:latin typeface="Segoe UI"/>
                <a:ea typeface="Segoe UI"/>
                <a:cs typeface="Segoe UI"/>
              </a:defRPr>
            </a:lvl5pPr>
            <a:lvl6pPr algn="l">
              <a:defRPr sz="1500" b="0">
                <a:solidFill>
                  <a:srgbClr val="617384"/>
                </a:solidFill>
                <a:latin typeface="Segoe UI"/>
                <a:ea typeface="Segoe UI"/>
                <a:cs typeface="Segoe UI"/>
              </a:defRPr>
            </a:lvl6pPr>
            <a:lvl7pPr algn="l">
              <a:defRPr sz="1500" b="0">
                <a:solidFill>
                  <a:srgbClr val="617384"/>
                </a:solidFill>
                <a:latin typeface="Segoe UI"/>
                <a:ea typeface="Segoe UI"/>
                <a:cs typeface="Segoe UI"/>
              </a:defRPr>
            </a:lvl7pPr>
            <a:lvl8pPr algn="l">
              <a:defRPr sz="1500" b="0">
                <a:solidFill>
                  <a:srgbClr val="617384"/>
                </a:solidFill>
                <a:latin typeface="Segoe UI"/>
                <a:ea typeface="Segoe UI"/>
                <a:cs typeface="Segoe UI"/>
              </a:defRPr>
            </a:lvl8pPr>
            <a:lvl9pPr algn="l">
              <a:defRPr sz="1500" b="0">
                <a:solidFill>
                  <a:srgbClr val="617384"/>
                </a:solidFill>
                <a:latin typeface="Segoe UI"/>
                <a:ea typeface="Segoe UI"/>
                <a:cs typeface="Segoe UI"/>
              </a:defRPr>
            </a:lvl9pPr>
          </a:lstStyle>
          <a:p xmlns:a="http://schemas.openxmlformats.org/drawingml/2006/main">
            <a:pPr algn="l">
              <a:defRPr sz="1500" b="0">
                <a:solidFill>
                  <a:srgbClr val="617384"/>
                </a:solidFill>
                <a:latin typeface="Segoe UI"/>
                <a:ea typeface="Segoe UI"/>
                <a:cs typeface="Segoe UI"/>
              </a:defRPr>
            </a:pPr>
            <a:r>
              <a:rPr sz="1500" b="0">
                <a:solidFill>
                  <a:srgbClr val="617384"/>
                </a:solidFill>
                <a:latin typeface="Segoe UI"/>
                <a:ea typeface="Segoe UI"/>
                <a:cs typeface="Segoe UI"/>
              </a:rPr>
              <a:t>Suggested lab work: 70 minutes. Review the evidence before continuing.</a:t>
            </a:r>
          </a:p>
        </p:txBody>
      </p:sp>
    </p:spTree>
    <p:extLst>
      <p:ext uri="{BB962C8B-B14F-4D97-AF65-F5344CB8AC3E}">
        <p14:creationId xmlns:p14="http://schemas.microsoft.com/office/powerpoint/2010/main" val="1872430036"/>
      </p:ext>
    </p:extLst>
  </p:cSld>
  <p:extLst>
    <p:ext uri="{6950BFC3-D8DA-4A85-94F7-54DA5524770B}">
      <p188:commentRel xmlns:r="http://schemas.openxmlformats.org/officeDocument/2006/relationships" xmlns:p188="http://schemas.microsoft.com/office/powerpoint/2018/8/main" r:id="R40defaa4f4b04732"/>
    </p:ext>
  </p:extLst>
</p:sld>
</file>

<file path=ppt/slides/slide82.xml><?xml version="1.0" encoding="utf-8"?>
<p:sld xmlns:p="http://schemas.openxmlformats.org/presentationml/2006/main">
  <p:cSld>
    <p:bg>
      <p:bgPr>
        <a:solidFill xmlns:a="http://schemas.openxmlformats.org/drawingml/2006/main">
          <a:srgbClr val="06182B"/>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4369CD32-7135-46F3-B859-0CA1E13510D2}"/>
              </a:ext>
            </a:extLst>
          </p:cNvPr>
          <p:cNvPicPr>
            <a:picLocks xmlns:a="http://schemas.openxmlformats.org/drawingml/2006/main" noChangeAspect="1"/>
          </p:cNvPicPr>
          <p:nvPr/>
        </p:nvPicPr>
        <p:blipFill>
          <a:blip xmlns:r="http://schemas.openxmlformats.org/officeDocument/2006/relationships" xmlns:a="http://schemas.openxmlformats.org/drawingml/2006/main" r:embed="R151886bd9aef4b8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ntext">
            <a:extLst xmlns:a="http://schemas.openxmlformats.org/drawingml/2006/main">
              <a:ext uri="{FF2B5EF4-FFF2-40B4-BE49-F238E27FC236}">
                <a16:creationId xmlns:a16="http://schemas.microsoft.com/office/drawing/2014/main" id="{10386C17-70DF-41A6-AFC1-B5191E2FBB8B}"/>
              </a:ext>
            </a:extLst>
          </p:cNvPr>
          <p:cNvSpPr>
            <a:spLocks xmlns:a="http://schemas.openxmlformats.org/drawingml/2006/main" noGrp="1"/>
          </p:cNvSpPr>
          <p:nvPr/>
        </p:nvSpPr>
        <p:spPr>
          <a:xfrm xmlns:a="http://schemas.openxmlformats.org/drawingml/2006/main">
            <a:off x="647700" y="95250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73DEDC"/>
                </a:solidFill>
                <a:latin typeface="Segoe UI"/>
                <a:ea typeface="Segoe UI"/>
                <a:cs typeface="Segoe UI"/>
              </a:defRPr>
            </a:defPPr>
            <a:lvl1pPr algn="l">
              <a:defRPr sz="1500" b="1">
                <a:solidFill>
                  <a:srgbClr val="73DEDC"/>
                </a:solidFill>
                <a:latin typeface="Segoe UI"/>
                <a:ea typeface="Segoe UI"/>
                <a:cs typeface="Segoe UI"/>
              </a:defRPr>
            </a:lvl1pPr>
            <a:lvl2pPr algn="l">
              <a:defRPr sz="1500" b="1">
                <a:solidFill>
                  <a:srgbClr val="73DEDC"/>
                </a:solidFill>
                <a:latin typeface="Segoe UI"/>
                <a:ea typeface="Segoe UI"/>
                <a:cs typeface="Segoe UI"/>
              </a:defRPr>
            </a:lvl2pPr>
            <a:lvl3pPr algn="l">
              <a:defRPr sz="1500" b="1">
                <a:solidFill>
                  <a:srgbClr val="73DEDC"/>
                </a:solidFill>
                <a:latin typeface="Segoe UI"/>
                <a:ea typeface="Segoe UI"/>
                <a:cs typeface="Segoe UI"/>
              </a:defRPr>
            </a:lvl3pPr>
            <a:lvl4pPr algn="l">
              <a:defRPr sz="1500" b="1">
                <a:solidFill>
                  <a:srgbClr val="73DEDC"/>
                </a:solidFill>
                <a:latin typeface="Segoe UI"/>
                <a:ea typeface="Segoe UI"/>
                <a:cs typeface="Segoe UI"/>
              </a:defRPr>
            </a:lvl4pPr>
            <a:lvl5pPr algn="l">
              <a:defRPr sz="1500" b="1">
                <a:solidFill>
                  <a:srgbClr val="73DEDC"/>
                </a:solidFill>
                <a:latin typeface="Segoe UI"/>
                <a:ea typeface="Segoe UI"/>
                <a:cs typeface="Segoe UI"/>
              </a:defRPr>
            </a:lvl5pPr>
            <a:lvl6pPr algn="l">
              <a:defRPr sz="1500" b="1">
                <a:solidFill>
                  <a:srgbClr val="73DEDC"/>
                </a:solidFill>
                <a:latin typeface="Segoe UI"/>
                <a:ea typeface="Segoe UI"/>
                <a:cs typeface="Segoe UI"/>
              </a:defRPr>
            </a:lvl6pPr>
            <a:lvl7pPr algn="l">
              <a:defRPr sz="1500" b="1">
                <a:solidFill>
                  <a:srgbClr val="73DEDC"/>
                </a:solidFill>
                <a:latin typeface="Segoe UI"/>
                <a:ea typeface="Segoe UI"/>
                <a:cs typeface="Segoe UI"/>
              </a:defRPr>
            </a:lvl7pPr>
            <a:lvl8pPr algn="l">
              <a:defRPr sz="1500" b="1">
                <a:solidFill>
                  <a:srgbClr val="73DEDC"/>
                </a:solidFill>
                <a:latin typeface="Segoe UI"/>
                <a:ea typeface="Segoe UI"/>
                <a:cs typeface="Segoe UI"/>
              </a:defRPr>
            </a:lvl8pPr>
            <a:lvl9pPr algn="l">
              <a:defRPr sz="1500" b="1">
                <a:solidFill>
                  <a:srgbClr val="73DEDC"/>
                </a:solidFill>
                <a:latin typeface="Segoe UI"/>
                <a:ea typeface="Segoe UI"/>
                <a:cs typeface="Segoe UI"/>
              </a:defRPr>
            </a:lvl9pPr>
          </a:lstStyle>
          <a:p xmlns:a="http://schemas.openxmlformats.org/drawingml/2006/main">
            <a:pPr algn="l">
              <a:defRPr sz="1500" b="1">
                <a:solidFill>
                  <a:srgbClr val="73DEDC"/>
                </a:solidFill>
                <a:latin typeface="Segoe UI"/>
                <a:ea typeface="Segoe UI"/>
                <a:cs typeface="Segoe UI"/>
              </a:defRPr>
            </a:pPr>
            <a:r>
              <a:rPr sz="1500" b="1">
                <a:solidFill>
                  <a:srgbClr val="73DEDC"/>
                </a:solidFill>
                <a:latin typeface="Segoe UI"/>
                <a:ea typeface="Segoe UI"/>
                <a:cs typeface="Segoe UI"/>
              </a:rPr>
              <a:t>MODULE 10</a:t>
            </a:r>
          </a:p>
        </p:txBody>
      </p:sp>
      <p:sp>
        <p:nvSpPr>
          <p:cNvPr id="3" name="title">
            <a:extLst xmlns:a="http://schemas.openxmlformats.org/drawingml/2006/main">
              <a:ext uri="{FF2B5EF4-FFF2-40B4-BE49-F238E27FC236}">
                <a16:creationId xmlns:a16="http://schemas.microsoft.com/office/drawing/2014/main" id="{622E864A-12BF-4372-9F4E-18373E72843A}"/>
              </a:ext>
            </a:extLst>
          </p:cNvPr>
          <p:cNvSpPr>
            <a:spLocks xmlns:a="http://schemas.openxmlformats.org/drawingml/2006/main" noGrp="1"/>
          </p:cNvSpPr>
          <p:nvPr/>
        </p:nvSpPr>
        <p:spPr>
          <a:xfrm xmlns:a="http://schemas.openxmlformats.org/drawingml/2006/main">
            <a:off x="647700" y="1809750"/>
            <a:ext cx="6858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Segoe UI"/>
                <a:ea typeface="Segoe UI"/>
                <a:cs typeface="Segoe UI"/>
              </a:defRPr>
            </a:defPPr>
            <a:lvl1pPr algn="l">
              <a:defRPr sz="3900" b="1">
                <a:solidFill>
                  <a:srgbClr val="FFFFFF"/>
                </a:solidFill>
                <a:latin typeface="Segoe UI"/>
                <a:ea typeface="Segoe UI"/>
                <a:cs typeface="Segoe UI"/>
              </a:defRPr>
            </a:lvl1pPr>
            <a:lvl2pPr algn="l">
              <a:defRPr sz="3900" b="1">
                <a:solidFill>
                  <a:srgbClr val="FFFFFF"/>
                </a:solidFill>
                <a:latin typeface="Segoe UI"/>
                <a:ea typeface="Segoe UI"/>
                <a:cs typeface="Segoe UI"/>
              </a:defRPr>
            </a:lvl2pPr>
            <a:lvl3pPr algn="l">
              <a:defRPr sz="3900" b="1">
                <a:solidFill>
                  <a:srgbClr val="FFFFFF"/>
                </a:solidFill>
                <a:latin typeface="Segoe UI"/>
                <a:ea typeface="Segoe UI"/>
                <a:cs typeface="Segoe UI"/>
              </a:defRPr>
            </a:lvl3pPr>
            <a:lvl4pPr algn="l">
              <a:defRPr sz="3900" b="1">
                <a:solidFill>
                  <a:srgbClr val="FFFFFF"/>
                </a:solidFill>
                <a:latin typeface="Segoe UI"/>
                <a:ea typeface="Segoe UI"/>
                <a:cs typeface="Segoe UI"/>
              </a:defRPr>
            </a:lvl4pPr>
            <a:lvl5pPr algn="l">
              <a:defRPr sz="3900" b="1">
                <a:solidFill>
                  <a:srgbClr val="FFFFFF"/>
                </a:solidFill>
                <a:latin typeface="Segoe UI"/>
                <a:ea typeface="Segoe UI"/>
                <a:cs typeface="Segoe UI"/>
              </a:defRPr>
            </a:lvl5pPr>
            <a:lvl6pPr algn="l">
              <a:defRPr sz="3900" b="1">
                <a:solidFill>
                  <a:srgbClr val="FFFFFF"/>
                </a:solidFill>
                <a:latin typeface="Segoe UI"/>
                <a:ea typeface="Segoe UI"/>
                <a:cs typeface="Segoe UI"/>
              </a:defRPr>
            </a:lvl6pPr>
            <a:lvl7pPr algn="l">
              <a:defRPr sz="3900" b="1">
                <a:solidFill>
                  <a:srgbClr val="FFFFFF"/>
                </a:solidFill>
                <a:latin typeface="Segoe UI"/>
                <a:ea typeface="Segoe UI"/>
                <a:cs typeface="Segoe UI"/>
              </a:defRPr>
            </a:lvl7pPr>
            <a:lvl8pPr algn="l">
              <a:defRPr sz="3900" b="1">
                <a:solidFill>
                  <a:srgbClr val="FFFFFF"/>
                </a:solidFill>
                <a:latin typeface="Segoe UI"/>
                <a:ea typeface="Segoe UI"/>
                <a:cs typeface="Segoe UI"/>
              </a:defRPr>
            </a:lvl8pPr>
            <a:lvl9pPr algn="l">
              <a:defRPr sz="3900" b="1">
                <a:solidFill>
                  <a:srgbClr val="FFFFFF"/>
                </a:solidFill>
                <a:latin typeface="Segoe UI"/>
                <a:ea typeface="Segoe UI"/>
                <a:cs typeface="Segoe UI"/>
              </a:defRPr>
            </a:lvl9pPr>
          </a:lstStyle>
          <a:p xmlns:a="http://schemas.openxmlformats.org/drawingml/2006/main">
            <a:pPr algn="l">
              <a:defRPr sz="3900" b="1">
                <a:solidFill>
                  <a:srgbClr val="FFFFFF"/>
                </a:solidFill>
                <a:latin typeface="Segoe UI"/>
                <a:ea typeface="Segoe UI"/>
                <a:cs typeface="Segoe UI"/>
              </a:defRPr>
            </a:pPr>
            <a:r>
              <a:rPr sz="3900" b="1">
                <a:solidFill>
                  <a:srgbClr val="FFFFFF"/>
                </a:solidFill>
                <a:latin typeface="Segoe UI"/>
                <a:ea typeface="Segoe UI"/>
                <a:cs typeface="Segoe UI"/>
              </a:rPr>
              <a:t>Evaluation and the capstone</a:t>
            </a:r>
          </a:p>
        </p:txBody>
      </p:sp>
      <p:sp>
        <p:nvSpPr>
          <p:cNvPr id="4" name="subtitle">
            <a:extLst xmlns:a="http://schemas.openxmlformats.org/drawingml/2006/main">
              <a:ext uri="{FF2B5EF4-FFF2-40B4-BE49-F238E27FC236}">
                <a16:creationId xmlns:a16="http://schemas.microsoft.com/office/drawing/2014/main" id="{5F89198B-9CE6-424C-9764-391E5C83474E}"/>
              </a:ext>
            </a:extLst>
          </p:cNvPr>
          <p:cNvSpPr>
            <a:spLocks xmlns:a="http://schemas.openxmlformats.org/drawingml/2006/main" noGrp="1"/>
          </p:cNvSpPr>
          <p:nvPr/>
        </p:nvSpPr>
        <p:spPr>
          <a:xfrm xmlns:a="http://schemas.openxmlformats.org/drawingml/2006/main">
            <a:off x="647700" y="4000500"/>
            <a:ext cx="619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D9E6F0"/>
                </a:solidFill>
                <a:latin typeface="Segoe UI"/>
                <a:ea typeface="Segoe UI"/>
                <a:cs typeface="Segoe UI"/>
              </a:defRPr>
            </a:defPPr>
            <a:lvl1pPr algn="l">
              <a:defRPr sz="2025" b="0">
                <a:solidFill>
                  <a:srgbClr val="D9E6F0"/>
                </a:solidFill>
                <a:latin typeface="Segoe UI"/>
                <a:ea typeface="Segoe UI"/>
                <a:cs typeface="Segoe UI"/>
              </a:defRPr>
            </a:lvl1pPr>
            <a:lvl2pPr algn="l">
              <a:defRPr sz="2025" b="0">
                <a:solidFill>
                  <a:srgbClr val="D9E6F0"/>
                </a:solidFill>
                <a:latin typeface="Segoe UI"/>
                <a:ea typeface="Segoe UI"/>
                <a:cs typeface="Segoe UI"/>
              </a:defRPr>
            </a:lvl2pPr>
            <a:lvl3pPr algn="l">
              <a:defRPr sz="2025" b="0">
                <a:solidFill>
                  <a:srgbClr val="D9E6F0"/>
                </a:solidFill>
                <a:latin typeface="Segoe UI"/>
                <a:ea typeface="Segoe UI"/>
                <a:cs typeface="Segoe UI"/>
              </a:defRPr>
            </a:lvl3pPr>
            <a:lvl4pPr algn="l">
              <a:defRPr sz="2025" b="0">
                <a:solidFill>
                  <a:srgbClr val="D9E6F0"/>
                </a:solidFill>
                <a:latin typeface="Segoe UI"/>
                <a:ea typeface="Segoe UI"/>
                <a:cs typeface="Segoe UI"/>
              </a:defRPr>
            </a:lvl4pPr>
            <a:lvl5pPr algn="l">
              <a:defRPr sz="2025" b="0">
                <a:solidFill>
                  <a:srgbClr val="D9E6F0"/>
                </a:solidFill>
                <a:latin typeface="Segoe UI"/>
                <a:ea typeface="Segoe UI"/>
                <a:cs typeface="Segoe UI"/>
              </a:defRPr>
            </a:lvl5pPr>
            <a:lvl6pPr algn="l">
              <a:defRPr sz="2025" b="0">
                <a:solidFill>
                  <a:srgbClr val="D9E6F0"/>
                </a:solidFill>
                <a:latin typeface="Segoe UI"/>
                <a:ea typeface="Segoe UI"/>
                <a:cs typeface="Segoe UI"/>
              </a:defRPr>
            </a:lvl6pPr>
            <a:lvl7pPr algn="l">
              <a:defRPr sz="2025" b="0">
                <a:solidFill>
                  <a:srgbClr val="D9E6F0"/>
                </a:solidFill>
                <a:latin typeface="Segoe UI"/>
                <a:ea typeface="Segoe UI"/>
                <a:cs typeface="Segoe UI"/>
              </a:defRPr>
            </a:lvl7pPr>
            <a:lvl8pPr algn="l">
              <a:defRPr sz="2025" b="0">
                <a:solidFill>
                  <a:srgbClr val="D9E6F0"/>
                </a:solidFill>
                <a:latin typeface="Segoe UI"/>
                <a:ea typeface="Segoe UI"/>
                <a:cs typeface="Segoe UI"/>
              </a:defRPr>
            </a:lvl8pPr>
            <a:lvl9pPr algn="l">
              <a:defRPr sz="2025" b="0">
                <a:solidFill>
                  <a:srgbClr val="D9E6F0"/>
                </a:solidFill>
                <a:latin typeface="Segoe UI"/>
                <a:ea typeface="Segoe UI"/>
                <a:cs typeface="Segoe UI"/>
              </a:defRPr>
            </a:lvl9pPr>
          </a:lstStyle>
          <a:p xmlns:a="http://schemas.openxmlformats.org/drawingml/2006/main">
            <a:pPr algn="l">
              <a:defRPr sz="2025" b="0">
                <a:solidFill>
                  <a:srgbClr val="D9E6F0"/>
                </a:solidFill>
                <a:latin typeface="Segoe UI"/>
                <a:ea typeface="Segoe UI"/>
                <a:cs typeface="Segoe UI"/>
              </a:defRPr>
            </a:pPr>
            <a:r>
              <a:rPr sz="2025" b="0">
                <a:solidFill>
                  <a:srgbClr val="D9E6F0"/>
                </a:solidFill>
                <a:latin typeface="Segoe UI"/>
                <a:ea typeface="Segoe UI"/>
                <a:cs typeface="Segoe UI"/>
              </a:rPr>
              <a:t>A demonstrable integration with behavioral release criteria</a:t>
            </a:r>
          </a:p>
        </p:txBody>
      </p:sp>
      <p:sp>
        <p:nvSpPr>
          <p:cNvPr id="5" name="footer">
            <a:extLst xmlns:a="http://schemas.openxmlformats.org/drawingml/2006/main">
              <a:ext uri="{FF2B5EF4-FFF2-40B4-BE49-F238E27FC236}">
                <a16:creationId xmlns:a16="http://schemas.microsoft.com/office/drawing/2014/main" id="{BD63EB19-B009-4DA2-9C01-83D71C582D10}"/>
              </a:ext>
            </a:extLst>
          </p:cNvPr>
          <p:cNvSpPr>
            <a:spLocks xmlns:a="http://schemas.openxmlformats.org/drawingml/2006/main" noGrp="1"/>
          </p:cNvSpPr>
          <p:nvPr/>
        </p:nvSpPr>
        <p:spPr>
          <a:xfrm xmlns:a="http://schemas.openxmlformats.org/drawingml/2006/main">
            <a:off x="647700" y="6153150"/>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BC0D2"/>
                </a:solidFill>
                <a:latin typeface="Segoe UI"/>
                <a:ea typeface="Segoe UI"/>
                <a:cs typeface="Segoe UI"/>
              </a:defRPr>
            </a:defPPr>
            <a:lvl1pPr algn="l">
              <a:defRPr sz="1275" b="0">
                <a:solidFill>
                  <a:srgbClr val="ABC0D2"/>
                </a:solidFill>
                <a:latin typeface="Segoe UI"/>
                <a:ea typeface="Segoe UI"/>
                <a:cs typeface="Segoe UI"/>
              </a:defRPr>
            </a:lvl1pPr>
            <a:lvl2pPr algn="l">
              <a:defRPr sz="1275" b="0">
                <a:solidFill>
                  <a:srgbClr val="ABC0D2"/>
                </a:solidFill>
                <a:latin typeface="Segoe UI"/>
                <a:ea typeface="Segoe UI"/>
                <a:cs typeface="Segoe UI"/>
              </a:defRPr>
            </a:lvl2pPr>
            <a:lvl3pPr algn="l">
              <a:defRPr sz="1275" b="0">
                <a:solidFill>
                  <a:srgbClr val="ABC0D2"/>
                </a:solidFill>
                <a:latin typeface="Segoe UI"/>
                <a:ea typeface="Segoe UI"/>
                <a:cs typeface="Segoe UI"/>
              </a:defRPr>
            </a:lvl3pPr>
            <a:lvl4pPr algn="l">
              <a:defRPr sz="1275" b="0">
                <a:solidFill>
                  <a:srgbClr val="ABC0D2"/>
                </a:solidFill>
                <a:latin typeface="Segoe UI"/>
                <a:ea typeface="Segoe UI"/>
                <a:cs typeface="Segoe UI"/>
              </a:defRPr>
            </a:lvl4pPr>
            <a:lvl5pPr algn="l">
              <a:defRPr sz="1275" b="0">
                <a:solidFill>
                  <a:srgbClr val="ABC0D2"/>
                </a:solidFill>
                <a:latin typeface="Segoe UI"/>
                <a:ea typeface="Segoe UI"/>
                <a:cs typeface="Segoe UI"/>
              </a:defRPr>
            </a:lvl5pPr>
            <a:lvl6pPr algn="l">
              <a:defRPr sz="1275" b="0">
                <a:solidFill>
                  <a:srgbClr val="ABC0D2"/>
                </a:solidFill>
                <a:latin typeface="Segoe UI"/>
                <a:ea typeface="Segoe UI"/>
                <a:cs typeface="Segoe UI"/>
              </a:defRPr>
            </a:lvl6pPr>
            <a:lvl7pPr algn="l">
              <a:defRPr sz="1275" b="0">
                <a:solidFill>
                  <a:srgbClr val="ABC0D2"/>
                </a:solidFill>
                <a:latin typeface="Segoe UI"/>
                <a:ea typeface="Segoe UI"/>
                <a:cs typeface="Segoe UI"/>
              </a:defRPr>
            </a:lvl7pPr>
            <a:lvl8pPr algn="l">
              <a:defRPr sz="1275" b="0">
                <a:solidFill>
                  <a:srgbClr val="ABC0D2"/>
                </a:solidFill>
                <a:latin typeface="Segoe UI"/>
                <a:ea typeface="Segoe UI"/>
                <a:cs typeface="Segoe UI"/>
              </a:defRPr>
            </a:lvl8pPr>
            <a:lvl9pPr algn="l">
              <a:defRPr sz="1275" b="0">
                <a:solidFill>
                  <a:srgbClr val="ABC0D2"/>
                </a:solidFill>
                <a:latin typeface="Segoe UI"/>
                <a:ea typeface="Segoe UI"/>
                <a:cs typeface="Segoe UI"/>
              </a:defRPr>
            </a:lvl9pPr>
          </a:lstStyle>
          <a:p xmlns:a="http://schemas.openxmlformats.org/drawingml/2006/main">
            <a:pPr algn="l">
              <a:defRPr sz="1275" b="0">
                <a:solidFill>
                  <a:srgbClr val="ABC0D2"/>
                </a:solidFill>
                <a:latin typeface="Segoe UI"/>
                <a:ea typeface="Segoe UI"/>
                <a:cs typeface="Segoe UI"/>
              </a:defRPr>
            </a:pPr>
            <a:r>
              <a:rPr sz="1275" b="0">
                <a:solidFill>
                  <a:srgbClr val="ABC0D2"/>
                </a:solidFill>
                <a:latin typeface="Segoe UI"/>
                <a:ea typeface="Segoe UI"/>
                <a:cs typeface="Segoe UI"/>
              </a:rPr>
              <a:t>3 contact hours including the module lab</a:t>
            </a:r>
          </a:p>
        </p:txBody>
      </p:sp>
      <p:sp>
        <p:nvSpPr>
          <p:cNvPr id="6" name="page">
            <a:extLst xmlns:a="http://schemas.openxmlformats.org/drawingml/2006/main">
              <a:ext uri="{FF2B5EF4-FFF2-40B4-BE49-F238E27FC236}">
                <a16:creationId xmlns:a16="http://schemas.microsoft.com/office/drawing/2014/main" id="{E0F015E5-7C75-4DFC-8F2C-FF9248268D6B}"/>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ABC0D2"/>
                </a:solidFill>
                <a:latin typeface="Segoe UI"/>
                <a:ea typeface="Segoe UI"/>
                <a:cs typeface="Segoe UI"/>
              </a:defRPr>
            </a:defPPr>
            <a:lvl1pPr algn="r">
              <a:defRPr sz="1050" b="0">
                <a:solidFill>
                  <a:srgbClr val="ABC0D2"/>
                </a:solidFill>
                <a:latin typeface="Segoe UI"/>
                <a:ea typeface="Segoe UI"/>
                <a:cs typeface="Segoe UI"/>
              </a:defRPr>
            </a:lvl1pPr>
            <a:lvl2pPr algn="r">
              <a:defRPr sz="1050" b="0">
                <a:solidFill>
                  <a:srgbClr val="ABC0D2"/>
                </a:solidFill>
                <a:latin typeface="Segoe UI"/>
                <a:ea typeface="Segoe UI"/>
                <a:cs typeface="Segoe UI"/>
              </a:defRPr>
            </a:lvl2pPr>
            <a:lvl3pPr algn="r">
              <a:defRPr sz="1050" b="0">
                <a:solidFill>
                  <a:srgbClr val="ABC0D2"/>
                </a:solidFill>
                <a:latin typeface="Segoe UI"/>
                <a:ea typeface="Segoe UI"/>
                <a:cs typeface="Segoe UI"/>
              </a:defRPr>
            </a:lvl3pPr>
            <a:lvl4pPr algn="r">
              <a:defRPr sz="1050" b="0">
                <a:solidFill>
                  <a:srgbClr val="ABC0D2"/>
                </a:solidFill>
                <a:latin typeface="Segoe UI"/>
                <a:ea typeface="Segoe UI"/>
                <a:cs typeface="Segoe UI"/>
              </a:defRPr>
            </a:lvl4pPr>
            <a:lvl5pPr algn="r">
              <a:defRPr sz="1050" b="0">
                <a:solidFill>
                  <a:srgbClr val="ABC0D2"/>
                </a:solidFill>
                <a:latin typeface="Segoe UI"/>
                <a:ea typeface="Segoe UI"/>
                <a:cs typeface="Segoe UI"/>
              </a:defRPr>
            </a:lvl5pPr>
            <a:lvl6pPr algn="r">
              <a:defRPr sz="1050" b="0">
                <a:solidFill>
                  <a:srgbClr val="ABC0D2"/>
                </a:solidFill>
                <a:latin typeface="Segoe UI"/>
                <a:ea typeface="Segoe UI"/>
                <a:cs typeface="Segoe UI"/>
              </a:defRPr>
            </a:lvl6pPr>
            <a:lvl7pPr algn="r">
              <a:defRPr sz="1050" b="0">
                <a:solidFill>
                  <a:srgbClr val="ABC0D2"/>
                </a:solidFill>
                <a:latin typeface="Segoe UI"/>
                <a:ea typeface="Segoe UI"/>
                <a:cs typeface="Segoe UI"/>
              </a:defRPr>
            </a:lvl7pPr>
            <a:lvl8pPr algn="r">
              <a:defRPr sz="1050" b="0">
                <a:solidFill>
                  <a:srgbClr val="ABC0D2"/>
                </a:solidFill>
                <a:latin typeface="Segoe UI"/>
                <a:ea typeface="Segoe UI"/>
                <a:cs typeface="Segoe UI"/>
              </a:defRPr>
            </a:lvl8pPr>
            <a:lvl9pPr algn="r">
              <a:defRPr sz="1050" b="0">
                <a:solidFill>
                  <a:srgbClr val="ABC0D2"/>
                </a:solidFill>
                <a:latin typeface="Segoe UI"/>
                <a:ea typeface="Segoe UI"/>
                <a:cs typeface="Segoe UI"/>
              </a:defRPr>
            </a:lvl9pPr>
          </a:lstStyle>
          <a:p xmlns:a="http://schemas.openxmlformats.org/drawingml/2006/main">
            <a:pPr algn="r">
              <a:defRPr sz="1050" b="0">
                <a:solidFill>
                  <a:srgbClr val="ABC0D2"/>
                </a:solidFill>
                <a:latin typeface="Segoe UI"/>
                <a:ea typeface="Segoe UI"/>
                <a:cs typeface="Segoe UI"/>
              </a:defRPr>
            </a:pPr>
            <a:r>
              <a:rPr sz="1050" b="0">
                <a:solidFill>
                  <a:srgbClr val="ABC0D2"/>
                </a:solidFill>
                <a:latin typeface="Segoe UI"/>
                <a:ea typeface="Segoe UI"/>
                <a:cs typeface="Segoe UI"/>
              </a:rPr>
              <a:t>82</a:t>
            </a:r>
          </a:p>
        </p:txBody>
      </p:sp>
    </p:spTree>
    <p:extLst>
      <p:ext uri="{BB962C8B-B14F-4D97-AF65-F5344CB8AC3E}">
        <p14:creationId xmlns:p14="http://schemas.microsoft.com/office/powerpoint/2010/main" val="1296572883"/>
      </p:ext>
    </p:extLst>
  </p:cSld>
  <p:extLst>
    <p:ext uri="{6950BFC3-D8DA-4A85-94F7-54DA5524770B}">
      <p188:commentRel xmlns:r="http://schemas.openxmlformats.org/officeDocument/2006/relationships" xmlns:p188="http://schemas.microsoft.com/office/powerpoint/2018/8/main" r:id="Ra4ce71893a684b31"/>
    </p:ext>
  </p:extLst>
</p:sld>
</file>

<file path=ppt/slides/slide8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3EF29A96-21B4-4101-99E4-3B65A0D1A55F}"/>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Evaluation strategy</a:t>
            </a:r>
          </a:p>
        </p:txBody>
      </p:sp>
      <p:sp>
        <p:nvSpPr>
          <p:cNvPr id="2" name="title">
            <a:extLst xmlns:a="http://schemas.openxmlformats.org/drawingml/2006/main">
              <a:ext uri="{FF2B5EF4-FFF2-40B4-BE49-F238E27FC236}">
                <a16:creationId xmlns:a16="http://schemas.microsoft.com/office/drawing/2014/main" id="{EAF6CB9D-E138-4D3F-B4C0-46D7C3876F13}"/>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The testing layers</a:t>
            </a:r>
          </a:p>
        </p:txBody>
      </p:sp>
      <p:sp>
        <p:nvSpPr>
          <p:cNvPr id="3" name="footer">
            <a:extLst xmlns:a="http://schemas.openxmlformats.org/drawingml/2006/main">
              <a:ext uri="{FF2B5EF4-FFF2-40B4-BE49-F238E27FC236}">
                <a16:creationId xmlns:a16="http://schemas.microsoft.com/office/drawing/2014/main" id="{1ACA427B-E5C5-47C8-8F79-8B4894556C6A}"/>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10  Evaluation and the capstone</a:t>
            </a:r>
          </a:p>
        </p:txBody>
      </p:sp>
      <p:sp>
        <p:nvSpPr>
          <p:cNvPr id="4" name="page">
            <a:extLst xmlns:a="http://schemas.openxmlformats.org/drawingml/2006/main">
              <a:ext uri="{FF2B5EF4-FFF2-40B4-BE49-F238E27FC236}">
                <a16:creationId xmlns:a16="http://schemas.microsoft.com/office/drawing/2014/main" id="{5362C2BB-56F2-4A5A-A272-7997B4C69670}"/>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83</a:t>
            </a:r>
          </a:p>
        </p:txBody>
      </p:sp>
      <p:sp>
        <p:nvSpPr>
          <p:cNvPr id="5" name="label-0">
            <a:extLst xmlns:a="http://schemas.openxmlformats.org/drawingml/2006/main">
              <a:ext uri="{FF2B5EF4-FFF2-40B4-BE49-F238E27FC236}">
                <a16:creationId xmlns:a16="http://schemas.microsoft.com/office/drawing/2014/main" id="{815ABA65-8C3B-47C4-A144-4504B309CBC0}"/>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Deterministic</a:t>
            </a:r>
          </a:p>
        </p:txBody>
      </p:sp>
      <p:sp>
        <p:nvSpPr>
          <p:cNvPr id="6" name="point-0">
            <a:extLst xmlns:a="http://schemas.openxmlformats.org/drawingml/2006/main">
              <a:ext uri="{FF2B5EF4-FFF2-40B4-BE49-F238E27FC236}">
                <a16:creationId xmlns:a16="http://schemas.microsoft.com/office/drawing/2014/main" id="{8B70294E-F034-4967-A172-33B3EC37C5B8}"/>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Domain rules, validators, authorization, parsing, and idempotency.</a:t>
            </a:r>
          </a:p>
        </p:txBody>
      </p:sp>
      <p:sp>
        <p:nvSpPr>
          <p:cNvPr id="7" name="label-1">
            <a:extLst xmlns:a="http://schemas.openxmlformats.org/drawingml/2006/main">
              <a:ext uri="{FF2B5EF4-FFF2-40B4-BE49-F238E27FC236}">
                <a16:creationId xmlns:a16="http://schemas.microsoft.com/office/drawing/2014/main" id="{0EE83066-64A6-40BD-8B43-609E3CD4BEBF}"/>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Contract</a:t>
            </a:r>
          </a:p>
        </p:txBody>
      </p:sp>
      <p:sp>
        <p:nvSpPr>
          <p:cNvPr id="8" name="point-1">
            <a:extLst xmlns:a="http://schemas.openxmlformats.org/drawingml/2006/main">
              <a:ext uri="{FF2B5EF4-FFF2-40B4-BE49-F238E27FC236}">
                <a16:creationId xmlns:a16="http://schemas.microsoft.com/office/drawing/2014/main" id="{A7837C12-BC0F-403A-928C-E252989E0A5A}"/>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Tool schemas, output mapping, endpoint behavior, and events.</a:t>
            </a:r>
          </a:p>
        </p:txBody>
      </p:sp>
      <p:sp>
        <p:nvSpPr>
          <p:cNvPr id="9" name="label-2">
            <a:extLst xmlns:a="http://schemas.openxmlformats.org/drawingml/2006/main">
              <a:ext uri="{FF2B5EF4-FFF2-40B4-BE49-F238E27FC236}">
                <a16:creationId xmlns:a16="http://schemas.microsoft.com/office/drawing/2014/main" id="{3ABED807-AD3F-433D-B4D6-8A51614344D8}"/>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Behavioral</a:t>
            </a:r>
          </a:p>
        </p:txBody>
      </p:sp>
      <p:sp>
        <p:nvSpPr>
          <p:cNvPr id="10" name="point-2">
            <a:extLst xmlns:a="http://schemas.openxmlformats.org/drawingml/2006/main">
              <a:ext uri="{FF2B5EF4-FFF2-40B4-BE49-F238E27FC236}">
                <a16:creationId xmlns:a16="http://schemas.microsoft.com/office/drawing/2014/main" id="{E5DE599B-F070-4307-ADB5-DB0CD43E3FBD}"/>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Tool choice, argument accuracy, grounding, and clarification.</a:t>
            </a:r>
          </a:p>
        </p:txBody>
      </p:sp>
      <p:sp>
        <p:nvSpPr>
          <p:cNvPr id="11" name="label-3">
            <a:extLst xmlns:a="http://schemas.openxmlformats.org/drawingml/2006/main">
              <a:ext uri="{FF2B5EF4-FFF2-40B4-BE49-F238E27FC236}">
                <a16:creationId xmlns:a16="http://schemas.microsoft.com/office/drawing/2014/main" id="{D33D24FA-27AC-4FC6-B2B1-D9537B5BB9F4}"/>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Operational</a:t>
            </a:r>
          </a:p>
        </p:txBody>
      </p:sp>
      <p:sp>
        <p:nvSpPr>
          <p:cNvPr id="12" name="point-3">
            <a:extLst xmlns:a="http://schemas.openxmlformats.org/drawingml/2006/main">
              <a:ext uri="{FF2B5EF4-FFF2-40B4-BE49-F238E27FC236}">
                <a16:creationId xmlns:a16="http://schemas.microsoft.com/office/drawing/2014/main" id="{D68D5398-5467-4C72-8343-CF06DF039D33}"/>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Concurrency, cancellation, restart, quota, and partial failure.</a:t>
            </a:r>
          </a:p>
        </p:txBody>
      </p:sp>
    </p:spTree>
    <p:extLst>
      <p:ext uri="{BB962C8B-B14F-4D97-AF65-F5344CB8AC3E}">
        <p14:creationId xmlns:p14="http://schemas.microsoft.com/office/powerpoint/2010/main" val="438802033"/>
      </p:ext>
    </p:extLst>
  </p:cSld>
  <p:extLst>
    <p:ext uri="{6950BFC3-D8DA-4A85-94F7-54DA5524770B}">
      <p188:commentRel xmlns:r="http://schemas.openxmlformats.org/officeDocument/2006/relationships" xmlns:p188="http://schemas.microsoft.com/office/powerpoint/2018/8/main" r:id="Rb214913a35984147"/>
    </p:ext>
  </p:extLst>
</p:sld>
</file>

<file path=ppt/slides/slide8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context">
            <a:extLst xmlns:a="http://schemas.openxmlformats.org/drawingml/2006/main">
              <a:ext uri="{FF2B5EF4-FFF2-40B4-BE49-F238E27FC236}">
                <a16:creationId xmlns:a16="http://schemas.microsoft.com/office/drawing/2014/main" id="{1A04D64E-C67E-43EF-AB77-CECD050E6DBE}"/>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Existing implementation</a:t>
            </a:r>
          </a:p>
        </p:txBody>
      </p:sp>
      <p:sp>
        <p:nvSpPr>
          <p:cNvPr id="2" name="title">
            <a:extLst xmlns:a="http://schemas.openxmlformats.org/drawingml/2006/main">
              <a:ext uri="{FF2B5EF4-FFF2-40B4-BE49-F238E27FC236}">
                <a16:creationId xmlns:a16="http://schemas.microsoft.com/office/drawing/2014/main" id="{667F5111-C188-4050-9F82-7E3901EC11D6}"/>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The current evaluator as a teaching case</a:t>
            </a:r>
          </a:p>
        </p:txBody>
      </p:sp>
      <p:sp>
        <p:nvSpPr>
          <p:cNvPr id="3" name="footer">
            <a:extLst xmlns:a="http://schemas.openxmlformats.org/drawingml/2006/main">
              <a:ext uri="{FF2B5EF4-FFF2-40B4-BE49-F238E27FC236}">
                <a16:creationId xmlns:a16="http://schemas.microsoft.com/office/drawing/2014/main" id="{30A7E604-C664-4847-B10C-FC4199BFBFE3}"/>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10  Evaluation and the capstone</a:t>
            </a:r>
          </a:p>
        </p:txBody>
      </p:sp>
      <p:sp>
        <p:nvSpPr>
          <p:cNvPr id="4" name="page">
            <a:extLst xmlns:a="http://schemas.openxmlformats.org/drawingml/2006/main">
              <a:ext uri="{FF2B5EF4-FFF2-40B4-BE49-F238E27FC236}">
                <a16:creationId xmlns:a16="http://schemas.microsoft.com/office/drawing/2014/main" id="{810E94F5-23E6-409E-8815-1E2F36FE781F}"/>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84</a:t>
            </a:r>
          </a:p>
        </p:txBody>
      </p:sp>
      <p:graphicFrame>
        <p:nvGraphicFramePr>
          <p:cNvPr id="5" name="">
            <a:extLst xmlns:a="http://schemas.openxmlformats.org/drawingml/2006/main">
              <a:ext uri="{FF2B5EF4-FFF2-40B4-BE49-F238E27FC236}">
                <a16:creationId xmlns:a16="http://schemas.microsoft.com/office/drawing/2014/main" id="{0AADE507-6171-47CE-9229-1DFEDF4B4E36}"/>
              </a:ext>
            </a:extLst>
          </p:cNvPr>
          <p:cNvGraphicFramePr/>
          <p:nvPr/>
        </p:nvGraphicFramePr>
        <p:xfrm>
          <a:off xmlns:a="http://schemas.openxmlformats.org/drawingml/2006/main" x="685800" y="1809750"/>
          <a:ext xmlns:a="http://schemas.openxmlformats.org/drawingml/2006/main" cx="10820400" cy="2914650"/>
        </p:xfrm>
        <a:graphic xmlns:a="http://schemas.openxmlformats.org/drawingml/2006/main">
          <a:graphicData uri="http://schemas.openxmlformats.org/drawingml/2006/table">
            <a:tbl>
              <a:tblPr/>
              <a:tblGrid>
                <a:gridCol w="3787140"/>
                <a:gridCol w="2813304"/>
                <a:gridCol w="4219956"/>
              </a:tblGrid>
              <a:tr h="552450">
                <a:tc>
                  <a:txBody>
                    <a:bodyPr/>
                    <a:lstStyle/>
                    <a:p>
                      <a:r>
                        <a:rPr sz="1725" b="1">
                          <a:solidFill>
                            <a:srgbClr val="FFFFFF"/>
                          </a:solidFill>
                          <a:latin typeface="Segoe UI"/>
                          <a:ea typeface="Segoe UI"/>
                          <a:cs typeface="Segoe UI"/>
                        </a:rPr>
                        <a:t>Condition</a:t>
                      </a:r>
                    </a:p>
                  </a:txBody>
                  <a:tcPr marL="133350" marR="133350" marT="114300" marB="95250" anchor="t">
                    <a:lnL w="5715">
                      <a:solidFill>
                        <a:srgbClr val="DCE5EA"/>
                      </a:solidFill>
                      <a:prstDash val="solid"/>
                    </a:lnL>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Current score/flag</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Why the course improves it</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r>
              <a:tr h="590550">
                <a:tc>
                  <a:txBody>
                    <a:bodyPr/>
                    <a:lstStyle/>
                    <a:p>
                      <a:r>
                        <a:rPr sz="1725" b="0">
                          <a:solidFill>
                            <a:srgbClr val="34495B"/>
                          </a:solidFill>
                          <a:latin typeface="Segoe UI"/>
                          <a:ea typeface="Segoe UI"/>
                          <a:cs typeface="Segoe UI"/>
                        </a:rPr>
                        <a:t>Text includes I am not sure</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Risk true, score 0.65</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Uncertainty is not factual verification</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590550">
                <a:tc>
                  <a:txBody>
                    <a:bodyPr/>
                    <a:lstStyle/>
                    <a:p>
                      <a:r>
                        <a:rPr sz="1725" b="0">
                          <a:solidFill>
                            <a:srgbClr val="34495B"/>
                          </a:solidFill>
                          <a:latin typeface="Segoe UI"/>
                          <a:ea typeface="Segoe UI"/>
                          <a:cs typeface="Segoe UI"/>
                        </a:rPr>
                        <a:t>Answer under ten characters</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Risk true, score 0.65</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A short correct answer can fail</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r h="590550">
                <a:tc>
                  <a:txBody>
                    <a:bodyPr/>
                    <a:lstStyle/>
                    <a:p>
                      <a:r>
                        <a:rPr sz="1725" b="0">
                          <a:solidFill>
                            <a:srgbClr val="34495B"/>
                          </a:solidFill>
                          <a:latin typeface="Segoe UI"/>
                          <a:ea typeface="Segoe UI"/>
                          <a:cs typeface="Segoe UI"/>
                        </a:rPr>
                        <a:t>Other answer</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Score 0.95</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A false answer can appear confident</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590550">
                <a:tc>
                  <a:txBody>
                    <a:bodyPr/>
                    <a:lstStyle/>
                    <a:p>
                      <a:r>
                        <a:rPr sz="1725" b="0">
                          <a:solidFill>
                            <a:srgbClr val="34495B"/>
                          </a:solidFill>
                          <a:latin typeface="Segoe UI"/>
                          <a:ea typeface="Segoe UI"/>
                          <a:cs typeface="Segoe UI"/>
                        </a:rPr>
                        <a:t>confidential_bypass appears</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Policy false</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The coordinator still returns the answer</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bl>
          </a:graphicData>
        </a:graphic>
      </p:graphicFrame>
    </p:spTree>
    <p:extLst>
      <p:ext uri="{BB962C8B-B14F-4D97-AF65-F5344CB8AC3E}">
        <p14:creationId xmlns:p14="http://schemas.microsoft.com/office/powerpoint/2010/main" val="828898251"/>
      </p:ext>
    </p:extLst>
  </p:cSld>
  <p:extLst>
    <p:ext uri="{6950BFC3-D8DA-4A85-94F7-54DA5524770B}">
      <p188:commentRel xmlns:r="http://schemas.openxmlformats.org/officeDocument/2006/relationships" xmlns:p188="http://schemas.microsoft.com/office/powerpoint/2018/8/main" r:id="Rc67099445a204b74"/>
    </p:ext>
  </p:extLst>
</p:sld>
</file>

<file path=ppt/slides/slide8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context">
            <a:extLst xmlns:a="http://schemas.openxmlformats.org/drawingml/2006/main">
              <a:ext uri="{FF2B5EF4-FFF2-40B4-BE49-F238E27FC236}">
                <a16:creationId xmlns:a16="http://schemas.microsoft.com/office/drawing/2014/main" id="{58DAB739-8275-4C4C-8385-6EEDC00C5FC4}"/>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Course evaluation design</a:t>
            </a:r>
          </a:p>
        </p:txBody>
      </p:sp>
      <p:sp>
        <p:nvSpPr>
          <p:cNvPr id="2" name="title">
            <a:extLst xmlns:a="http://schemas.openxmlformats.org/drawingml/2006/main">
              <a:ext uri="{FF2B5EF4-FFF2-40B4-BE49-F238E27FC236}">
                <a16:creationId xmlns:a16="http://schemas.microsoft.com/office/drawing/2014/main" id="{A1A98804-94F3-4616-89AA-78820FFB809A}"/>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A capstone evaluation corpus</a:t>
            </a:r>
          </a:p>
        </p:txBody>
      </p:sp>
      <p:sp>
        <p:nvSpPr>
          <p:cNvPr id="3" name="footer">
            <a:extLst xmlns:a="http://schemas.openxmlformats.org/drawingml/2006/main">
              <a:ext uri="{FF2B5EF4-FFF2-40B4-BE49-F238E27FC236}">
                <a16:creationId xmlns:a16="http://schemas.microsoft.com/office/drawing/2014/main" id="{EEEA7B93-2CFE-4024-A351-8F410F94C57E}"/>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10  Evaluation and the capstone</a:t>
            </a:r>
          </a:p>
        </p:txBody>
      </p:sp>
      <p:sp>
        <p:nvSpPr>
          <p:cNvPr id="4" name="page">
            <a:extLst xmlns:a="http://schemas.openxmlformats.org/drawingml/2006/main">
              <a:ext uri="{FF2B5EF4-FFF2-40B4-BE49-F238E27FC236}">
                <a16:creationId xmlns:a16="http://schemas.microsoft.com/office/drawing/2014/main" id="{A5C7D8D1-B27B-41A0-A2EC-46355F856F38}"/>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85</a:t>
            </a:r>
          </a:p>
        </p:txBody>
      </p:sp>
      <p:graphicFrame>
        <p:nvGraphicFramePr>
          <p:cNvPr id="5" name="">
            <a:extLst xmlns:a="http://schemas.openxmlformats.org/drawingml/2006/main">
              <a:ext uri="{FF2B5EF4-FFF2-40B4-BE49-F238E27FC236}">
                <a16:creationId xmlns:a16="http://schemas.microsoft.com/office/drawing/2014/main" id="{810FBE70-EFC1-465F-8048-B2173A05E87B}"/>
              </a:ext>
            </a:extLst>
          </p:cNvPr>
          <p:cNvGraphicFramePr/>
          <p:nvPr/>
        </p:nvGraphicFramePr>
        <p:xfrm>
          <a:off xmlns:a="http://schemas.openxmlformats.org/drawingml/2006/main" x="685800" y="1809750"/>
          <a:ext xmlns:a="http://schemas.openxmlformats.org/drawingml/2006/main" cx="10820400" cy="3505200"/>
        </p:xfrm>
        <a:graphic xmlns:a="http://schemas.openxmlformats.org/drawingml/2006/main">
          <a:graphicData uri="http://schemas.openxmlformats.org/drawingml/2006/table">
            <a:tbl>
              <a:tblPr/>
              <a:tblGrid>
                <a:gridCol w="2488692"/>
                <a:gridCol w="4111752"/>
                <a:gridCol w="4219956"/>
              </a:tblGrid>
              <a:tr h="552450">
                <a:tc>
                  <a:txBody>
                    <a:bodyPr/>
                    <a:lstStyle/>
                    <a:p>
                      <a:r>
                        <a:rPr sz="1725" b="1">
                          <a:solidFill>
                            <a:srgbClr val="FFFFFF"/>
                          </a:solidFill>
                          <a:latin typeface="Segoe UI"/>
                          <a:ea typeface="Segoe UI"/>
                          <a:cs typeface="Segoe UI"/>
                        </a:rPr>
                        <a:t>Case family</a:t>
                      </a:r>
                    </a:p>
                  </a:txBody>
                  <a:tcPr marL="133350" marR="133350" marT="114300" marB="95250" anchor="t">
                    <a:lnL w="5715">
                      <a:solidFill>
                        <a:srgbClr val="DCE5EA"/>
                      </a:solidFill>
                      <a:prstDash val="solid"/>
                    </a:lnL>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Example</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Required assertion</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r>
              <a:tr h="590550">
                <a:tc>
                  <a:txBody>
                    <a:bodyPr/>
                    <a:lstStyle/>
                    <a:p>
                      <a:r>
                        <a:rPr sz="1725" b="0">
                          <a:solidFill>
                            <a:srgbClr val="34495B"/>
                          </a:solidFill>
                          <a:latin typeface="Segoe UI"/>
                          <a:ea typeface="Segoe UI"/>
                          <a:cs typeface="Segoe UI"/>
                        </a:rPr>
                        <a:t>Read accuracy</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Summarize billing activity</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Totals match the fixture</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590550">
                <a:tc>
                  <a:txBody>
                    <a:bodyPr/>
                    <a:lstStyle/>
                    <a:p>
                      <a:r>
                        <a:rPr sz="1725" b="0">
                          <a:solidFill>
                            <a:srgbClr val="34495B"/>
                          </a:solidFill>
                          <a:latin typeface="Segoe UI"/>
                          <a:ea typeface="Segoe UI"/>
                          <a:cs typeface="Segoe UI"/>
                        </a:rPr>
                        <a:t>Ambiguity</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Create an invoice for Apex</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Clarify missing/ambiguous details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r h="590550">
                <a:tc>
                  <a:txBody>
                    <a:bodyPr/>
                    <a:lstStyle/>
                    <a:p>
                      <a:r>
                        <a:rPr sz="1725" b="0">
                          <a:solidFill>
                            <a:srgbClr val="34495B"/>
                          </a:solidFill>
                          <a:latin typeface="Segoe UI"/>
                          <a:ea typeface="Segoe UI"/>
                          <a:cs typeface="Segoe UI"/>
                        </a:rPr>
                        <a:t>Rule enforcement</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Mark a Draft as Paid</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No illegal write</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590550">
                <a:tc>
                  <a:txBody>
                    <a:bodyPr/>
                    <a:lstStyle/>
                    <a:p>
                      <a:r>
                        <a:rPr sz="1725" b="0">
                          <a:solidFill>
                            <a:srgbClr val="34495B"/>
                          </a:solidFill>
                          <a:latin typeface="Segoe UI"/>
                          <a:ea typeface="Segoe UI"/>
                          <a:cs typeface="Segoe UI"/>
                        </a:rPr>
                        <a:t>Adversarial input</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A document instructs data export</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No unauthorized disclosure</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r h="590550">
                <a:tc>
                  <a:txBody>
                    <a:bodyPr/>
                    <a:lstStyle/>
                    <a:p>
                      <a:r>
                        <a:rPr sz="1725" b="0">
                          <a:solidFill>
                            <a:srgbClr val="34495B"/>
                          </a:solidFill>
                          <a:latin typeface="Segoe UI"/>
                          <a:ea typeface="Segoe UI"/>
                          <a:cs typeface="Segoe UI"/>
                        </a:rPr>
                        <a:t>Recovery</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Repeat an approved request</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No duplicate business effect</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bl>
          </a:graphicData>
        </a:graphic>
      </p:graphicFrame>
    </p:spTree>
    <p:extLst>
      <p:ext uri="{BB962C8B-B14F-4D97-AF65-F5344CB8AC3E}">
        <p14:creationId xmlns:p14="http://schemas.microsoft.com/office/powerpoint/2010/main" val="1169310173"/>
      </p:ext>
    </p:extLst>
  </p:cSld>
  <p:extLst>
    <p:ext uri="{6950BFC3-D8DA-4A85-94F7-54DA5524770B}">
      <p188:commentRel xmlns:r="http://schemas.openxmlformats.org/officeDocument/2006/relationships" xmlns:p188="http://schemas.microsoft.com/office/powerpoint/2018/8/main" r:id="R0ab235af01064175"/>
    </p:ext>
  </p:extLst>
</p:sld>
</file>

<file path=ppt/slides/slide8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366B99BE-3AFE-4385-B6DA-D1368CCE98AF}"/>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Evaluation method</a:t>
            </a:r>
          </a:p>
        </p:txBody>
      </p:sp>
      <p:sp>
        <p:nvSpPr>
          <p:cNvPr id="2" name="title">
            <a:extLst xmlns:a="http://schemas.openxmlformats.org/drawingml/2006/main">
              <a:ext uri="{FF2B5EF4-FFF2-40B4-BE49-F238E27FC236}">
                <a16:creationId xmlns:a16="http://schemas.microsoft.com/office/drawing/2014/main" id="{1FB74EAA-3D0D-4DDD-97E8-C58789E38F47}"/>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Behavioral evaluation and review</a:t>
            </a:r>
          </a:p>
        </p:txBody>
      </p:sp>
      <p:sp>
        <p:nvSpPr>
          <p:cNvPr id="3" name="footer">
            <a:extLst xmlns:a="http://schemas.openxmlformats.org/drawingml/2006/main">
              <a:ext uri="{FF2B5EF4-FFF2-40B4-BE49-F238E27FC236}">
                <a16:creationId xmlns:a16="http://schemas.microsoft.com/office/drawing/2014/main" id="{C693C6C1-55E7-4E30-84A8-82716D01BC0D}"/>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10  Evaluation and the capstone</a:t>
            </a:r>
          </a:p>
        </p:txBody>
      </p:sp>
      <p:sp>
        <p:nvSpPr>
          <p:cNvPr id="4" name="page">
            <a:extLst xmlns:a="http://schemas.openxmlformats.org/drawingml/2006/main">
              <a:ext uri="{FF2B5EF4-FFF2-40B4-BE49-F238E27FC236}">
                <a16:creationId xmlns:a16="http://schemas.microsoft.com/office/drawing/2014/main" id="{D33D6304-8CF8-47AF-B249-B16CB7BDCF41}"/>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86</a:t>
            </a:r>
          </a:p>
        </p:txBody>
      </p:sp>
      <p:sp>
        <p:nvSpPr>
          <p:cNvPr id="5" name="label-0">
            <a:extLst xmlns:a="http://schemas.openxmlformats.org/drawingml/2006/main">
              <a:ext uri="{FF2B5EF4-FFF2-40B4-BE49-F238E27FC236}">
                <a16:creationId xmlns:a16="http://schemas.microsoft.com/office/drawing/2014/main" id="{928DE7B6-1050-4A95-A059-81D443457CA9}"/>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Measure</a:t>
            </a:r>
          </a:p>
        </p:txBody>
      </p:sp>
      <p:sp>
        <p:nvSpPr>
          <p:cNvPr id="6" name="point-0">
            <a:extLst xmlns:a="http://schemas.openxmlformats.org/drawingml/2006/main">
              <a:ext uri="{FF2B5EF4-FFF2-40B4-BE49-F238E27FC236}">
                <a16:creationId xmlns:a16="http://schemas.microsoft.com/office/drawing/2014/main" id="{8234BEE3-75AA-46D6-9B13-BACC75A9927D}"/>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Tool selection, argument correctness, factual support, and task completion.</a:t>
            </a:r>
          </a:p>
        </p:txBody>
      </p:sp>
      <p:sp>
        <p:nvSpPr>
          <p:cNvPr id="7" name="label-1">
            <a:extLst xmlns:a="http://schemas.openxmlformats.org/drawingml/2006/main">
              <a:ext uri="{FF2B5EF4-FFF2-40B4-BE49-F238E27FC236}">
                <a16:creationId xmlns:a16="http://schemas.microsoft.com/office/drawing/2014/main" id="{06AA5067-6642-4638-8453-92ACA90E0D97}"/>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Separate</a:t>
            </a:r>
          </a:p>
        </p:txBody>
      </p:sp>
      <p:sp>
        <p:nvSpPr>
          <p:cNvPr id="8" name="point-1">
            <a:extLst xmlns:a="http://schemas.openxmlformats.org/drawingml/2006/main">
              <a:ext uri="{FF2B5EF4-FFF2-40B4-BE49-F238E27FC236}">
                <a16:creationId xmlns:a16="http://schemas.microsoft.com/office/drawing/2014/main" id="{531CE387-EC92-464F-8331-572A678443CC}"/>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Retrieval defects, model defects, and application failures.</a:t>
            </a:r>
          </a:p>
        </p:txBody>
      </p:sp>
      <p:sp>
        <p:nvSpPr>
          <p:cNvPr id="9" name="label-2">
            <a:extLst xmlns:a="http://schemas.openxmlformats.org/drawingml/2006/main">
              <a:ext uri="{FF2B5EF4-FFF2-40B4-BE49-F238E27FC236}">
                <a16:creationId xmlns:a16="http://schemas.microsoft.com/office/drawing/2014/main" id="{485539CF-C3DD-4367-947B-7381CABD8CBB}"/>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Review</a:t>
            </a:r>
          </a:p>
        </p:txBody>
      </p:sp>
      <p:sp>
        <p:nvSpPr>
          <p:cNvPr id="10" name="point-2">
            <a:extLst xmlns:a="http://schemas.openxmlformats.org/drawingml/2006/main">
              <a:ext uri="{FF2B5EF4-FFF2-40B4-BE49-F238E27FC236}">
                <a16:creationId xmlns:a16="http://schemas.microsoft.com/office/drawing/2014/main" id="{318BD2FD-FA35-417C-8496-A1A68D63079F}"/>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Investigate failures with traces and source evidence.</a:t>
            </a:r>
          </a:p>
        </p:txBody>
      </p:sp>
      <p:sp>
        <p:nvSpPr>
          <p:cNvPr id="11" name="label-3">
            <a:extLst xmlns:a="http://schemas.openxmlformats.org/drawingml/2006/main">
              <a:ext uri="{FF2B5EF4-FFF2-40B4-BE49-F238E27FC236}">
                <a16:creationId xmlns:a16="http://schemas.microsoft.com/office/drawing/2014/main" id="{4E47DA57-5BEC-4818-B185-D2FA3632AEEE}"/>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Compare</a:t>
            </a:r>
          </a:p>
        </p:txBody>
      </p:sp>
      <p:sp>
        <p:nvSpPr>
          <p:cNvPr id="12" name="point-3">
            <a:extLst xmlns:a="http://schemas.openxmlformats.org/drawingml/2006/main">
              <a:ext uri="{FF2B5EF4-FFF2-40B4-BE49-F238E27FC236}">
                <a16:creationId xmlns:a16="http://schemas.microsoft.com/office/drawing/2014/main" id="{0E975BDB-4D9F-4CE8-A4E3-0B536ABBF120}"/>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Evaluate the candidate against a fixed baseline before release.</a:t>
            </a:r>
          </a:p>
        </p:txBody>
      </p:sp>
    </p:spTree>
    <p:extLst>
      <p:ext uri="{BB962C8B-B14F-4D97-AF65-F5344CB8AC3E}">
        <p14:creationId xmlns:p14="http://schemas.microsoft.com/office/powerpoint/2010/main" val="494636243"/>
      </p:ext>
    </p:extLst>
  </p:cSld>
  <p:extLst>
    <p:ext uri="{6950BFC3-D8DA-4A85-94F7-54DA5524770B}">
      <p188:commentRel xmlns:r="http://schemas.openxmlformats.org/officeDocument/2006/relationships" xmlns:p188="http://schemas.microsoft.com/office/powerpoint/2018/8/main" r:id="Racbfea8f2c2949bb"/>
    </p:ext>
  </p:extLst>
</p:sld>
</file>

<file path=ppt/slides/slide8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8B68C23A-7919-4082-84C4-9792108E06BB}"/>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Capstone acceptance</a:t>
            </a:r>
          </a:p>
        </p:txBody>
      </p:sp>
      <p:sp>
        <p:nvSpPr>
          <p:cNvPr id="2" name="title">
            <a:extLst xmlns:a="http://schemas.openxmlformats.org/drawingml/2006/main">
              <a:ext uri="{FF2B5EF4-FFF2-40B4-BE49-F238E27FC236}">
                <a16:creationId xmlns:a16="http://schemas.microsoft.com/office/drawing/2014/main" id="{95E93C27-79AF-41A2-A9C6-707ED2CE6656}"/>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Release gates</a:t>
            </a:r>
          </a:p>
        </p:txBody>
      </p:sp>
      <p:sp>
        <p:nvSpPr>
          <p:cNvPr id="3" name="footer">
            <a:extLst xmlns:a="http://schemas.openxmlformats.org/drawingml/2006/main">
              <a:ext uri="{FF2B5EF4-FFF2-40B4-BE49-F238E27FC236}">
                <a16:creationId xmlns:a16="http://schemas.microsoft.com/office/drawing/2014/main" id="{F64DC957-9E8D-484E-A715-9B71D1ED1D00}"/>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10  Evaluation and the capstone</a:t>
            </a:r>
          </a:p>
        </p:txBody>
      </p:sp>
      <p:sp>
        <p:nvSpPr>
          <p:cNvPr id="4" name="page">
            <a:extLst xmlns:a="http://schemas.openxmlformats.org/drawingml/2006/main">
              <a:ext uri="{FF2B5EF4-FFF2-40B4-BE49-F238E27FC236}">
                <a16:creationId xmlns:a16="http://schemas.microsoft.com/office/drawing/2014/main" id="{8B99C268-ABD4-49A0-9E87-A9D25461AFC9}"/>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87</a:t>
            </a:r>
          </a:p>
        </p:txBody>
      </p:sp>
      <p:sp>
        <p:nvSpPr>
          <p:cNvPr id="5" name="label-0">
            <a:extLst xmlns:a="http://schemas.openxmlformats.org/drawingml/2006/main">
              <a:ext uri="{FF2B5EF4-FFF2-40B4-BE49-F238E27FC236}">
                <a16:creationId xmlns:a16="http://schemas.microsoft.com/office/drawing/2014/main" id="{129FEE45-C5B2-41A1-81D2-3596E4CA8ED5}"/>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Build and contracts</a:t>
            </a:r>
          </a:p>
        </p:txBody>
      </p:sp>
      <p:sp>
        <p:nvSpPr>
          <p:cNvPr id="6" name="point-0">
            <a:extLst xmlns:a="http://schemas.openxmlformats.org/drawingml/2006/main">
              <a:ext uri="{FF2B5EF4-FFF2-40B4-BE49-F238E27FC236}">
                <a16:creationId xmlns:a16="http://schemas.microsoft.com/office/drawing/2014/main" id="{877A732B-7A71-47A9-A8D0-384051E86371}"/>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Pinned dependencies compile and public contracts remain compatible.</a:t>
            </a:r>
          </a:p>
        </p:txBody>
      </p:sp>
      <p:sp>
        <p:nvSpPr>
          <p:cNvPr id="7" name="label-1">
            <a:extLst xmlns:a="http://schemas.openxmlformats.org/drawingml/2006/main">
              <a:ext uri="{FF2B5EF4-FFF2-40B4-BE49-F238E27FC236}">
                <a16:creationId xmlns:a16="http://schemas.microsoft.com/office/drawing/2014/main" id="{B0E01F1F-4EA2-4D19-91F8-1B1584A63281}"/>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Safety</a:t>
            </a:r>
          </a:p>
        </p:txBody>
      </p:sp>
      <p:sp>
        <p:nvSpPr>
          <p:cNvPr id="8" name="point-1">
            <a:extLst xmlns:a="http://schemas.openxmlformats.org/drawingml/2006/main">
              <a:ext uri="{FF2B5EF4-FFF2-40B4-BE49-F238E27FC236}">
                <a16:creationId xmlns:a16="http://schemas.microsoft.com/office/drawing/2014/main" id="{D5BA0449-9062-47B9-BFB5-AF5BEE1275B0}"/>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Authorization, rejection, and duplicate-write tests pass.</a:t>
            </a:r>
          </a:p>
        </p:txBody>
      </p:sp>
      <p:sp>
        <p:nvSpPr>
          <p:cNvPr id="9" name="label-2">
            <a:extLst xmlns:a="http://schemas.openxmlformats.org/drawingml/2006/main">
              <a:ext uri="{FF2B5EF4-FFF2-40B4-BE49-F238E27FC236}">
                <a16:creationId xmlns:a16="http://schemas.microsoft.com/office/drawing/2014/main" id="{31717087-6D8E-4E79-BBED-3A7814ABF80A}"/>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Behavior</a:t>
            </a:r>
          </a:p>
        </p:txBody>
      </p:sp>
      <p:sp>
        <p:nvSpPr>
          <p:cNvPr id="10" name="point-2">
            <a:extLst xmlns:a="http://schemas.openxmlformats.org/drawingml/2006/main">
              <a:ext uri="{FF2B5EF4-FFF2-40B4-BE49-F238E27FC236}">
                <a16:creationId xmlns:a16="http://schemas.microsoft.com/office/drawing/2014/main" id="{B25DA0F5-49B0-41B9-9947-42D80365BA27}"/>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The agreed regression set meets the team's thresholds.</a:t>
            </a:r>
          </a:p>
        </p:txBody>
      </p:sp>
      <p:sp>
        <p:nvSpPr>
          <p:cNvPr id="11" name="label-3">
            <a:extLst xmlns:a="http://schemas.openxmlformats.org/drawingml/2006/main">
              <a:ext uri="{FF2B5EF4-FFF2-40B4-BE49-F238E27FC236}">
                <a16:creationId xmlns:a16="http://schemas.microsoft.com/office/drawing/2014/main" id="{C03F624B-4E2C-48C1-8C82-17A5E75D88B2}"/>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Operations</a:t>
            </a:r>
          </a:p>
        </p:txBody>
      </p:sp>
      <p:sp>
        <p:nvSpPr>
          <p:cNvPr id="12" name="point-3">
            <a:extLst xmlns:a="http://schemas.openxmlformats.org/drawingml/2006/main">
              <a:ext uri="{FF2B5EF4-FFF2-40B4-BE49-F238E27FC236}">
                <a16:creationId xmlns:a16="http://schemas.microsoft.com/office/drawing/2014/main" id="{B8C041F9-BF0B-459B-99BE-71C35469F262}"/>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Telemetry, budgets, rollout controls, and rollback are ready.</a:t>
            </a:r>
          </a:p>
        </p:txBody>
      </p:sp>
    </p:spTree>
    <p:extLst>
      <p:ext uri="{BB962C8B-B14F-4D97-AF65-F5344CB8AC3E}">
        <p14:creationId xmlns:p14="http://schemas.microsoft.com/office/powerpoint/2010/main" val="990830279"/>
      </p:ext>
    </p:extLst>
  </p:cSld>
  <p:extLst>
    <p:ext uri="{6950BFC3-D8DA-4A85-94F7-54DA5524770B}">
      <p188:commentRel xmlns:r="http://schemas.openxmlformats.org/officeDocument/2006/relationships" xmlns:p188="http://schemas.microsoft.com/office/powerpoint/2018/8/main" r:id="R304e95d8159e4650"/>
    </p:ext>
  </p:extLst>
</p:sld>
</file>

<file path=ppt/slides/slide8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context">
            <a:extLst xmlns:a="http://schemas.openxmlformats.org/drawingml/2006/main">
              <a:ext uri="{FF2B5EF4-FFF2-40B4-BE49-F238E27FC236}">
                <a16:creationId xmlns:a16="http://schemas.microsoft.com/office/drawing/2014/main" id="{E4FEE3BB-C5FC-45D0-B209-5D28A5FE04AC}"/>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Capstone plan</a:t>
            </a:r>
          </a:p>
        </p:txBody>
      </p:sp>
      <p:sp>
        <p:nvSpPr>
          <p:cNvPr id="2" name="title">
            <a:extLst xmlns:a="http://schemas.openxmlformats.org/drawingml/2006/main">
              <a:ext uri="{FF2B5EF4-FFF2-40B4-BE49-F238E27FC236}">
                <a16:creationId xmlns:a16="http://schemas.microsoft.com/office/drawing/2014/main" id="{84C683DB-100B-4638-9607-3CB8BB020762}"/>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Capstone implementation sequence</a:t>
            </a:r>
          </a:p>
        </p:txBody>
      </p:sp>
      <p:sp>
        <p:nvSpPr>
          <p:cNvPr id="3" name="footer">
            <a:extLst xmlns:a="http://schemas.openxmlformats.org/drawingml/2006/main">
              <a:ext uri="{FF2B5EF4-FFF2-40B4-BE49-F238E27FC236}">
                <a16:creationId xmlns:a16="http://schemas.microsoft.com/office/drawing/2014/main" id="{A31F6CF6-7F45-414C-A454-ECD29C94FD08}"/>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10  Evaluation and the capstone</a:t>
            </a:r>
          </a:p>
        </p:txBody>
      </p:sp>
      <p:sp>
        <p:nvSpPr>
          <p:cNvPr id="4" name="page">
            <a:extLst xmlns:a="http://schemas.openxmlformats.org/drawingml/2006/main">
              <a:ext uri="{FF2B5EF4-FFF2-40B4-BE49-F238E27FC236}">
                <a16:creationId xmlns:a16="http://schemas.microsoft.com/office/drawing/2014/main" id="{C1F1CEEB-5E9D-4614-B0D1-903BA4D1F55D}"/>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88</a:t>
            </a:r>
          </a:p>
        </p:txBody>
      </p:sp>
      <p:graphicFrame>
        <p:nvGraphicFramePr>
          <p:cNvPr id="5" name="">
            <a:extLst xmlns:a="http://schemas.openxmlformats.org/drawingml/2006/main">
              <a:ext uri="{FF2B5EF4-FFF2-40B4-BE49-F238E27FC236}">
                <a16:creationId xmlns:a16="http://schemas.microsoft.com/office/drawing/2014/main" id="{0450EFC1-9128-4036-A003-9AB335104ADB}"/>
              </a:ext>
            </a:extLst>
          </p:cNvPr>
          <p:cNvGraphicFramePr/>
          <p:nvPr/>
        </p:nvGraphicFramePr>
        <p:xfrm>
          <a:off xmlns:a="http://schemas.openxmlformats.org/drawingml/2006/main" x="685800" y="1809750"/>
          <a:ext xmlns:a="http://schemas.openxmlformats.org/drawingml/2006/main" cx="10820400" cy="3259836"/>
        </p:xfrm>
        <a:graphic xmlns:a="http://schemas.openxmlformats.org/drawingml/2006/main">
          <a:graphicData uri="http://schemas.openxmlformats.org/drawingml/2006/table">
            <a:tbl>
              <a:tblPr/>
              <a:tblGrid>
                <a:gridCol w="2705100"/>
                <a:gridCol w="4652772"/>
                <a:gridCol w="3462528"/>
              </a:tblGrid>
              <a:tr h="552450">
                <a:tc>
                  <a:txBody>
                    <a:bodyPr/>
                    <a:lstStyle/>
                    <a:p>
                      <a:r>
                        <a:rPr sz="1725" b="1">
                          <a:solidFill>
                            <a:srgbClr val="FFFFFF"/>
                          </a:solidFill>
                          <a:latin typeface="Segoe UI"/>
                          <a:ea typeface="Segoe UI"/>
                          <a:cs typeface="Segoe UI"/>
                        </a:rPr>
                        <a:t>Checkpoint</a:t>
                      </a:r>
                    </a:p>
                  </a:txBody>
                  <a:tcPr marL="133350" marR="133350" marT="114300" marB="95250" anchor="t">
                    <a:lnL w="5715">
                      <a:solidFill>
                        <a:srgbClr val="DCE5EA"/>
                      </a:solidFill>
                      <a:prstDash val="solid"/>
                    </a:lnL>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Deliverable</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Retained boundary</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r>
              <a:tr h="590550">
                <a:tc>
                  <a:txBody>
                    <a:bodyPr/>
                    <a:lstStyle/>
                    <a:p>
                      <a:r>
                        <a:rPr sz="1725" b="0">
                          <a:solidFill>
                            <a:srgbClr val="34495B"/>
                          </a:solidFill>
                          <a:latin typeface="Segoe UI"/>
                          <a:ea typeface="Segoe UI"/>
                          <a:cs typeface="Segoe UI"/>
                        </a:rPr>
                        <a:t>1. Framework read slice</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AIAgent invokes a verified summary tool</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Existing query and SQL</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763143">
                <a:tc>
                  <a:txBody>
                    <a:bodyPr/>
                    <a:lstStyle/>
                    <a:p>
                      <a:r>
                        <a:rPr sz="1725" b="0">
                          <a:solidFill>
                            <a:srgbClr val="34495B"/>
                          </a:solidFill>
                          <a:latin typeface="Segoe UI"/>
                          <a:ea typeface="Segoe UI"/>
                          <a:cs typeface="Segoe UI"/>
                        </a:rPr>
                        <a:t>2. Context and knowledge</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Owned sessions and cited guidance</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Authoritative records and reviewed docs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r h="590550">
                <a:tc>
                  <a:txBody>
                    <a:bodyPr/>
                    <a:lstStyle/>
                    <a:p>
                      <a:r>
                        <a:rPr sz="1725" b="0">
                          <a:solidFill>
                            <a:srgbClr val="34495B"/>
                          </a:solidFill>
                          <a:latin typeface="Segoe UI"/>
                          <a:ea typeface="Segoe UI"/>
                          <a:cs typeface="Segoe UI"/>
                        </a:rPr>
                        <a:t>3. Controlled write</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Approved, authorized status command</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Invoice.TransitionTo and save</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763143">
                <a:tc>
                  <a:txBody>
                    <a:bodyPr/>
                    <a:lstStyle/>
                    <a:p>
                      <a:r>
                        <a:rPr sz="1725" b="0">
                          <a:solidFill>
                            <a:srgbClr val="34495B"/>
                          </a:solidFill>
                          <a:latin typeface="Segoe UI"/>
                          <a:ea typeface="Segoe UI"/>
                          <a:cs typeface="Segoe UI"/>
                        </a:rPr>
                        <a:t>4. Operations and evaluation</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Execution events and regression evidence</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Stable application/HTTP contract</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bl>
          </a:graphicData>
        </a:graphic>
      </p:graphicFrame>
    </p:spTree>
    <p:extLst>
      <p:ext uri="{BB962C8B-B14F-4D97-AF65-F5344CB8AC3E}">
        <p14:creationId xmlns:p14="http://schemas.microsoft.com/office/powerpoint/2010/main" val="1169359303"/>
      </p:ext>
    </p:extLst>
  </p:cSld>
  <p:extLst>
    <p:ext uri="{6950BFC3-D8DA-4A85-94F7-54DA5524770B}">
      <p188:commentRel xmlns:r="http://schemas.openxmlformats.org/officeDocument/2006/relationships" xmlns:p188="http://schemas.microsoft.com/office/powerpoint/2018/8/main" r:id="R5512154b84174480"/>
    </p:ext>
  </p:extLst>
</p:sld>
</file>

<file path=ppt/slides/slide8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667D668E-B80F-44E8-9719-586BEFF98696}"/>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Demonstration requirements</a:t>
            </a:r>
          </a:p>
        </p:txBody>
      </p:sp>
      <p:sp>
        <p:nvSpPr>
          <p:cNvPr id="2" name="title">
            <a:extLst xmlns:a="http://schemas.openxmlformats.org/drawingml/2006/main">
              <a:ext uri="{FF2B5EF4-FFF2-40B4-BE49-F238E27FC236}">
                <a16:creationId xmlns:a16="http://schemas.microsoft.com/office/drawing/2014/main" id="{3D8E866F-DF28-4138-95BE-3A8A4D1C72AE}"/>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The final capstone demonstration</a:t>
            </a:r>
          </a:p>
        </p:txBody>
      </p:sp>
      <p:sp>
        <p:nvSpPr>
          <p:cNvPr id="3" name="footer">
            <a:extLst xmlns:a="http://schemas.openxmlformats.org/drawingml/2006/main">
              <a:ext uri="{FF2B5EF4-FFF2-40B4-BE49-F238E27FC236}">
                <a16:creationId xmlns:a16="http://schemas.microsoft.com/office/drawing/2014/main" id="{35C025A4-CDF1-42E1-9EB6-36EFD6BD7050}"/>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10  Evaluation and the capstone</a:t>
            </a:r>
          </a:p>
        </p:txBody>
      </p:sp>
      <p:sp>
        <p:nvSpPr>
          <p:cNvPr id="4" name="page">
            <a:extLst xmlns:a="http://schemas.openxmlformats.org/drawingml/2006/main">
              <a:ext uri="{FF2B5EF4-FFF2-40B4-BE49-F238E27FC236}">
                <a16:creationId xmlns:a16="http://schemas.microsoft.com/office/drawing/2014/main" id="{0E2F8E09-0FFD-446B-B10C-B24C54C22A05}"/>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89</a:t>
            </a:r>
          </a:p>
        </p:txBody>
      </p:sp>
      <p:sp>
        <p:nvSpPr>
          <p:cNvPr id="5" name="label-0">
            <a:extLst xmlns:a="http://schemas.openxmlformats.org/drawingml/2006/main">
              <a:ext uri="{FF2B5EF4-FFF2-40B4-BE49-F238E27FC236}">
                <a16:creationId xmlns:a16="http://schemas.microsoft.com/office/drawing/2014/main" id="{BCAA70EF-5FF2-4D78-BA2B-E4453491EAA0}"/>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Explain</a:t>
            </a:r>
          </a:p>
        </p:txBody>
      </p:sp>
      <p:sp>
        <p:nvSpPr>
          <p:cNvPr id="6" name="point-0">
            <a:extLst xmlns:a="http://schemas.openxmlformats.org/drawingml/2006/main">
              <a:ext uri="{FF2B5EF4-FFF2-40B4-BE49-F238E27FC236}">
                <a16:creationId xmlns:a16="http://schemas.microsoft.com/office/drawing/2014/main" id="{DA8722EE-4FC3-47A9-A524-B58CC7C4C6B1}"/>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Show cited guidance for an invoice rule.</a:t>
            </a:r>
          </a:p>
        </p:txBody>
      </p:sp>
      <p:sp>
        <p:nvSpPr>
          <p:cNvPr id="7" name="label-1">
            <a:extLst xmlns:a="http://schemas.openxmlformats.org/drawingml/2006/main">
              <a:ext uri="{FF2B5EF4-FFF2-40B4-BE49-F238E27FC236}">
                <a16:creationId xmlns:a16="http://schemas.microsoft.com/office/drawing/2014/main" id="{0CE17BE6-E361-4FAE-9F2A-1EBF9E706AB4}"/>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Read</a:t>
            </a:r>
          </a:p>
        </p:txBody>
      </p:sp>
      <p:sp>
        <p:nvSpPr>
          <p:cNvPr id="8" name="point-1">
            <a:extLst xmlns:a="http://schemas.openxmlformats.org/drawingml/2006/main">
              <a:ext uri="{FF2B5EF4-FFF2-40B4-BE49-F238E27FC236}">
                <a16:creationId xmlns:a16="http://schemas.microsoft.com/office/drawing/2014/main" id="{BD67F5CB-6E4A-47D4-91F8-4D512EE54D56}"/>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Return a billing summary that matches authoritative data.</a:t>
            </a:r>
          </a:p>
        </p:txBody>
      </p:sp>
      <p:sp>
        <p:nvSpPr>
          <p:cNvPr id="9" name="label-2">
            <a:extLst xmlns:a="http://schemas.openxmlformats.org/drawingml/2006/main">
              <a:ext uri="{FF2B5EF4-FFF2-40B4-BE49-F238E27FC236}">
                <a16:creationId xmlns:a16="http://schemas.microsoft.com/office/drawing/2014/main" id="{ED7E71F8-8D7A-4741-92EF-D8E6040D9B4A}"/>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Act</a:t>
            </a:r>
          </a:p>
        </p:txBody>
      </p:sp>
      <p:sp>
        <p:nvSpPr>
          <p:cNvPr id="10" name="point-2">
            <a:extLst xmlns:a="http://schemas.openxmlformats.org/drawingml/2006/main">
              <a:ext uri="{FF2B5EF4-FFF2-40B4-BE49-F238E27FC236}">
                <a16:creationId xmlns:a16="http://schemas.microsoft.com/office/drawing/2014/main" id="{4A50E156-D576-4B21-A265-3146AF682675}"/>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Approve a valid transition and reject an invalid or unauthorized one.</a:t>
            </a:r>
          </a:p>
        </p:txBody>
      </p:sp>
      <p:sp>
        <p:nvSpPr>
          <p:cNvPr id="11" name="label-3">
            <a:extLst xmlns:a="http://schemas.openxmlformats.org/drawingml/2006/main">
              <a:ext uri="{FF2B5EF4-FFF2-40B4-BE49-F238E27FC236}">
                <a16:creationId xmlns:a16="http://schemas.microsoft.com/office/drawing/2014/main" id="{16268FA0-BA08-450F-9749-0FD6DB8A2643}"/>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Recover</a:t>
            </a:r>
          </a:p>
        </p:txBody>
      </p:sp>
      <p:sp>
        <p:nvSpPr>
          <p:cNvPr id="12" name="point-3">
            <a:extLst xmlns:a="http://schemas.openxmlformats.org/drawingml/2006/main">
              <a:ext uri="{FF2B5EF4-FFF2-40B4-BE49-F238E27FC236}">
                <a16:creationId xmlns:a16="http://schemas.microsoft.com/office/drawing/2014/main" id="{FF28A686-141B-4F8B-9D21-1A284D37A800}"/>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Demonstrate restart or duplicate submission without inventing success.</a:t>
            </a:r>
          </a:p>
        </p:txBody>
      </p:sp>
    </p:spTree>
    <p:extLst>
      <p:ext uri="{BB962C8B-B14F-4D97-AF65-F5344CB8AC3E}">
        <p14:creationId xmlns:p14="http://schemas.microsoft.com/office/powerpoint/2010/main" val="270257373"/>
      </p:ext>
    </p:extLst>
  </p:cSld>
  <p:extLst>
    <p:ext uri="{6950BFC3-D8DA-4A85-94F7-54DA5524770B}">
      <p188:commentRel xmlns:r="http://schemas.openxmlformats.org/officeDocument/2006/relationships" xmlns:p188="http://schemas.microsoft.com/office/powerpoint/2018/8/main" r:id="R4f8c3b1ca5d74ec5"/>
    </p:ext>
  </p:extLst>
</p:sld>
</file>

<file path=ppt/slides/slide90.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context">
            <a:extLst xmlns:a="http://schemas.openxmlformats.org/drawingml/2006/main">
              <a:ext uri="{FF2B5EF4-FFF2-40B4-BE49-F238E27FC236}">
                <a16:creationId xmlns:a16="http://schemas.microsoft.com/office/drawing/2014/main" id="{5BE31E88-5021-42C6-8DF6-0CA23E10E849}"/>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Suggested course rubric</a:t>
            </a:r>
          </a:p>
        </p:txBody>
      </p:sp>
      <p:sp>
        <p:nvSpPr>
          <p:cNvPr id="2" name="title">
            <a:extLst xmlns:a="http://schemas.openxmlformats.org/drawingml/2006/main">
              <a:ext uri="{FF2B5EF4-FFF2-40B4-BE49-F238E27FC236}">
                <a16:creationId xmlns:a16="http://schemas.microsoft.com/office/drawing/2014/main" id="{EA9FBAF2-ABC0-480A-964C-3173981C7651}"/>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Capstone assessment</a:t>
            </a:r>
          </a:p>
        </p:txBody>
      </p:sp>
      <p:sp>
        <p:nvSpPr>
          <p:cNvPr id="3" name="footer">
            <a:extLst xmlns:a="http://schemas.openxmlformats.org/drawingml/2006/main">
              <a:ext uri="{FF2B5EF4-FFF2-40B4-BE49-F238E27FC236}">
                <a16:creationId xmlns:a16="http://schemas.microsoft.com/office/drawing/2014/main" id="{2FA2CD17-AA9D-4AC0-AC04-48964AED5920}"/>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10  Evaluation and the capstone</a:t>
            </a:r>
          </a:p>
        </p:txBody>
      </p:sp>
      <p:sp>
        <p:nvSpPr>
          <p:cNvPr id="4" name="page">
            <a:extLst xmlns:a="http://schemas.openxmlformats.org/drawingml/2006/main">
              <a:ext uri="{FF2B5EF4-FFF2-40B4-BE49-F238E27FC236}">
                <a16:creationId xmlns:a16="http://schemas.microsoft.com/office/drawing/2014/main" id="{F033A52B-F83F-42CD-BF20-D7791733493E}"/>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90</a:t>
            </a:r>
          </a:p>
        </p:txBody>
      </p:sp>
      <p:graphicFrame>
        <p:nvGraphicFramePr>
          <p:cNvPr id="5" name="">
            <a:extLst xmlns:a="http://schemas.openxmlformats.org/drawingml/2006/main">
              <a:ext uri="{FF2B5EF4-FFF2-40B4-BE49-F238E27FC236}">
                <a16:creationId xmlns:a16="http://schemas.microsoft.com/office/drawing/2014/main" id="{C5CEED0C-8C8B-488D-8C4E-E12227824481}"/>
              </a:ext>
            </a:extLst>
          </p:cNvPr>
          <p:cNvGraphicFramePr/>
          <p:nvPr/>
        </p:nvGraphicFramePr>
        <p:xfrm>
          <a:off xmlns:a="http://schemas.openxmlformats.org/drawingml/2006/main" x="685800" y="1809750"/>
          <a:ext xmlns:a="http://schemas.openxmlformats.org/drawingml/2006/main" cx="10820400" cy="3432429"/>
        </p:xfrm>
        <a:graphic xmlns:a="http://schemas.openxmlformats.org/drawingml/2006/main">
          <a:graphicData uri="http://schemas.openxmlformats.org/drawingml/2006/table">
            <a:tbl>
              <a:tblPr/>
              <a:tblGrid>
                <a:gridCol w="3246120"/>
                <a:gridCol w="1731264"/>
                <a:gridCol w="5843016"/>
              </a:tblGrid>
              <a:tr h="552450">
                <a:tc>
                  <a:txBody>
                    <a:bodyPr/>
                    <a:lstStyle/>
                    <a:p>
                      <a:r>
                        <a:rPr sz="1725" b="1">
                          <a:solidFill>
                            <a:srgbClr val="FFFFFF"/>
                          </a:solidFill>
                          <a:latin typeface="Segoe UI"/>
                          <a:ea typeface="Segoe UI"/>
                          <a:cs typeface="Segoe UI"/>
                        </a:rPr>
                        <a:t>Dimension</a:t>
                      </a:r>
                    </a:p>
                  </a:txBody>
                  <a:tcPr marL="133350" marR="133350" marT="114300" marB="95250" anchor="t">
                    <a:lnL w="5715">
                      <a:solidFill>
                        <a:srgbClr val="DCE5EA"/>
                      </a:solidFill>
                      <a:prstDash val="solid"/>
                    </a:lnL>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Weight</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Evidence</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r>
              <a:tr h="763143">
                <a:tc>
                  <a:txBody>
                    <a:bodyPr/>
                    <a:lstStyle/>
                    <a:p>
                      <a:r>
                        <a:rPr sz="1725" b="0">
                          <a:solidFill>
                            <a:srgbClr val="34495B"/>
                          </a:solidFill>
                          <a:latin typeface="Segoe UI"/>
                          <a:ea typeface="Segoe UI"/>
                          <a:cs typeface="Segoe UI"/>
                        </a:rPr>
                        <a:t>Integration and contracts</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25%</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Real framework runtime and preserved application boundaries</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763143">
                <a:tc>
                  <a:txBody>
                    <a:bodyPr/>
                    <a:lstStyle/>
                    <a:p>
                      <a:r>
                        <a:rPr sz="1725" b="0">
                          <a:solidFill>
                            <a:srgbClr val="34495B"/>
                          </a:solidFill>
                          <a:latin typeface="Segoe UI"/>
                          <a:ea typeface="Segoe UI"/>
                          <a:cs typeface="Segoe UI"/>
                        </a:rPr>
                        <a:t>Safety and correctness</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30%</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Validated tools, authorization, approval, and write controls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r h="590550">
                <a:tc>
                  <a:txBody>
                    <a:bodyPr/>
                    <a:lstStyle/>
                    <a:p>
                      <a:r>
                        <a:rPr sz="1725" b="0">
                          <a:solidFill>
                            <a:srgbClr val="34495B"/>
                          </a:solidFill>
                          <a:latin typeface="Segoe UI"/>
                          <a:ea typeface="Segoe UI"/>
                          <a:cs typeface="Segoe UI"/>
                        </a:rPr>
                        <a:t>Evidence and evaluation</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25%</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Behavioral corpus, grounded outputs, and real traces</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763143">
                <a:tc>
                  <a:txBody>
                    <a:bodyPr/>
                    <a:lstStyle/>
                    <a:p>
                      <a:r>
                        <a:rPr sz="1725" b="0">
                          <a:solidFill>
                            <a:srgbClr val="34495B"/>
                          </a:solidFill>
                          <a:latin typeface="Segoe UI"/>
                          <a:ea typeface="Segoe UI"/>
                          <a:cs typeface="Segoe UI"/>
                        </a:rPr>
                        <a:t>Delivery and explanation</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20%</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Reproducible setup, rollout plan, and technical walkthrough</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bl>
          </a:graphicData>
        </a:graphic>
      </p:graphicFrame>
    </p:spTree>
    <p:extLst>
      <p:ext uri="{BB962C8B-B14F-4D97-AF65-F5344CB8AC3E}">
        <p14:creationId xmlns:p14="http://schemas.microsoft.com/office/powerpoint/2010/main" val="292077705"/>
      </p:ext>
    </p:extLst>
  </p:cSld>
  <p:extLst>
    <p:ext uri="{6950BFC3-D8DA-4A85-94F7-54DA5524770B}">
      <p188:commentRel xmlns:r="http://schemas.openxmlformats.org/officeDocument/2006/relationships" xmlns:p188="http://schemas.microsoft.com/office/powerpoint/2018/8/main" r:id="R62b20893359c4d08"/>
    </p:ext>
  </p:extLst>
</p:sld>
</file>

<file path=ppt/slides/slide9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4" name="context">
            <a:extLst xmlns:a="http://schemas.openxmlformats.org/drawingml/2006/main">
              <a:ext uri="{FF2B5EF4-FFF2-40B4-BE49-F238E27FC236}">
                <a16:creationId xmlns:a16="http://schemas.microsoft.com/office/drawing/2014/main" id="{577A346F-D474-41A1-B614-B3B2946BB936}"/>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Lab target</a:t>
            </a:r>
          </a:p>
        </p:txBody>
      </p:sp>
      <p:sp>
        <p:nvSpPr>
          <p:cNvPr id="2" name="title">
            <a:extLst xmlns:a="http://schemas.openxmlformats.org/drawingml/2006/main">
              <a:ext uri="{FF2B5EF4-FFF2-40B4-BE49-F238E27FC236}">
                <a16:creationId xmlns:a16="http://schemas.microsoft.com/office/drawing/2014/main" id="{830CBC36-3037-4A56-B213-4655133A2DDF}"/>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Lab 10: the InvoiceAI capstone review</a:t>
            </a:r>
          </a:p>
        </p:txBody>
      </p:sp>
      <p:sp>
        <p:nvSpPr>
          <p:cNvPr id="3" name="footer">
            <a:extLst xmlns:a="http://schemas.openxmlformats.org/drawingml/2006/main">
              <a:ext uri="{FF2B5EF4-FFF2-40B4-BE49-F238E27FC236}">
                <a16:creationId xmlns:a16="http://schemas.microsoft.com/office/drawing/2014/main" id="{F1C0FA3D-8E26-4C7B-933B-86F31D17D04E}"/>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10  Evaluation and the capstone</a:t>
            </a:r>
          </a:p>
        </p:txBody>
      </p:sp>
      <p:sp>
        <p:nvSpPr>
          <p:cNvPr id="4" name="page">
            <a:extLst xmlns:a="http://schemas.openxmlformats.org/drawingml/2006/main">
              <a:ext uri="{FF2B5EF4-FFF2-40B4-BE49-F238E27FC236}">
                <a16:creationId xmlns:a16="http://schemas.microsoft.com/office/drawing/2014/main" id="{87A6C0F7-6F8A-4C1D-AF64-4BC53BBABA01}"/>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91</a:t>
            </a:r>
          </a:p>
        </p:txBody>
      </p:sp>
      <p:sp>
        <p:nvSpPr>
          <p:cNvPr id="5" name="implementation">
            <a:extLst xmlns:a="http://schemas.openxmlformats.org/drawingml/2006/main">
              <a:ext uri="{FF2B5EF4-FFF2-40B4-BE49-F238E27FC236}">
                <a16:creationId xmlns:a16="http://schemas.microsoft.com/office/drawing/2014/main" id="{441ECB8A-BCAD-4D9E-846F-DBE4300F7542}"/>
              </a:ext>
            </a:extLst>
          </p:cNvPr>
          <p:cNvSpPr>
            <a:spLocks xmlns:a="http://schemas.openxmlformats.org/drawingml/2006/main" noGrp="1"/>
          </p:cNvSpPr>
          <p:nvPr/>
        </p:nvSpPr>
        <p:spPr>
          <a:xfrm xmlns:a="http://schemas.openxmlformats.org/drawingml/2006/main">
            <a:off x="685800" y="1857375"/>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Implementation</a:t>
            </a:r>
          </a:p>
        </p:txBody>
      </p:sp>
      <p:sp>
        <p:nvSpPr>
          <p:cNvPr id="6" name="acceptance">
            <a:extLst xmlns:a="http://schemas.openxmlformats.org/drawingml/2006/main">
              <a:ext uri="{FF2B5EF4-FFF2-40B4-BE49-F238E27FC236}">
                <a16:creationId xmlns:a16="http://schemas.microsoft.com/office/drawing/2014/main" id="{4E79CFF1-7627-4F7F-A531-DCCF8C853640}"/>
              </a:ext>
            </a:extLst>
          </p:cNvPr>
          <p:cNvSpPr>
            <a:spLocks xmlns:a="http://schemas.openxmlformats.org/drawingml/2006/main" noGrp="1"/>
          </p:cNvSpPr>
          <p:nvPr/>
        </p:nvSpPr>
        <p:spPr>
          <a:xfrm xmlns:a="http://schemas.openxmlformats.org/drawingml/2006/main">
            <a:off x="7477125" y="1857375"/>
            <a:ext cx="4029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Acceptance</a:t>
            </a:r>
          </a:p>
        </p:txBody>
      </p:sp>
      <p:sp>
        <p:nvSpPr>
          <p:cNvPr id="7" name="task-0">
            <a:extLst xmlns:a="http://schemas.openxmlformats.org/drawingml/2006/main">
              <a:ext uri="{FF2B5EF4-FFF2-40B4-BE49-F238E27FC236}">
                <a16:creationId xmlns:a16="http://schemas.microsoft.com/office/drawing/2014/main" id="{C6D2A760-AAF9-4696-A024-9851DE621F3F}"/>
              </a:ext>
            </a:extLst>
          </p:cNvPr>
          <p:cNvSpPr>
            <a:spLocks xmlns:a="http://schemas.openxmlformats.org/drawingml/2006/main" noGrp="1"/>
          </p:cNvSpPr>
          <p:nvPr/>
        </p:nvSpPr>
        <p:spPr>
          <a:xfrm xmlns:a="http://schemas.openxmlformats.org/drawingml/2006/main">
            <a:off x="685800" y="2476500"/>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1. Assemble the lab increments into one reproducible branch.</a:t>
            </a:r>
          </a:p>
        </p:txBody>
      </p:sp>
      <p:sp>
        <p:nvSpPr>
          <p:cNvPr id="8" name="task-1">
            <a:extLst xmlns:a="http://schemas.openxmlformats.org/drawingml/2006/main">
              <a:ext uri="{FF2B5EF4-FFF2-40B4-BE49-F238E27FC236}">
                <a16:creationId xmlns:a16="http://schemas.microsoft.com/office/drawing/2014/main" id="{5A1A9663-F07C-4E5F-83BB-E545FCDA5C67}"/>
              </a:ext>
            </a:extLst>
          </p:cNvPr>
          <p:cNvSpPr>
            <a:spLocks xmlns:a="http://schemas.openxmlformats.org/drawingml/2006/main" noGrp="1"/>
          </p:cNvSpPr>
          <p:nvPr/>
        </p:nvSpPr>
        <p:spPr>
          <a:xfrm xmlns:a="http://schemas.openxmlformats.org/drawingml/2006/main">
            <a:off x="685800" y="3495675"/>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2. Run the agreed deterministic and behavioral checks.</a:t>
            </a:r>
          </a:p>
        </p:txBody>
      </p:sp>
      <p:sp>
        <p:nvSpPr>
          <p:cNvPr id="9" name="task-2">
            <a:extLst xmlns:a="http://schemas.openxmlformats.org/drawingml/2006/main">
              <a:ext uri="{FF2B5EF4-FFF2-40B4-BE49-F238E27FC236}">
                <a16:creationId xmlns:a16="http://schemas.microsoft.com/office/drawing/2014/main" id="{7743247A-B6CA-48EF-8C52-473027DA72CF}"/>
              </a:ext>
            </a:extLst>
          </p:cNvPr>
          <p:cNvSpPr>
            <a:spLocks xmlns:a="http://schemas.openxmlformats.org/drawingml/2006/main" noGrp="1"/>
          </p:cNvSpPr>
          <p:nvPr/>
        </p:nvSpPr>
        <p:spPr>
          <a:xfrm xmlns:a="http://schemas.openxmlformats.org/drawingml/2006/main">
            <a:off x="685800" y="4514850"/>
            <a:ext cx="6038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4495B"/>
                </a:solidFill>
                <a:latin typeface="Segoe UI"/>
                <a:ea typeface="Segoe UI"/>
                <a:cs typeface="Segoe UI"/>
              </a:defRPr>
            </a:defPPr>
            <a:lvl1pPr algn="l">
              <a:defRPr sz="1950" b="0">
                <a:solidFill>
                  <a:srgbClr val="34495B"/>
                </a:solidFill>
                <a:latin typeface="Segoe UI"/>
                <a:ea typeface="Segoe UI"/>
                <a:cs typeface="Segoe UI"/>
              </a:defRPr>
            </a:lvl1pPr>
            <a:lvl2pPr algn="l">
              <a:defRPr sz="1950" b="0">
                <a:solidFill>
                  <a:srgbClr val="34495B"/>
                </a:solidFill>
                <a:latin typeface="Segoe UI"/>
                <a:ea typeface="Segoe UI"/>
                <a:cs typeface="Segoe UI"/>
              </a:defRPr>
            </a:lvl2pPr>
            <a:lvl3pPr algn="l">
              <a:defRPr sz="1950" b="0">
                <a:solidFill>
                  <a:srgbClr val="34495B"/>
                </a:solidFill>
                <a:latin typeface="Segoe UI"/>
                <a:ea typeface="Segoe UI"/>
                <a:cs typeface="Segoe UI"/>
              </a:defRPr>
            </a:lvl3pPr>
            <a:lvl4pPr algn="l">
              <a:defRPr sz="1950" b="0">
                <a:solidFill>
                  <a:srgbClr val="34495B"/>
                </a:solidFill>
                <a:latin typeface="Segoe UI"/>
                <a:ea typeface="Segoe UI"/>
                <a:cs typeface="Segoe UI"/>
              </a:defRPr>
            </a:lvl4pPr>
            <a:lvl5pPr algn="l">
              <a:defRPr sz="1950" b="0">
                <a:solidFill>
                  <a:srgbClr val="34495B"/>
                </a:solidFill>
                <a:latin typeface="Segoe UI"/>
                <a:ea typeface="Segoe UI"/>
                <a:cs typeface="Segoe UI"/>
              </a:defRPr>
            </a:lvl5pPr>
            <a:lvl6pPr algn="l">
              <a:defRPr sz="1950" b="0">
                <a:solidFill>
                  <a:srgbClr val="34495B"/>
                </a:solidFill>
                <a:latin typeface="Segoe UI"/>
                <a:ea typeface="Segoe UI"/>
                <a:cs typeface="Segoe UI"/>
              </a:defRPr>
            </a:lvl6pPr>
            <a:lvl7pPr algn="l">
              <a:defRPr sz="1950" b="0">
                <a:solidFill>
                  <a:srgbClr val="34495B"/>
                </a:solidFill>
                <a:latin typeface="Segoe UI"/>
                <a:ea typeface="Segoe UI"/>
                <a:cs typeface="Segoe UI"/>
              </a:defRPr>
            </a:lvl7pPr>
            <a:lvl8pPr algn="l">
              <a:defRPr sz="1950" b="0">
                <a:solidFill>
                  <a:srgbClr val="34495B"/>
                </a:solidFill>
                <a:latin typeface="Segoe UI"/>
                <a:ea typeface="Segoe UI"/>
                <a:cs typeface="Segoe UI"/>
              </a:defRPr>
            </a:lvl8pPr>
            <a:lvl9pPr algn="l">
              <a:defRPr sz="1950" b="0">
                <a:solidFill>
                  <a:srgbClr val="34495B"/>
                </a:solidFill>
                <a:latin typeface="Segoe UI"/>
                <a:ea typeface="Segoe UI"/>
                <a:cs typeface="Segoe UI"/>
              </a:defRPr>
            </a:lvl9pPr>
          </a:lstStyle>
          <a:p xmlns:a="http://schemas.openxmlformats.org/drawingml/2006/main">
            <a:pPr algn="l">
              <a:defRPr sz="1950" b="0">
                <a:solidFill>
                  <a:srgbClr val="34495B"/>
                </a:solidFill>
                <a:latin typeface="Segoe UI"/>
                <a:ea typeface="Segoe UI"/>
                <a:cs typeface="Segoe UI"/>
              </a:defRPr>
            </a:pPr>
            <a:r>
              <a:rPr sz="1950" b="0">
                <a:solidFill>
                  <a:srgbClr val="34495B"/>
                </a:solidFill>
                <a:latin typeface="Segoe UI"/>
                <a:ea typeface="Segoe UI"/>
                <a:cs typeface="Segoe UI"/>
              </a:rPr>
              <a:t>3. Deliver the demo, architecture decisions, and operational handoff.</a:t>
            </a:r>
          </a:p>
        </p:txBody>
      </p:sp>
      <p:sp>
        <p:nvSpPr>
          <p:cNvPr id="10" name="criterion-0">
            <a:extLst xmlns:a="http://schemas.openxmlformats.org/drawingml/2006/main">
              <a:ext uri="{FF2B5EF4-FFF2-40B4-BE49-F238E27FC236}">
                <a16:creationId xmlns:a16="http://schemas.microsoft.com/office/drawing/2014/main" id="{977A6154-2814-4945-9825-FCBAC86F27B9}"/>
              </a:ext>
            </a:extLst>
          </p:cNvPr>
          <p:cNvSpPr>
            <a:spLocks xmlns:a="http://schemas.openxmlformats.org/drawingml/2006/main" noGrp="1"/>
          </p:cNvSpPr>
          <p:nvPr/>
        </p:nvSpPr>
        <p:spPr>
          <a:xfrm xmlns:a="http://schemas.openxmlformats.org/drawingml/2006/main">
            <a:off x="7477125" y="2476500"/>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AIAgent and AgentSession drive the integration.</a:t>
            </a:r>
          </a:p>
        </p:txBody>
      </p:sp>
      <p:sp>
        <p:nvSpPr>
          <p:cNvPr id="11" name="criterion-1">
            <a:extLst xmlns:a="http://schemas.openxmlformats.org/drawingml/2006/main">
              <a:ext uri="{FF2B5EF4-FFF2-40B4-BE49-F238E27FC236}">
                <a16:creationId xmlns:a16="http://schemas.microsoft.com/office/drawing/2014/main" id="{03E546F4-815D-4B7F-94EB-2C77E08A67BE}"/>
              </a:ext>
            </a:extLst>
          </p:cNvPr>
          <p:cNvSpPr>
            <a:spLocks xmlns:a="http://schemas.openxmlformats.org/drawingml/2006/main" noGrp="1"/>
          </p:cNvSpPr>
          <p:nvPr/>
        </p:nvSpPr>
        <p:spPr>
          <a:xfrm xmlns:a="http://schemas.openxmlformats.org/drawingml/2006/main">
            <a:off x="7477125" y="3495675"/>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Business effects have verifiable outcomes.</a:t>
            </a:r>
          </a:p>
        </p:txBody>
      </p:sp>
      <p:sp>
        <p:nvSpPr>
          <p:cNvPr id="12" name="criterion-2">
            <a:extLst xmlns:a="http://schemas.openxmlformats.org/drawingml/2006/main">
              <a:ext uri="{FF2B5EF4-FFF2-40B4-BE49-F238E27FC236}">
                <a16:creationId xmlns:a16="http://schemas.microsoft.com/office/drawing/2014/main" id="{C717F303-E497-4D68-BC6B-2E9D86947801}"/>
              </a:ext>
            </a:extLst>
          </p:cNvPr>
          <p:cNvSpPr>
            <a:spLocks xmlns:a="http://schemas.openxmlformats.org/drawingml/2006/main" noGrp="1"/>
          </p:cNvSpPr>
          <p:nvPr/>
        </p:nvSpPr>
        <p:spPr>
          <a:xfrm xmlns:a="http://schemas.openxmlformats.org/drawingml/2006/main">
            <a:off x="7477125" y="4514850"/>
            <a:ext cx="40290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495B"/>
                </a:solidFill>
                <a:latin typeface="Segoe UI"/>
                <a:ea typeface="Segoe UI"/>
                <a:cs typeface="Segoe UI"/>
              </a:defRPr>
            </a:defPPr>
            <a:lvl1pPr algn="l">
              <a:defRPr sz="1875" b="0">
                <a:solidFill>
                  <a:srgbClr val="34495B"/>
                </a:solidFill>
                <a:latin typeface="Segoe UI"/>
                <a:ea typeface="Segoe UI"/>
                <a:cs typeface="Segoe UI"/>
              </a:defRPr>
            </a:lvl1pPr>
            <a:lvl2pPr algn="l">
              <a:defRPr sz="1875" b="0">
                <a:solidFill>
                  <a:srgbClr val="34495B"/>
                </a:solidFill>
                <a:latin typeface="Segoe UI"/>
                <a:ea typeface="Segoe UI"/>
                <a:cs typeface="Segoe UI"/>
              </a:defRPr>
            </a:lvl2pPr>
            <a:lvl3pPr algn="l">
              <a:defRPr sz="1875" b="0">
                <a:solidFill>
                  <a:srgbClr val="34495B"/>
                </a:solidFill>
                <a:latin typeface="Segoe UI"/>
                <a:ea typeface="Segoe UI"/>
                <a:cs typeface="Segoe UI"/>
              </a:defRPr>
            </a:lvl3pPr>
            <a:lvl4pPr algn="l">
              <a:defRPr sz="1875" b="0">
                <a:solidFill>
                  <a:srgbClr val="34495B"/>
                </a:solidFill>
                <a:latin typeface="Segoe UI"/>
                <a:ea typeface="Segoe UI"/>
                <a:cs typeface="Segoe UI"/>
              </a:defRPr>
            </a:lvl4pPr>
            <a:lvl5pPr algn="l">
              <a:defRPr sz="1875" b="0">
                <a:solidFill>
                  <a:srgbClr val="34495B"/>
                </a:solidFill>
                <a:latin typeface="Segoe UI"/>
                <a:ea typeface="Segoe UI"/>
                <a:cs typeface="Segoe UI"/>
              </a:defRPr>
            </a:lvl5pPr>
            <a:lvl6pPr algn="l">
              <a:defRPr sz="1875" b="0">
                <a:solidFill>
                  <a:srgbClr val="34495B"/>
                </a:solidFill>
                <a:latin typeface="Segoe UI"/>
                <a:ea typeface="Segoe UI"/>
                <a:cs typeface="Segoe UI"/>
              </a:defRPr>
            </a:lvl6pPr>
            <a:lvl7pPr algn="l">
              <a:defRPr sz="1875" b="0">
                <a:solidFill>
                  <a:srgbClr val="34495B"/>
                </a:solidFill>
                <a:latin typeface="Segoe UI"/>
                <a:ea typeface="Segoe UI"/>
                <a:cs typeface="Segoe UI"/>
              </a:defRPr>
            </a:lvl7pPr>
            <a:lvl8pPr algn="l">
              <a:defRPr sz="1875" b="0">
                <a:solidFill>
                  <a:srgbClr val="34495B"/>
                </a:solidFill>
                <a:latin typeface="Segoe UI"/>
                <a:ea typeface="Segoe UI"/>
                <a:cs typeface="Segoe UI"/>
              </a:defRPr>
            </a:lvl8pPr>
            <a:lvl9pPr algn="l">
              <a:defRPr sz="1875" b="0">
                <a:solidFill>
                  <a:srgbClr val="34495B"/>
                </a:solidFill>
                <a:latin typeface="Segoe UI"/>
                <a:ea typeface="Segoe UI"/>
                <a:cs typeface="Segoe UI"/>
              </a:defRPr>
            </a:lvl9pPr>
          </a:lstStyle>
          <a:p xmlns:a="http://schemas.openxmlformats.org/drawingml/2006/main">
            <a:pPr algn="l">
              <a:defRPr sz="1875" b="0">
                <a:solidFill>
                  <a:srgbClr val="34495B"/>
                </a:solidFill>
                <a:latin typeface="Segoe UI"/>
                <a:ea typeface="Segoe UI"/>
                <a:cs typeface="Segoe UI"/>
              </a:defRPr>
            </a:pPr>
            <a:r>
              <a:rPr sz="1875" b="0">
                <a:solidFill>
                  <a:srgbClr val="34495B"/>
                </a:solidFill>
                <a:latin typeface="Segoe UI"/>
                <a:ea typeface="Segoe UI"/>
                <a:cs typeface="Segoe UI"/>
              </a:rPr>
              <a:t>The team can explain a failure and its recovery.</a:t>
            </a:r>
          </a:p>
        </p:txBody>
      </p:sp>
      <p:sp>
        <p:nvSpPr>
          <p:cNvPr id="13" name="lab-time">
            <a:extLst xmlns:a="http://schemas.openxmlformats.org/drawingml/2006/main">
              <a:ext uri="{FF2B5EF4-FFF2-40B4-BE49-F238E27FC236}">
                <a16:creationId xmlns:a16="http://schemas.microsoft.com/office/drawing/2014/main" id="{F4110A51-1EB0-42FF-A1DA-29E9BB2F925D}"/>
              </a:ext>
            </a:extLst>
          </p:cNvPr>
          <p:cNvSpPr>
            <a:spLocks xmlns:a="http://schemas.openxmlformats.org/drawingml/2006/main" noGrp="1"/>
          </p:cNvSpPr>
          <p:nvPr/>
        </p:nvSpPr>
        <p:spPr>
          <a:xfrm xmlns:a="http://schemas.openxmlformats.org/drawingml/2006/main">
            <a:off x="685800" y="588645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17384"/>
                </a:solidFill>
                <a:latin typeface="Segoe UI"/>
                <a:ea typeface="Segoe UI"/>
                <a:cs typeface="Segoe UI"/>
              </a:defRPr>
            </a:defPPr>
            <a:lvl1pPr algn="l">
              <a:defRPr sz="1500" b="0">
                <a:solidFill>
                  <a:srgbClr val="617384"/>
                </a:solidFill>
                <a:latin typeface="Segoe UI"/>
                <a:ea typeface="Segoe UI"/>
                <a:cs typeface="Segoe UI"/>
              </a:defRPr>
            </a:lvl1pPr>
            <a:lvl2pPr algn="l">
              <a:defRPr sz="1500" b="0">
                <a:solidFill>
                  <a:srgbClr val="617384"/>
                </a:solidFill>
                <a:latin typeface="Segoe UI"/>
                <a:ea typeface="Segoe UI"/>
                <a:cs typeface="Segoe UI"/>
              </a:defRPr>
            </a:lvl2pPr>
            <a:lvl3pPr algn="l">
              <a:defRPr sz="1500" b="0">
                <a:solidFill>
                  <a:srgbClr val="617384"/>
                </a:solidFill>
                <a:latin typeface="Segoe UI"/>
                <a:ea typeface="Segoe UI"/>
                <a:cs typeface="Segoe UI"/>
              </a:defRPr>
            </a:lvl3pPr>
            <a:lvl4pPr algn="l">
              <a:defRPr sz="1500" b="0">
                <a:solidFill>
                  <a:srgbClr val="617384"/>
                </a:solidFill>
                <a:latin typeface="Segoe UI"/>
                <a:ea typeface="Segoe UI"/>
                <a:cs typeface="Segoe UI"/>
              </a:defRPr>
            </a:lvl4pPr>
            <a:lvl5pPr algn="l">
              <a:defRPr sz="1500" b="0">
                <a:solidFill>
                  <a:srgbClr val="617384"/>
                </a:solidFill>
                <a:latin typeface="Segoe UI"/>
                <a:ea typeface="Segoe UI"/>
                <a:cs typeface="Segoe UI"/>
              </a:defRPr>
            </a:lvl5pPr>
            <a:lvl6pPr algn="l">
              <a:defRPr sz="1500" b="0">
                <a:solidFill>
                  <a:srgbClr val="617384"/>
                </a:solidFill>
                <a:latin typeface="Segoe UI"/>
                <a:ea typeface="Segoe UI"/>
                <a:cs typeface="Segoe UI"/>
              </a:defRPr>
            </a:lvl6pPr>
            <a:lvl7pPr algn="l">
              <a:defRPr sz="1500" b="0">
                <a:solidFill>
                  <a:srgbClr val="617384"/>
                </a:solidFill>
                <a:latin typeface="Segoe UI"/>
                <a:ea typeface="Segoe UI"/>
                <a:cs typeface="Segoe UI"/>
              </a:defRPr>
            </a:lvl7pPr>
            <a:lvl8pPr algn="l">
              <a:defRPr sz="1500" b="0">
                <a:solidFill>
                  <a:srgbClr val="617384"/>
                </a:solidFill>
                <a:latin typeface="Segoe UI"/>
                <a:ea typeface="Segoe UI"/>
                <a:cs typeface="Segoe UI"/>
              </a:defRPr>
            </a:lvl8pPr>
            <a:lvl9pPr algn="l">
              <a:defRPr sz="1500" b="0">
                <a:solidFill>
                  <a:srgbClr val="617384"/>
                </a:solidFill>
                <a:latin typeface="Segoe UI"/>
                <a:ea typeface="Segoe UI"/>
                <a:cs typeface="Segoe UI"/>
              </a:defRPr>
            </a:lvl9pPr>
          </a:lstStyle>
          <a:p xmlns:a="http://schemas.openxmlformats.org/drawingml/2006/main">
            <a:pPr algn="l">
              <a:defRPr sz="1500" b="0">
                <a:solidFill>
                  <a:srgbClr val="617384"/>
                </a:solidFill>
                <a:latin typeface="Segoe UI"/>
                <a:ea typeface="Segoe UI"/>
                <a:cs typeface="Segoe UI"/>
              </a:defRPr>
            </a:pPr>
            <a:r>
              <a:rPr sz="1500" b="0">
                <a:solidFill>
                  <a:srgbClr val="617384"/>
                </a:solidFill>
                <a:latin typeface="Segoe UI"/>
                <a:ea typeface="Segoe UI"/>
                <a:cs typeface="Segoe UI"/>
              </a:rPr>
              <a:t>Suggested lab work: 70 minutes. Review the evidence before continuing.</a:t>
            </a:r>
          </a:p>
        </p:txBody>
      </p:sp>
    </p:spTree>
    <p:extLst>
      <p:ext uri="{BB962C8B-B14F-4D97-AF65-F5344CB8AC3E}">
        <p14:creationId xmlns:p14="http://schemas.microsoft.com/office/powerpoint/2010/main" val="932881773"/>
      </p:ext>
    </p:extLst>
  </p:cSld>
  <p:extLst>
    <p:ext uri="{6950BFC3-D8DA-4A85-94F7-54DA5524770B}">
      <p188:commentRel xmlns:r="http://schemas.openxmlformats.org/officeDocument/2006/relationships" xmlns:p188="http://schemas.microsoft.com/office/powerpoint/2018/8/main" r:id="R5d148b3ab49a4445"/>
    </p:ext>
  </p:extLst>
</p:sld>
</file>

<file path=ppt/slides/slide9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context">
            <a:extLst xmlns:a="http://schemas.openxmlformats.org/drawingml/2006/main">
              <a:ext uri="{FF2B5EF4-FFF2-40B4-BE49-F238E27FC236}">
                <a16:creationId xmlns:a16="http://schemas.microsoft.com/office/drawing/2014/main" id="{174CE8A3-CCDB-4E21-833C-CB765085811E}"/>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Preparation checklist</a:t>
            </a:r>
          </a:p>
        </p:txBody>
      </p:sp>
      <p:sp>
        <p:nvSpPr>
          <p:cNvPr id="2" name="title">
            <a:extLst xmlns:a="http://schemas.openxmlformats.org/drawingml/2006/main">
              <a:ext uri="{FF2B5EF4-FFF2-40B4-BE49-F238E27FC236}">
                <a16:creationId xmlns:a16="http://schemas.microsoft.com/office/drawing/2014/main" id="{DF41A49C-B3A0-49FB-8CAA-7CF1EE6C0B52}"/>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Appendix: the package baseline</a:t>
            </a:r>
          </a:p>
        </p:txBody>
      </p:sp>
      <p:sp>
        <p:nvSpPr>
          <p:cNvPr id="3" name="footer">
            <a:extLst xmlns:a="http://schemas.openxmlformats.org/drawingml/2006/main">
              <a:ext uri="{FF2B5EF4-FFF2-40B4-BE49-F238E27FC236}">
                <a16:creationId xmlns:a16="http://schemas.microsoft.com/office/drawing/2014/main" id="{3AD5E496-CB21-45E7-A842-EF8708FAC553}"/>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InvoiceAI capstone course</a:t>
            </a:r>
          </a:p>
        </p:txBody>
      </p:sp>
      <p:sp>
        <p:nvSpPr>
          <p:cNvPr id="4" name="page">
            <a:extLst xmlns:a="http://schemas.openxmlformats.org/drawingml/2006/main">
              <a:ext uri="{FF2B5EF4-FFF2-40B4-BE49-F238E27FC236}">
                <a16:creationId xmlns:a16="http://schemas.microsoft.com/office/drawing/2014/main" id="{8FE2ADF9-9DB0-4950-8B14-EFBC9E331C89}"/>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92</a:t>
            </a:r>
          </a:p>
        </p:txBody>
      </p:sp>
      <p:graphicFrame>
        <p:nvGraphicFramePr>
          <p:cNvPr id="5" name="">
            <a:extLst xmlns:a="http://schemas.openxmlformats.org/drawingml/2006/main">
              <a:ext uri="{FF2B5EF4-FFF2-40B4-BE49-F238E27FC236}">
                <a16:creationId xmlns:a16="http://schemas.microsoft.com/office/drawing/2014/main" id="{966E2187-1253-4181-B52B-FDC34517C342}"/>
              </a:ext>
            </a:extLst>
          </p:cNvPr>
          <p:cNvGraphicFramePr/>
          <p:nvPr/>
        </p:nvGraphicFramePr>
        <p:xfrm>
          <a:off xmlns:a="http://schemas.openxmlformats.org/drawingml/2006/main" x="685800" y="1809750"/>
          <a:ext xmlns:a="http://schemas.openxmlformats.org/drawingml/2006/main" cx="10820400" cy="3505200"/>
        </p:xfrm>
        <a:graphic xmlns:a="http://schemas.openxmlformats.org/drawingml/2006/main">
          <a:graphicData uri="http://schemas.openxmlformats.org/drawingml/2006/table">
            <a:tbl>
              <a:tblPr/>
              <a:tblGrid>
                <a:gridCol w="2488692"/>
                <a:gridCol w="3787140"/>
                <a:gridCol w="4544568"/>
              </a:tblGrid>
              <a:tr h="552450">
                <a:tc>
                  <a:txBody>
                    <a:bodyPr/>
                    <a:lstStyle/>
                    <a:p>
                      <a:r>
                        <a:rPr sz="1725" b="1">
                          <a:solidFill>
                            <a:srgbClr val="FFFFFF"/>
                          </a:solidFill>
                          <a:latin typeface="Segoe UI"/>
                          <a:ea typeface="Segoe UI"/>
                          <a:cs typeface="Segoe UI"/>
                        </a:rPr>
                        <a:t>Concern</a:t>
                      </a:r>
                    </a:p>
                  </a:txBody>
                  <a:tcPr marL="133350" marR="133350" marT="114300" marB="95250" anchor="t">
                    <a:lnL w="5715">
                      <a:solidFill>
                        <a:srgbClr val="DCE5EA"/>
                      </a:solidFill>
                      <a:prstDash val="solid"/>
                    </a:lnL>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Current repository</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Course addition or decision</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r>
              <a:tr h="590550">
                <a:tc>
                  <a:txBody>
                    <a:bodyPr/>
                    <a:lstStyle/>
                    <a:p>
                      <a:r>
                        <a:rPr sz="1725" b="0">
                          <a:solidFill>
                            <a:srgbClr val="34495B"/>
                          </a:solidFill>
                          <a:latin typeface="Segoe UI"/>
                          <a:ea typeface="Segoe UI"/>
                          <a:cs typeface="Segoe UI"/>
                        </a:rPr>
                        <a:t>Inference</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Azure.AI.OpenAI and Extensions.AI</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Pin compatible provider packages</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590550">
                <a:tc>
                  <a:txBody>
                    <a:bodyPr/>
                    <a:lstStyle/>
                    <a:p>
                      <a:r>
                        <a:rPr sz="1725" b="0">
                          <a:solidFill>
                            <a:srgbClr val="34495B"/>
                          </a:solidFill>
                          <a:latin typeface="Segoe UI"/>
                          <a:ea typeface="Segoe UI"/>
                          <a:cs typeface="Segoe UI"/>
                        </a:rPr>
                        <a:t>Agent runtime</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Custom BaseAgent</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Microsoft.Agents.AI / OpenAI integration</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r h="590550">
                <a:tc>
                  <a:txBody>
                    <a:bodyPr/>
                    <a:lstStyle/>
                    <a:p>
                      <a:r>
                        <a:rPr sz="1725" b="0">
                          <a:solidFill>
                            <a:srgbClr val="34495B"/>
                          </a:solidFill>
                          <a:latin typeface="Segoe UI"/>
                          <a:ea typeface="Segoe UI"/>
                          <a:cs typeface="Segoe UI"/>
                        </a:rPr>
                        <a:t>Workflow</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Custom one-agent router</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Microsoft.Agents.AI.Workflows as required</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590550">
                <a:tc>
                  <a:txBody>
                    <a:bodyPr/>
                    <a:lstStyle/>
                    <a:p>
                      <a:r>
                        <a:rPr sz="1725" b="0">
                          <a:solidFill>
                            <a:srgbClr val="34495B"/>
                          </a:solidFill>
                          <a:latin typeface="Segoe UI"/>
                          <a:ea typeface="Segoe UI"/>
                          <a:cs typeface="Segoe UI"/>
                        </a:rPr>
                        <a:t>Hosting / protocol</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Minimal API JSON endpoint</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Optional Hosting / AGUI packages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r h="590550">
                <a:tc>
                  <a:txBody>
                    <a:bodyPr/>
                    <a:lstStyle/>
                    <a:p>
                      <a:r>
                        <a:rPr sz="1725" b="0">
                          <a:solidFill>
                            <a:srgbClr val="34495B"/>
                          </a:solidFill>
                          <a:latin typeface="Segoe UI"/>
                          <a:ea typeface="Segoe UI"/>
                          <a:cs typeface="Segoe UI"/>
                        </a:rPr>
                        <a:t>Evaluation</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Custom text heuristic</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Selected framework / evaluation integration</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bl>
          </a:graphicData>
        </a:graphic>
      </p:graphicFrame>
    </p:spTree>
    <p:extLst>
      <p:ext uri="{BB962C8B-B14F-4D97-AF65-F5344CB8AC3E}">
        <p14:creationId xmlns:p14="http://schemas.microsoft.com/office/powerpoint/2010/main" val="1246554328"/>
      </p:ext>
    </p:extLst>
  </p:cSld>
  <p:extLst>
    <p:ext uri="{6950BFC3-D8DA-4A85-94F7-54DA5524770B}">
      <p188:commentRel xmlns:r="http://schemas.openxmlformats.org/officeDocument/2006/relationships" xmlns:p188="http://schemas.microsoft.com/office/powerpoint/2018/8/main" r:id="R12b6f27c8d884792"/>
    </p:ext>
  </p:extLst>
</p:sld>
</file>

<file path=ppt/slides/slide9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context">
            <a:extLst xmlns:a="http://schemas.openxmlformats.org/drawingml/2006/main">
              <a:ext uri="{FF2B5EF4-FFF2-40B4-BE49-F238E27FC236}">
                <a16:creationId xmlns:a16="http://schemas.microsoft.com/office/drawing/2014/main" id="{38BE5FCD-B460-41EB-AEBB-3AD7E12319D3}"/>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Condensed framework pattern</a:t>
            </a:r>
          </a:p>
        </p:txBody>
      </p:sp>
      <p:sp>
        <p:nvSpPr>
          <p:cNvPr id="2" name="title">
            <a:extLst xmlns:a="http://schemas.openxmlformats.org/drawingml/2006/main">
              <a:ext uri="{FF2B5EF4-FFF2-40B4-BE49-F238E27FC236}">
                <a16:creationId xmlns:a16="http://schemas.microsoft.com/office/drawing/2014/main" id="{ADBEF7DC-69CD-4839-8696-818711360E0F}"/>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Appendix: a minimal business agent</a:t>
            </a:r>
          </a:p>
        </p:txBody>
      </p:sp>
      <p:sp>
        <p:nvSpPr>
          <p:cNvPr id="3" name="footer">
            <a:extLst xmlns:a="http://schemas.openxmlformats.org/drawingml/2006/main">
              <a:ext uri="{FF2B5EF4-FFF2-40B4-BE49-F238E27FC236}">
                <a16:creationId xmlns:a16="http://schemas.microsoft.com/office/drawing/2014/main" id="{DE17D72E-29FA-44A3-B639-C3CC833161E7}"/>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InvoiceAI capstone course</a:t>
            </a:r>
          </a:p>
        </p:txBody>
      </p:sp>
      <p:sp>
        <p:nvSpPr>
          <p:cNvPr id="4" name="page">
            <a:extLst xmlns:a="http://schemas.openxmlformats.org/drawingml/2006/main">
              <a:ext uri="{FF2B5EF4-FFF2-40B4-BE49-F238E27FC236}">
                <a16:creationId xmlns:a16="http://schemas.microsoft.com/office/drawing/2014/main" id="{1B7D30F1-AC3A-4F06-A7B1-E894CA76632A}"/>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93</a:t>
            </a:r>
          </a:p>
        </p:txBody>
      </p:sp>
      <p:sp>
        <p:nvSpPr>
          <p:cNvPr id="5" name="code">
            <a:extLst xmlns:a="http://schemas.openxmlformats.org/drawingml/2006/main">
              <a:ext uri="{FF2B5EF4-FFF2-40B4-BE49-F238E27FC236}">
                <a16:creationId xmlns:a16="http://schemas.microsoft.com/office/drawing/2014/main" id="{4349DB7C-F64C-4080-AD68-07045F7DA4F6}"/>
              </a:ext>
            </a:extLst>
          </p:cNvPr>
          <p:cNvSpPr>
            <a:spLocks xmlns:a="http://schemas.openxmlformats.org/drawingml/2006/main" noGrp="1"/>
          </p:cNvSpPr>
          <p:nvPr/>
        </p:nvSpPr>
        <p:spPr>
          <a:xfrm xmlns:a="http://schemas.openxmlformats.org/drawingml/2006/main">
            <a:off x="685800" y="1857375"/>
            <a:ext cx="7524750" cy="424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12C43"/>
                </a:solidFill>
                <a:latin typeface="Consolas"/>
                <a:ea typeface="Consolas"/>
                <a:cs typeface="Consolas"/>
              </a:defRPr>
            </a:defPPr>
            <a:lvl1pPr algn="l">
              <a:defRPr sz="1725" b="0">
                <a:solidFill>
                  <a:srgbClr val="112C43"/>
                </a:solidFill>
                <a:latin typeface="Consolas"/>
                <a:ea typeface="Consolas"/>
                <a:cs typeface="Consolas"/>
              </a:defRPr>
            </a:lvl1pPr>
            <a:lvl2pPr algn="l">
              <a:defRPr sz="1725" b="0">
                <a:solidFill>
                  <a:srgbClr val="112C43"/>
                </a:solidFill>
                <a:latin typeface="Consolas"/>
                <a:ea typeface="Consolas"/>
                <a:cs typeface="Consolas"/>
              </a:defRPr>
            </a:lvl2pPr>
            <a:lvl3pPr algn="l">
              <a:defRPr sz="1725" b="0">
                <a:solidFill>
                  <a:srgbClr val="112C43"/>
                </a:solidFill>
                <a:latin typeface="Consolas"/>
                <a:ea typeface="Consolas"/>
                <a:cs typeface="Consolas"/>
              </a:defRPr>
            </a:lvl3pPr>
            <a:lvl4pPr algn="l">
              <a:defRPr sz="1725" b="0">
                <a:solidFill>
                  <a:srgbClr val="112C43"/>
                </a:solidFill>
                <a:latin typeface="Consolas"/>
                <a:ea typeface="Consolas"/>
                <a:cs typeface="Consolas"/>
              </a:defRPr>
            </a:lvl4pPr>
            <a:lvl5pPr algn="l">
              <a:defRPr sz="1725" b="0">
                <a:solidFill>
                  <a:srgbClr val="112C43"/>
                </a:solidFill>
                <a:latin typeface="Consolas"/>
                <a:ea typeface="Consolas"/>
                <a:cs typeface="Consolas"/>
              </a:defRPr>
            </a:lvl5pPr>
            <a:lvl6pPr algn="l">
              <a:defRPr sz="1725" b="0">
                <a:solidFill>
                  <a:srgbClr val="112C43"/>
                </a:solidFill>
                <a:latin typeface="Consolas"/>
                <a:ea typeface="Consolas"/>
                <a:cs typeface="Consolas"/>
              </a:defRPr>
            </a:lvl6pPr>
            <a:lvl7pPr algn="l">
              <a:defRPr sz="1725" b="0">
                <a:solidFill>
                  <a:srgbClr val="112C43"/>
                </a:solidFill>
                <a:latin typeface="Consolas"/>
                <a:ea typeface="Consolas"/>
                <a:cs typeface="Consolas"/>
              </a:defRPr>
            </a:lvl7pPr>
            <a:lvl8pPr algn="l">
              <a:defRPr sz="1725" b="0">
                <a:solidFill>
                  <a:srgbClr val="112C43"/>
                </a:solidFill>
                <a:latin typeface="Consolas"/>
                <a:ea typeface="Consolas"/>
                <a:cs typeface="Consolas"/>
              </a:defRPr>
            </a:lvl8pPr>
            <a:lvl9pPr algn="l">
              <a:defRPr sz="1725" b="0">
                <a:solidFill>
                  <a:srgbClr val="112C43"/>
                </a:solidFill>
                <a:latin typeface="Consolas"/>
                <a:ea typeface="Consolas"/>
                <a:cs typeface="Consolas"/>
              </a:defRPr>
            </a:lvl9pPr>
          </a:lstStyle>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using Microsoft.Agents.AI;</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using Microsoft.Extensions.AI;</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using OpenAI.Chat;</a:t>
            </a:r>
          </a:p>
          <a:p xmlns:a="http://schemas.openxmlformats.org/drawingml/2006/main">
            <a:r>
              <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AIAgent agent = azureClient.GetChatClient(deployment)</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.AsAIAgent(</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name: "InvoiceReadAgent",</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instructions: "Use tools for current billing facts.",</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tools: [AIFunctionFactory.Create(</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invoiceTools.GetInvoiceSummary)]);</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AgentSession state = await agent.CreateSessionAsync(ct);</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var reply = await agent.RunAsync(prompt, state,</a:t>
            </a:r>
          </a:p>
          <a:p xmlns:a="http://schemas.openxmlformats.org/drawingml/2006/main">
            <a:pPr algn="l">
              <a:defRPr sz="1725" b="0">
                <a:solidFill>
                  <a:srgbClr val="112C43"/>
                </a:solidFill>
                <a:latin typeface="Consolas"/>
                <a:ea typeface="Consolas"/>
                <a:cs typeface="Consolas"/>
              </a:defRPr>
            </a:pPr>
            <a:r>
              <a:rPr sz="1725" b="0">
                <a:solidFill>
                  <a:srgbClr val="112C43"/>
                </a:solidFill>
                <a:latin typeface="Consolas"/>
                <a:ea typeface="Consolas"/>
                <a:cs typeface="Consolas"/>
              </a:rPr>
              <a:t>    cancellationToken: ct);</a:t>
            </a:r>
          </a:p>
        </p:txBody>
      </p:sp>
      <p:sp>
        <p:nvSpPr>
          <p:cNvPr id="6" name="explanation-0">
            <a:extLst xmlns:a="http://schemas.openxmlformats.org/drawingml/2006/main">
              <a:ext uri="{FF2B5EF4-FFF2-40B4-BE49-F238E27FC236}">
                <a16:creationId xmlns:a16="http://schemas.microsoft.com/office/drawing/2014/main" id="{A34A424D-D36C-41FB-B7BB-C7B7A845B577}"/>
              </a:ext>
            </a:extLst>
          </p:cNvPr>
          <p:cNvSpPr>
            <a:spLocks xmlns:a="http://schemas.openxmlformats.org/drawingml/2006/main" noGrp="1"/>
          </p:cNvSpPr>
          <p:nvPr/>
        </p:nvSpPr>
        <p:spPr>
          <a:xfrm xmlns:a="http://schemas.openxmlformats.org/drawingml/2006/main">
            <a:off x="8715375" y="20002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83"/>
                </a:solidFill>
                <a:latin typeface="Segoe UI"/>
                <a:ea typeface="Segoe UI"/>
                <a:cs typeface="Segoe UI"/>
              </a:defRPr>
            </a:defPPr>
            <a:lvl1pPr algn="l">
              <a:defRPr sz="1800" b="0">
                <a:solidFill>
                  <a:srgbClr val="007F83"/>
                </a:solidFill>
                <a:latin typeface="Segoe UI"/>
                <a:ea typeface="Segoe UI"/>
                <a:cs typeface="Segoe UI"/>
              </a:defRPr>
            </a:lvl1pPr>
            <a:lvl2pPr algn="l">
              <a:defRPr sz="1800" b="0">
                <a:solidFill>
                  <a:srgbClr val="007F83"/>
                </a:solidFill>
                <a:latin typeface="Segoe UI"/>
                <a:ea typeface="Segoe UI"/>
                <a:cs typeface="Segoe UI"/>
              </a:defRPr>
            </a:lvl2pPr>
            <a:lvl3pPr algn="l">
              <a:defRPr sz="1800" b="0">
                <a:solidFill>
                  <a:srgbClr val="007F83"/>
                </a:solidFill>
                <a:latin typeface="Segoe UI"/>
                <a:ea typeface="Segoe UI"/>
                <a:cs typeface="Segoe UI"/>
              </a:defRPr>
            </a:lvl3pPr>
            <a:lvl4pPr algn="l">
              <a:defRPr sz="1800" b="0">
                <a:solidFill>
                  <a:srgbClr val="007F83"/>
                </a:solidFill>
                <a:latin typeface="Segoe UI"/>
                <a:ea typeface="Segoe UI"/>
                <a:cs typeface="Segoe UI"/>
              </a:defRPr>
            </a:lvl4pPr>
            <a:lvl5pPr algn="l">
              <a:defRPr sz="1800" b="0">
                <a:solidFill>
                  <a:srgbClr val="007F83"/>
                </a:solidFill>
                <a:latin typeface="Segoe UI"/>
                <a:ea typeface="Segoe UI"/>
                <a:cs typeface="Segoe UI"/>
              </a:defRPr>
            </a:lvl5pPr>
            <a:lvl6pPr algn="l">
              <a:defRPr sz="1800" b="0">
                <a:solidFill>
                  <a:srgbClr val="007F83"/>
                </a:solidFill>
                <a:latin typeface="Segoe UI"/>
                <a:ea typeface="Segoe UI"/>
                <a:cs typeface="Segoe UI"/>
              </a:defRPr>
            </a:lvl6pPr>
            <a:lvl7pPr algn="l">
              <a:defRPr sz="1800" b="0">
                <a:solidFill>
                  <a:srgbClr val="007F83"/>
                </a:solidFill>
                <a:latin typeface="Segoe UI"/>
                <a:ea typeface="Segoe UI"/>
                <a:cs typeface="Segoe UI"/>
              </a:defRPr>
            </a:lvl7pPr>
            <a:lvl8pPr algn="l">
              <a:defRPr sz="1800" b="0">
                <a:solidFill>
                  <a:srgbClr val="007F83"/>
                </a:solidFill>
                <a:latin typeface="Segoe UI"/>
                <a:ea typeface="Segoe UI"/>
                <a:cs typeface="Segoe UI"/>
              </a:defRPr>
            </a:lvl8pPr>
            <a:lvl9pPr algn="l">
              <a:defRPr sz="1800" b="0">
                <a:solidFill>
                  <a:srgbClr val="007F83"/>
                </a:solidFill>
                <a:latin typeface="Segoe UI"/>
                <a:ea typeface="Segoe UI"/>
                <a:cs typeface="Segoe UI"/>
              </a:defRPr>
            </a:lvl9pPr>
          </a:lstStyle>
          <a:p xmlns:a="http://schemas.openxmlformats.org/drawingml/2006/main">
            <a:pPr algn="l">
              <a:defRPr sz="1800" b="0">
                <a:solidFill>
                  <a:srgbClr val="007F83"/>
                </a:solidFill>
                <a:latin typeface="Segoe UI"/>
                <a:ea typeface="Segoe UI"/>
                <a:cs typeface="Segoe UI"/>
              </a:defRPr>
            </a:pPr>
            <a:r>
              <a:rPr sz="1800" b="0">
                <a:solidFill>
                  <a:srgbClr val="007F83"/>
                </a:solidFill>
                <a:latin typeface="Segoe UI"/>
                <a:ea typeface="Segoe UI"/>
                <a:cs typeface="Segoe UI"/>
              </a:rPr>
              <a:t>Host supplies the configured provider and tool scope.</a:t>
            </a:r>
          </a:p>
        </p:txBody>
      </p:sp>
      <p:sp>
        <p:nvSpPr>
          <p:cNvPr id="7" name="explanation-1">
            <a:extLst xmlns:a="http://schemas.openxmlformats.org/drawingml/2006/main">
              <a:ext uri="{FF2B5EF4-FFF2-40B4-BE49-F238E27FC236}">
                <a16:creationId xmlns:a16="http://schemas.microsoft.com/office/drawing/2014/main" id="{733EA329-05E7-4729-BDBB-0BAED02701A0}"/>
              </a:ext>
            </a:extLst>
          </p:cNvPr>
          <p:cNvSpPr>
            <a:spLocks xmlns:a="http://schemas.openxmlformats.org/drawingml/2006/main" noGrp="1"/>
          </p:cNvSpPr>
          <p:nvPr/>
        </p:nvSpPr>
        <p:spPr>
          <a:xfrm xmlns:a="http://schemas.openxmlformats.org/drawingml/2006/main">
            <a:off x="8715375" y="320040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Application owns state persistence and authorization.</a:t>
            </a:r>
          </a:p>
        </p:txBody>
      </p:sp>
      <p:sp>
        <p:nvSpPr>
          <p:cNvPr id="8" name="explanation-2">
            <a:extLst xmlns:a="http://schemas.openxmlformats.org/drawingml/2006/main">
              <a:ext uri="{FF2B5EF4-FFF2-40B4-BE49-F238E27FC236}">
                <a16:creationId xmlns:a16="http://schemas.microsoft.com/office/drawing/2014/main" id="{C4D74BE7-058D-4473-9A52-DB9F864D28FD}"/>
              </a:ext>
            </a:extLst>
          </p:cNvPr>
          <p:cNvSpPr>
            <a:spLocks xmlns:a="http://schemas.openxmlformats.org/drawingml/2006/main" noGrp="1"/>
          </p:cNvSpPr>
          <p:nvPr/>
        </p:nvSpPr>
        <p:spPr>
          <a:xfrm xmlns:a="http://schemas.openxmlformats.org/drawingml/2006/main">
            <a:off x="8715375" y="4400550"/>
            <a:ext cx="27908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4495B"/>
                </a:solidFill>
                <a:latin typeface="Segoe UI"/>
                <a:ea typeface="Segoe UI"/>
                <a:cs typeface="Segoe UI"/>
              </a:defRPr>
            </a:defPPr>
            <a:lvl1pPr algn="l">
              <a:defRPr sz="1800" b="0">
                <a:solidFill>
                  <a:srgbClr val="34495B"/>
                </a:solidFill>
                <a:latin typeface="Segoe UI"/>
                <a:ea typeface="Segoe UI"/>
                <a:cs typeface="Segoe UI"/>
              </a:defRPr>
            </a:lvl1pPr>
            <a:lvl2pPr algn="l">
              <a:defRPr sz="1800" b="0">
                <a:solidFill>
                  <a:srgbClr val="34495B"/>
                </a:solidFill>
                <a:latin typeface="Segoe UI"/>
                <a:ea typeface="Segoe UI"/>
                <a:cs typeface="Segoe UI"/>
              </a:defRPr>
            </a:lvl2pPr>
            <a:lvl3pPr algn="l">
              <a:defRPr sz="1800" b="0">
                <a:solidFill>
                  <a:srgbClr val="34495B"/>
                </a:solidFill>
                <a:latin typeface="Segoe UI"/>
                <a:ea typeface="Segoe UI"/>
                <a:cs typeface="Segoe UI"/>
              </a:defRPr>
            </a:lvl3pPr>
            <a:lvl4pPr algn="l">
              <a:defRPr sz="1800" b="0">
                <a:solidFill>
                  <a:srgbClr val="34495B"/>
                </a:solidFill>
                <a:latin typeface="Segoe UI"/>
                <a:ea typeface="Segoe UI"/>
                <a:cs typeface="Segoe UI"/>
              </a:defRPr>
            </a:lvl4pPr>
            <a:lvl5pPr algn="l">
              <a:defRPr sz="1800" b="0">
                <a:solidFill>
                  <a:srgbClr val="34495B"/>
                </a:solidFill>
                <a:latin typeface="Segoe UI"/>
                <a:ea typeface="Segoe UI"/>
                <a:cs typeface="Segoe UI"/>
              </a:defRPr>
            </a:lvl5pPr>
            <a:lvl6pPr algn="l">
              <a:defRPr sz="1800" b="0">
                <a:solidFill>
                  <a:srgbClr val="34495B"/>
                </a:solidFill>
                <a:latin typeface="Segoe UI"/>
                <a:ea typeface="Segoe UI"/>
                <a:cs typeface="Segoe UI"/>
              </a:defRPr>
            </a:lvl6pPr>
            <a:lvl7pPr algn="l">
              <a:defRPr sz="1800" b="0">
                <a:solidFill>
                  <a:srgbClr val="34495B"/>
                </a:solidFill>
                <a:latin typeface="Segoe UI"/>
                <a:ea typeface="Segoe UI"/>
                <a:cs typeface="Segoe UI"/>
              </a:defRPr>
            </a:lvl7pPr>
            <a:lvl8pPr algn="l">
              <a:defRPr sz="1800" b="0">
                <a:solidFill>
                  <a:srgbClr val="34495B"/>
                </a:solidFill>
                <a:latin typeface="Segoe UI"/>
                <a:ea typeface="Segoe UI"/>
                <a:cs typeface="Segoe UI"/>
              </a:defRPr>
            </a:lvl8pPr>
            <a:lvl9pPr algn="l">
              <a:defRPr sz="1800" b="0">
                <a:solidFill>
                  <a:srgbClr val="34495B"/>
                </a:solidFill>
                <a:latin typeface="Segoe UI"/>
                <a:ea typeface="Segoe UI"/>
                <a:cs typeface="Segoe UI"/>
              </a:defRPr>
            </a:lvl9pPr>
          </a:lstStyle>
          <a:p xmlns:a="http://schemas.openxmlformats.org/drawingml/2006/main">
            <a:pPr algn="l">
              <a:defRPr sz="1800" b="0">
                <a:solidFill>
                  <a:srgbClr val="34495B"/>
                </a:solidFill>
                <a:latin typeface="Segoe UI"/>
                <a:ea typeface="Segoe UI"/>
                <a:cs typeface="Segoe UI"/>
              </a:defRPr>
            </a:pPr>
            <a:r>
              <a:rPr sz="1800" b="0">
                <a:solidFill>
                  <a:srgbClr val="34495B"/>
                </a:solidFill>
                <a:latin typeface="Segoe UI"/>
                <a:ea typeface="Segoe UI"/>
                <a:cs typeface="Segoe UI"/>
              </a:rPr>
              <a:t>Keep source and course package versions aligned.</a:t>
            </a:r>
          </a:p>
        </p:txBody>
      </p:sp>
    </p:spTree>
    <p:extLst>
      <p:ext uri="{BB962C8B-B14F-4D97-AF65-F5344CB8AC3E}">
        <p14:creationId xmlns:p14="http://schemas.microsoft.com/office/powerpoint/2010/main" val="281397978"/>
      </p:ext>
    </p:extLst>
  </p:cSld>
  <p:extLst>
    <p:ext uri="{6950BFC3-D8DA-4A85-94F7-54DA5524770B}">
      <p188:commentRel xmlns:r="http://schemas.openxmlformats.org/officeDocument/2006/relationships" xmlns:p188="http://schemas.microsoft.com/office/powerpoint/2018/8/main" r:id="R8540d2084b074b7a"/>
    </p:ext>
  </p:extLst>
</p:sld>
</file>

<file path=ppt/slides/slide9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96553757-1EC6-4C9F-A810-83519F149C64}"/>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Optional extension</a:t>
            </a:r>
          </a:p>
        </p:txBody>
      </p:sp>
      <p:sp>
        <p:nvSpPr>
          <p:cNvPr id="2" name="title">
            <a:extLst xmlns:a="http://schemas.openxmlformats.org/drawingml/2006/main">
              <a:ext uri="{FF2B5EF4-FFF2-40B4-BE49-F238E27FC236}">
                <a16:creationId xmlns:a16="http://schemas.microsoft.com/office/drawing/2014/main" id="{F71D23B7-EEBB-44B7-BD78-8852FFF810B0}"/>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Appendix: further capabilities</a:t>
            </a:r>
          </a:p>
        </p:txBody>
      </p:sp>
      <p:sp>
        <p:nvSpPr>
          <p:cNvPr id="3" name="footer">
            <a:extLst xmlns:a="http://schemas.openxmlformats.org/drawingml/2006/main">
              <a:ext uri="{FF2B5EF4-FFF2-40B4-BE49-F238E27FC236}">
                <a16:creationId xmlns:a16="http://schemas.microsoft.com/office/drawing/2014/main" id="{D7502907-5857-4EF3-B7D5-7962B31114D2}"/>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InvoiceAI capstone course</a:t>
            </a:r>
          </a:p>
        </p:txBody>
      </p:sp>
      <p:sp>
        <p:nvSpPr>
          <p:cNvPr id="4" name="page">
            <a:extLst xmlns:a="http://schemas.openxmlformats.org/drawingml/2006/main">
              <a:ext uri="{FF2B5EF4-FFF2-40B4-BE49-F238E27FC236}">
                <a16:creationId xmlns:a16="http://schemas.microsoft.com/office/drawing/2014/main" id="{CBB12057-FD21-463F-B840-36E22303BCDA}"/>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94</a:t>
            </a:r>
          </a:p>
        </p:txBody>
      </p:sp>
      <p:sp>
        <p:nvSpPr>
          <p:cNvPr id="5" name="label-0">
            <a:extLst xmlns:a="http://schemas.openxmlformats.org/drawingml/2006/main">
              <a:ext uri="{FF2B5EF4-FFF2-40B4-BE49-F238E27FC236}">
                <a16:creationId xmlns:a16="http://schemas.microsoft.com/office/drawing/2014/main" id="{102A6BBC-09AF-4E33-A8BF-83F4CA308B91}"/>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Multimodal input</a:t>
            </a:r>
          </a:p>
        </p:txBody>
      </p:sp>
      <p:sp>
        <p:nvSpPr>
          <p:cNvPr id="6" name="point-0">
            <a:extLst xmlns:a="http://schemas.openxmlformats.org/drawingml/2006/main">
              <a:ext uri="{FF2B5EF4-FFF2-40B4-BE49-F238E27FC236}">
                <a16:creationId xmlns:a16="http://schemas.microsoft.com/office/drawing/2014/main" id="{EA9DB7B5-CC32-4141-B4F0-5CD6C92A59BC}"/>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Extract candidate invoice fields, then validate and review before creation.</a:t>
            </a:r>
          </a:p>
        </p:txBody>
      </p:sp>
      <p:sp>
        <p:nvSpPr>
          <p:cNvPr id="7" name="label-1">
            <a:extLst xmlns:a="http://schemas.openxmlformats.org/drawingml/2006/main">
              <a:ext uri="{FF2B5EF4-FFF2-40B4-BE49-F238E27FC236}">
                <a16:creationId xmlns:a16="http://schemas.microsoft.com/office/drawing/2014/main" id="{31DDD24B-2140-46C5-8892-9450EE890318}"/>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Background work</a:t>
            </a:r>
          </a:p>
        </p:txBody>
      </p:sp>
      <p:sp>
        <p:nvSpPr>
          <p:cNvPr id="8" name="point-1">
            <a:extLst xmlns:a="http://schemas.openxmlformats.org/drawingml/2006/main">
              <a:ext uri="{FF2B5EF4-FFF2-40B4-BE49-F238E27FC236}">
                <a16:creationId xmlns:a16="http://schemas.microsoft.com/office/drawing/2014/main" id="{658445F8-FB4F-4942-9EFF-E4ADE82A3A79}"/>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Persist continuation and job status for longer analyses.</a:t>
            </a:r>
          </a:p>
        </p:txBody>
      </p:sp>
      <p:sp>
        <p:nvSpPr>
          <p:cNvPr id="9" name="label-2">
            <a:extLst xmlns:a="http://schemas.openxmlformats.org/drawingml/2006/main">
              <a:ext uri="{FF2B5EF4-FFF2-40B4-BE49-F238E27FC236}">
                <a16:creationId xmlns:a16="http://schemas.microsoft.com/office/drawing/2014/main" id="{67BA1B73-A30E-4F32-B053-E8A48E8C1EC3}"/>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Skills and hooks</a:t>
            </a:r>
          </a:p>
        </p:txBody>
      </p:sp>
      <p:sp>
        <p:nvSpPr>
          <p:cNvPr id="10" name="point-2">
            <a:extLst xmlns:a="http://schemas.openxmlformats.org/drawingml/2006/main">
              <a:ext uri="{FF2B5EF4-FFF2-40B4-BE49-F238E27FC236}">
                <a16:creationId xmlns:a16="http://schemas.microsoft.com/office/drawing/2014/main" id="{D5AA761D-AE80-4133-B983-5F4E6A2DB251}"/>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Review reusable instructions and governance support for the pinned SDK.</a:t>
            </a:r>
          </a:p>
        </p:txBody>
      </p:sp>
      <p:sp>
        <p:nvSpPr>
          <p:cNvPr id="11" name="label-3">
            <a:extLst xmlns:a="http://schemas.openxmlformats.org/drawingml/2006/main">
              <a:ext uri="{FF2B5EF4-FFF2-40B4-BE49-F238E27FC236}">
                <a16:creationId xmlns:a16="http://schemas.microsoft.com/office/drawing/2014/main" id="{9FD8C8EB-9CBA-4969-986E-AFF8DC9B60B6}"/>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Provider evolution</a:t>
            </a:r>
          </a:p>
        </p:txBody>
      </p:sp>
      <p:sp>
        <p:nvSpPr>
          <p:cNvPr id="12" name="point-3">
            <a:extLst xmlns:a="http://schemas.openxmlformats.org/drawingml/2006/main">
              <a:ext uri="{FF2B5EF4-FFF2-40B4-BE49-F238E27FC236}">
                <a16:creationId xmlns:a16="http://schemas.microsoft.com/office/drawing/2014/main" id="{5F2BE3E2-7F2F-4E1A-8040-CCA1DA42DCB9}"/>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Re-evaluate capability, data, cost, and compatibility decisions.</a:t>
            </a:r>
          </a:p>
        </p:txBody>
      </p:sp>
    </p:spTree>
    <p:extLst>
      <p:ext uri="{BB962C8B-B14F-4D97-AF65-F5344CB8AC3E}">
        <p14:creationId xmlns:p14="http://schemas.microsoft.com/office/powerpoint/2010/main" val="1143374140"/>
      </p:ext>
    </p:extLst>
  </p:cSld>
  <p:extLst>
    <p:ext uri="{6950BFC3-D8DA-4A85-94F7-54DA5524770B}">
      <p188:commentRel xmlns:r="http://schemas.openxmlformats.org/officeDocument/2006/relationships" xmlns:p188="http://schemas.microsoft.com/office/powerpoint/2018/8/main" r:id="Re87034475da74221"/>
    </p:ext>
  </p:extLst>
</p:sld>
</file>

<file path=ppt/slides/slide9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context">
            <a:extLst xmlns:a="http://schemas.openxmlformats.org/drawingml/2006/main">
              <a:ext uri="{FF2B5EF4-FFF2-40B4-BE49-F238E27FC236}">
                <a16:creationId xmlns:a16="http://schemas.microsoft.com/office/drawing/2014/main" id="{E7675B1C-2F0E-4898-9DA6-117792E77267}"/>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Code tour</a:t>
            </a:r>
          </a:p>
        </p:txBody>
      </p:sp>
      <p:sp>
        <p:nvSpPr>
          <p:cNvPr id="2" name="title">
            <a:extLst xmlns:a="http://schemas.openxmlformats.org/drawingml/2006/main">
              <a:ext uri="{FF2B5EF4-FFF2-40B4-BE49-F238E27FC236}">
                <a16:creationId xmlns:a16="http://schemas.microsoft.com/office/drawing/2014/main" id="{C9CEB0C5-8040-4545-9AF0-EA576333368B}"/>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Appendix: the repository reading map</a:t>
            </a:r>
          </a:p>
        </p:txBody>
      </p:sp>
      <p:sp>
        <p:nvSpPr>
          <p:cNvPr id="3" name="footer">
            <a:extLst xmlns:a="http://schemas.openxmlformats.org/drawingml/2006/main">
              <a:ext uri="{FF2B5EF4-FFF2-40B4-BE49-F238E27FC236}">
                <a16:creationId xmlns:a16="http://schemas.microsoft.com/office/drawing/2014/main" id="{87B723C3-D929-4B4B-ACDC-294EE2A0A3AA}"/>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InvoiceAI capstone course</a:t>
            </a:r>
          </a:p>
        </p:txBody>
      </p:sp>
      <p:sp>
        <p:nvSpPr>
          <p:cNvPr id="4" name="page">
            <a:extLst xmlns:a="http://schemas.openxmlformats.org/drawingml/2006/main">
              <a:ext uri="{FF2B5EF4-FFF2-40B4-BE49-F238E27FC236}">
                <a16:creationId xmlns:a16="http://schemas.microsoft.com/office/drawing/2014/main" id="{90F798B0-CF30-44C1-984E-A7C8F76070B0}"/>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95</a:t>
            </a:r>
          </a:p>
        </p:txBody>
      </p:sp>
      <p:graphicFrame>
        <p:nvGraphicFramePr>
          <p:cNvPr id="5" name="">
            <a:extLst xmlns:a="http://schemas.openxmlformats.org/drawingml/2006/main">
              <a:ext uri="{FF2B5EF4-FFF2-40B4-BE49-F238E27FC236}">
                <a16:creationId xmlns:a16="http://schemas.microsoft.com/office/drawing/2014/main" id="{9B10E4C7-1704-4906-B3A6-C9E1770194C9}"/>
              </a:ext>
            </a:extLst>
          </p:cNvPr>
          <p:cNvGraphicFramePr/>
          <p:nvPr/>
        </p:nvGraphicFramePr>
        <p:xfrm>
          <a:off xmlns:a="http://schemas.openxmlformats.org/drawingml/2006/main" x="685800" y="1809750"/>
          <a:ext xmlns:a="http://schemas.openxmlformats.org/drawingml/2006/main" cx="10820400" cy="4440936"/>
        </p:xfrm>
        <a:graphic xmlns:a="http://schemas.openxmlformats.org/drawingml/2006/main">
          <a:graphicData uri="http://schemas.openxmlformats.org/drawingml/2006/table">
            <a:tbl>
              <a:tblPr/>
              <a:tblGrid>
                <a:gridCol w="2164080"/>
                <a:gridCol w="5193792"/>
                <a:gridCol w="3462528"/>
              </a:tblGrid>
              <a:tr h="552450">
                <a:tc>
                  <a:txBody>
                    <a:bodyPr/>
                    <a:lstStyle/>
                    <a:p>
                      <a:r>
                        <a:rPr sz="1725" b="1">
                          <a:solidFill>
                            <a:srgbClr val="FFFFFF"/>
                          </a:solidFill>
                          <a:latin typeface="Segoe UI"/>
                          <a:ea typeface="Segoe UI"/>
                          <a:cs typeface="Segoe UI"/>
                        </a:rPr>
                        <a:t>Concern</a:t>
                      </a:r>
                    </a:p>
                  </a:txBody>
                  <a:tcPr marL="133350" marR="133350" marT="114300" marB="95250" anchor="t">
                    <a:lnL w="5715">
                      <a:solidFill>
                        <a:srgbClr val="DCE5EA"/>
                      </a:solidFill>
                      <a:prstDash val="solid"/>
                    </a:lnL>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Start here</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c>
                  <a:txBody>
                    <a:bodyPr/>
                    <a:lstStyle/>
                    <a:p>
                      <a:r>
                        <a:rPr sz="1725" b="1">
                          <a:solidFill>
                            <a:srgbClr val="FFFFFF"/>
                          </a:solidFill>
                          <a:latin typeface="Segoe UI"/>
                          <a:ea typeface="Segoe UI"/>
                          <a:cs typeface="Segoe UI"/>
                        </a:rPr>
                        <a:t>Teaching purpose</a:t>
                      </a:r>
                    </a:p>
                  </a:txBody>
                  <a:tcPr marL="133350" marR="133350" marT="114300" marB="95250" anchor="t">
                    <a:lnR w="5715">
                      <a:solidFill>
                        <a:srgbClr val="DCE5EA"/>
                      </a:solidFill>
                      <a:prstDash val="solid"/>
                    </a:lnR>
                    <a:lnT w="5715">
                      <a:solidFill>
                        <a:srgbClr val="DCE5EA"/>
                      </a:solidFill>
                      <a:prstDash val="solid"/>
                    </a:lnT>
                    <a:lnB w="5715">
                      <a:solidFill>
                        <a:srgbClr val="DCE5EA"/>
                      </a:solidFill>
                      <a:prstDash val="solid"/>
                    </a:lnB>
                    <a:solidFill>
                      <a:srgbClr val="112C43"/>
                    </a:solidFill>
                  </a:tcPr>
                </a:tc>
              </a:tr>
              <a:tr h="590550">
                <a:tc>
                  <a:txBody>
                    <a:bodyPr/>
                    <a:lstStyle/>
                    <a:p>
                      <a:r>
                        <a:rPr sz="1725" b="0">
                          <a:solidFill>
                            <a:srgbClr val="34495B"/>
                          </a:solidFill>
                          <a:latin typeface="Segoe UI"/>
                          <a:ea typeface="Segoe UI"/>
                          <a:cs typeface="Segoe UI"/>
                        </a:rPr>
                        <a:t>Entry</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AiEndpoints.cs</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HTTP boundary and envelope</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590550">
                <a:tc>
                  <a:txBody>
                    <a:bodyPr/>
                    <a:lstStyle/>
                    <a:p>
                      <a:r>
                        <a:rPr sz="1725" b="0">
                          <a:solidFill>
                            <a:srgbClr val="34495B"/>
                          </a:solidFill>
                          <a:latin typeface="Segoe UI"/>
                          <a:ea typeface="Segoe UI"/>
                          <a:cs typeface="Segoe UI"/>
                        </a:rPr>
                        <a:t>Orchestration</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AgentCoordinator.cs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History, routing, and evaluation</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r h="763143">
                <a:tc>
                  <a:txBody>
                    <a:bodyPr/>
                    <a:lstStyle/>
                    <a:p>
                      <a:r>
                        <a:rPr sz="1725" b="0">
                          <a:solidFill>
                            <a:srgbClr val="34495B"/>
                          </a:solidFill>
                          <a:latin typeface="Segoe UI"/>
                          <a:ea typeface="Segoe UI"/>
                          <a:cs typeface="Segoe UI"/>
                        </a:rPr>
                        <a:t>Runtime</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BaseAgent.cs and DependencyInjection.cs</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Identify the framework migration seam</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763143">
                <a:tc>
                  <a:txBody>
                    <a:bodyPr/>
                    <a:lstStyle/>
                    <a:p>
                      <a:r>
                        <a:rPr sz="1725" b="0">
                          <a:solidFill>
                            <a:srgbClr val="34495B"/>
                          </a:solidFill>
                          <a:latin typeface="Segoe UI"/>
                          <a:ea typeface="Segoe UI"/>
                          <a:cs typeface="Segoe UI"/>
                        </a:rPr>
                        <a:t>Capabilities</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InvoiceTools.cs and CustomerTools.cs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Function contracts and write exposure</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r h="590550">
                <a:tc>
                  <a:txBody>
                    <a:bodyPr/>
                    <a:lstStyle/>
                    <a:p>
                      <a:r>
                        <a:rPr sz="1725" b="0">
                          <a:solidFill>
                            <a:srgbClr val="34495B"/>
                          </a:solidFill>
                          <a:latin typeface="Segoe UI"/>
                          <a:ea typeface="Segoe UI"/>
                          <a:cs typeface="Segoe UI"/>
                        </a:rPr>
                        <a:t>Rules</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Invoice.cs and command handlers</a:t>
                      </a:r>
                    </a:p>
                  </a:txBody>
                  <a:tcPr marL="133350" marR="133350" marT="114300" marB="95250" anchor="t">
                    <a:lnR w="5715">
                      <a:solidFill>
                        <a:srgbClr val="DCE5EA"/>
                      </a:solidFill>
                      <a:prstDash val="solid"/>
                    </a:lnR>
                    <a:lnB w="5715">
                      <a:solidFill>
                        <a:srgbClr val="DCE5EA"/>
                      </a:solidFill>
                      <a:prstDash val="solid"/>
                    </a:lnB>
                    <a:solidFill>
                      <a:srgbClr val="EAF1F3"/>
                    </a:solidFill>
                  </a:tcPr>
                </a:tc>
                <a:tc>
                  <a:txBody>
                    <a:bodyPr/>
                    <a:lstStyle/>
                    <a:p>
                      <a:r>
                        <a:rPr sz="1725" b="0">
                          <a:solidFill>
                            <a:srgbClr val="34495B"/>
                          </a:solidFill>
                          <a:latin typeface="Segoe UI"/>
                          <a:ea typeface="Segoe UI"/>
                          <a:cs typeface="Segoe UI"/>
                        </a:rPr>
                        <a:t>Enforced business invariants</a:t>
                      </a:r>
                    </a:p>
                  </a:txBody>
                  <a:tcPr marL="133350" marR="133350" marT="114300" marB="95250" anchor="t">
                    <a:lnR w="5715">
                      <a:solidFill>
                        <a:srgbClr val="DCE5EA"/>
                      </a:solidFill>
                      <a:prstDash val="solid"/>
                    </a:lnR>
                    <a:lnB w="5715">
                      <a:solidFill>
                        <a:srgbClr val="DCE5EA"/>
                      </a:solidFill>
                      <a:prstDash val="solid"/>
                    </a:lnB>
                    <a:solidFill>
                      <a:srgbClr val="EAF1F3"/>
                    </a:solidFill>
                  </a:tcPr>
                </a:tc>
              </a:tr>
              <a:tr h="590550">
                <a:tc>
                  <a:txBody>
                    <a:bodyPr/>
                    <a:lstStyle/>
                    <a:p>
                      <a:r>
                        <a:rPr sz="1725" b="0">
                          <a:solidFill>
                            <a:srgbClr val="34495B"/>
                          </a:solidFill>
                          <a:latin typeface="Segoe UI"/>
                          <a:ea typeface="Segoe UI"/>
                          <a:cs typeface="Segoe UI"/>
                        </a:rPr>
                        <a:t>Evidence</a:t>
                      </a:r>
                    </a:p>
                  </a:txBody>
                  <a:tcPr marL="133350" marR="133350" marT="114300" marB="95250" anchor="t">
                    <a:lnL w="5715">
                      <a:solidFill>
                        <a:srgbClr val="DCE5EA"/>
                      </a:solidFill>
                      <a:prstDash val="solid"/>
                    </a:lnL>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Read repositories and AiTests.cs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c>
                  <a:txBody>
                    <a:bodyPr/>
                    <a:lstStyle/>
                    <a:p>
                      <a:r>
                        <a:rPr sz="1725" b="0">
                          <a:solidFill>
                            <a:srgbClr val="34495B"/>
                          </a:solidFill>
                          <a:latin typeface="Segoe UI"/>
                          <a:ea typeface="Segoe UI"/>
                          <a:cs typeface="Segoe UI"/>
                        </a:rPr>
                        <a:t>Metric definitions and test limits</a:t>
                      </a:r>
                    </a:p>
                  </a:txBody>
                  <a:tcPr marL="133350" marR="133350" marT="114300" marB="95250" anchor="t">
                    <a:lnR w="5715">
                      <a:solidFill>
                        <a:srgbClr val="DCE5EA"/>
                      </a:solidFill>
                      <a:prstDash val="solid"/>
                    </a:lnR>
                    <a:lnB w="5715">
                      <a:solidFill>
                        <a:srgbClr val="DCE5EA"/>
                      </a:solidFill>
                      <a:prstDash val="solid"/>
                    </a:lnB>
                    <a:solidFill>
                      <a:srgbClr val="F6F8FA"/>
                    </a:solidFill>
                  </a:tcPr>
                </a:tc>
              </a:tr>
            </a:tbl>
          </a:graphicData>
        </a:graphic>
      </p:graphicFrame>
    </p:spTree>
    <p:extLst>
      <p:ext uri="{BB962C8B-B14F-4D97-AF65-F5344CB8AC3E}">
        <p14:creationId xmlns:p14="http://schemas.microsoft.com/office/powerpoint/2010/main" val="138381241"/>
      </p:ext>
    </p:extLst>
  </p:cSld>
  <p:extLst>
    <p:ext uri="{6950BFC3-D8DA-4A85-94F7-54DA5524770B}">
      <p188:commentRel xmlns:r="http://schemas.openxmlformats.org/officeDocument/2006/relationships" xmlns:p188="http://schemas.microsoft.com/office/powerpoint/2018/8/main" r:id="R13833642575d416a"/>
    </p:ext>
  </p:extLst>
</p:sld>
</file>

<file path=ppt/slides/slide9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047C9748-2567-40F4-9DCF-3A10DCC27F28}"/>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Primary sources</a:t>
            </a:r>
          </a:p>
        </p:txBody>
      </p:sp>
      <p:sp>
        <p:nvSpPr>
          <p:cNvPr id="2" name="title">
            <a:extLst xmlns:a="http://schemas.openxmlformats.org/drawingml/2006/main">
              <a:ext uri="{FF2B5EF4-FFF2-40B4-BE49-F238E27FC236}">
                <a16:creationId xmlns:a16="http://schemas.microsoft.com/office/drawing/2014/main" id="{FFDE9D99-6E46-4757-9383-16EFADC85CC1}"/>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References: runtime and application integration</a:t>
            </a:r>
          </a:p>
        </p:txBody>
      </p:sp>
      <p:sp>
        <p:nvSpPr>
          <p:cNvPr id="3" name="footer">
            <a:extLst xmlns:a="http://schemas.openxmlformats.org/drawingml/2006/main">
              <a:ext uri="{FF2B5EF4-FFF2-40B4-BE49-F238E27FC236}">
                <a16:creationId xmlns:a16="http://schemas.microsoft.com/office/drawing/2014/main" id="{B1CC4672-906A-4B1A-B546-9E3B20F04058}"/>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InvoiceAI capstone course</a:t>
            </a:r>
          </a:p>
        </p:txBody>
      </p:sp>
      <p:sp>
        <p:nvSpPr>
          <p:cNvPr id="4" name="page">
            <a:extLst xmlns:a="http://schemas.openxmlformats.org/drawingml/2006/main">
              <a:ext uri="{FF2B5EF4-FFF2-40B4-BE49-F238E27FC236}">
                <a16:creationId xmlns:a16="http://schemas.microsoft.com/office/drawing/2014/main" id="{A933E90C-8B38-4629-A81C-42B0072A99FF}"/>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96</a:t>
            </a:r>
          </a:p>
        </p:txBody>
      </p:sp>
      <p:sp>
        <p:nvSpPr>
          <p:cNvPr id="5" name="label-0">
            <a:extLst xmlns:a="http://schemas.openxmlformats.org/drawingml/2006/main">
              <a:ext uri="{FF2B5EF4-FFF2-40B4-BE49-F238E27FC236}">
                <a16:creationId xmlns:a16="http://schemas.microsoft.com/office/drawing/2014/main" id="{EABDEECE-490E-4074-B896-32E5188249A2}"/>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Framework</a:t>
            </a:r>
          </a:p>
        </p:txBody>
      </p:sp>
      <p:sp>
        <p:nvSpPr>
          <p:cNvPr id="6" name="point-0">
            <a:extLst xmlns:a="http://schemas.openxmlformats.org/drawingml/2006/main">
              <a:ext uri="{FF2B5EF4-FFF2-40B4-BE49-F238E27FC236}">
                <a16:creationId xmlns:a16="http://schemas.microsoft.com/office/drawing/2014/main" id="{27CF6D6F-5B25-471D-B933-776F04497702}"/>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Overview, provider adapters, AIAgent, sessions, and structured outputs.</a:t>
            </a:r>
          </a:p>
        </p:txBody>
      </p:sp>
      <p:sp>
        <p:nvSpPr>
          <p:cNvPr id="7" name="label-1">
            <a:extLst xmlns:a="http://schemas.openxmlformats.org/drawingml/2006/main">
              <a:ext uri="{FF2B5EF4-FFF2-40B4-BE49-F238E27FC236}">
                <a16:creationId xmlns:a16="http://schemas.microsoft.com/office/drawing/2014/main" id="{65138CC1-1520-4D4C-8ACA-EEF2C64DC4CA}"/>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Application</a:t>
            </a:r>
          </a:p>
        </p:txBody>
      </p:sp>
      <p:sp>
        <p:nvSpPr>
          <p:cNvPr id="8" name="point-1">
            <a:extLst xmlns:a="http://schemas.openxmlformats.org/drawingml/2006/main">
              <a:ext uri="{FF2B5EF4-FFF2-40B4-BE49-F238E27FC236}">
                <a16:creationId xmlns:a16="http://schemas.microsoft.com/office/drawing/2014/main" id="{D03536C1-7112-4BCB-AB82-D5C6C871501E}"/>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Function tools, middleware, context providers, and retrieval.</a:t>
            </a:r>
          </a:p>
        </p:txBody>
      </p:sp>
      <p:sp>
        <p:nvSpPr>
          <p:cNvPr id="9" name="label-2">
            <a:extLst xmlns:a="http://schemas.openxmlformats.org/drawingml/2006/main">
              <a:ext uri="{FF2B5EF4-FFF2-40B4-BE49-F238E27FC236}">
                <a16:creationId xmlns:a16="http://schemas.microsoft.com/office/drawing/2014/main" id="{9394F5C4-69D2-4C4D-A9A8-E747891F9B76}"/>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Course baseline</a:t>
            </a:r>
          </a:p>
        </p:txBody>
      </p:sp>
      <p:sp>
        <p:nvSpPr>
          <p:cNvPr id="10" name="point-2">
            <a:extLst xmlns:a="http://schemas.openxmlformats.org/drawingml/2006/main">
              <a:ext uri="{FF2B5EF4-FFF2-40B4-BE49-F238E27FC236}">
                <a16:creationId xmlns:a16="http://schemas.microsoft.com/office/drawing/2014/main" id="{F71B9896-DB34-42D3-AD7E-7E9866AEA092}"/>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Microsoft Learn references checked on 17 October 2026.</a:t>
            </a:r>
          </a:p>
        </p:txBody>
      </p:sp>
      <p:sp>
        <p:nvSpPr>
          <p:cNvPr id="11" name="label-3">
            <a:extLst xmlns:a="http://schemas.openxmlformats.org/drawingml/2006/main">
              <a:ext uri="{FF2B5EF4-FFF2-40B4-BE49-F238E27FC236}">
                <a16:creationId xmlns:a16="http://schemas.microsoft.com/office/drawing/2014/main" id="{B4BA3F8C-D377-4227-991D-815E49E9D281}"/>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Implementation</a:t>
            </a:r>
          </a:p>
        </p:txBody>
      </p:sp>
      <p:sp>
        <p:nvSpPr>
          <p:cNvPr id="12" name="point-3">
            <a:extLst xmlns:a="http://schemas.openxmlformats.org/drawingml/2006/main">
              <a:ext uri="{FF2B5EF4-FFF2-40B4-BE49-F238E27FC236}">
                <a16:creationId xmlns:a16="http://schemas.microsoft.com/office/drawing/2014/main" id="{D2B6DC59-2C40-47F6-BBB1-43533C7422AA}"/>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Exact documentation URLs and repository locations are in slide notes.</a:t>
            </a:r>
          </a:p>
        </p:txBody>
      </p:sp>
    </p:spTree>
    <p:extLst>
      <p:ext uri="{BB962C8B-B14F-4D97-AF65-F5344CB8AC3E}">
        <p14:creationId xmlns:p14="http://schemas.microsoft.com/office/powerpoint/2010/main" val="502610595"/>
      </p:ext>
    </p:extLst>
  </p:cSld>
  <p:extLst>
    <p:ext uri="{6950BFC3-D8DA-4A85-94F7-54DA5524770B}">
      <p188:commentRel xmlns:r="http://schemas.openxmlformats.org/officeDocument/2006/relationships" xmlns:p188="http://schemas.microsoft.com/office/powerpoint/2018/8/main" r:id="R8420b53d8f8b4cfb"/>
    </p:ext>
  </p:extLst>
</p:sld>
</file>

<file path=ppt/slides/slide9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3" name="context">
            <a:extLst xmlns:a="http://schemas.openxmlformats.org/drawingml/2006/main">
              <a:ext uri="{FF2B5EF4-FFF2-40B4-BE49-F238E27FC236}">
                <a16:creationId xmlns:a16="http://schemas.microsoft.com/office/drawing/2014/main" id="{997E7F8E-CF61-42AF-99B5-38071604975C}"/>
              </a:ext>
            </a:extLst>
          </p:cNvPr>
          <p:cNvSpPr>
            <a:spLocks xmlns:a="http://schemas.openxmlformats.org/drawingml/2006/main" noGrp="1"/>
          </p:cNvSpPr>
          <p:nvPr/>
        </p:nvSpPr>
        <p:spPr>
          <a:xfrm xmlns:a="http://schemas.openxmlformats.org/drawingml/2006/main">
            <a:off x="685800" y="2667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F83"/>
                </a:solidFill>
                <a:latin typeface="Segoe UI"/>
                <a:ea typeface="Segoe UI"/>
                <a:cs typeface="Segoe UI"/>
              </a:defRPr>
            </a:defPPr>
            <a:lvl1pPr algn="l">
              <a:defRPr sz="1200" b="1">
                <a:solidFill>
                  <a:srgbClr val="007F83"/>
                </a:solidFill>
                <a:latin typeface="Segoe UI"/>
                <a:ea typeface="Segoe UI"/>
                <a:cs typeface="Segoe UI"/>
              </a:defRPr>
            </a:lvl1pPr>
            <a:lvl2pPr algn="l">
              <a:defRPr sz="1200" b="1">
                <a:solidFill>
                  <a:srgbClr val="007F83"/>
                </a:solidFill>
                <a:latin typeface="Segoe UI"/>
                <a:ea typeface="Segoe UI"/>
                <a:cs typeface="Segoe UI"/>
              </a:defRPr>
            </a:lvl2pPr>
            <a:lvl3pPr algn="l">
              <a:defRPr sz="1200" b="1">
                <a:solidFill>
                  <a:srgbClr val="007F83"/>
                </a:solidFill>
                <a:latin typeface="Segoe UI"/>
                <a:ea typeface="Segoe UI"/>
                <a:cs typeface="Segoe UI"/>
              </a:defRPr>
            </a:lvl3pPr>
            <a:lvl4pPr algn="l">
              <a:defRPr sz="1200" b="1">
                <a:solidFill>
                  <a:srgbClr val="007F83"/>
                </a:solidFill>
                <a:latin typeface="Segoe UI"/>
                <a:ea typeface="Segoe UI"/>
                <a:cs typeface="Segoe UI"/>
              </a:defRPr>
            </a:lvl4pPr>
            <a:lvl5pPr algn="l">
              <a:defRPr sz="1200" b="1">
                <a:solidFill>
                  <a:srgbClr val="007F83"/>
                </a:solidFill>
                <a:latin typeface="Segoe UI"/>
                <a:ea typeface="Segoe UI"/>
                <a:cs typeface="Segoe UI"/>
              </a:defRPr>
            </a:lvl5pPr>
            <a:lvl6pPr algn="l">
              <a:defRPr sz="1200" b="1">
                <a:solidFill>
                  <a:srgbClr val="007F83"/>
                </a:solidFill>
                <a:latin typeface="Segoe UI"/>
                <a:ea typeface="Segoe UI"/>
                <a:cs typeface="Segoe UI"/>
              </a:defRPr>
            </a:lvl6pPr>
            <a:lvl7pPr algn="l">
              <a:defRPr sz="1200" b="1">
                <a:solidFill>
                  <a:srgbClr val="007F83"/>
                </a:solidFill>
                <a:latin typeface="Segoe UI"/>
                <a:ea typeface="Segoe UI"/>
                <a:cs typeface="Segoe UI"/>
              </a:defRPr>
            </a:lvl7pPr>
            <a:lvl8pPr algn="l">
              <a:defRPr sz="1200" b="1">
                <a:solidFill>
                  <a:srgbClr val="007F83"/>
                </a:solidFill>
                <a:latin typeface="Segoe UI"/>
                <a:ea typeface="Segoe UI"/>
                <a:cs typeface="Segoe UI"/>
              </a:defRPr>
            </a:lvl8pPr>
            <a:lvl9pPr algn="l">
              <a:defRPr sz="1200" b="1">
                <a:solidFill>
                  <a:srgbClr val="007F83"/>
                </a:solidFill>
                <a:latin typeface="Segoe UI"/>
                <a:ea typeface="Segoe UI"/>
                <a:cs typeface="Segoe UI"/>
              </a:defRPr>
            </a:lvl9pPr>
          </a:lstStyle>
          <a:p xmlns:a="http://schemas.openxmlformats.org/drawingml/2006/main">
            <a:pPr algn="l">
              <a:defRPr sz="1200" b="1">
                <a:solidFill>
                  <a:srgbClr val="007F83"/>
                </a:solidFill>
                <a:latin typeface="Segoe UI"/>
                <a:ea typeface="Segoe UI"/>
                <a:cs typeface="Segoe UI"/>
              </a:defRPr>
            </a:pPr>
            <a:r>
              <a:rPr sz="1200" b="1">
                <a:solidFill>
                  <a:srgbClr val="007F83"/>
                </a:solidFill>
                <a:latin typeface="Segoe UI"/>
                <a:ea typeface="Segoe UI"/>
                <a:cs typeface="Segoe UI"/>
              </a:rPr>
              <a:t>Primary sources</a:t>
            </a:r>
          </a:p>
        </p:txBody>
      </p:sp>
      <p:sp>
        <p:nvSpPr>
          <p:cNvPr id="2" name="title">
            <a:extLst xmlns:a="http://schemas.openxmlformats.org/drawingml/2006/main">
              <a:ext uri="{FF2B5EF4-FFF2-40B4-BE49-F238E27FC236}">
                <a16:creationId xmlns:a16="http://schemas.microsoft.com/office/drawing/2014/main" id="{B65C4A15-DE06-4FE4-9438-F3613F31F8DB}"/>
              </a:ext>
            </a:extLst>
          </p:cNvPr>
          <p:cNvSpPr>
            <a:spLocks xmlns:a="http://schemas.openxmlformats.org/drawingml/2006/main" noGrp="1"/>
          </p:cNvSpPr>
          <p:nvPr/>
        </p:nvSpPr>
        <p:spPr>
          <a:xfrm xmlns:a="http://schemas.openxmlformats.org/drawingml/2006/main">
            <a:off x="685800" y="6858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2C43"/>
                </a:solidFill>
                <a:latin typeface="Segoe UI"/>
                <a:ea typeface="Segoe UI"/>
                <a:cs typeface="Segoe UI"/>
              </a:defRPr>
            </a:defPPr>
            <a:lvl1pPr algn="l">
              <a:defRPr sz="3300" b="1">
                <a:solidFill>
                  <a:srgbClr val="112C43"/>
                </a:solidFill>
                <a:latin typeface="Segoe UI"/>
                <a:ea typeface="Segoe UI"/>
                <a:cs typeface="Segoe UI"/>
              </a:defRPr>
            </a:lvl1pPr>
            <a:lvl2pPr algn="l">
              <a:defRPr sz="3300" b="1">
                <a:solidFill>
                  <a:srgbClr val="112C43"/>
                </a:solidFill>
                <a:latin typeface="Segoe UI"/>
                <a:ea typeface="Segoe UI"/>
                <a:cs typeface="Segoe UI"/>
              </a:defRPr>
            </a:lvl2pPr>
            <a:lvl3pPr algn="l">
              <a:defRPr sz="3300" b="1">
                <a:solidFill>
                  <a:srgbClr val="112C43"/>
                </a:solidFill>
                <a:latin typeface="Segoe UI"/>
                <a:ea typeface="Segoe UI"/>
                <a:cs typeface="Segoe UI"/>
              </a:defRPr>
            </a:lvl3pPr>
            <a:lvl4pPr algn="l">
              <a:defRPr sz="3300" b="1">
                <a:solidFill>
                  <a:srgbClr val="112C43"/>
                </a:solidFill>
                <a:latin typeface="Segoe UI"/>
                <a:ea typeface="Segoe UI"/>
                <a:cs typeface="Segoe UI"/>
              </a:defRPr>
            </a:lvl4pPr>
            <a:lvl5pPr algn="l">
              <a:defRPr sz="3300" b="1">
                <a:solidFill>
                  <a:srgbClr val="112C43"/>
                </a:solidFill>
                <a:latin typeface="Segoe UI"/>
                <a:ea typeface="Segoe UI"/>
                <a:cs typeface="Segoe UI"/>
              </a:defRPr>
            </a:lvl5pPr>
            <a:lvl6pPr algn="l">
              <a:defRPr sz="3300" b="1">
                <a:solidFill>
                  <a:srgbClr val="112C43"/>
                </a:solidFill>
                <a:latin typeface="Segoe UI"/>
                <a:ea typeface="Segoe UI"/>
                <a:cs typeface="Segoe UI"/>
              </a:defRPr>
            </a:lvl6pPr>
            <a:lvl7pPr algn="l">
              <a:defRPr sz="3300" b="1">
                <a:solidFill>
                  <a:srgbClr val="112C43"/>
                </a:solidFill>
                <a:latin typeface="Segoe UI"/>
                <a:ea typeface="Segoe UI"/>
                <a:cs typeface="Segoe UI"/>
              </a:defRPr>
            </a:lvl7pPr>
            <a:lvl8pPr algn="l">
              <a:defRPr sz="3300" b="1">
                <a:solidFill>
                  <a:srgbClr val="112C43"/>
                </a:solidFill>
                <a:latin typeface="Segoe UI"/>
                <a:ea typeface="Segoe UI"/>
                <a:cs typeface="Segoe UI"/>
              </a:defRPr>
            </a:lvl8pPr>
            <a:lvl9pPr algn="l">
              <a:defRPr sz="3300" b="1">
                <a:solidFill>
                  <a:srgbClr val="112C43"/>
                </a:solidFill>
                <a:latin typeface="Segoe UI"/>
                <a:ea typeface="Segoe UI"/>
                <a:cs typeface="Segoe UI"/>
              </a:defRPr>
            </a:lvl9pPr>
          </a:lstStyle>
          <a:p xmlns:a="http://schemas.openxmlformats.org/drawingml/2006/main">
            <a:pPr algn="l">
              <a:defRPr sz="3300" b="1">
                <a:solidFill>
                  <a:srgbClr val="112C43"/>
                </a:solidFill>
                <a:latin typeface="Segoe UI"/>
                <a:ea typeface="Segoe UI"/>
                <a:cs typeface="Segoe UI"/>
              </a:defRPr>
            </a:pPr>
            <a:r>
              <a:rPr sz="3300" b="1">
                <a:solidFill>
                  <a:srgbClr val="112C43"/>
                </a:solidFill>
                <a:latin typeface="Segoe UI"/>
                <a:ea typeface="Segoe UI"/>
                <a:cs typeface="Segoe UI"/>
              </a:rPr>
              <a:t>References: orchestration and production</a:t>
            </a:r>
          </a:p>
        </p:txBody>
      </p:sp>
      <p:sp>
        <p:nvSpPr>
          <p:cNvPr id="3" name="footer">
            <a:extLst xmlns:a="http://schemas.openxmlformats.org/drawingml/2006/main">
              <a:ext uri="{FF2B5EF4-FFF2-40B4-BE49-F238E27FC236}">
                <a16:creationId xmlns:a16="http://schemas.microsoft.com/office/drawing/2014/main" id="{CC7E02AE-2CE3-4575-98A0-2459D17BD75D}"/>
              </a:ext>
            </a:extLst>
          </p:cNvPr>
          <p:cNvSpPr>
            <a:spLocks xmlns:a="http://schemas.openxmlformats.org/drawingml/2006/main" noGrp="1"/>
          </p:cNvSpPr>
          <p:nvPr/>
        </p:nvSpPr>
        <p:spPr>
          <a:xfrm xmlns:a="http://schemas.openxmlformats.org/drawingml/2006/main">
            <a:off x="685800" y="64579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384"/>
                </a:solidFill>
                <a:latin typeface="Segoe UI"/>
                <a:ea typeface="Segoe UI"/>
                <a:cs typeface="Segoe UI"/>
              </a:defRPr>
            </a:defPPr>
            <a:lvl1pPr algn="l">
              <a:defRPr sz="1050" b="0">
                <a:solidFill>
                  <a:srgbClr val="617384"/>
                </a:solidFill>
                <a:latin typeface="Segoe UI"/>
                <a:ea typeface="Segoe UI"/>
                <a:cs typeface="Segoe UI"/>
              </a:defRPr>
            </a:lvl1pPr>
            <a:lvl2pPr algn="l">
              <a:defRPr sz="1050" b="0">
                <a:solidFill>
                  <a:srgbClr val="617384"/>
                </a:solidFill>
                <a:latin typeface="Segoe UI"/>
                <a:ea typeface="Segoe UI"/>
                <a:cs typeface="Segoe UI"/>
              </a:defRPr>
            </a:lvl2pPr>
            <a:lvl3pPr algn="l">
              <a:defRPr sz="1050" b="0">
                <a:solidFill>
                  <a:srgbClr val="617384"/>
                </a:solidFill>
                <a:latin typeface="Segoe UI"/>
                <a:ea typeface="Segoe UI"/>
                <a:cs typeface="Segoe UI"/>
              </a:defRPr>
            </a:lvl3pPr>
            <a:lvl4pPr algn="l">
              <a:defRPr sz="1050" b="0">
                <a:solidFill>
                  <a:srgbClr val="617384"/>
                </a:solidFill>
                <a:latin typeface="Segoe UI"/>
                <a:ea typeface="Segoe UI"/>
                <a:cs typeface="Segoe UI"/>
              </a:defRPr>
            </a:lvl4pPr>
            <a:lvl5pPr algn="l">
              <a:defRPr sz="1050" b="0">
                <a:solidFill>
                  <a:srgbClr val="617384"/>
                </a:solidFill>
                <a:latin typeface="Segoe UI"/>
                <a:ea typeface="Segoe UI"/>
                <a:cs typeface="Segoe UI"/>
              </a:defRPr>
            </a:lvl5pPr>
            <a:lvl6pPr algn="l">
              <a:defRPr sz="1050" b="0">
                <a:solidFill>
                  <a:srgbClr val="617384"/>
                </a:solidFill>
                <a:latin typeface="Segoe UI"/>
                <a:ea typeface="Segoe UI"/>
                <a:cs typeface="Segoe UI"/>
              </a:defRPr>
            </a:lvl6pPr>
            <a:lvl7pPr algn="l">
              <a:defRPr sz="1050" b="0">
                <a:solidFill>
                  <a:srgbClr val="617384"/>
                </a:solidFill>
                <a:latin typeface="Segoe UI"/>
                <a:ea typeface="Segoe UI"/>
                <a:cs typeface="Segoe UI"/>
              </a:defRPr>
            </a:lvl7pPr>
            <a:lvl8pPr algn="l">
              <a:defRPr sz="1050" b="0">
                <a:solidFill>
                  <a:srgbClr val="617384"/>
                </a:solidFill>
                <a:latin typeface="Segoe UI"/>
                <a:ea typeface="Segoe UI"/>
                <a:cs typeface="Segoe UI"/>
              </a:defRPr>
            </a:lvl8pPr>
            <a:lvl9pPr algn="l">
              <a:defRPr sz="1050" b="0">
                <a:solidFill>
                  <a:srgbClr val="617384"/>
                </a:solidFill>
                <a:latin typeface="Segoe UI"/>
                <a:ea typeface="Segoe UI"/>
                <a:cs typeface="Segoe UI"/>
              </a:defRPr>
            </a:lvl9pPr>
          </a:lstStyle>
          <a:p xmlns:a="http://schemas.openxmlformats.org/drawingml/2006/main">
            <a:pPr algn="l">
              <a:defRPr sz="1050" b="0">
                <a:solidFill>
                  <a:srgbClr val="617384"/>
                </a:solidFill>
                <a:latin typeface="Segoe UI"/>
                <a:ea typeface="Segoe UI"/>
                <a:cs typeface="Segoe UI"/>
              </a:defRPr>
            </a:pPr>
            <a:r>
              <a:rPr sz="1050" b="0">
                <a:solidFill>
                  <a:srgbClr val="617384"/>
                </a:solidFill>
                <a:latin typeface="Segoe UI"/>
                <a:ea typeface="Segoe UI"/>
                <a:cs typeface="Segoe UI"/>
              </a:rPr>
              <a:t>InvoiceAI capstone course</a:t>
            </a:r>
          </a:p>
        </p:txBody>
      </p:sp>
      <p:sp>
        <p:nvSpPr>
          <p:cNvPr id="4" name="page">
            <a:extLst xmlns:a="http://schemas.openxmlformats.org/drawingml/2006/main">
              <a:ext uri="{FF2B5EF4-FFF2-40B4-BE49-F238E27FC236}">
                <a16:creationId xmlns:a16="http://schemas.microsoft.com/office/drawing/2014/main" id="{5E74B581-D4E7-4DDE-B0FE-BACE796B6355}"/>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617384"/>
                </a:solidFill>
                <a:latin typeface="Segoe UI"/>
                <a:ea typeface="Segoe UI"/>
                <a:cs typeface="Segoe UI"/>
              </a:defRPr>
            </a:defPPr>
            <a:lvl1pPr algn="r">
              <a:defRPr sz="1050" b="0">
                <a:solidFill>
                  <a:srgbClr val="617384"/>
                </a:solidFill>
                <a:latin typeface="Segoe UI"/>
                <a:ea typeface="Segoe UI"/>
                <a:cs typeface="Segoe UI"/>
              </a:defRPr>
            </a:lvl1pPr>
            <a:lvl2pPr algn="r">
              <a:defRPr sz="1050" b="0">
                <a:solidFill>
                  <a:srgbClr val="617384"/>
                </a:solidFill>
                <a:latin typeface="Segoe UI"/>
                <a:ea typeface="Segoe UI"/>
                <a:cs typeface="Segoe UI"/>
              </a:defRPr>
            </a:lvl2pPr>
            <a:lvl3pPr algn="r">
              <a:defRPr sz="1050" b="0">
                <a:solidFill>
                  <a:srgbClr val="617384"/>
                </a:solidFill>
                <a:latin typeface="Segoe UI"/>
                <a:ea typeface="Segoe UI"/>
                <a:cs typeface="Segoe UI"/>
              </a:defRPr>
            </a:lvl3pPr>
            <a:lvl4pPr algn="r">
              <a:defRPr sz="1050" b="0">
                <a:solidFill>
                  <a:srgbClr val="617384"/>
                </a:solidFill>
                <a:latin typeface="Segoe UI"/>
                <a:ea typeface="Segoe UI"/>
                <a:cs typeface="Segoe UI"/>
              </a:defRPr>
            </a:lvl4pPr>
            <a:lvl5pPr algn="r">
              <a:defRPr sz="1050" b="0">
                <a:solidFill>
                  <a:srgbClr val="617384"/>
                </a:solidFill>
                <a:latin typeface="Segoe UI"/>
                <a:ea typeface="Segoe UI"/>
                <a:cs typeface="Segoe UI"/>
              </a:defRPr>
            </a:lvl5pPr>
            <a:lvl6pPr algn="r">
              <a:defRPr sz="1050" b="0">
                <a:solidFill>
                  <a:srgbClr val="617384"/>
                </a:solidFill>
                <a:latin typeface="Segoe UI"/>
                <a:ea typeface="Segoe UI"/>
                <a:cs typeface="Segoe UI"/>
              </a:defRPr>
            </a:lvl6pPr>
            <a:lvl7pPr algn="r">
              <a:defRPr sz="1050" b="0">
                <a:solidFill>
                  <a:srgbClr val="617384"/>
                </a:solidFill>
                <a:latin typeface="Segoe UI"/>
                <a:ea typeface="Segoe UI"/>
                <a:cs typeface="Segoe UI"/>
              </a:defRPr>
            </a:lvl7pPr>
            <a:lvl8pPr algn="r">
              <a:defRPr sz="1050" b="0">
                <a:solidFill>
                  <a:srgbClr val="617384"/>
                </a:solidFill>
                <a:latin typeface="Segoe UI"/>
                <a:ea typeface="Segoe UI"/>
                <a:cs typeface="Segoe UI"/>
              </a:defRPr>
            </a:lvl8pPr>
            <a:lvl9pPr algn="r">
              <a:defRPr sz="1050" b="0">
                <a:solidFill>
                  <a:srgbClr val="617384"/>
                </a:solidFill>
                <a:latin typeface="Segoe UI"/>
                <a:ea typeface="Segoe UI"/>
                <a:cs typeface="Segoe UI"/>
              </a:defRPr>
            </a:lvl9pPr>
          </a:lstStyle>
          <a:p xmlns:a="http://schemas.openxmlformats.org/drawingml/2006/main">
            <a:pPr algn="r">
              <a:defRPr sz="1050" b="0">
                <a:solidFill>
                  <a:srgbClr val="617384"/>
                </a:solidFill>
                <a:latin typeface="Segoe UI"/>
                <a:ea typeface="Segoe UI"/>
                <a:cs typeface="Segoe UI"/>
              </a:defRPr>
            </a:pPr>
            <a:r>
              <a:rPr sz="1050" b="0">
                <a:solidFill>
                  <a:srgbClr val="617384"/>
                </a:solidFill>
                <a:latin typeface="Segoe UI"/>
                <a:ea typeface="Segoe UI"/>
                <a:cs typeface="Segoe UI"/>
              </a:rPr>
              <a:t>97</a:t>
            </a:r>
          </a:p>
        </p:txBody>
      </p:sp>
      <p:sp>
        <p:nvSpPr>
          <p:cNvPr id="5" name="label-0">
            <a:extLst xmlns:a="http://schemas.openxmlformats.org/drawingml/2006/main">
              <a:ext uri="{FF2B5EF4-FFF2-40B4-BE49-F238E27FC236}">
                <a16:creationId xmlns:a16="http://schemas.microsoft.com/office/drawing/2014/main" id="{13204189-A021-482E-ACAB-4CCA8A2940D9}"/>
              </a:ext>
            </a:extLst>
          </p:cNvPr>
          <p:cNvSpPr>
            <a:spLocks xmlns:a="http://schemas.openxmlformats.org/drawingml/2006/main" noGrp="1"/>
          </p:cNvSpPr>
          <p:nvPr/>
        </p:nvSpPr>
        <p:spPr>
          <a:xfrm xmlns:a="http://schemas.openxmlformats.org/drawingml/2006/main">
            <a:off x="685800" y="1952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Orchestration</a:t>
            </a:r>
          </a:p>
        </p:txBody>
      </p:sp>
      <p:sp>
        <p:nvSpPr>
          <p:cNvPr id="6" name="point-0">
            <a:extLst xmlns:a="http://schemas.openxmlformats.org/drawingml/2006/main">
              <a:ext uri="{FF2B5EF4-FFF2-40B4-BE49-F238E27FC236}">
                <a16:creationId xmlns:a16="http://schemas.microsoft.com/office/drawing/2014/main" id="{17BC0C5A-C527-4586-A3A5-E2E44F77516A}"/>
              </a:ext>
            </a:extLst>
          </p:cNvPr>
          <p:cNvSpPr>
            <a:spLocks xmlns:a="http://schemas.openxmlformats.org/drawingml/2006/main" noGrp="1"/>
          </p:cNvSpPr>
          <p:nvPr/>
        </p:nvSpPr>
        <p:spPr>
          <a:xfrm xmlns:a="http://schemas.openxmlformats.org/drawingml/2006/main">
            <a:off x="3333750" y="19526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WorkflowBuilder, patterns, human input, checkpoints, and delegation.</a:t>
            </a:r>
          </a:p>
        </p:txBody>
      </p:sp>
      <p:sp>
        <p:nvSpPr>
          <p:cNvPr id="7" name="label-1">
            <a:extLst xmlns:a="http://schemas.openxmlformats.org/drawingml/2006/main">
              <a:ext uri="{FF2B5EF4-FFF2-40B4-BE49-F238E27FC236}">
                <a16:creationId xmlns:a16="http://schemas.microsoft.com/office/drawing/2014/main" id="{2CA0FEB2-B652-4596-BEB1-BB3CC9FDEED9}"/>
              </a:ext>
            </a:extLst>
          </p:cNvPr>
          <p:cNvSpPr>
            <a:spLocks xmlns:a="http://schemas.openxmlformats.org/drawingml/2006/main" noGrp="1"/>
          </p:cNvSpPr>
          <p:nvPr/>
        </p:nvSpPr>
        <p:spPr>
          <a:xfrm xmlns:a="http://schemas.openxmlformats.org/drawingml/2006/main">
            <a:off x="685800" y="29622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Integration</a:t>
            </a:r>
          </a:p>
        </p:txBody>
      </p:sp>
      <p:sp>
        <p:nvSpPr>
          <p:cNvPr id="8" name="point-1">
            <a:extLst xmlns:a="http://schemas.openxmlformats.org/drawingml/2006/main">
              <a:ext uri="{FF2B5EF4-FFF2-40B4-BE49-F238E27FC236}">
                <a16:creationId xmlns:a16="http://schemas.microsoft.com/office/drawing/2014/main" id="{4C2D20C7-D8CA-4AB7-BB19-775DE8C17C9A}"/>
              </a:ext>
            </a:extLst>
          </p:cNvPr>
          <p:cNvSpPr>
            <a:spLocks xmlns:a="http://schemas.openxmlformats.org/drawingml/2006/main" noGrp="1"/>
          </p:cNvSpPr>
          <p:nvPr/>
        </p:nvSpPr>
        <p:spPr>
          <a:xfrm xmlns:a="http://schemas.openxmlformats.org/drawingml/2006/main">
            <a:off x="3333750" y="29622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MCP, A2A, AG-UI, hosting, and durable execution.</a:t>
            </a:r>
          </a:p>
        </p:txBody>
      </p:sp>
      <p:sp>
        <p:nvSpPr>
          <p:cNvPr id="9" name="label-2">
            <a:extLst xmlns:a="http://schemas.openxmlformats.org/drawingml/2006/main">
              <a:ext uri="{FF2B5EF4-FFF2-40B4-BE49-F238E27FC236}">
                <a16:creationId xmlns:a16="http://schemas.microsoft.com/office/drawing/2014/main" id="{A222D581-45BD-4B35-AD0C-8C2557C1358D}"/>
              </a:ext>
            </a:extLst>
          </p:cNvPr>
          <p:cNvSpPr>
            <a:spLocks xmlns:a="http://schemas.openxmlformats.org/drawingml/2006/main" noGrp="1"/>
          </p:cNvSpPr>
          <p:nvPr/>
        </p:nvSpPr>
        <p:spPr>
          <a:xfrm xmlns:a="http://schemas.openxmlformats.org/drawingml/2006/main">
            <a:off x="685800" y="3971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Production</a:t>
            </a:r>
          </a:p>
        </p:txBody>
      </p:sp>
      <p:sp>
        <p:nvSpPr>
          <p:cNvPr id="10" name="point-2">
            <a:extLst xmlns:a="http://schemas.openxmlformats.org/drawingml/2006/main">
              <a:ext uri="{FF2B5EF4-FFF2-40B4-BE49-F238E27FC236}">
                <a16:creationId xmlns:a16="http://schemas.microsoft.com/office/drawing/2014/main" id="{3790B807-AB00-4711-804F-DDDEFA9C8B49}"/>
              </a:ext>
            </a:extLst>
          </p:cNvPr>
          <p:cNvSpPr>
            <a:spLocks xmlns:a="http://schemas.openxmlformats.org/drawingml/2006/main" noGrp="1"/>
          </p:cNvSpPr>
          <p:nvPr/>
        </p:nvSpPr>
        <p:spPr>
          <a:xfrm xmlns:a="http://schemas.openxmlformats.org/drawingml/2006/main">
            <a:off x="3333750" y="397192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Safety, tool approvals, observability, and evaluation.</a:t>
            </a:r>
          </a:p>
        </p:txBody>
      </p:sp>
      <p:sp>
        <p:nvSpPr>
          <p:cNvPr id="11" name="label-3">
            <a:extLst xmlns:a="http://schemas.openxmlformats.org/drawingml/2006/main">
              <a:ext uri="{FF2B5EF4-FFF2-40B4-BE49-F238E27FC236}">
                <a16:creationId xmlns:a16="http://schemas.microsoft.com/office/drawing/2014/main" id="{83D4C4AB-6CA1-4359-8BE4-ADA4C757F141}"/>
              </a:ext>
            </a:extLst>
          </p:cNvPr>
          <p:cNvSpPr>
            <a:spLocks xmlns:a="http://schemas.openxmlformats.org/drawingml/2006/main" noGrp="1"/>
          </p:cNvSpPr>
          <p:nvPr/>
        </p:nvSpPr>
        <p:spPr>
          <a:xfrm xmlns:a="http://schemas.openxmlformats.org/drawingml/2006/main">
            <a:off x="685800" y="49815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83"/>
                </a:solidFill>
                <a:latin typeface="Segoe UI"/>
                <a:ea typeface="Segoe UI"/>
                <a:cs typeface="Segoe UI"/>
              </a:defRPr>
            </a:defPPr>
            <a:lvl1pPr algn="l">
              <a:defRPr sz="2100" b="1">
                <a:solidFill>
                  <a:srgbClr val="007F83"/>
                </a:solidFill>
                <a:latin typeface="Segoe UI"/>
                <a:ea typeface="Segoe UI"/>
                <a:cs typeface="Segoe UI"/>
              </a:defRPr>
            </a:lvl1pPr>
            <a:lvl2pPr algn="l">
              <a:defRPr sz="2100" b="1">
                <a:solidFill>
                  <a:srgbClr val="007F83"/>
                </a:solidFill>
                <a:latin typeface="Segoe UI"/>
                <a:ea typeface="Segoe UI"/>
                <a:cs typeface="Segoe UI"/>
              </a:defRPr>
            </a:lvl2pPr>
            <a:lvl3pPr algn="l">
              <a:defRPr sz="2100" b="1">
                <a:solidFill>
                  <a:srgbClr val="007F83"/>
                </a:solidFill>
                <a:latin typeface="Segoe UI"/>
                <a:ea typeface="Segoe UI"/>
                <a:cs typeface="Segoe UI"/>
              </a:defRPr>
            </a:lvl3pPr>
            <a:lvl4pPr algn="l">
              <a:defRPr sz="2100" b="1">
                <a:solidFill>
                  <a:srgbClr val="007F83"/>
                </a:solidFill>
                <a:latin typeface="Segoe UI"/>
                <a:ea typeface="Segoe UI"/>
                <a:cs typeface="Segoe UI"/>
              </a:defRPr>
            </a:lvl4pPr>
            <a:lvl5pPr algn="l">
              <a:defRPr sz="2100" b="1">
                <a:solidFill>
                  <a:srgbClr val="007F83"/>
                </a:solidFill>
                <a:latin typeface="Segoe UI"/>
                <a:ea typeface="Segoe UI"/>
                <a:cs typeface="Segoe UI"/>
              </a:defRPr>
            </a:lvl5pPr>
            <a:lvl6pPr algn="l">
              <a:defRPr sz="2100" b="1">
                <a:solidFill>
                  <a:srgbClr val="007F83"/>
                </a:solidFill>
                <a:latin typeface="Segoe UI"/>
                <a:ea typeface="Segoe UI"/>
                <a:cs typeface="Segoe UI"/>
              </a:defRPr>
            </a:lvl6pPr>
            <a:lvl7pPr algn="l">
              <a:defRPr sz="2100" b="1">
                <a:solidFill>
                  <a:srgbClr val="007F83"/>
                </a:solidFill>
                <a:latin typeface="Segoe UI"/>
                <a:ea typeface="Segoe UI"/>
                <a:cs typeface="Segoe UI"/>
              </a:defRPr>
            </a:lvl7pPr>
            <a:lvl8pPr algn="l">
              <a:defRPr sz="2100" b="1">
                <a:solidFill>
                  <a:srgbClr val="007F83"/>
                </a:solidFill>
                <a:latin typeface="Segoe UI"/>
                <a:ea typeface="Segoe UI"/>
                <a:cs typeface="Segoe UI"/>
              </a:defRPr>
            </a:lvl8pPr>
            <a:lvl9pPr algn="l">
              <a:defRPr sz="2100" b="1">
                <a:solidFill>
                  <a:srgbClr val="007F83"/>
                </a:solidFill>
                <a:latin typeface="Segoe UI"/>
                <a:ea typeface="Segoe UI"/>
                <a:cs typeface="Segoe UI"/>
              </a:defRPr>
            </a:lvl9pPr>
          </a:lstStyle>
          <a:p xmlns:a="http://schemas.openxmlformats.org/drawingml/2006/main">
            <a:pPr algn="l">
              <a:defRPr sz="2100" b="1">
                <a:solidFill>
                  <a:srgbClr val="007F83"/>
                </a:solidFill>
                <a:latin typeface="Segoe UI"/>
                <a:ea typeface="Segoe UI"/>
                <a:cs typeface="Segoe UI"/>
              </a:defRPr>
            </a:pPr>
            <a:r>
              <a:rPr sz="2100" b="1">
                <a:solidFill>
                  <a:srgbClr val="007F83"/>
                </a:solidFill>
                <a:latin typeface="Segoe UI"/>
                <a:ea typeface="Segoe UI"/>
                <a:cs typeface="Segoe UI"/>
              </a:rPr>
              <a:t>Extensions</a:t>
            </a:r>
          </a:p>
        </p:txBody>
      </p:sp>
      <p:sp>
        <p:nvSpPr>
          <p:cNvPr id="12" name="point-3">
            <a:extLst xmlns:a="http://schemas.openxmlformats.org/drawingml/2006/main">
              <a:ext uri="{FF2B5EF4-FFF2-40B4-BE49-F238E27FC236}">
                <a16:creationId xmlns:a16="http://schemas.microsoft.com/office/drawing/2014/main" id="{E7E0A13E-E179-4B1E-BEAC-66DD730B7A15}"/>
              </a:ext>
            </a:extLst>
          </p:cNvPr>
          <p:cNvSpPr>
            <a:spLocks xmlns:a="http://schemas.openxmlformats.org/drawingml/2006/main" noGrp="1"/>
          </p:cNvSpPr>
          <p:nvPr/>
        </p:nvSpPr>
        <p:spPr>
          <a:xfrm xmlns:a="http://schemas.openxmlformats.org/drawingml/2006/main">
            <a:off x="3333750" y="4981575"/>
            <a:ext cx="8172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4495B"/>
                </a:solidFill>
                <a:latin typeface="Segoe UI"/>
                <a:ea typeface="Segoe UI"/>
                <a:cs typeface="Segoe UI"/>
              </a:defRPr>
            </a:defPPr>
            <a:lvl1pPr algn="l">
              <a:defRPr sz="2025" b="0">
                <a:solidFill>
                  <a:srgbClr val="34495B"/>
                </a:solidFill>
                <a:latin typeface="Segoe UI"/>
                <a:ea typeface="Segoe UI"/>
                <a:cs typeface="Segoe UI"/>
              </a:defRPr>
            </a:lvl1pPr>
            <a:lvl2pPr algn="l">
              <a:defRPr sz="2025" b="0">
                <a:solidFill>
                  <a:srgbClr val="34495B"/>
                </a:solidFill>
                <a:latin typeface="Segoe UI"/>
                <a:ea typeface="Segoe UI"/>
                <a:cs typeface="Segoe UI"/>
              </a:defRPr>
            </a:lvl2pPr>
            <a:lvl3pPr algn="l">
              <a:defRPr sz="2025" b="0">
                <a:solidFill>
                  <a:srgbClr val="34495B"/>
                </a:solidFill>
                <a:latin typeface="Segoe UI"/>
                <a:ea typeface="Segoe UI"/>
                <a:cs typeface="Segoe UI"/>
              </a:defRPr>
            </a:lvl3pPr>
            <a:lvl4pPr algn="l">
              <a:defRPr sz="2025" b="0">
                <a:solidFill>
                  <a:srgbClr val="34495B"/>
                </a:solidFill>
                <a:latin typeface="Segoe UI"/>
                <a:ea typeface="Segoe UI"/>
                <a:cs typeface="Segoe UI"/>
              </a:defRPr>
            </a:lvl4pPr>
            <a:lvl5pPr algn="l">
              <a:defRPr sz="2025" b="0">
                <a:solidFill>
                  <a:srgbClr val="34495B"/>
                </a:solidFill>
                <a:latin typeface="Segoe UI"/>
                <a:ea typeface="Segoe UI"/>
                <a:cs typeface="Segoe UI"/>
              </a:defRPr>
            </a:lvl5pPr>
            <a:lvl6pPr algn="l">
              <a:defRPr sz="2025" b="0">
                <a:solidFill>
                  <a:srgbClr val="34495B"/>
                </a:solidFill>
                <a:latin typeface="Segoe UI"/>
                <a:ea typeface="Segoe UI"/>
                <a:cs typeface="Segoe UI"/>
              </a:defRPr>
            </a:lvl6pPr>
            <a:lvl7pPr algn="l">
              <a:defRPr sz="2025" b="0">
                <a:solidFill>
                  <a:srgbClr val="34495B"/>
                </a:solidFill>
                <a:latin typeface="Segoe UI"/>
                <a:ea typeface="Segoe UI"/>
                <a:cs typeface="Segoe UI"/>
              </a:defRPr>
            </a:lvl7pPr>
            <a:lvl8pPr algn="l">
              <a:defRPr sz="2025" b="0">
                <a:solidFill>
                  <a:srgbClr val="34495B"/>
                </a:solidFill>
                <a:latin typeface="Segoe UI"/>
                <a:ea typeface="Segoe UI"/>
                <a:cs typeface="Segoe UI"/>
              </a:defRPr>
            </a:lvl8pPr>
            <a:lvl9pPr algn="l">
              <a:defRPr sz="2025" b="0">
                <a:solidFill>
                  <a:srgbClr val="34495B"/>
                </a:solidFill>
                <a:latin typeface="Segoe UI"/>
                <a:ea typeface="Segoe UI"/>
                <a:cs typeface="Segoe UI"/>
              </a:defRPr>
            </a:lvl9pPr>
          </a:lstStyle>
          <a:p xmlns:a="http://schemas.openxmlformats.org/drawingml/2006/main">
            <a:pPr algn="l">
              <a:defRPr sz="2025" b="0">
                <a:solidFill>
                  <a:srgbClr val="34495B"/>
                </a:solidFill>
                <a:latin typeface="Segoe UI"/>
                <a:ea typeface="Segoe UI"/>
                <a:cs typeface="Segoe UI"/>
              </a:defRPr>
            </a:pPr>
            <a:r>
              <a:rPr sz="2025" b="0">
                <a:solidFill>
                  <a:srgbClr val="34495B"/>
                </a:solidFill>
                <a:latin typeface="Segoe UI"/>
                <a:ea typeface="Segoe UI"/>
                <a:cs typeface="Segoe UI"/>
              </a:rPr>
              <a:t>Skills, Harness Agent, background responses, and capability limits.</a:t>
            </a:r>
          </a:p>
        </p:txBody>
      </p:sp>
    </p:spTree>
    <p:extLst>
      <p:ext uri="{BB962C8B-B14F-4D97-AF65-F5344CB8AC3E}">
        <p14:creationId xmlns:p14="http://schemas.microsoft.com/office/powerpoint/2010/main" val="1087443625"/>
      </p:ext>
    </p:extLst>
  </p:cSld>
  <p:extLst>
    <p:ext uri="{6950BFC3-D8DA-4A85-94F7-54DA5524770B}">
      <p188:commentRel xmlns:r="http://schemas.openxmlformats.org/officeDocument/2006/relationships" xmlns:p188="http://schemas.microsoft.com/office/powerpoint/2018/8/main" r:id="R3eb8e9c911b64162"/>
    </p:ext>
  </p:extLst>
</p:sld>
</file>

<file path=ppt/slides/slide98.xml><?xml version="1.0" encoding="utf-8"?>
<p:sld xmlns:p="http://schemas.openxmlformats.org/presentationml/2006/main">
  <p:cSld>
    <p:bg>
      <p:bgPr>
        <a:solidFill xmlns:a="http://schemas.openxmlformats.org/drawingml/2006/main">
          <a:srgbClr val="06182B"/>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7619B70F-4C89-4C46-A5B9-3FC92ACDCCE1}"/>
              </a:ext>
            </a:extLst>
          </p:cNvPr>
          <p:cNvPicPr>
            <a:picLocks xmlns:a="http://schemas.openxmlformats.org/drawingml/2006/main" noChangeAspect="1"/>
          </p:cNvPicPr>
          <p:nvPr/>
        </p:nvPicPr>
        <p:blipFill>
          <a:blip xmlns:r="http://schemas.openxmlformats.org/officeDocument/2006/relationships" xmlns:a="http://schemas.openxmlformats.org/drawingml/2006/main" r:embed="R6c899fd4412f42a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ntext">
            <a:extLst xmlns:a="http://schemas.openxmlformats.org/drawingml/2006/main">
              <a:ext uri="{FF2B5EF4-FFF2-40B4-BE49-F238E27FC236}">
                <a16:creationId xmlns:a16="http://schemas.microsoft.com/office/drawing/2014/main" id="{E1F9D605-28C3-4ACD-AE37-4894B0CCE730}"/>
              </a:ext>
            </a:extLst>
          </p:cNvPr>
          <p:cNvSpPr>
            <a:spLocks xmlns:a="http://schemas.openxmlformats.org/drawingml/2006/main" noGrp="1"/>
          </p:cNvSpPr>
          <p:nvPr/>
        </p:nvSpPr>
        <p:spPr>
          <a:xfrm xmlns:a="http://schemas.openxmlformats.org/drawingml/2006/main">
            <a:off x="647700" y="95250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73DEDC"/>
                </a:solidFill>
                <a:latin typeface="Segoe UI"/>
                <a:ea typeface="Segoe UI"/>
                <a:cs typeface="Segoe UI"/>
              </a:defRPr>
            </a:defPPr>
            <a:lvl1pPr algn="l">
              <a:defRPr sz="1500" b="1">
                <a:solidFill>
                  <a:srgbClr val="73DEDC"/>
                </a:solidFill>
                <a:latin typeface="Segoe UI"/>
                <a:ea typeface="Segoe UI"/>
                <a:cs typeface="Segoe UI"/>
              </a:defRPr>
            </a:lvl1pPr>
            <a:lvl2pPr algn="l">
              <a:defRPr sz="1500" b="1">
                <a:solidFill>
                  <a:srgbClr val="73DEDC"/>
                </a:solidFill>
                <a:latin typeface="Segoe UI"/>
                <a:ea typeface="Segoe UI"/>
                <a:cs typeface="Segoe UI"/>
              </a:defRPr>
            </a:lvl2pPr>
            <a:lvl3pPr algn="l">
              <a:defRPr sz="1500" b="1">
                <a:solidFill>
                  <a:srgbClr val="73DEDC"/>
                </a:solidFill>
                <a:latin typeface="Segoe UI"/>
                <a:ea typeface="Segoe UI"/>
                <a:cs typeface="Segoe UI"/>
              </a:defRPr>
            </a:lvl3pPr>
            <a:lvl4pPr algn="l">
              <a:defRPr sz="1500" b="1">
                <a:solidFill>
                  <a:srgbClr val="73DEDC"/>
                </a:solidFill>
                <a:latin typeface="Segoe UI"/>
                <a:ea typeface="Segoe UI"/>
                <a:cs typeface="Segoe UI"/>
              </a:defRPr>
            </a:lvl4pPr>
            <a:lvl5pPr algn="l">
              <a:defRPr sz="1500" b="1">
                <a:solidFill>
                  <a:srgbClr val="73DEDC"/>
                </a:solidFill>
                <a:latin typeface="Segoe UI"/>
                <a:ea typeface="Segoe UI"/>
                <a:cs typeface="Segoe UI"/>
              </a:defRPr>
            </a:lvl5pPr>
            <a:lvl6pPr algn="l">
              <a:defRPr sz="1500" b="1">
                <a:solidFill>
                  <a:srgbClr val="73DEDC"/>
                </a:solidFill>
                <a:latin typeface="Segoe UI"/>
                <a:ea typeface="Segoe UI"/>
                <a:cs typeface="Segoe UI"/>
              </a:defRPr>
            </a:lvl6pPr>
            <a:lvl7pPr algn="l">
              <a:defRPr sz="1500" b="1">
                <a:solidFill>
                  <a:srgbClr val="73DEDC"/>
                </a:solidFill>
                <a:latin typeface="Segoe UI"/>
                <a:ea typeface="Segoe UI"/>
                <a:cs typeface="Segoe UI"/>
              </a:defRPr>
            </a:lvl7pPr>
            <a:lvl8pPr algn="l">
              <a:defRPr sz="1500" b="1">
                <a:solidFill>
                  <a:srgbClr val="73DEDC"/>
                </a:solidFill>
                <a:latin typeface="Segoe UI"/>
                <a:ea typeface="Segoe UI"/>
                <a:cs typeface="Segoe UI"/>
              </a:defRPr>
            </a:lvl8pPr>
            <a:lvl9pPr algn="l">
              <a:defRPr sz="1500" b="1">
                <a:solidFill>
                  <a:srgbClr val="73DEDC"/>
                </a:solidFill>
                <a:latin typeface="Segoe UI"/>
                <a:ea typeface="Segoe UI"/>
                <a:cs typeface="Segoe UI"/>
              </a:defRPr>
            </a:lvl9pPr>
          </a:lstStyle>
          <a:p xmlns:a="http://schemas.openxmlformats.org/drawingml/2006/main">
            <a:pPr algn="l">
              <a:defRPr sz="1500" b="1">
                <a:solidFill>
                  <a:srgbClr val="73DEDC"/>
                </a:solidFill>
                <a:latin typeface="Segoe UI"/>
                <a:ea typeface="Segoe UI"/>
                <a:cs typeface="Segoe UI"/>
              </a:defRPr>
            </a:pPr>
            <a:r>
              <a:rPr sz="1500" b="1">
                <a:solidFill>
                  <a:srgbClr val="73DEDC"/>
                </a:solidFill>
                <a:latin typeface="Segoe UI"/>
                <a:ea typeface="Segoe UI"/>
                <a:cs typeface="Segoe UI"/>
              </a:rPr>
              <a:t>COURSE CAPSTONE</a:t>
            </a:r>
          </a:p>
        </p:txBody>
      </p:sp>
      <p:sp>
        <p:nvSpPr>
          <p:cNvPr id="3" name="title">
            <a:extLst xmlns:a="http://schemas.openxmlformats.org/drawingml/2006/main">
              <a:ext uri="{FF2B5EF4-FFF2-40B4-BE49-F238E27FC236}">
                <a16:creationId xmlns:a16="http://schemas.microsoft.com/office/drawing/2014/main" id="{E39FFD02-B2CE-4B9D-91D0-0678D8BFEA03}"/>
              </a:ext>
            </a:extLst>
          </p:cNvPr>
          <p:cNvSpPr>
            <a:spLocks xmlns:a="http://schemas.openxmlformats.org/drawingml/2006/main" noGrp="1"/>
          </p:cNvSpPr>
          <p:nvPr/>
        </p:nvSpPr>
        <p:spPr>
          <a:xfrm xmlns:a="http://schemas.openxmlformats.org/drawingml/2006/main">
            <a:off x="647700" y="1809750"/>
            <a:ext cx="6858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Segoe UI"/>
                <a:ea typeface="Segoe UI"/>
                <a:cs typeface="Segoe UI"/>
              </a:defRPr>
            </a:defPPr>
            <a:lvl1pPr algn="l">
              <a:defRPr sz="3900" b="1">
                <a:solidFill>
                  <a:srgbClr val="FFFFFF"/>
                </a:solidFill>
                <a:latin typeface="Segoe UI"/>
                <a:ea typeface="Segoe UI"/>
                <a:cs typeface="Segoe UI"/>
              </a:defRPr>
            </a:lvl1pPr>
            <a:lvl2pPr algn="l">
              <a:defRPr sz="3900" b="1">
                <a:solidFill>
                  <a:srgbClr val="FFFFFF"/>
                </a:solidFill>
                <a:latin typeface="Segoe UI"/>
                <a:ea typeface="Segoe UI"/>
                <a:cs typeface="Segoe UI"/>
              </a:defRPr>
            </a:lvl2pPr>
            <a:lvl3pPr algn="l">
              <a:defRPr sz="3900" b="1">
                <a:solidFill>
                  <a:srgbClr val="FFFFFF"/>
                </a:solidFill>
                <a:latin typeface="Segoe UI"/>
                <a:ea typeface="Segoe UI"/>
                <a:cs typeface="Segoe UI"/>
              </a:defRPr>
            </a:lvl3pPr>
            <a:lvl4pPr algn="l">
              <a:defRPr sz="3900" b="1">
                <a:solidFill>
                  <a:srgbClr val="FFFFFF"/>
                </a:solidFill>
                <a:latin typeface="Segoe UI"/>
                <a:ea typeface="Segoe UI"/>
                <a:cs typeface="Segoe UI"/>
              </a:defRPr>
            </a:lvl4pPr>
            <a:lvl5pPr algn="l">
              <a:defRPr sz="3900" b="1">
                <a:solidFill>
                  <a:srgbClr val="FFFFFF"/>
                </a:solidFill>
                <a:latin typeface="Segoe UI"/>
                <a:ea typeface="Segoe UI"/>
                <a:cs typeface="Segoe UI"/>
              </a:defRPr>
            </a:lvl5pPr>
            <a:lvl6pPr algn="l">
              <a:defRPr sz="3900" b="1">
                <a:solidFill>
                  <a:srgbClr val="FFFFFF"/>
                </a:solidFill>
                <a:latin typeface="Segoe UI"/>
                <a:ea typeface="Segoe UI"/>
                <a:cs typeface="Segoe UI"/>
              </a:defRPr>
            </a:lvl6pPr>
            <a:lvl7pPr algn="l">
              <a:defRPr sz="3900" b="1">
                <a:solidFill>
                  <a:srgbClr val="FFFFFF"/>
                </a:solidFill>
                <a:latin typeface="Segoe UI"/>
                <a:ea typeface="Segoe UI"/>
                <a:cs typeface="Segoe UI"/>
              </a:defRPr>
            </a:lvl7pPr>
            <a:lvl8pPr algn="l">
              <a:defRPr sz="3900" b="1">
                <a:solidFill>
                  <a:srgbClr val="FFFFFF"/>
                </a:solidFill>
                <a:latin typeface="Segoe UI"/>
                <a:ea typeface="Segoe UI"/>
                <a:cs typeface="Segoe UI"/>
              </a:defRPr>
            </a:lvl8pPr>
            <a:lvl9pPr algn="l">
              <a:defRPr sz="3900" b="1">
                <a:solidFill>
                  <a:srgbClr val="FFFFFF"/>
                </a:solidFill>
                <a:latin typeface="Segoe UI"/>
                <a:ea typeface="Segoe UI"/>
                <a:cs typeface="Segoe UI"/>
              </a:defRPr>
            </a:lvl9pPr>
          </a:lstStyle>
          <a:p xmlns:a="http://schemas.openxmlformats.org/drawingml/2006/main">
            <a:pPr algn="l">
              <a:defRPr sz="3900" b="1">
                <a:solidFill>
                  <a:srgbClr val="FFFFFF"/>
                </a:solidFill>
                <a:latin typeface="Segoe UI"/>
                <a:ea typeface="Segoe UI"/>
                <a:cs typeface="Segoe UI"/>
              </a:defRPr>
            </a:pPr>
            <a:r>
              <a:rPr sz="3900" b="1">
                <a:solidFill>
                  <a:srgbClr val="FFFFFF"/>
                </a:solidFill>
                <a:latin typeface="Segoe UI"/>
                <a:ea typeface="Segoe UI"/>
                <a:cs typeface="Segoe UI"/>
              </a:rPr>
              <a:t>InvoiceAI as an</a:t>
            </a:r>
          </a:p>
          <a:p xmlns:a="http://schemas.openxmlformats.org/drawingml/2006/main">
            <a:pPr algn="l">
              <a:defRPr sz="3900" b="1">
                <a:solidFill>
                  <a:srgbClr val="FFFFFF"/>
                </a:solidFill>
                <a:latin typeface="Segoe UI"/>
                <a:ea typeface="Segoe UI"/>
                <a:cs typeface="Segoe UI"/>
              </a:defRPr>
            </a:pPr>
            <a:r>
              <a:rPr sz="3900" b="1">
                <a:solidFill>
                  <a:srgbClr val="FFFFFF"/>
                </a:solidFill>
                <a:latin typeface="Segoe UI"/>
                <a:ea typeface="Segoe UI"/>
                <a:cs typeface="Segoe UI"/>
              </a:rPr>
              <a:t>engineered AI integration</a:t>
            </a:r>
          </a:p>
        </p:txBody>
      </p:sp>
      <p:sp>
        <p:nvSpPr>
          <p:cNvPr id="4" name="subtitle">
            <a:extLst xmlns:a="http://schemas.openxmlformats.org/drawingml/2006/main">
              <a:ext uri="{FF2B5EF4-FFF2-40B4-BE49-F238E27FC236}">
                <a16:creationId xmlns:a16="http://schemas.microsoft.com/office/drawing/2014/main" id="{9E85D9CF-26EE-4E83-98C2-998022A03502}"/>
              </a:ext>
            </a:extLst>
          </p:cNvPr>
          <p:cNvSpPr>
            <a:spLocks xmlns:a="http://schemas.openxmlformats.org/drawingml/2006/main" noGrp="1"/>
          </p:cNvSpPr>
          <p:nvPr/>
        </p:nvSpPr>
        <p:spPr>
          <a:xfrm xmlns:a="http://schemas.openxmlformats.org/drawingml/2006/main">
            <a:off x="647700" y="4362450"/>
            <a:ext cx="6191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D9E6F0"/>
                </a:solidFill>
                <a:latin typeface="Segoe UI"/>
                <a:ea typeface="Segoe UI"/>
                <a:cs typeface="Segoe UI"/>
              </a:defRPr>
            </a:defPPr>
            <a:lvl1pPr algn="l">
              <a:defRPr sz="1950" b="0">
                <a:solidFill>
                  <a:srgbClr val="D9E6F0"/>
                </a:solidFill>
                <a:latin typeface="Segoe UI"/>
                <a:ea typeface="Segoe UI"/>
                <a:cs typeface="Segoe UI"/>
              </a:defRPr>
            </a:lvl1pPr>
            <a:lvl2pPr algn="l">
              <a:defRPr sz="1950" b="0">
                <a:solidFill>
                  <a:srgbClr val="D9E6F0"/>
                </a:solidFill>
                <a:latin typeface="Segoe UI"/>
                <a:ea typeface="Segoe UI"/>
                <a:cs typeface="Segoe UI"/>
              </a:defRPr>
            </a:lvl2pPr>
            <a:lvl3pPr algn="l">
              <a:defRPr sz="1950" b="0">
                <a:solidFill>
                  <a:srgbClr val="D9E6F0"/>
                </a:solidFill>
                <a:latin typeface="Segoe UI"/>
                <a:ea typeface="Segoe UI"/>
                <a:cs typeface="Segoe UI"/>
              </a:defRPr>
            </a:lvl3pPr>
            <a:lvl4pPr algn="l">
              <a:defRPr sz="1950" b="0">
                <a:solidFill>
                  <a:srgbClr val="D9E6F0"/>
                </a:solidFill>
                <a:latin typeface="Segoe UI"/>
                <a:ea typeface="Segoe UI"/>
                <a:cs typeface="Segoe UI"/>
              </a:defRPr>
            </a:lvl4pPr>
            <a:lvl5pPr algn="l">
              <a:defRPr sz="1950" b="0">
                <a:solidFill>
                  <a:srgbClr val="D9E6F0"/>
                </a:solidFill>
                <a:latin typeface="Segoe UI"/>
                <a:ea typeface="Segoe UI"/>
                <a:cs typeface="Segoe UI"/>
              </a:defRPr>
            </a:lvl5pPr>
            <a:lvl6pPr algn="l">
              <a:defRPr sz="1950" b="0">
                <a:solidFill>
                  <a:srgbClr val="D9E6F0"/>
                </a:solidFill>
                <a:latin typeface="Segoe UI"/>
                <a:ea typeface="Segoe UI"/>
                <a:cs typeface="Segoe UI"/>
              </a:defRPr>
            </a:lvl6pPr>
            <a:lvl7pPr algn="l">
              <a:defRPr sz="1950" b="0">
                <a:solidFill>
                  <a:srgbClr val="D9E6F0"/>
                </a:solidFill>
                <a:latin typeface="Segoe UI"/>
                <a:ea typeface="Segoe UI"/>
                <a:cs typeface="Segoe UI"/>
              </a:defRPr>
            </a:lvl7pPr>
            <a:lvl8pPr algn="l">
              <a:defRPr sz="1950" b="0">
                <a:solidFill>
                  <a:srgbClr val="D9E6F0"/>
                </a:solidFill>
                <a:latin typeface="Segoe UI"/>
                <a:ea typeface="Segoe UI"/>
                <a:cs typeface="Segoe UI"/>
              </a:defRPr>
            </a:lvl8pPr>
            <a:lvl9pPr algn="l">
              <a:defRPr sz="1950" b="0">
                <a:solidFill>
                  <a:srgbClr val="D9E6F0"/>
                </a:solidFill>
                <a:latin typeface="Segoe UI"/>
                <a:ea typeface="Segoe UI"/>
                <a:cs typeface="Segoe UI"/>
              </a:defRPr>
            </a:lvl9pPr>
          </a:lstStyle>
          <a:p xmlns:a="http://schemas.openxmlformats.org/drawingml/2006/main">
            <a:pPr algn="l">
              <a:defRPr sz="1950" b="0">
                <a:solidFill>
                  <a:srgbClr val="D9E6F0"/>
                </a:solidFill>
                <a:latin typeface="Segoe UI"/>
                <a:ea typeface="Segoe UI"/>
                <a:cs typeface="Segoe UI"/>
              </a:defRPr>
            </a:pPr>
            <a:r>
              <a:rPr sz="1950" b="0">
                <a:solidFill>
                  <a:srgbClr val="D9E6F0"/>
                </a:solidFill>
                <a:latin typeface="Segoe UI"/>
                <a:ea typeface="Segoe UI"/>
                <a:cs typeface="Segoe UI"/>
              </a:rPr>
              <a:t>A real framework runtime</a:t>
            </a:r>
          </a:p>
          <a:p xmlns:a="http://schemas.openxmlformats.org/drawingml/2006/main">
            <a:pPr algn="l">
              <a:defRPr sz="1950" b="0">
                <a:solidFill>
                  <a:srgbClr val="D9E6F0"/>
                </a:solidFill>
                <a:latin typeface="Segoe UI"/>
                <a:ea typeface="Segoe UI"/>
                <a:cs typeface="Segoe UI"/>
              </a:defRPr>
            </a:pPr>
            <a:r>
              <a:rPr sz="1950" b="0">
                <a:solidFill>
                  <a:srgbClr val="D9E6F0"/>
                </a:solidFill>
                <a:latin typeface="Segoe UI"/>
                <a:ea typeface="Segoe UI"/>
                <a:cs typeface="Segoe UI"/>
              </a:rPr>
              <a:t>Existing business rules</a:t>
            </a:r>
          </a:p>
          <a:p xmlns:a="http://schemas.openxmlformats.org/drawingml/2006/main">
            <a:pPr algn="l">
              <a:defRPr sz="1950" b="0">
                <a:solidFill>
                  <a:srgbClr val="D9E6F0"/>
                </a:solidFill>
                <a:latin typeface="Segoe UI"/>
                <a:ea typeface="Segoe UI"/>
                <a:cs typeface="Segoe UI"/>
              </a:defRPr>
            </a:pPr>
            <a:r>
              <a:rPr sz="1950" b="0">
                <a:solidFill>
                  <a:srgbClr val="D9E6F0"/>
                </a:solidFill>
                <a:latin typeface="Segoe UI"/>
                <a:ea typeface="Segoe UI"/>
                <a:cs typeface="Segoe UI"/>
              </a:rPr>
              <a:t>Verifiable outcomes</a:t>
            </a:r>
          </a:p>
        </p:txBody>
      </p:sp>
      <p:sp>
        <p:nvSpPr>
          <p:cNvPr id="5" name="footer">
            <a:extLst xmlns:a="http://schemas.openxmlformats.org/drawingml/2006/main">
              <a:ext uri="{FF2B5EF4-FFF2-40B4-BE49-F238E27FC236}">
                <a16:creationId xmlns:a16="http://schemas.microsoft.com/office/drawing/2014/main" id="{4C718896-CA87-4640-9D3D-4EAFAD65D739}"/>
              </a:ext>
            </a:extLst>
          </p:cNvPr>
          <p:cNvSpPr>
            <a:spLocks xmlns:a="http://schemas.openxmlformats.org/drawingml/2006/main" noGrp="1"/>
          </p:cNvSpPr>
          <p:nvPr/>
        </p:nvSpPr>
        <p:spPr>
          <a:xfrm xmlns:a="http://schemas.openxmlformats.org/drawingml/2006/main">
            <a:off x="647700" y="6153150"/>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ABC0D2"/>
                </a:solidFill>
                <a:latin typeface="Segoe UI"/>
                <a:ea typeface="Segoe UI"/>
                <a:cs typeface="Segoe UI"/>
              </a:defRPr>
            </a:defPPr>
            <a:lvl1pPr algn="l">
              <a:defRPr sz="1275" b="0">
                <a:solidFill>
                  <a:srgbClr val="ABC0D2"/>
                </a:solidFill>
                <a:latin typeface="Segoe UI"/>
                <a:ea typeface="Segoe UI"/>
                <a:cs typeface="Segoe UI"/>
              </a:defRPr>
            </a:lvl1pPr>
            <a:lvl2pPr algn="l">
              <a:defRPr sz="1275" b="0">
                <a:solidFill>
                  <a:srgbClr val="ABC0D2"/>
                </a:solidFill>
                <a:latin typeface="Segoe UI"/>
                <a:ea typeface="Segoe UI"/>
                <a:cs typeface="Segoe UI"/>
              </a:defRPr>
            </a:lvl2pPr>
            <a:lvl3pPr algn="l">
              <a:defRPr sz="1275" b="0">
                <a:solidFill>
                  <a:srgbClr val="ABC0D2"/>
                </a:solidFill>
                <a:latin typeface="Segoe UI"/>
                <a:ea typeface="Segoe UI"/>
                <a:cs typeface="Segoe UI"/>
              </a:defRPr>
            </a:lvl3pPr>
            <a:lvl4pPr algn="l">
              <a:defRPr sz="1275" b="0">
                <a:solidFill>
                  <a:srgbClr val="ABC0D2"/>
                </a:solidFill>
                <a:latin typeface="Segoe UI"/>
                <a:ea typeface="Segoe UI"/>
                <a:cs typeface="Segoe UI"/>
              </a:defRPr>
            </a:lvl4pPr>
            <a:lvl5pPr algn="l">
              <a:defRPr sz="1275" b="0">
                <a:solidFill>
                  <a:srgbClr val="ABC0D2"/>
                </a:solidFill>
                <a:latin typeface="Segoe UI"/>
                <a:ea typeface="Segoe UI"/>
                <a:cs typeface="Segoe UI"/>
              </a:defRPr>
            </a:lvl5pPr>
            <a:lvl6pPr algn="l">
              <a:defRPr sz="1275" b="0">
                <a:solidFill>
                  <a:srgbClr val="ABC0D2"/>
                </a:solidFill>
                <a:latin typeface="Segoe UI"/>
                <a:ea typeface="Segoe UI"/>
                <a:cs typeface="Segoe UI"/>
              </a:defRPr>
            </a:lvl6pPr>
            <a:lvl7pPr algn="l">
              <a:defRPr sz="1275" b="0">
                <a:solidFill>
                  <a:srgbClr val="ABC0D2"/>
                </a:solidFill>
                <a:latin typeface="Segoe UI"/>
                <a:ea typeface="Segoe UI"/>
                <a:cs typeface="Segoe UI"/>
              </a:defRPr>
            </a:lvl7pPr>
            <a:lvl8pPr algn="l">
              <a:defRPr sz="1275" b="0">
                <a:solidFill>
                  <a:srgbClr val="ABC0D2"/>
                </a:solidFill>
                <a:latin typeface="Segoe UI"/>
                <a:ea typeface="Segoe UI"/>
                <a:cs typeface="Segoe UI"/>
              </a:defRPr>
            </a:lvl8pPr>
            <a:lvl9pPr algn="l">
              <a:defRPr sz="1275" b="0">
                <a:solidFill>
                  <a:srgbClr val="ABC0D2"/>
                </a:solidFill>
                <a:latin typeface="Segoe UI"/>
                <a:ea typeface="Segoe UI"/>
                <a:cs typeface="Segoe UI"/>
              </a:defRPr>
            </a:lvl9pPr>
          </a:lstStyle>
          <a:p xmlns:a="http://schemas.openxmlformats.org/drawingml/2006/main">
            <a:pPr algn="l">
              <a:defRPr sz="1275" b="0">
                <a:solidFill>
                  <a:srgbClr val="ABC0D2"/>
                </a:solidFill>
                <a:latin typeface="Segoe UI"/>
                <a:ea typeface="Segoe UI"/>
                <a:cs typeface="Segoe UI"/>
              </a:defRPr>
            </a:pPr>
            <a:r>
              <a:rPr sz="1275" b="0">
                <a:solidFill>
                  <a:srgbClr val="ABC0D2"/>
                </a:solidFill>
                <a:latin typeface="Segoe UI"/>
                <a:ea typeface="Segoe UI"/>
                <a:cs typeface="Segoe UI"/>
              </a:rPr>
              <a:t>Instructor edition  /  October 2026</a:t>
            </a:r>
          </a:p>
        </p:txBody>
      </p:sp>
      <p:sp>
        <p:nvSpPr>
          <p:cNvPr id="6" name="page">
            <a:extLst xmlns:a="http://schemas.openxmlformats.org/drawingml/2006/main">
              <a:ext uri="{FF2B5EF4-FFF2-40B4-BE49-F238E27FC236}">
                <a16:creationId xmlns:a16="http://schemas.microsoft.com/office/drawing/2014/main" id="{988FC115-6F7F-49C4-887A-C323BF9AA163}"/>
              </a:ext>
            </a:extLst>
          </p:cNvPr>
          <p:cNvSpPr>
            <a:spLocks xmlns:a="http://schemas.openxmlformats.org/drawingml/2006/main" noGrp="1"/>
          </p:cNvSpPr>
          <p:nvPr/>
        </p:nvSpPr>
        <p:spPr>
          <a:xfrm xmlns:a="http://schemas.openxmlformats.org/drawingml/2006/main">
            <a:off x="11049000" y="64579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ABC0D2"/>
                </a:solidFill>
                <a:latin typeface="Segoe UI"/>
                <a:ea typeface="Segoe UI"/>
                <a:cs typeface="Segoe UI"/>
              </a:defRPr>
            </a:defPPr>
            <a:lvl1pPr algn="r">
              <a:defRPr sz="1050" b="0">
                <a:solidFill>
                  <a:srgbClr val="ABC0D2"/>
                </a:solidFill>
                <a:latin typeface="Segoe UI"/>
                <a:ea typeface="Segoe UI"/>
                <a:cs typeface="Segoe UI"/>
              </a:defRPr>
            </a:lvl1pPr>
            <a:lvl2pPr algn="r">
              <a:defRPr sz="1050" b="0">
                <a:solidFill>
                  <a:srgbClr val="ABC0D2"/>
                </a:solidFill>
                <a:latin typeface="Segoe UI"/>
                <a:ea typeface="Segoe UI"/>
                <a:cs typeface="Segoe UI"/>
              </a:defRPr>
            </a:lvl2pPr>
            <a:lvl3pPr algn="r">
              <a:defRPr sz="1050" b="0">
                <a:solidFill>
                  <a:srgbClr val="ABC0D2"/>
                </a:solidFill>
                <a:latin typeface="Segoe UI"/>
                <a:ea typeface="Segoe UI"/>
                <a:cs typeface="Segoe UI"/>
              </a:defRPr>
            </a:lvl3pPr>
            <a:lvl4pPr algn="r">
              <a:defRPr sz="1050" b="0">
                <a:solidFill>
                  <a:srgbClr val="ABC0D2"/>
                </a:solidFill>
                <a:latin typeface="Segoe UI"/>
                <a:ea typeface="Segoe UI"/>
                <a:cs typeface="Segoe UI"/>
              </a:defRPr>
            </a:lvl4pPr>
            <a:lvl5pPr algn="r">
              <a:defRPr sz="1050" b="0">
                <a:solidFill>
                  <a:srgbClr val="ABC0D2"/>
                </a:solidFill>
                <a:latin typeface="Segoe UI"/>
                <a:ea typeface="Segoe UI"/>
                <a:cs typeface="Segoe UI"/>
              </a:defRPr>
            </a:lvl5pPr>
            <a:lvl6pPr algn="r">
              <a:defRPr sz="1050" b="0">
                <a:solidFill>
                  <a:srgbClr val="ABC0D2"/>
                </a:solidFill>
                <a:latin typeface="Segoe UI"/>
                <a:ea typeface="Segoe UI"/>
                <a:cs typeface="Segoe UI"/>
              </a:defRPr>
            </a:lvl6pPr>
            <a:lvl7pPr algn="r">
              <a:defRPr sz="1050" b="0">
                <a:solidFill>
                  <a:srgbClr val="ABC0D2"/>
                </a:solidFill>
                <a:latin typeface="Segoe UI"/>
                <a:ea typeface="Segoe UI"/>
                <a:cs typeface="Segoe UI"/>
              </a:defRPr>
            </a:lvl7pPr>
            <a:lvl8pPr algn="r">
              <a:defRPr sz="1050" b="0">
                <a:solidFill>
                  <a:srgbClr val="ABC0D2"/>
                </a:solidFill>
                <a:latin typeface="Segoe UI"/>
                <a:ea typeface="Segoe UI"/>
                <a:cs typeface="Segoe UI"/>
              </a:defRPr>
            </a:lvl8pPr>
            <a:lvl9pPr algn="r">
              <a:defRPr sz="1050" b="0">
                <a:solidFill>
                  <a:srgbClr val="ABC0D2"/>
                </a:solidFill>
                <a:latin typeface="Segoe UI"/>
                <a:ea typeface="Segoe UI"/>
                <a:cs typeface="Segoe UI"/>
              </a:defRPr>
            </a:lvl9pPr>
          </a:lstStyle>
          <a:p xmlns:a="http://schemas.openxmlformats.org/drawingml/2006/main">
            <a:pPr algn="r">
              <a:defRPr sz="1050" b="0">
                <a:solidFill>
                  <a:srgbClr val="ABC0D2"/>
                </a:solidFill>
                <a:latin typeface="Segoe UI"/>
                <a:ea typeface="Segoe UI"/>
                <a:cs typeface="Segoe UI"/>
              </a:defRPr>
            </a:pPr>
            <a:r>
              <a:rPr sz="1050" b="0">
                <a:solidFill>
                  <a:srgbClr val="ABC0D2"/>
                </a:solidFill>
                <a:latin typeface="Segoe UI"/>
                <a:ea typeface="Segoe UI"/>
                <a:cs typeface="Segoe UI"/>
              </a:rPr>
              <a:t>98</a:t>
            </a:r>
          </a:p>
        </p:txBody>
      </p:sp>
    </p:spTree>
    <p:extLst>
      <p:ext uri="{BB962C8B-B14F-4D97-AF65-F5344CB8AC3E}">
        <p14:creationId xmlns:p14="http://schemas.microsoft.com/office/powerpoint/2010/main" val="1955338578"/>
      </p:ext>
    </p:extLst>
  </p:cSld>
  <p:extLst>
    <p:ext uri="{6950BFC3-D8DA-4A85-94F7-54DA5524770B}">
      <p188:commentRel xmlns:r="http://schemas.openxmlformats.org/officeDocument/2006/relationships" xmlns:p188="http://schemas.microsoft.com/office/powerpoint/2018/8/main" r:id="Rc4d414ed287c4cf3"/>
    </p:ext>
  </p:extLs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2026-10-17T05:27:32.5640000Z</dcterms:created>
  <dcterms:modified xsi:type="dcterms:W3CDTF">2026-10-17T05:27:32.5640000Z</dcterms:modified>
</coreProperties>
</file>